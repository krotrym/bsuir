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15"/>
  </p:notesMasterIdLst>
  <p:handoutMasterIdLst>
    <p:handoutMasterId r:id="rId116"/>
  </p:handoutMasterIdLst>
  <p:sldIdLst>
    <p:sldId id="391" r:id="rId2"/>
    <p:sldId id="404" r:id="rId3"/>
    <p:sldId id="403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494" r:id="rId12"/>
    <p:sldId id="412" r:id="rId13"/>
    <p:sldId id="413" r:id="rId14"/>
    <p:sldId id="414" r:id="rId15"/>
    <p:sldId id="415" r:id="rId16"/>
    <p:sldId id="416" r:id="rId17"/>
    <p:sldId id="417" r:id="rId18"/>
    <p:sldId id="418" r:id="rId19"/>
    <p:sldId id="419" r:id="rId20"/>
    <p:sldId id="420" r:id="rId21"/>
    <p:sldId id="451" r:id="rId22"/>
    <p:sldId id="452" r:id="rId23"/>
    <p:sldId id="437" r:id="rId24"/>
    <p:sldId id="421" r:id="rId25"/>
    <p:sldId id="450" r:id="rId26"/>
    <p:sldId id="423" r:id="rId27"/>
    <p:sldId id="424" r:id="rId28"/>
    <p:sldId id="425" r:id="rId29"/>
    <p:sldId id="496" r:id="rId30"/>
    <p:sldId id="497" r:id="rId31"/>
    <p:sldId id="498" r:id="rId32"/>
    <p:sldId id="499" r:id="rId33"/>
    <p:sldId id="500" r:id="rId34"/>
    <p:sldId id="501" r:id="rId35"/>
    <p:sldId id="502" r:id="rId36"/>
    <p:sldId id="427" r:id="rId37"/>
    <p:sldId id="428" r:id="rId38"/>
    <p:sldId id="429" r:id="rId39"/>
    <p:sldId id="504" r:id="rId40"/>
    <p:sldId id="507" r:id="rId41"/>
    <p:sldId id="505" r:id="rId42"/>
    <p:sldId id="506" r:id="rId43"/>
    <p:sldId id="503" r:id="rId44"/>
    <p:sldId id="430" r:id="rId45"/>
    <p:sldId id="431" r:id="rId46"/>
    <p:sldId id="432" r:id="rId47"/>
    <p:sldId id="433" r:id="rId48"/>
    <p:sldId id="434" r:id="rId49"/>
    <p:sldId id="436" r:id="rId50"/>
    <p:sldId id="449" r:id="rId51"/>
    <p:sldId id="422" r:id="rId52"/>
    <p:sldId id="438" r:id="rId53"/>
    <p:sldId id="439" r:id="rId54"/>
    <p:sldId id="440" r:id="rId55"/>
    <p:sldId id="441" r:id="rId56"/>
    <p:sldId id="442" r:id="rId57"/>
    <p:sldId id="443" r:id="rId58"/>
    <p:sldId id="444" r:id="rId59"/>
    <p:sldId id="446" r:id="rId60"/>
    <p:sldId id="447" r:id="rId61"/>
    <p:sldId id="448" r:id="rId62"/>
    <p:sldId id="453" r:id="rId63"/>
    <p:sldId id="454" r:id="rId64"/>
    <p:sldId id="455" r:id="rId65"/>
    <p:sldId id="457" r:id="rId66"/>
    <p:sldId id="458" r:id="rId67"/>
    <p:sldId id="459" r:id="rId68"/>
    <p:sldId id="460" r:id="rId69"/>
    <p:sldId id="461" r:id="rId70"/>
    <p:sldId id="462" r:id="rId71"/>
    <p:sldId id="463" r:id="rId72"/>
    <p:sldId id="508" r:id="rId73"/>
    <p:sldId id="509" r:id="rId74"/>
    <p:sldId id="510" r:id="rId75"/>
    <p:sldId id="511" r:id="rId76"/>
    <p:sldId id="512" r:id="rId77"/>
    <p:sldId id="513" r:id="rId78"/>
    <p:sldId id="515" r:id="rId79"/>
    <p:sldId id="516" r:id="rId80"/>
    <p:sldId id="517" r:id="rId81"/>
    <p:sldId id="464" r:id="rId82"/>
    <p:sldId id="465" r:id="rId83"/>
    <p:sldId id="466" r:id="rId84"/>
    <p:sldId id="467" r:id="rId85"/>
    <p:sldId id="468" r:id="rId86"/>
    <p:sldId id="469" r:id="rId87"/>
    <p:sldId id="470" r:id="rId88"/>
    <p:sldId id="471" r:id="rId89"/>
    <p:sldId id="472" r:id="rId90"/>
    <p:sldId id="473" r:id="rId91"/>
    <p:sldId id="474" r:id="rId92"/>
    <p:sldId id="518" r:id="rId93"/>
    <p:sldId id="519" r:id="rId94"/>
    <p:sldId id="475" r:id="rId95"/>
    <p:sldId id="476" r:id="rId96"/>
    <p:sldId id="477" r:id="rId97"/>
    <p:sldId id="478" r:id="rId98"/>
    <p:sldId id="479" r:id="rId99"/>
    <p:sldId id="480" r:id="rId100"/>
    <p:sldId id="481" r:id="rId101"/>
    <p:sldId id="482" r:id="rId102"/>
    <p:sldId id="483" r:id="rId103"/>
    <p:sldId id="484" r:id="rId104"/>
    <p:sldId id="485" r:id="rId105"/>
    <p:sldId id="486" r:id="rId106"/>
    <p:sldId id="487" r:id="rId107"/>
    <p:sldId id="488" r:id="rId108"/>
    <p:sldId id="489" r:id="rId109"/>
    <p:sldId id="492" r:id="rId110"/>
    <p:sldId id="490" r:id="rId111"/>
    <p:sldId id="491" r:id="rId112"/>
    <p:sldId id="493" r:id="rId113"/>
    <p:sldId id="495" r:id="rId114"/>
  </p:sldIdLst>
  <p:sldSz cx="12192000" cy="6858000"/>
  <p:notesSz cx="6858000" cy="9144000"/>
  <p:embeddedFontLst>
    <p:embeddedFont>
      <p:font typeface="Consolas" panose="020B0609020204030204" pitchFamily="49" charset="0"/>
      <p:regular r:id="rId117"/>
      <p:bold r:id="rId118"/>
      <p:italic r:id="rId119"/>
      <p:boldItalic r:id="rId120"/>
    </p:embeddedFont>
    <p:embeddedFont>
      <p:font typeface="Cascadia Mono" panose="020B0609020000020004" pitchFamily="49" charset="0"/>
      <p:regular r:id="rId121"/>
      <p:bold r:id="rId122"/>
      <p:italic r:id="rId123"/>
      <p:boldItalic r:id="rId124"/>
    </p:embeddedFont>
    <p:embeddedFont>
      <p:font typeface="Calibri Light" panose="020F0302020204030204" pitchFamily="34" charset="0"/>
      <p:regular r:id="rId125"/>
      <p:italic r:id="rId126"/>
    </p:embeddedFont>
    <p:embeddedFont>
      <p:font typeface="Calibri" panose="020F0502020204030204" pitchFamily="34" charset="0"/>
      <p:regular r:id="rId127"/>
      <p:bold r:id="rId128"/>
      <p:italic r:id="rId129"/>
      <p:boldItalic r:id="rId1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gor Glamazdin" initials="IG" lastIdx="1" clrIdx="0">
    <p:extLst>
      <p:ext uri="{19B8F6BF-5375-455C-9EA6-DF929625EA0E}">
        <p15:presenceInfo xmlns:p15="http://schemas.microsoft.com/office/powerpoint/2012/main" userId="93344bf745a1c4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91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400" autoAdjust="0"/>
  </p:normalViewPr>
  <p:slideViewPr>
    <p:cSldViewPr snapToGrid="0">
      <p:cViewPr varScale="1">
        <p:scale>
          <a:sx n="86" d="100"/>
          <a:sy n="86" d="100"/>
        </p:scale>
        <p:origin x="5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1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7.fntdata"/><Relationship Id="rId128" Type="http://schemas.openxmlformats.org/officeDocument/2006/relationships/font" Target="fonts/font12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font" Target="fonts/font2.fntdata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8.fntdata"/><Relationship Id="rId129" Type="http://schemas.openxmlformats.org/officeDocument/2006/relationships/font" Target="fonts/font13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font" Target="fonts/font3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font" Target="fonts/font14.fntdata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4.fntdata"/><Relationship Id="rId125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131" Type="http://schemas.openxmlformats.org/officeDocument/2006/relationships/commentAuthors" Target="comment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5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AEC2F-30E4-483B-B6DF-0FD7CF7AB987}" type="datetimeFigureOut">
              <a:rPr lang="en-US" smtClean="0"/>
              <a:t>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E9889-9D32-47FF-9B25-89B1BA401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0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200" cap="all" spc="2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56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948" y="286604"/>
            <a:ext cx="11788726" cy="920502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948" y="1420837"/>
            <a:ext cx="11788726" cy="4825217"/>
          </a:xfrm>
        </p:spPr>
        <p:txBody>
          <a:bodyPr/>
          <a:lstStyle>
            <a:lvl1pPr>
              <a:buClrTx/>
              <a:defRPr>
                <a:solidFill>
                  <a:schemeClr val="tx1"/>
                </a:solidFill>
              </a:defRPr>
            </a:lvl1pPr>
            <a:lvl2pPr marL="0" indent="-360000">
              <a:buClrTx/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Гламаздин И.И.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66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5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200" cap="all" spc="2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0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7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19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Гламаздин И.И.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37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7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/>
              <a:t>Кафедра информатики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863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64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021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07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5082" y="286603"/>
            <a:ext cx="11746523" cy="9860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5082" y="1390593"/>
            <a:ext cx="11746523" cy="48847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ru-RU"/>
              <a:t>Кафедра информатики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Гламаздин И.И.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1320776"/>
            <a:ext cx="12222480" cy="10831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7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just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-360000" algn="just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Calibri" pitchFamily="34" charset="0"/>
        <a:buChar char="◦"/>
        <a:defRPr sz="3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-maze.com/csharp-task-run-vs-task-factory-startnew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en-us/dotnet/csharp/programming-guide/concepts/async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earn.microsoft.com/ru-ru/dotnet/csharp/asynchronous-programming/task-asynchronous-programming-model#BKMK_WhatHappensUnderstandinganAsyncMethod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depend.com/c-async-await-explained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depend.com/c-async-await-explained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depend.com/c-async-await-explained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ndepend.com/c-async-await-explained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49"/>
          <p:cNvSpPr txBox="1">
            <a:spLocks noGrp="1"/>
          </p:cNvSpPr>
          <p:nvPr>
            <p:ph type="ctrTitle"/>
          </p:nvPr>
        </p:nvSpPr>
        <p:spPr>
          <a:xfrm>
            <a:off x="1105988" y="2416175"/>
            <a:ext cx="9840685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ru-RU" sz="5400" b="1" dirty="0"/>
              <a:t>Основы многопоточного программирования</a:t>
            </a:r>
            <a:r>
              <a:rPr lang="en-US" sz="5400" b="1" dirty="0"/>
              <a:t/>
            </a:r>
            <a:br>
              <a:rPr lang="en-US" sz="5400" b="1" dirty="0"/>
            </a:br>
            <a:r>
              <a:rPr lang="en-US" sz="5400" b="1" dirty="0"/>
              <a:t>TPL</a:t>
            </a:r>
            <a:endParaRPr dirty="0"/>
          </a:p>
        </p:txBody>
      </p:sp>
      <p:sp>
        <p:nvSpPr>
          <p:cNvPr id="1297" name="Google Shape;1297;p149"/>
          <p:cNvSpPr txBox="1"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-RU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sp>
        <p:nvSpPr>
          <p:cNvPr id="1299" name="Google Shape;1299;p14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47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Начиная с выпуска .</a:t>
            </a:r>
            <a:r>
              <a:rPr lang="en-US" dirty="0"/>
              <a:t>NET</a:t>
            </a:r>
            <a:r>
              <a:rPr lang="ru-RU" dirty="0"/>
              <a:t> 4.0, </a:t>
            </a:r>
            <a:r>
              <a:rPr lang="en-US" dirty="0"/>
              <a:t>Microsoft</a:t>
            </a:r>
            <a:r>
              <a:rPr lang="ru-RU" dirty="0"/>
              <a:t> представила новый подход к разработке многопоточных приложений с использованием библиотеки параллельного программирования, названной </a:t>
            </a:r>
            <a:r>
              <a:rPr lang="en-US" b="1" dirty="0"/>
              <a:t>Task Parallel Library</a:t>
            </a:r>
            <a:r>
              <a:rPr lang="ru-RU" b="1" dirty="0"/>
              <a:t> (</a:t>
            </a:r>
            <a:r>
              <a:rPr lang="en-US" b="1" dirty="0"/>
              <a:t>TPL</a:t>
            </a:r>
            <a:r>
              <a:rPr lang="ru-RU" b="1" dirty="0"/>
              <a:t>)</a:t>
            </a:r>
            <a:r>
              <a:rPr lang="ru-RU" dirty="0"/>
              <a:t>. </a:t>
            </a:r>
            <a:endParaRPr lang="ru-RU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79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Используя типы </a:t>
            </a:r>
            <a:r>
              <a:rPr lang="en-US" b="1" dirty="0"/>
              <a:t>System</a:t>
            </a:r>
            <a:r>
              <a:rPr lang="ru-RU" b="1" dirty="0"/>
              <a:t>.</a:t>
            </a:r>
            <a:r>
              <a:rPr lang="en-US" b="1" dirty="0"/>
              <a:t>Threading</a:t>
            </a:r>
            <a:r>
              <a:rPr lang="ru-RU" b="1" dirty="0"/>
              <a:t>.</a:t>
            </a:r>
            <a:r>
              <a:rPr lang="en-US" b="1" dirty="0"/>
              <a:t>Tasks</a:t>
            </a:r>
            <a:r>
              <a:rPr lang="ru-RU" dirty="0"/>
              <a:t>, можно создавать детализированный масштабируемый параллельный код без необходимости работать непосредственно с потоками или пулом потоков.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01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Работать с TPL, а не с оригинальным пространством имен </a:t>
            </a:r>
            <a:r>
              <a:rPr lang="ru-RU" dirty="0" err="1"/>
              <a:t>System.Threading</a:t>
            </a:r>
            <a:r>
              <a:rPr lang="ru-RU" dirty="0"/>
              <a:t> предпочтительнее, поскольку тот же набор задач может быть выполнен более простым способом.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29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ru-RU" sz="4000" dirty="0"/>
              <a:t>Один из ключевых классов в </a:t>
            </a:r>
            <a:r>
              <a:rPr lang="en-US" sz="4000" b="1" dirty="0"/>
              <a:t>System</a:t>
            </a:r>
            <a:r>
              <a:rPr lang="ru-RU" sz="4000" b="1" dirty="0"/>
              <a:t>.</a:t>
            </a:r>
            <a:r>
              <a:rPr lang="en-US" sz="4000" b="1" dirty="0"/>
              <a:t>Threading</a:t>
            </a:r>
            <a:r>
              <a:rPr lang="ru-RU" sz="4000" b="1" dirty="0"/>
              <a:t>.</a:t>
            </a:r>
            <a:r>
              <a:rPr lang="en-US" sz="4000" b="1" dirty="0"/>
              <a:t>Tasks</a:t>
            </a:r>
            <a:r>
              <a:rPr lang="ru-RU" sz="4000" dirty="0"/>
              <a:t> – это класс </a:t>
            </a:r>
            <a:r>
              <a:rPr lang="en-US" sz="4000" b="1" dirty="0"/>
              <a:t>Task</a:t>
            </a:r>
            <a:r>
              <a:rPr lang="ru-RU" sz="4000" dirty="0"/>
              <a:t>.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51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сравнении с потоком тип </a:t>
            </a:r>
            <a:r>
              <a:rPr lang="ru-RU" b="1" dirty="0" err="1"/>
              <a:t>Task</a:t>
            </a:r>
            <a:r>
              <a:rPr lang="ru-RU" dirty="0"/>
              <a:t> — абстракция более высокого уровня, т.к. он представляет параллельную операцию, которая </a:t>
            </a:r>
            <a:r>
              <a:rPr lang="ru-RU" i="1" dirty="0"/>
              <a:t>может быть или не быть </a:t>
            </a:r>
            <a:r>
              <a:rPr lang="ru-RU" dirty="0"/>
              <a:t>подкреплена потоком.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01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Задачи поддерживают возможность </a:t>
            </a:r>
            <a:r>
              <a:rPr lang="ru-RU" i="1" dirty="0"/>
              <a:t>композиции </a:t>
            </a:r>
            <a:r>
              <a:rPr lang="ru-RU" dirty="0"/>
              <a:t>(их можно соединять вместе с использованием </a:t>
            </a:r>
            <a:r>
              <a:rPr lang="ru-RU" i="1" dirty="0"/>
              <a:t>продолжения). </a:t>
            </a:r>
            <a:r>
              <a:rPr lang="ru-RU" dirty="0"/>
              <a:t>Они могут работать с </a:t>
            </a:r>
            <a:r>
              <a:rPr lang="ru-RU" i="1" dirty="0"/>
              <a:t>пулом потоков </a:t>
            </a:r>
            <a:r>
              <a:rPr lang="ru-RU" dirty="0"/>
              <a:t>в целях снижения задержки во время 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75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 помощью класса </a:t>
            </a:r>
            <a:r>
              <a:rPr lang="ru-RU" b="1" i="1" dirty="0" err="1"/>
              <a:t>TaskCompletionSource</a:t>
            </a:r>
            <a:r>
              <a:rPr lang="ru-RU" i="1" dirty="0"/>
              <a:t> </a:t>
            </a:r>
            <a:r>
              <a:rPr lang="ru-RU" dirty="0"/>
              <a:t>задачи позволяют задействовать подход с обратными вызовами, при котором потоки в целом не будут ожидать завершения операций с интенсивным вводом-выводом.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19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Запуск задачи:</a:t>
            </a:r>
          </a:p>
          <a:p>
            <a:endParaRPr lang="ru-RU" dirty="0"/>
          </a:p>
          <a:p>
            <a:pPr>
              <a:buNone/>
            </a:pPr>
            <a:r>
              <a:rPr lang="ru-RU" dirty="0"/>
              <a:t>В версии </a:t>
            </a:r>
            <a:r>
              <a:rPr lang="ru-RU" b="1" dirty="0"/>
              <a:t>.NET </a:t>
            </a:r>
            <a:r>
              <a:rPr lang="ru-RU" b="1" dirty="0" err="1"/>
              <a:t>Framework</a:t>
            </a:r>
            <a:r>
              <a:rPr lang="ru-RU" b="1" dirty="0"/>
              <a:t> 4.0 </a:t>
            </a:r>
            <a:r>
              <a:rPr lang="ru-RU" dirty="0"/>
              <a:t>- вызов статического метода </a:t>
            </a:r>
            <a:r>
              <a:rPr lang="ru-RU" b="1" dirty="0" err="1"/>
              <a:t>Task.Factory.StartNew</a:t>
            </a:r>
            <a:r>
              <a:rPr lang="ru-RU" dirty="0"/>
              <a:t>.</a:t>
            </a:r>
          </a:p>
          <a:p>
            <a:endParaRPr lang="ru-RU" dirty="0"/>
          </a:p>
          <a:p>
            <a:pPr>
              <a:buNone/>
            </a:pPr>
            <a:r>
              <a:rPr lang="ru-RU" dirty="0"/>
              <a:t>Начиная с </a:t>
            </a:r>
            <a:r>
              <a:rPr lang="ru-RU" b="1" dirty="0"/>
              <a:t>.NET </a:t>
            </a:r>
            <a:r>
              <a:rPr lang="ru-RU" b="1" dirty="0" err="1"/>
              <a:t>Framework</a:t>
            </a:r>
            <a:r>
              <a:rPr lang="ru-RU" b="1" dirty="0"/>
              <a:t> 4.5</a:t>
            </a:r>
            <a:r>
              <a:rPr lang="ru-RU" dirty="0"/>
              <a:t>, простейший способ запуска задачи, подкрепленной потоком, предусматривает вызов статического метода </a:t>
            </a:r>
            <a:r>
              <a:rPr lang="ru-RU" b="1" i="1" dirty="0" err="1"/>
              <a:t>Task.Run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331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Отличия </a:t>
            </a:r>
            <a:r>
              <a:rPr lang="en-GB" dirty="0" err="1"/>
              <a:t>Task.Factory.StartNew</a:t>
            </a:r>
            <a:r>
              <a:rPr lang="en-GB" dirty="0"/>
              <a:t> </a:t>
            </a:r>
            <a:r>
              <a:rPr lang="ru-RU" dirty="0"/>
              <a:t>от </a:t>
            </a:r>
            <a:r>
              <a:rPr lang="en-GB" dirty="0" err="1"/>
              <a:t>Task.Run</a:t>
            </a:r>
            <a:r>
              <a:rPr lang="en-GB" dirty="0"/>
              <a:t> – </a:t>
            </a:r>
            <a:r>
              <a:rPr lang="ru-RU" dirty="0"/>
              <a:t>см. </a:t>
            </a:r>
            <a:r>
              <a:rPr lang="en-GB" dirty="0">
                <a:hlinkClick r:id="rId2"/>
              </a:rPr>
              <a:t>https://code-maze.com/csharp-task-run-vs-task-factory-startnew/</a:t>
            </a:r>
            <a:r>
              <a:rPr lang="ru-RU" dirty="0"/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47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Методу </a:t>
            </a:r>
            <a:r>
              <a:rPr lang="en-US" dirty="0"/>
              <a:t>Run</a:t>
            </a:r>
            <a:r>
              <a:rPr lang="ru-RU" dirty="0"/>
              <a:t> нужно просто передать делегат </a:t>
            </a:r>
            <a:r>
              <a:rPr lang="ru-RU" i="1" dirty="0" err="1"/>
              <a:t>Action</a:t>
            </a:r>
            <a:r>
              <a:rPr lang="ru-RU" i="1" dirty="0"/>
              <a:t>:</a:t>
            </a:r>
            <a:endParaRPr lang="en-US" i="1" dirty="0"/>
          </a:p>
          <a:p>
            <a:endParaRPr lang="en-US" dirty="0"/>
          </a:p>
          <a:p>
            <a:r>
              <a:rPr lang="en-US" dirty="0" err="1">
                <a:solidFill>
                  <a:srgbClr val="0070C0"/>
                </a:solidFill>
                <a:latin typeface="Cascadia Mono" panose="020B0609020000020004" pitchFamily="49" charset="0"/>
              </a:rPr>
              <a:t>Task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ascadia Mono" panose="020B0609020000020004" pitchFamily="49" charset="0"/>
              </a:rPr>
              <a:t>"Foo"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829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Запуск задачи</a:t>
            </a:r>
          </a:p>
          <a:p>
            <a:endParaRPr lang="en-US" dirty="0"/>
          </a:p>
          <a:p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"Foo"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ru-RU" sz="2800" dirty="0"/>
          </a:p>
          <a:p>
            <a:endParaRPr lang="ru-RU" dirty="0"/>
          </a:p>
          <a:p>
            <a:r>
              <a:rPr lang="ru-RU" dirty="0"/>
              <a:t>похож на запуск потока (за исключением влияния пула потоков):</a:t>
            </a:r>
            <a:endParaRPr lang="en-US" dirty="0"/>
          </a:p>
          <a:p>
            <a:r>
              <a:rPr lang="ru-RU" dirty="0"/>
              <a:t> </a:t>
            </a:r>
            <a:endParaRPr lang="en-US" dirty="0"/>
          </a:p>
          <a:p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Cascadia Mono" panose="020B0609020000020004" pitchFamily="49" charset="0"/>
              </a:rPr>
              <a:t>Thread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"Foo"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)).Start()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948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Отслеживать состояние выполнения задачи можно с помощью ее свойства </a:t>
            </a:r>
            <a:r>
              <a:rPr lang="ru-RU" b="1" i="1" dirty="0" err="1"/>
              <a:t>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01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Вызов метода </a:t>
            </a:r>
            <a:r>
              <a:rPr lang="ru-RU" b="1" i="1" dirty="0" err="1"/>
              <a:t>Wait</a:t>
            </a:r>
            <a:r>
              <a:rPr lang="ru-RU" i="1" dirty="0"/>
              <a:t> </a:t>
            </a:r>
            <a:r>
              <a:rPr lang="ru-RU" dirty="0"/>
              <a:t>на объекте задачи приводит к блокированию до тех пор, пока она не будет завершена, и эквивалентен вызову метода </a:t>
            </a:r>
            <a:r>
              <a:rPr lang="ru-RU" i="1" dirty="0" err="1"/>
              <a:t>Join</a:t>
            </a:r>
            <a:r>
              <a:rPr lang="ru-RU" i="1" dirty="0"/>
              <a:t> </a:t>
            </a:r>
            <a:r>
              <a:rPr lang="ru-RU" dirty="0"/>
              <a:t>на объекте потока.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937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l">
              <a:spcAft>
                <a:spcPts val="0"/>
              </a:spcAft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.Run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(() =&gt;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Thread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.Sleep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(2000);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"Foo"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task.IsCompleted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False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1270">
              <a:spcAft>
                <a:spcPts val="0"/>
              </a:spcAft>
            </a:pP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task.Wait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lang="en-US" sz="28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Блокируется вплоть до завершения задачи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TimesNewRomanPSMT"/>
                <a:ea typeface="Calibri" panose="020F0502020204030204" pitchFamily="34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425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Метод </a:t>
            </a:r>
            <a:r>
              <a:rPr lang="ru-RU" i="1" dirty="0" err="1"/>
              <a:t>Wait</a:t>
            </a:r>
            <a:r>
              <a:rPr lang="ru-RU" i="1" dirty="0"/>
              <a:t> </a:t>
            </a:r>
            <a:r>
              <a:rPr lang="ru-RU" dirty="0"/>
              <a:t>позволяет дополнительно указывать тайм-аут и признак отмены для раннего завершения ожидания</a:t>
            </a:r>
            <a:endParaRPr lang="en-US" dirty="0"/>
          </a:p>
          <a:p>
            <a:pPr indent="450215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TimesNewRomanPSMT"/>
                <a:ea typeface="Calibri" panose="020F0502020204030204" pitchFamily="34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934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ru-RU" i="1" dirty="0" err="1"/>
              <a:t>Task</a:t>
            </a:r>
            <a:r>
              <a:rPr lang="ru-RU" i="1" dirty="0"/>
              <a:t> </a:t>
            </a:r>
            <a:r>
              <a:rPr lang="ru-RU" dirty="0"/>
              <a:t>имеет обобщенный подкласс по имени </a:t>
            </a:r>
            <a:r>
              <a:rPr lang="ru-RU" b="1" i="1" dirty="0" err="1"/>
              <a:t>Task</a:t>
            </a:r>
            <a:r>
              <a:rPr lang="ru-RU" b="1" i="1" dirty="0"/>
              <a:t>&lt;</a:t>
            </a:r>
            <a:r>
              <a:rPr lang="ru-RU" b="1" i="1" dirty="0" err="1"/>
              <a:t>TResult</a:t>
            </a:r>
            <a:r>
              <a:rPr lang="ru-RU" b="1" i="1" dirty="0"/>
              <a:t>&gt;</a:t>
            </a:r>
            <a:r>
              <a:rPr lang="ru-RU" i="1" dirty="0"/>
              <a:t>, </a:t>
            </a:r>
            <a:r>
              <a:rPr lang="ru-RU" dirty="0"/>
              <a:t>который позволяет задаче выдавать возвращаемое значение. Для получения объекта </a:t>
            </a:r>
            <a:r>
              <a:rPr lang="ru-RU" i="1" dirty="0" err="1"/>
              <a:t>Task</a:t>
            </a:r>
            <a:r>
              <a:rPr lang="ru-RU" i="1" dirty="0"/>
              <a:t>&lt;</a:t>
            </a:r>
            <a:r>
              <a:rPr lang="ru-RU" i="1" dirty="0" err="1"/>
              <a:t>TResult</a:t>
            </a:r>
            <a:r>
              <a:rPr lang="ru-RU" i="1" dirty="0"/>
              <a:t>&gt; </a:t>
            </a:r>
            <a:r>
              <a:rPr lang="ru-RU" dirty="0"/>
              <a:t>можно вызвать метод </a:t>
            </a:r>
            <a:r>
              <a:rPr lang="ru-RU" i="1" dirty="0" err="1"/>
              <a:t>Task.Run</a:t>
            </a:r>
            <a:r>
              <a:rPr lang="ru-RU" i="1" dirty="0"/>
              <a:t> </a:t>
            </a:r>
            <a:r>
              <a:rPr lang="ru-RU" dirty="0"/>
              <a:t>с делегатом </a:t>
            </a:r>
            <a:r>
              <a:rPr lang="ru-RU" i="1" dirty="0" err="1"/>
              <a:t>Func</a:t>
            </a:r>
            <a:r>
              <a:rPr lang="ru-RU" i="1" dirty="0"/>
              <a:t>&lt;</a:t>
            </a:r>
            <a:r>
              <a:rPr lang="ru-RU" i="1" dirty="0" err="1"/>
              <a:t>TResult</a:t>
            </a:r>
            <a:r>
              <a:rPr lang="ru-RU" i="1" dirty="0"/>
              <a:t>&gt; </a:t>
            </a:r>
            <a:r>
              <a:rPr lang="ru-RU" dirty="0"/>
              <a:t>(или совместимым лямбда-выражением) вместо делегата </a:t>
            </a:r>
            <a:r>
              <a:rPr lang="ru-RU" i="1" dirty="0" err="1"/>
              <a:t>Action</a:t>
            </a:r>
            <a:r>
              <a:rPr lang="en-US" sz="2800" dirty="0">
                <a:solidFill>
                  <a:srgbClr val="000000"/>
                </a:solidFill>
                <a:latin typeface="TimesNewRomanPSMT"/>
                <a:ea typeface="Calibri" panose="020F0502020204030204" pitchFamily="34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43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l">
              <a:spcAft>
                <a:spcPts val="0"/>
              </a:spcAft>
            </a:pPr>
            <a:r>
              <a:rPr lang="en-US" sz="3200" dirty="0">
                <a:solidFill>
                  <a:srgbClr val="2B91AF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3200" dirty="0" err="1">
                <a:solidFill>
                  <a:srgbClr val="0000FF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&gt; task = </a:t>
            </a:r>
            <a:r>
              <a:rPr lang="en-US" sz="3200" dirty="0" err="1">
                <a:solidFill>
                  <a:srgbClr val="2B91AF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3200" dirty="0" err="1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.Run</a:t>
            </a:r>
            <a:r>
              <a:rPr lang="en-US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(() =&gt; </a:t>
            </a:r>
            <a:endParaRPr lang="en-US" sz="3200" dirty="0"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en-US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   { </a:t>
            </a:r>
            <a:r>
              <a:rPr lang="en-US" sz="3200" dirty="0">
                <a:solidFill>
                  <a:srgbClr val="2B91AF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3200" dirty="0" err="1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3200" dirty="0">
                <a:solidFill>
                  <a:srgbClr val="A31515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3200" dirty="0" err="1">
                <a:solidFill>
                  <a:srgbClr val="A31515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Foo</a:t>
            </a:r>
            <a:r>
              <a:rPr lang="ru-RU" sz="3200" dirty="0">
                <a:solidFill>
                  <a:srgbClr val="A31515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); </a:t>
            </a:r>
            <a:r>
              <a:rPr lang="ru-RU" sz="3200" dirty="0" err="1">
                <a:solidFill>
                  <a:srgbClr val="0000FF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ru-RU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 3; });</a:t>
            </a:r>
            <a:endParaRPr lang="en-US" sz="3200" dirty="0"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3200" dirty="0">
                <a:solidFill>
                  <a:srgbClr val="00B050"/>
                </a:solidFill>
                <a:ea typeface="Calibri" panose="020F0502020204030204" pitchFamily="34" charset="0"/>
              </a:rPr>
              <a:t>/ / </a:t>
            </a:r>
            <a:r>
              <a:rPr lang="ru-RU" sz="3200" b="1" dirty="0">
                <a:solidFill>
                  <a:srgbClr val="00B050"/>
                </a:solidFill>
                <a:ea typeface="Calibri" panose="020F0502020204030204" pitchFamily="34" charset="0"/>
              </a:rPr>
              <a:t>...</a:t>
            </a:r>
            <a:endParaRPr lang="en-US" sz="3200" dirty="0">
              <a:solidFill>
                <a:srgbClr val="00B050"/>
              </a:solidFill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3200" b="1" dirty="0">
                <a:solidFill>
                  <a:srgbClr val="000000"/>
                </a:solidFill>
                <a:ea typeface="Calibri" panose="020F0502020204030204" pitchFamily="34" charset="0"/>
              </a:rPr>
              <a:t> </a:t>
            </a:r>
            <a:endParaRPr lang="en-US" sz="3200" dirty="0"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  <a:buNone/>
            </a:pPr>
            <a:r>
              <a:rPr lang="ru-RU" sz="3200" dirty="0">
                <a:solidFill>
                  <a:srgbClr val="000000"/>
                </a:solidFill>
                <a:ea typeface="Calibri" panose="020F0502020204030204" pitchFamily="34" charset="0"/>
              </a:rPr>
              <a:t>Позже можно получить результат, запросив свойство </a:t>
            </a:r>
            <a:r>
              <a:rPr lang="ru-RU" sz="3200" i="1" dirty="0" err="1">
                <a:solidFill>
                  <a:srgbClr val="000000"/>
                </a:solidFill>
                <a:ea typeface="Calibri" panose="020F0502020204030204" pitchFamily="34" charset="0"/>
              </a:rPr>
              <a:t>Result</a:t>
            </a:r>
            <a:r>
              <a:rPr lang="ru-RU" sz="3200" i="1" dirty="0">
                <a:solidFill>
                  <a:srgbClr val="000000"/>
                </a:solidFill>
                <a:ea typeface="Calibri" panose="020F0502020204030204" pitchFamily="34" charset="0"/>
              </a:rPr>
              <a:t>.</a:t>
            </a:r>
            <a:endParaRPr lang="en-US" sz="3200" dirty="0"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3200" i="1" dirty="0">
                <a:solidFill>
                  <a:srgbClr val="000000"/>
                </a:solidFill>
                <a:ea typeface="Calibri" panose="020F0502020204030204" pitchFamily="34" charset="0"/>
              </a:rPr>
              <a:t> </a:t>
            </a:r>
            <a:endParaRPr lang="en-US" sz="3200" dirty="0"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en-US" sz="3200" dirty="0" err="1">
                <a:solidFill>
                  <a:srgbClr val="2B91AF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3200" dirty="0" err="1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task.Result</a:t>
            </a:r>
            <a:r>
              <a:rPr lang="en-US" sz="3200" dirty="0">
                <a:solidFill>
                  <a:srgbClr val="000000"/>
                </a:solidFill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3200" dirty="0">
              <a:ea typeface="Calibri" panose="020F0502020204030204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ea typeface="Calibri" panose="020F0502020204030204" pitchFamily="34" charset="0"/>
              </a:rPr>
              <a:t> </a:t>
            </a:r>
            <a:endParaRPr lang="en-US" sz="3200" dirty="0">
              <a:effectLst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19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55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 - пример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 algn="l">
              <a:spcAft>
                <a:spcPts val="0"/>
              </a:spcAft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28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"Основной поток запущен"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task1 =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.Run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(() =&gt;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=0;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&lt;3;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348740" indent="449580" algn="l">
              <a:spcAft>
                <a:spcPts val="0"/>
              </a:spcAft>
            </a:pP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$"Task step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348740" indent="449580" algn="l">
              <a:spcAft>
                <a:spcPts val="0"/>
              </a:spcAft>
            </a:pP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Thread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.Sleep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(300);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3;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8945" indent="450215" algn="l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Thread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.Sleep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(500);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28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"Основной поток проснулся"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(task1.Result);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TimesNewRomanPSMT"/>
                <a:ea typeface="Calibri" panose="020F0502020204030204" pitchFamily="34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20</a:t>
            </a:fld>
            <a:endParaRPr lang="ru-RU"/>
          </a:p>
        </p:txBody>
      </p:sp>
      <p:pic>
        <p:nvPicPr>
          <p:cNvPr id="7" name="Picture 6"/>
          <p:cNvPicPr/>
          <p:nvPr/>
        </p:nvPicPr>
        <p:blipFill rotWithShape="1">
          <a:blip r:embed="rId2"/>
          <a:srcRect l="6097" t="13849" r="72766" b="71111"/>
          <a:stretch/>
        </p:blipFill>
        <p:spPr bwMode="auto">
          <a:xfrm>
            <a:off x="7927360" y="4058194"/>
            <a:ext cx="4058314" cy="16231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542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ru-RU" dirty="0"/>
              <a:t>Иногда нужно </a:t>
            </a:r>
            <a:r>
              <a:rPr lang="ru-RU"/>
              <a:t>вернуть из </a:t>
            </a:r>
            <a:r>
              <a:rPr lang="ru-RU" dirty="0"/>
              <a:t>метода результат задачи без необходимости создавать асинхронную операцию. </a:t>
            </a:r>
            <a:endParaRPr lang="en-US" dirty="0"/>
          </a:p>
          <a:p>
            <a:pPr algn="l">
              <a:spcAft>
                <a:spcPts val="0"/>
              </a:spcAft>
              <a:buNone/>
            </a:pPr>
            <a:endParaRPr lang="ru-RU" dirty="0"/>
          </a:p>
          <a:p>
            <a:pPr algn="l">
              <a:spcAft>
                <a:spcPts val="0"/>
              </a:spcAft>
              <a:buNone/>
            </a:pPr>
            <a:r>
              <a:rPr lang="ru-RU" dirty="0"/>
              <a:t>Это может пригодиться в случае подмены результата операции на заглушку при юнит-тестировании или при возврате заранее известного/рассчитанного результата.</a:t>
            </a:r>
          </a:p>
          <a:p>
            <a:pPr algn="l">
              <a:spcAft>
                <a:spcPts val="0"/>
              </a:spcAft>
              <a:buNone/>
            </a:pP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l">
              <a:spcAft>
                <a:spcPts val="0"/>
              </a:spcAft>
              <a:buNone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25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(</a:t>
            </a:r>
            <a:r>
              <a:rPr lang="ru-RU" dirty="0"/>
              <a:t>Задача)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Example1()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8000"/>
                </a:solidFill>
                <a:latin typeface="Cascadia Mono" panose="020B0609020000020004" pitchFamily="49" charset="0"/>
              </a:rPr>
              <a:t>// ...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.CompletedTask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&gt; Example2()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8000"/>
                </a:solidFill>
                <a:latin typeface="Cascadia Mono" panose="020B0609020000020004" pitchFamily="49" charset="0"/>
              </a:rPr>
              <a:t>// ...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.FromResult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(3);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l">
              <a:spcAft>
                <a:spcPts val="0"/>
              </a:spcAft>
              <a:buNone/>
            </a:pP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769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6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dirty="0"/>
              <a:t>Отличие синхронных операций от асинхронных заключается в следующем:</a:t>
            </a:r>
          </a:p>
          <a:p>
            <a:endParaRPr lang="en-US" dirty="0"/>
          </a:p>
          <a:p>
            <a:r>
              <a:rPr lang="ru-RU" b="1" i="1" dirty="0"/>
              <a:t>Синхронная операция</a:t>
            </a:r>
            <a:r>
              <a:rPr lang="ru-RU" i="1" dirty="0"/>
              <a:t> выполняет свою работу </a:t>
            </a:r>
            <a:r>
              <a:rPr lang="ru-RU" b="1" i="1" dirty="0"/>
              <a:t>перед</a:t>
            </a:r>
            <a:r>
              <a:rPr lang="ru-RU" i="1" dirty="0"/>
              <a:t> возвратом управления вызывающему коду</a:t>
            </a:r>
            <a:endParaRPr lang="en-US" dirty="0"/>
          </a:p>
          <a:p>
            <a:r>
              <a:rPr lang="ru-RU" b="1" i="1" dirty="0"/>
              <a:t>Асинхронная операция </a:t>
            </a:r>
            <a:r>
              <a:rPr lang="ru-RU" i="1" dirty="0"/>
              <a:t>выполняет (большую часть или всю) свою работу </a:t>
            </a:r>
            <a:r>
              <a:rPr lang="ru-RU" b="1" i="1" dirty="0"/>
              <a:t>после</a:t>
            </a:r>
            <a:r>
              <a:rPr lang="ru-RU" i="1" dirty="0"/>
              <a:t> возврата управления вызывающему коду.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113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hlinkClick r:id="rId2"/>
              </a:rPr>
              <a:t>https://docs.microsoft.com/en-us/dotnet/csharp/programming-guide/concepts/async/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3139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dirty="0"/>
              <a:t>Пример синхронных операций:</a:t>
            </a:r>
          </a:p>
          <a:p>
            <a:endParaRPr lang="ru-RU" i="1" dirty="0"/>
          </a:p>
          <a:p>
            <a:r>
              <a:rPr lang="ru-RU" b="1" i="1" dirty="0" err="1"/>
              <a:t>List</a:t>
            </a:r>
            <a:r>
              <a:rPr lang="ru-RU" b="1" i="1" dirty="0"/>
              <a:t>&lt;T&gt;.</a:t>
            </a:r>
            <a:r>
              <a:rPr lang="ru-RU" b="1" i="1" dirty="0" err="1"/>
              <a:t>Add</a:t>
            </a:r>
            <a:r>
              <a:rPr lang="ru-RU" b="1" i="1" dirty="0"/>
              <a:t>,  </a:t>
            </a:r>
            <a:r>
              <a:rPr lang="ru-RU" b="1" i="1" dirty="0" err="1"/>
              <a:t>Console.WriteLine</a:t>
            </a:r>
            <a:r>
              <a:rPr lang="ru-RU" b="1" i="1" dirty="0"/>
              <a:t>  </a:t>
            </a:r>
            <a:r>
              <a:rPr lang="ru-RU" dirty="0"/>
              <a:t>или</a:t>
            </a:r>
            <a:r>
              <a:rPr lang="ru-RU" b="1" dirty="0"/>
              <a:t>  </a:t>
            </a:r>
            <a:r>
              <a:rPr lang="ru-RU" b="1" i="1" dirty="0" err="1"/>
              <a:t>Thread.Sleep</a:t>
            </a:r>
            <a:r>
              <a:rPr lang="ru-RU" b="1" i="1" dirty="0"/>
              <a:t>.</a:t>
            </a:r>
            <a:endParaRPr lang="en-US" b="1" dirty="0"/>
          </a:p>
          <a:p>
            <a:endParaRPr lang="ru-RU" dirty="0"/>
          </a:p>
          <a:p>
            <a:r>
              <a:rPr lang="ru-RU" dirty="0"/>
              <a:t>Пример асинхронных операций:</a:t>
            </a:r>
          </a:p>
          <a:p>
            <a:endParaRPr lang="ru-RU" dirty="0"/>
          </a:p>
          <a:p>
            <a:r>
              <a:rPr lang="ru-RU" dirty="0"/>
              <a:t> </a:t>
            </a:r>
            <a:r>
              <a:rPr lang="en-US" b="1" i="1" dirty="0"/>
              <a:t>Thread</a:t>
            </a:r>
            <a:r>
              <a:rPr lang="ru-RU" b="1" i="1" dirty="0"/>
              <a:t>.</a:t>
            </a:r>
            <a:r>
              <a:rPr lang="en-US" b="1" i="1" dirty="0"/>
              <a:t>Start</a:t>
            </a:r>
            <a:r>
              <a:rPr lang="en-US" b="1" dirty="0"/>
              <a:t> </a:t>
            </a:r>
            <a:r>
              <a:rPr lang="ru-RU" dirty="0"/>
              <a:t>или</a:t>
            </a:r>
            <a:r>
              <a:rPr lang="ru-RU" b="1" dirty="0"/>
              <a:t> </a:t>
            </a:r>
            <a:r>
              <a:rPr lang="en-US" b="1" i="1" dirty="0"/>
              <a:t>Task</a:t>
            </a:r>
            <a:r>
              <a:rPr lang="ru-RU" b="1" i="1" dirty="0"/>
              <a:t>.</a:t>
            </a:r>
            <a:r>
              <a:rPr lang="en-US" b="1" i="1" dirty="0"/>
              <a:t>Run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978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Для описания асинхронных методов в С# используются два ключевых слова: </a:t>
            </a:r>
          </a:p>
          <a:p>
            <a:endParaRPr lang="ru-RU" sz="4000" b="1" i="1" dirty="0"/>
          </a:p>
          <a:p>
            <a:pPr algn="ctr"/>
            <a:r>
              <a:rPr lang="en-US" sz="4000" b="1" i="1" dirty="0" err="1"/>
              <a:t>async</a:t>
            </a:r>
            <a:r>
              <a:rPr lang="en-US" sz="4000" dirty="0"/>
              <a:t> </a:t>
            </a:r>
            <a:r>
              <a:rPr lang="ru-RU" sz="4000" dirty="0"/>
              <a:t>и </a:t>
            </a:r>
            <a:r>
              <a:rPr lang="en-US" sz="4000" b="1" i="1" dirty="0"/>
              <a:t>await</a:t>
            </a:r>
            <a:r>
              <a:rPr lang="ru-RU" sz="4000" dirty="0"/>
              <a:t>.</a:t>
            </a:r>
            <a:endParaRPr lang="en-US" sz="4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36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Ключевое слово </a:t>
            </a:r>
            <a:r>
              <a:rPr lang="ru-RU" sz="4000" b="1" i="1" dirty="0" err="1"/>
              <a:t>async</a:t>
            </a:r>
            <a:r>
              <a:rPr lang="ru-RU" sz="4000" dirty="0"/>
              <a:t> в C # используется для определения того, что метод, лямбда-выражение или анонимный метод должны вызываться асинхронно автоматически</a:t>
            </a:r>
            <a:r>
              <a:rPr lang="ru-RU" sz="4000" dirty="0" smtClean="0"/>
              <a:t>.</a:t>
            </a:r>
          </a:p>
          <a:p>
            <a:endParaRPr lang="ru-RU" sz="4000" dirty="0"/>
          </a:p>
          <a:p>
            <a:endParaRPr lang="en-US" sz="4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702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ru-RU" sz="4000" dirty="0"/>
          </a:p>
          <a:p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29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96948" y="1547390"/>
            <a:ext cx="1169025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Асинхронный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метод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выполняется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синхронным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образом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тех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пор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пока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будет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достигнуто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первое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выражение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await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чего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метод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приостанавливается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пока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будет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завершена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ожидаемая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4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задача</a:t>
            </a:r>
            <a:r>
              <a:rPr lang="en-US" sz="4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86096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4000" dirty="0" smtClean="0"/>
              <a:t>Выражение </a:t>
            </a:r>
            <a:r>
              <a:rPr lang="ru-RU" sz="4000" b="1" dirty="0" err="1"/>
              <a:t>await</a:t>
            </a:r>
            <a:r>
              <a:rPr lang="ru-RU" sz="4000" dirty="0"/>
              <a:t> в асинхронном методе не блокирует текущий поток на время выполнения ожидаемой задачи. Вместо этого выражение регистрирует остальную часть метода как продолжение и возвращает управление вызывающему объекту асинхронного метода.</a:t>
            </a:r>
          </a:p>
          <a:p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482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4000" dirty="0" smtClean="0"/>
              <a:t>Ключевые </a:t>
            </a:r>
            <a:r>
              <a:rPr lang="ru-RU" sz="4000" dirty="0"/>
              <a:t>слова </a:t>
            </a:r>
            <a:r>
              <a:rPr lang="ru-RU" sz="4000" b="1" dirty="0" err="1"/>
              <a:t>async</a:t>
            </a:r>
            <a:r>
              <a:rPr lang="ru-RU" sz="4000" dirty="0"/>
              <a:t> и </a:t>
            </a:r>
            <a:r>
              <a:rPr lang="ru-RU" sz="4000" b="1" dirty="0" err="1"/>
              <a:t>await</a:t>
            </a:r>
            <a:r>
              <a:rPr lang="ru-RU" sz="4000" dirty="0"/>
              <a:t> не вызывают создания дополнительных потоков. </a:t>
            </a:r>
            <a:endParaRPr lang="ru-RU" sz="4000" dirty="0" smtClean="0"/>
          </a:p>
          <a:p>
            <a:pPr>
              <a:buNone/>
            </a:pPr>
            <a:r>
              <a:rPr lang="ru-RU" sz="4000" dirty="0" smtClean="0"/>
              <a:t>Асинхронные </a:t>
            </a:r>
            <a:r>
              <a:rPr lang="ru-RU" sz="4000" dirty="0"/>
              <a:t>методы не требуют </a:t>
            </a:r>
            <a:r>
              <a:rPr lang="ru-RU" sz="4000" dirty="0" err="1"/>
              <a:t>многопоточности</a:t>
            </a:r>
            <a:r>
              <a:rPr lang="ru-RU" sz="4000" dirty="0"/>
              <a:t>, поскольку асинхронный метод не выполняется в собственном потоке. </a:t>
            </a:r>
            <a:endParaRPr lang="ru-RU" sz="4000" dirty="0" smtClean="0"/>
          </a:p>
          <a:p>
            <a:pPr>
              <a:buNone/>
            </a:pPr>
            <a:r>
              <a:rPr lang="ru-RU" sz="4000" dirty="0" smtClean="0"/>
              <a:t>Метод </a:t>
            </a:r>
            <a:r>
              <a:rPr lang="ru-RU" sz="4000" dirty="0"/>
              <a:t>выполняется в текущем </a:t>
            </a:r>
            <a:r>
              <a:rPr lang="ru-RU" sz="4000" b="1" dirty="0"/>
              <a:t>контексте синхронизации</a:t>
            </a:r>
            <a:r>
              <a:rPr lang="ru-RU" sz="4000" dirty="0"/>
              <a:t> и использует время в потоке, только когда метод активен.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019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4000" dirty="0" err="1"/>
              <a:t>SynchronizationContext</a:t>
            </a:r>
            <a:r>
              <a:rPr lang="ru-RU" sz="4000" dirty="0"/>
              <a:t> — </a:t>
            </a:r>
            <a:r>
              <a:rPr lang="ru-RU" sz="4000" dirty="0" smtClean="0"/>
              <a:t>это абстракция, </a:t>
            </a:r>
            <a:r>
              <a:rPr lang="ru-RU" sz="4000" dirty="0"/>
              <a:t>представление текущей среды, в которой выполняется наш код. 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8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dirty="0" smtClean="0"/>
              <a:t>В </a:t>
            </a:r>
            <a:r>
              <a:rPr lang="ru-RU" dirty="0"/>
              <a:t>асинхронной программе, когда мы делегируем единицу работы другому потоку, мы захватываем текущую </a:t>
            </a:r>
            <a:r>
              <a:rPr lang="ru-RU" dirty="0" smtClean="0"/>
              <a:t>среду, сохраняем </a:t>
            </a:r>
            <a:r>
              <a:rPr lang="ru-RU" dirty="0"/>
              <a:t>ее в экземпляре </a:t>
            </a:r>
            <a:r>
              <a:rPr lang="ru-RU" dirty="0" err="1"/>
              <a:t>SynchronizationContext</a:t>
            </a:r>
            <a:r>
              <a:rPr lang="ru-RU" dirty="0"/>
              <a:t> и помещаем его в объект </a:t>
            </a:r>
            <a:r>
              <a:rPr lang="ru-RU" dirty="0" err="1"/>
              <a:t>Task</a:t>
            </a:r>
            <a:r>
              <a:rPr lang="ru-RU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518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4000" dirty="0"/>
              <a:t>Проще говоря, </a:t>
            </a:r>
            <a:r>
              <a:rPr lang="ru-RU" sz="4000" dirty="0" err="1"/>
              <a:t>SynchronizationContext</a:t>
            </a:r>
            <a:r>
              <a:rPr lang="ru-RU" sz="4000" dirty="0"/>
              <a:t> представляет собой место, "где" может быть выполнен код. 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447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learn.microsoft.com/ru-ru/dotnet/csharp/asynchronous-programming/task-asynchronous-programming-model#BKMK_WhatHappensUnderstandinganAsyncMethod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pic>
        <p:nvPicPr>
          <p:cNvPr id="6146" name="Picture 2" descr="Trace navigation of async control flow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966" y="1420813"/>
            <a:ext cx="7242543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813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>
              <a:spcAft>
                <a:spcPts val="0"/>
              </a:spcAft>
            </a:pPr>
            <a:r>
              <a:rPr lang="ru-RU" sz="3200" dirty="0"/>
              <a:t>Пример: асинхронный метод</a:t>
            </a:r>
            <a:endParaRPr lang="en-US" sz="3200" dirty="0"/>
          </a:p>
          <a:p>
            <a:pPr indent="450215">
              <a:spcAft>
                <a:spcPts val="0"/>
              </a:spcAft>
            </a:pPr>
            <a:r>
              <a:rPr lang="ru-RU" sz="2800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async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DemoAsync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await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Task.Run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(() =&gt;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3; 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ru-RU" sz="2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$"Task step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899160" indent="449580" algn="l">
              <a:spcAft>
                <a:spcPts val="0"/>
              </a:spcAft>
            </a:pPr>
            <a:r>
              <a:rPr lang="ru-RU" sz="28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Thread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.Sleep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(300);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49580" indent="449580" algn="l">
              <a:spcAft>
                <a:spcPts val="0"/>
              </a:spcAft>
            </a:pP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3;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});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36</a:t>
            </a:fld>
            <a:endParaRPr lang="ru-RU"/>
          </a:p>
        </p:txBody>
      </p:sp>
      <p:sp>
        <p:nvSpPr>
          <p:cNvPr id="15" name="Rounded Rectangle 14"/>
          <p:cNvSpPr/>
          <p:nvPr/>
        </p:nvSpPr>
        <p:spPr>
          <a:xfrm>
            <a:off x="1863634" y="2203269"/>
            <a:ext cx="1254035" cy="4963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2490651" y="2665194"/>
            <a:ext cx="1254035" cy="4963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798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Метод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использующий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DemoAsync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async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DoWorkAsync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sz="32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.WriteLine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32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DoWorkAsync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3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запущена</a:t>
            </a:r>
            <a:r>
              <a:rPr lang="en-US" sz="3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l">
              <a:spcAft>
                <a:spcPts val="0"/>
              </a:spcAft>
            </a:pP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3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await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DemoAsync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37</a:t>
            </a:fld>
            <a:endParaRPr lang="ru-RU"/>
          </a:p>
        </p:txBody>
      </p:sp>
      <p:sp>
        <p:nvSpPr>
          <p:cNvPr id="15" name="Rounded Rectangle 14"/>
          <p:cNvSpPr/>
          <p:nvPr/>
        </p:nvSpPr>
        <p:spPr>
          <a:xfrm>
            <a:off x="3396342" y="2394858"/>
            <a:ext cx="1254035" cy="4963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580708" y="3718931"/>
            <a:ext cx="1254035" cy="4963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824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450215">
              <a:spcAft>
                <a:spcPts val="0"/>
              </a:spcAft>
            </a:pPr>
            <a:r>
              <a:rPr lang="ru-RU" dirty="0"/>
              <a:t>В методе </a:t>
            </a:r>
            <a:r>
              <a:rPr lang="en-US" dirty="0"/>
              <a:t>Main</a:t>
            </a:r>
            <a:r>
              <a:rPr lang="ru-RU" dirty="0"/>
              <a:t>:</a:t>
            </a:r>
            <a:endParaRPr lang="en-US" dirty="0"/>
          </a:p>
          <a:p>
            <a:pPr indent="450215">
              <a:spcAft>
                <a:spcPts val="0"/>
              </a:spcAft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3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"Основной поток запущен"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32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task =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DoWorkAsync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3200" dirty="0" err="1" smtClean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Thread</a:t>
            </a:r>
            <a:r>
              <a:rPr lang="en-US" sz="3200" dirty="0" err="1" smtClean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.Sleep</a:t>
            </a:r>
            <a:r>
              <a:rPr lang="en-US" sz="3200" dirty="0" smtClean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(500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l">
              <a:spcAft>
                <a:spcPts val="0"/>
              </a:spcAft>
            </a:pPr>
            <a:r>
              <a:rPr lang="en-US" sz="32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WriteLine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32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"Основной поток проснулся"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3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task.Wait</a:t>
            </a: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67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</a:t>
            </a:r>
            <a:r>
              <a:rPr lang="ru-RU" dirty="0" smtClean="0"/>
              <a:t>операции (Пример 2)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b="1" dirty="0" smtClean="0"/>
              <a:t>См. </a:t>
            </a:r>
            <a:r>
              <a:rPr lang="en-GB" sz="2800" b="1" dirty="0" err="1" smtClean="0"/>
              <a:t>AsyncAwait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39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68396" y="5876722"/>
            <a:ext cx="6917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hlinkClick r:id="rId2"/>
              </a:rPr>
              <a:t>https://blog.ndepend.com/c-async-await-explained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hlinkClick r:id="rId2"/>
              </a:rPr>
              <a:t>/</a:t>
            </a:r>
            <a:r>
              <a:rPr lang="ru-RU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16768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</a:t>
            </a:r>
            <a:r>
              <a:rPr lang="ru-RU" dirty="0" smtClean="0"/>
              <a:t>операции (Пример 2)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MethodAAsync</a:t>
            </a:r>
            <a:r>
              <a:rPr lang="en-US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US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nn-NO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n-NO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28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nn-NO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5; i++</a:t>
            </a:r>
            <a:r>
              <a:rPr lang="nn-NO" sz="28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ConsoleWriteLine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 A</a:t>
            </a:r>
            <a:r>
              <a:rPr lang="en-US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.Delay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100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 = 123;</a:t>
            </a:r>
          </a:p>
          <a:p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GB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ConsoleWriteLine</a:t>
            </a:r>
            <a:r>
              <a:rPr lang="en-GB" sz="28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GB" sz="2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 A returns result </a:t>
            </a:r>
            <a:r>
              <a:rPr lang="en-GB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</a:t>
            </a:r>
            <a:r>
              <a:rPr lang="en-GB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GB" sz="2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GB" sz="28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result;</a:t>
            </a:r>
          </a:p>
          <a:p>
            <a:r>
              <a:rPr lang="en-US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68396" y="5876722"/>
            <a:ext cx="6917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hlinkClick r:id="rId2"/>
              </a:rPr>
              <a:t>https://blog.ndepend.com/c-async-await-explained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hlinkClick r:id="rId2"/>
              </a:rPr>
              <a:t>/</a:t>
            </a:r>
            <a:r>
              <a:rPr lang="ru-RU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sz="1800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872762" y="3455377"/>
            <a:ext cx="5319346" cy="5187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23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</a:t>
            </a:r>
            <a:r>
              <a:rPr lang="ru-RU" dirty="0" smtClean="0"/>
              <a:t>операции (Пример 2)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ConsoleWriteLine</a:t>
            </a:r>
            <a:r>
              <a:rPr lang="en-US" sz="24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</a:t>
            </a:r>
            <a:r>
              <a:rPr lang="en-US" sz="24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.CurrentThread.ManagedThreadId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GB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.ForegroundColor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threadId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== 1 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</a:t>
            </a:r>
            <a:r>
              <a:rPr lang="en-GB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</a:t>
            </a:r>
            <a:r>
              <a:rPr lang="en-GB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ConsoleColor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.White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   </a:t>
            </a:r>
            <a:r>
              <a:rPr lang="en-GB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 </a:t>
            </a:r>
            <a:r>
              <a:rPr lang="en-GB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ConsoleColor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.Cyan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GB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</a:t>
            </a:r>
            <a:r>
              <a:rPr lang="en-GB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}{</a:t>
            </a:r>
            <a:r>
              <a:rPr lang="en-GB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GB" sz="24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'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26 - 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str.Length</a:t>
            </a:r>
            <a:r>
              <a:rPr lang="en-GB" sz="24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GB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Thread </a:t>
            </a:r>
            <a:r>
              <a:rPr lang="en-GB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threadId</a:t>
            </a:r>
            <a:r>
              <a:rPr lang="en-GB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GB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68396" y="5876722"/>
            <a:ext cx="6917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hlinkClick r:id="rId2"/>
              </a:rPr>
              <a:t>https://blog.ndepend.com/c-async-await-explained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hlinkClick r:id="rId2"/>
              </a:rPr>
              <a:t>/</a:t>
            </a:r>
            <a:r>
              <a:rPr lang="ru-RU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70182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</a:t>
            </a:r>
            <a:r>
              <a:rPr lang="ru-RU" dirty="0" smtClean="0"/>
              <a:t>операции (Пример 2)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i="1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 классе </a:t>
            </a:r>
            <a:r>
              <a:rPr lang="en-GB" sz="2800" i="1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Program:</a:t>
            </a: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ConsoleWriteLine</a:t>
            </a:r>
            <a:r>
              <a:rPr lang="en-US" sz="2400" dirty="0" smtClean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Start Program"</a:t>
            </a:r>
            <a:r>
              <a:rPr lang="en-US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MethodAAsync</a:t>
            </a:r>
            <a:r>
              <a:rPr lang="en-US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 = 0; i &lt; 5; i++</a:t>
            </a:r>
            <a:r>
              <a:rPr lang="nn-NO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ConsoleWriteLine</a:t>
            </a:r>
            <a:r>
              <a:rPr lang="en-US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 B</a:t>
            </a:r>
            <a:r>
              <a:rPr lang="en-US" sz="24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.Delay</a:t>
            </a:r>
            <a:r>
              <a:rPr lang="en-US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50</a:t>
            </a:r>
            <a:r>
              <a:rPr lang="en-US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.Wait</a:t>
            </a:r>
            <a:r>
              <a:rPr lang="en-US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ConsoleWriteLine</a:t>
            </a:r>
            <a:r>
              <a:rPr lang="en-GB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"Wait for </a:t>
            </a:r>
            <a:r>
              <a:rPr lang="en-GB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taskA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termination"</a:t>
            </a:r>
            <a:r>
              <a:rPr lang="en-GB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ConsoleWriteLine</a:t>
            </a:r>
            <a:r>
              <a:rPr lang="en-GB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$"The result of </a:t>
            </a:r>
            <a:r>
              <a:rPr lang="en-GB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taskA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is </a:t>
            </a:r>
            <a:r>
              <a:rPr lang="en-GB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GB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taskA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.Result</a:t>
            </a:r>
            <a:r>
              <a:rPr lang="en-GB" sz="24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GB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GB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.ReadKey</a:t>
            </a:r>
            <a:r>
              <a:rPr lang="en-US" sz="24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068396" y="5876722"/>
            <a:ext cx="6917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hlinkClick r:id="rId2"/>
              </a:rPr>
              <a:t>https://blog.ndepend.com/c-async-await-explained</a:t>
            </a:r>
            <a:r>
              <a:rPr 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  <a:hlinkClick r:id="rId2"/>
              </a:rPr>
              <a:t>/</a:t>
            </a:r>
            <a:r>
              <a:rPr lang="ru-RU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007999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4000" dirty="0"/>
              <a:t>Если </a:t>
            </a:r>
            <a:r>
              <a:rPr lang="ru-RU" sz="4000" dirty="0" smtClean="0"/>
              <a:t>метод</a:t>
            </a:r>
            <a:r>
              <a:rPr lang="en-GB" sz="4000" dirty="0" smtClean="0"/>
              <a:t> c </a:t>
            </a:r>
            <a:r>
              <a:rPr lang="ru-RU" sz="4000" dirty="0" smtClean="0"/>
              <a:t>ключевым </a:t>
            </a:r>
            <a:r>
              <a:rPr lang="ru-RU" sz="4000" dirty="0"/>
              <a:t>словом </a:t>
            </a:r>
            <a:r>
              <a:rPr lang="ru-RU" sz="4000" b="1" dirty="0" err="1"/>
              <a:t>async</a:t>
            </a:r>
            <a:r>
              <a:rPr lang="ru-RU" sz="4000" dirty="0"/>
              <a:t>, не содержит выражения или оператора </a:t>
            </a:r>
            <a:r>
              <a:rPr lang="ru-RU" sz="4000" b="1" dirty="0" err="1"/>
              <a:t>await</a:t>
            </a:r>
            <a:r>
              <a:rPr lang="ru-RU" sz="4000" dirty="0"/>
              <a:t>, метод выполняется синхронно.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1339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ru-RU" dirty="0"/>
              <a:t>При использовании задач вместо </a:t>
            </a:r>
            <a:r>
              <a:rPr lang="en-US" dirty="0" err="1"/>
              <a:t>Thread.Sleep</a:t>
            </a:r>
            <a:r>
              <a:rPr lang="en-US" dirty="0"/>
              <a:t> </a:t>
            </a:r>
            <a:r>
              <a:rPr lang="ru-RU" dirty="0"/>
              <a:t>рекомендуется использовать метод </a:t>
            </a:r>
            <a:r>
              <a:rPr lang="en-US" dirty="0" err="1"/>
              <a:t>Task.Delay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8022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DemoAsync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() =&gt;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3; i++)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24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 step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(300);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3;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45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6305006" y="2072640"/>
            <a:ext cx="1210491" cy="5399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766457" y="3897086"/>
            <a:ext cx="4210594" cy="5399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992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ru-RU" dirty="0"/>
              <a:t>В </a:t>
            </a:r>
            <a:r>
              <a:rPr lang="en-US" dirty="0"/>
              <a:t>C#, </a:t>
            </a:r>
            <a:r>
              <a:rPr lang="ru-RU" dirty="0"/>
              <a:t>начиная с версии 7.1 метод </a:t>
            </a:r>
            <a:r>
              <a:rPr lang="en-US" dirty="0"/>
              <a:t>Main </a:t>
            </a:r>
            <a:r>
              <a:rPr lang="ru-RU" dirty="0"/>
              <a:t>класса </a:t>
            </a:r>
            <a:r>
              <a:rPr lang="en-US" dirty="0"/>
              <a:t>Program </a:t>
            </a:r>
            <a:r>
              <a:rPr lang="ru-RU" dirty="0"/>
              <a:t>может быть асинхронным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3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028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Основной поток запущен"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task =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DemoAsync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(500);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Основной поток проснулся"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task.Wait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47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1793966" y="1349829"/>
            <a:ext cx="2238103" cy="6531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1136469" y="3065416"/>
            <a:ext cx="4741817" cy="4441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820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ru-RU" sz="2800" dirty="0"/>
              <a:t>Ожидание завершения нескольких задач</a:t>
            </a:r>
          </a:p>
          <a:p>
            <a:pPr>
              <a:spcAft>
                <a:spcPts val="0"/>
              </a:spcAft>
              <a:buNone/>
            </a:pP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DemoAsync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() =&gt;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Thread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.CurrentThread.ManagedThreadId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3; i++)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4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$"Task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threadId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step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(300);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</a:p>
          <a:p>
            <a:r>
              <a:rPr lang="ru-RU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3;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48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775063" y="3457303"/>
            <a:ext cx="9805851" cy="5050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878287" y="4464147"/>
            <a:ext cx="1889760" cy="6477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5027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ru-RU" sz="2800" dirty="0"/>
              <a:t>Ожидание завершения нескольких задач</a:t>
            </a:r>
          </a:p>
          <a:p>
            <a:pPr>
              <a:spcAft>
                <a:spcPts val="0"/>
              </a:spcAft>
              <a:buNone/>
            </a:pPr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Task Main(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[]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Основной поток запущен"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task1 =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DemoAsync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task2 =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DemoAsync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(500);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Основной поток проснулся"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.WaitAll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(task1,task2);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Завершение программы"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>
              <a:spcAft>
                <a:spcPts val="0"/>
              </a:spcAft>
            </a:pPr>
            <a:r>
              <a:rPr lang="ru-RU" sz="28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49</a:t>
            </a:fld>
            <a:endParaRPr lang="ru-RU"/>
          </a:p>
        </p:txBody>
      </p:sp>
      <p:sp>
        <p:nvSpPr>
          <p:cNvPr id="3" name="Rounded Rectangle 2"/>
          <p:cNvSpPr/>
          <p:nvPr/>
        </p:nvSpPr>
        <p:spPr>
          <a:xfrm>
            <a:off x="661851" y="4885509"/>
            <a:ext cx="6113418" cy="7837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2521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Асинхронные операции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ru-RU" sz="2800" dirty="0"/>
              <a:t>Ожидание завершения нескольких задач</a:t>
            </a:r>
            <a:endParaRPr lang="ru-RU" sz="2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buNone/>
            </a:pPr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tasks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[3];</a:t>
            </a:r>
          </a:p>
          <a:p>
            <a:pPr>
              <a:buNone/>
            </a:pP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=0;i&lt;3;i++)</a:t>
            </a:r>
          </a:p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tasks[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]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() =&gt;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DoWorkAsync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запущена"</a:t>
            </a:r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DemoAsync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            </a:t>
            </a:r>
          </a:p>
          <a:p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task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tasks)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task.Start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(500);</a:t>
            </a:r>
          </a:p>
          <a:p>
            <a:r>
              <a:rPr lang="en-US" sz="20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Первичный поток проснулся ..."</a:t>
            </a:r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.WhenAll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(tasks);</a:t>
            </a:r>
          </a:p>
          <a:p>
            <a:r>
              <a:rPr lang="ru-RU" sz="20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ru-RU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ru-RU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"Программа ожидает ввода с клавиатуры ..."</a:t>
            </a:r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0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.ReadLine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r>
              <a:rPr lang="ru-RU" sz="20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062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789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асинхронном программировании часто одна асинхронная операция по завершении вызывает другую операцию. Это позволяет дочерним операциям использовать результаты первой операции.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3845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Традиционно продолжения выполнялись с использованием методов обратного вызова (</a:t>
            </a:r>
            <a:r>
              <a:rPr lang="en-US" dirty="0"/>
              <a:t>Call-back</a:t>
            </a:r>
            <a:r>
              <a:rPr lang="ru-RU" dirty="0"/>
              <a:t>). </a:t>
            </a:r>
            <a:endParaRPr lang="en-US" dirty="0"/>
          </a:p>
          <a:p>
            <a:pPr>
              <a:buNone/>
            </a:pPr>
            <a:r>
              <a:rPr lang="ru-RU" dirty="0"/>
              <a:t>В библиотеке </a:t>
            </a:r>
            <a:r>
              <a:rPr lang="en-US" dirty="0"/>
              <a:t>TPL </a:t>
            </a:r>
            <a:r>
              <a:rPr lang="ru-RU" dirty="0"/>
              <a:t>эту функциональность предоставляют задачи продолжения (</a:t>
            </a:r>
            <a:r>
              <a:rPr lang="en-US" dirty="0"/>
              <a:t>Continuation Tasks)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304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Задача продолжения (продолжение) - это асинхронная задача, которая вызывается предыдущей (</a:t>
            </a:r>
            <a:r>
              <a:rPr lang="en-US" b="1" i="1" dirty="0"/>
              <a:t>antecedent</a:t>
            </a:r>
            <a:r>
              <a:rPr lang="ru-RU" dirty="0"/>
              <a:t>) задачей, по ее (предыдущей задачи) завершении.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897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Цепочки задач позволяют: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Передавать данные из антецедента в продолжение.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Указывать точные условия, при которых продолжение будет вызываться или не вызываться.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Отменять продолжение либо до его запуска, либо совместно во время его выполнения.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Давать подсказки о том, как следует запланировать продолжение.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55</a:t>
            </a:fld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96948" y="6287612"/>
            <a:ext cx="1184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https://docs.microsoft.com/en-us/dotnet/standard/parallel-programming/chaining-tasks-by-using-continuation-tasks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3010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Цепочки задач позволяют (продолжение):</a:t>
            </a:r>
          </a:p>
          <a:p>
            <a:endParaRPr lang="ru-RU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Вызывать несколько продолжений от одного и того же антецедента.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Вызывать одно продолжения после завершения всех или любого из нескольких предшествующих задач.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Продолжать цепочки одно за другим на произвольную длину.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ru-RU" dirty="0"/>
              <a:t>Использовать продолжение для обработки исключений, созданных антецедентом.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56</a:t>
            </a:fld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96948" y="6455578"/>
            <a:ext cx="1184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https://docs.microsoft.com/en-us/dotnet/standard/parallel-programming/chaining-tasks-by-using-continuation-tasks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1959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DayOfWeek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&gt; task1 =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DayOfWeek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&gt;(() =&gt;</a:t>
            </a:r>
          </a:p>
          <a:p>
            <a:pPr lvl="1" indent="0">
              <a:buNone/>
            </a:pP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DateTime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.Today.DayOfWeek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lvl="1" indent="0">
              <a:buNone/>
            </a:pP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task2 = task1.ContinueWith(antecedent =&gt;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$"Today is 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antecedent.Result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."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taskA.Start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task2;</a:t>
            </a:r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7281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DayOfWeek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taskA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DateTime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.Today.DayOfWeek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08000"/>
                </a:solidFill>
                <a:latin typeface="Cascadia Mono" panose="020B0609020000020004" pitchFamily="49" charset="0"/>
              </a:rPr>
              <a:t>//Execute the continuation when the antecedent finishes.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taskA.ContinueWith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(antecedent =&gt;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$"Today is 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antecedent.Result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."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58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96948" y="6455578"/>
            <a:ext cx="1184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https://docs.microsoft.com/en-us/dotnet/standard/parallel-programming/chaining-tasks-by-using-continuation-tasks</a:t>
            </a:r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8995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Цепочки задач (</a:t>
            </a:r>
            <a:r>
              <a:rPr lang="en-US" dirty="0"/>
              <a:t>Continuation Tasks) (</a:t>
            </a:r>
            <a:r>
              <a:rPr lang="ru-RU" dirty="0"/>
              <a:t>проверка результата </a:t>
            </a:r>
            <a:r>
              <a:rPr lang="en-US" dirty="0" err="1"/>
              <a:t>antecendent</a:t>
            </a:r>
            <a:r>
              <a:rPr lang="en-US" dirty="0"/>
              <a:t>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() =&gt;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DateTime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date =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DateTime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.Now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date.Hour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17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? 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"evening"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: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date.Hour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12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? 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"afternoon"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: 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"morning"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.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ContinueWith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antecedent =&gt;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antecedent.Status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TaskStatus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.RanToCompletion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$"Good 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antecedent.Result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!"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$"And how are you this fine 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antecedent.Result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?"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antecedent.Status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TaskStatus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.Faulted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2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antecedent.Exception.GetBaseException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().Message);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});</a:t>
            </a:r>
            <a:endParaRPr lang="ru-RU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59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5242560" y="3640183"/>
            <a:ext cx="3178629" cy="5050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612674" y="4576354"/>
            <a:ext cx="2634343" cy="5050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568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Отмена задачи (</a:t>
            </a:r>
            <a:r>
              <a:rPr lang="en-US" dirty="0"/>
              <a:t>Task Cancellation)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929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Отмена задачи (</a:t>
            </a:r>
            <a:r>
              <a:rPr lang="en-US" dirty="0"/>
              <a:t>Task Cancellation)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Начиная с .NET </a:t>
            </a:r>
            <a:r>
              <a:rPr lang="ru-RU" dirty="0" err="1"/>
              <a:t>Framework</a:t>
            </a:r>
            <a:r>
              <a:rPr lang="ru-RU" dirty="0"/>
              <a:t> 4, .NET использует единую модель для отмены асинхронных или длительных синхронных операций. </a:t>
            </a:r>
            <a:endParaRPr lang="en-US" dirty="0"/>
          </a:p>
          <a:p>
            <a:r>
              <a:rPr lang="ru-RU" dirty="0"/>
              <a:t>Эта модель основана на объекте, называемом </a:t>
            </a:r>
            <a:r>
              <a:rPr lang="ru-RU" dirty="0" err="1"/>
              <a:t>токеном</a:t>
            </a:r>
            <a:r>
              <a:rPr lang="ru-RU" dirty="0"/>
              <a:t> отмены</a:t>
            </a:r>
            <a:r>
              <a:rPr lang="en-US" dirty="0"/>
              <a:t> (Cancellation token)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840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Отмена задачи (</a:t>
            </a:r>
            <a:r>
              <a:rPr lang="en-US" dirty="0"/>
              <a:t>Task Cancellation)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571500" fontAlgn="t">
              <a:buFont typeface="Wingdings" panose="05000000000000000000" pitchFamily="2" charset="2"/>
              <a:buChar char="q"/>
            </a:pPr>
            <a:r>
              <a:rPr lang="ru-RU" dirty="0"/>
              <a:t>Создается экземпляр </a:t>
            </a:r>
            <a:r>
              <a:rPr lang="ru-RU" dirty="0" err="1"/>
              <a:t>CancellationTokenSource</a:t>
            </a:r>
            <a:r>
              <a:rPr lang="ru-RU" dirty="0"/>
              <a:t> (</a:t>
            </a:r>
            <a:r>
              <a:rPr lang="ru-RU" dirty="0" err="1"/>
              <a:t>cts</a:t>
            </a:r>
            <a:r>
              <a:rPr lang="ru-RU" dirty="0"/>
              <a:t>).</a:t>
            </a:r>
          </a:p>
          <a:p>
            <a:pPr marL="571500" indent="-571500" fontAlgn="t">
              <a:buFont typeface="Wingdings" panose="05000000000000000000" pitchFamily="2" charset="2"/>
              <a:buChar char="q"/>
            </a:pPr>
            <a:r>
              <a:rPr lang="ru-RU" dirty="0" err="1"/>
              <a:t>cts.Token</a:t>
            </a:r>
            <a:r>
              <a:rPr lang="ru-RU" dirty="0"/>
              <a:t> отправляется параметром в задачу.</a:t>
            </a:r>
          </a:p>
          <a:p>
            <a:pPr marL="571500" indent="-571500" fontAlgn="t">
              <a:buFont typeface="Wingdings" panose="05000000000000000000" pitchFamily="2" charset="2"/>
              <a:buChar char="q"/>
            </a:pPr>
            <a:r>
              <a:rPr lang="ru-RU" dirty="0"/>
              <a:t>При необходимости отмены задачи для экземпляра </a:t>
            </a:r>
            <a:r>
              <a:rPr lang="ru-RU" dirty="0" err="1"/>
              <a:t>CancellationTokenSource</a:t>
            </a:r>
            <a:r>
              <a:rPr lang="ru-RU" dirty="0"/>
              <a:t> вызывается метод </a:t>
            </a:r>
            <a:r>
              <a:rPr lang="ru-RU" dirty="0" err="1"/>
              <a:t>Cancel</a:t>
            </a:r>
            <a:r>
              <a:rPr lang="ru-RU" dirty="0"/>
              <a:t>().</a:t>
            </a:r>
          </a:p>
          <a:p>
            <a:pPr marL="571500" indent="-571500" fontAlgn="t">
              <a:buFont typeface="Wingdings" panose="05000000000000000000" pitchFamily="2" charset="2"/>
              <a:buChar char="q"/>
            </a:pPr>
            <a:r>
              <a:rPr lang="ru-RU" dirty="0"/>
              <a:t>Внутри кода задачи на </a:t>
            </a:r>
            <a:r>
              <a:rPr lang="ru-RU" dirty="0" err="1"/>
              <a:t>токене</a:t>
            </a:r>
            <a:r>
              <a:rPr lang="ru-RU" dirty="0"/>
              <a:t> вызывается метод </a:t>
            </a:r>
            <a:r>
              <a:rPr lang="ru-RU" dirty="0" err="1"/>
              <a:t>ThrowIfCancellationRequested</a:t>
            </a:r>
            <a:r>
              <a:rPr lang="ru-RU" dirty="0"/>
              <a:t>(), который выбрасывает исключение в случае, если в </a:t>
            </a:r>
            <a:r>
              <a:rPr lang="ru-RU" dirty="0" err="1"/>
              <a:t>CancellationTokenSource</a:t>
            </a:r>
            <a:r>
              <a:rPr lang="ru-RU" dirty="0"/>
              <a:t> произошла отмена. Если </a:t>
            </a:r>
            <a:r>
              <a:rPr lang="ru-RU" dirty="0" err="1"/>
              <a:t>токен</a:t>
            </a:r>
            <a:r>
              <a:rPr lang="ru-RU" dirty="0"/>
              <a:t> был ассоциирован с задачей при создании, исключение будет перехвачено, выполнение задачи остановлено (так как исключение), ей будет выставлен статус </a:t>
            </a:r>
            <a:r>
              <a:rPr lang="ru-RU" dirty="0" err="1"/>
              <a:t>Cancelled</a:t>
            </a:r>
            <a:r>
              <a:rPr lang="ru-RU" dirty="0"/>
              <a:t>. В противном случае задача перейдет в статус </a:t>
            </a:r>
            <a:r>
              <a:rPr lang="ru-RU" dirty="0" err="1"/>
              <a:t>Faulted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6336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Отмена задачи (</a:t>
            </a:r>
            <a:r>
              <a:rPr lang="en-US" dirty="0"/>
              <a:t>Task Cancellation)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CancellationTokenSource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tokenSource.Token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token.Register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"Token works"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 =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() =&gt;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{                </a:t>
            </a:r>
          </a:p>
          <a:p>
            <a:r>
              <a:rPr lang="ru-RU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(10000, token);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}, token);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try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//производим отмену на 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CancellationTokenSource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tokenSource.Cancel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ru-RU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//Получим </a:t>
            </a:r>
            <a:r>
              <a:rPr lang="ru-RU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TaskCanceledException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B0F0"/>
                </a:solidFill>
                <a:latin typeface="Cascadia Mono" panose="020B0609020000020004" pitchFamily="49" charset="0"/>
              </a:rPr>
              <a:t>Exception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e.Message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3327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Отмена задачи (</a:t>
            </a:r>
            <a:r>
              <a:rPr lang="en-US" dirty="0"/>
              <a:t>Task Cancellation)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CancellationTokenSource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tokenSource.Token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           </a:t>
            </a:r>
          </a:p>
          <a:p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 =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() =&gt;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{                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=0;i&lt;100;i++)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token.ThrowIfCancellationRequested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(300);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}, token);</a:t>
            </a: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try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 … }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B0F0"/>
                </a:solidFill>
                <a:latin typeface="Cascadia Mono" panose="020B0609020000020004" pitchFamily="49" charset="0"/>
              </a:rPr>
              <a:t>Exception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 …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64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1210491" y="2987040"/>
            <a:ext cx="5416732" cy="5399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879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Отмена задачи (</a:t>
            </a:r>
            <a:r>
              <a:rPr lang="en-US" dirty="0"/>
              <a:t>Task Cancellation)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196948" y="1403419"/>
            <a:ext cx="11788726" cy="4825217"/>
          </a:xfrm>
        </p:spPr>
        <p:txBody>
          <a:bodyPr>
            <a:noAutofit/>
          </a:bodyPr>
          <a:lstStyle/>
          <a:p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 =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.Run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() =&gt;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token.ThrowIfCancellationRequested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=0;i&lt;100;i++)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token.IsCancellationRequested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остановлена с помощью </a:t>
            </a:r>
            <a:r>
              <a:rPr lang="en-US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CancellationToken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token.ThrowIfCancellationRequested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Console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(300);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}, token);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try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Task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(500);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tokenSource.Cancel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task;        }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B0F0"/>
                </a:solidFill>
                <a:latin typeface="Cascadia Mono" panose="020B0609020000020004" pitchFamily="49" charset="0"/>
              </a:rPr>
              <a:t>Exception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e) { </a:t>
            </a:r>
            <a:r>
              <a:rPr lang="en-US" sz="1800" dirty="0" err="1">
                <a:solidFill>
                  <a:srgbClr val="00B0F0"/>
                </a:solidFill>
                <a:latin typeface="Cascadia Mono" panose="020B0609020000020004" pitchFamily="49" charset="0"/>
              </a:rPr>
              <a:t>Consol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e.WriteLine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e.ToString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());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6840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Контроль за прогрессом выполнения потока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513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за прогрессом выполнения потока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Для отображения прогресса предлагается использовать интерфейс </a:t>
            </a:r>
            <a:r>
              <a:rPr lang="ru-RU" b="1" dirty="0" err="1"/>
              <a:t>IProgress</a:t>
            </a:r>
            <a:r>
              <a:rPr lang="ru-RU" b="1" dirty="0"/>
              <a:t>&lt;T&gt;.</a:t>
            </a:r>
          </a:p>
          <a:p>
            <a:pPr>
              <a:buNone/>
            </a:pPr>
            <a:r>
              <a:rPr lang="ru-RU" dirty="0"/>
              <a:t>Этот интерфейс предоставляет метод </a:t>
            </a:r>
            <a:r>
              <a:rPr lang="ru-RU" dirty="0" err="1"/>
              <a:t>Report</a:t>
            </a:r>
            <a:r>
              <a:rPr lang="ru-RU" dirty="0"/>
              <a:t>(T), который асинхронная задача вызывает для отчета о ходе выполнения.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56499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за прогрессом выполнения потока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Класс </a:t>
            </a:r>
            <a:r>
              <a:rPr lang="ru-RU" b="1" dirty="0" err="1"/>
              <a:t>Progress</a:t>
            </a:r>
            <a:r>
              <a:rPr lang="ru-RU" b="1" dirty="0"/>
              <a:t>&lt;T&gt; </a:t>
            </a:r>
            <a:r>
              <a:rPr lang="ru-RU" dirty="0"/>
              <a:t>является реализацией </a:t>
            </a:r>
            <a:r>
              <a:rPr lang="ru-RU" dirty="0" err="1"/>
              <a:t>IProgress</a:t>
            </a:r>
            <a:r>
              <a:rPr lang="ru-RU" dirty="0"/>
              <a:t> &lt;T&gt;. </a:t>
            </a:r>
            <a:endParaRPr lang="en-US" dirty="0"/>
          </a:p>
          <a:p>
            <a:pPr>
              <a:buNone/>
            </a:pPr>
            <a:r>
              <a:rPr lang="ru-RU" dirty="0"/>
              <a:t>Он обеспечивает сохранение и восстановление контекста синхронизации. </a:t>
            </a:r>
          </a:p>
          <a:p>
            <a:pPr>
              <a:buNone/>
            </a:pPr>
            <a:r>
              <a:rPr lang="ru-RU" dirty="0" err="1"/>
              <a:t>Progress</a:t>
            </a:r>
            <a:r>
              <a:rPr lang="ru-RU" dirty="0"/>
              <a:t>&lt;T&gt; предоставляет как событие</a:t>
            </a:r>
            <a:r>
              <a:rPr lang="en-US" dirty="0"/>
              <a:t> </a:t>
            </a:r>
            <a:r>
              <a:rPr lang="en-US" b="1" dirty="0" err="1"/>
              <a:t>ProgressChanged</a:t>
            </a:r>
            <a:r>
              <a:rPr lang="ru-RU" dirty="0"/>
              <a:t>, так и обратный вызов (</a:t>
            </a:r>
            <a:r>
              <a:rPr lang="en-US" dirty="0"/>
              <a:t>callback)</a:t>
            </a:r>
            <a:r>
              <a:rPr lang="ru-RU" dirty="0"/>
              <a:t> </a:t>
            </a:r>
            <a:r>
              <a:rPr lang="ru-RU" b="1" dirty="0" err="1"/>
              <a:t>Action</a:t>
            </a:r>
            <a:r>
              <a:rPr lang="ru-RU" b="1" dirty="0"/>
              <a:t>&lt;T&gt;</a:t>
            </a:r>
            <a:r>
              <a:rPr lang="ru-RU" dirty="0"/>
              <a:t>, которые вызываются, когда задача сообщает о ходе выполнения.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8989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за прогрессом выполнения потока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ascadia Mono" panose="020B0609020000020004" pitchFamily="49" charset="0"/>
              </a:rPr>
              <a:t>Task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ProgressDemo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IProgress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&gt; progress,</a:t>
            </a:r>
            <a:endParaRPr lang="ru-RU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CancellationToken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cancellation)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cancellation.ThrowIfCancellationRequested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n-NO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100; i++)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cancellation.IsCancellationRequested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20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остановлена с помощью </a:t>
            </a:r>
            <a:r>
              <a:rPr lang="en-US" sz="20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CancellationToken</a:t>
            </a:r>
            <a:r>
              <a:rPr lang="en-US" sz="20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cancellation.ThrowIfCancellationRequested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progress.Report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Task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.Delay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(300);</a:t>
            </a:r>
          </a:p>
          <a:p>
            <a:r>
              <a:rPr lang="ru-RU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69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1079863" y="4972594"/>
            <a:ext cx="3788228" cy="4702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3140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за прогрессом выполнения потока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ProgressReport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progress)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{progress: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00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% \r"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7286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за прогрессом выполнения потока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progress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Progress&lt;</a:t>
            </a:r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ProgressReport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20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progress.ProgressChanged</a:t>
            </a:r>
            <a:r>
              <a:rPr lang="en-US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 += </a:t>
            </a:r>
            <a:r>
              <a:rPr lang="en-US" sz="20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ProgressReport</a:t>
            </a:r>
            <a:r>
              <a:rPr lang="en-US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//void </a:t>
            </a:r>
            <a:r>
              <a:rPr lang="en-US" sz="20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ProgressReport</a:t>
            </a:r>
            <a:r>
              <a:rPr lang="en-US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(object </a:t>
            </a:r>
            <a:r>
              <a:rPr lang="en-US" sz="20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sender,int</a:t>
            </a:r>
            <a:r>
              <a:rPr lang="en-US" sz="2000" dirty="0">
                <a:solidFill>
                  <a:srgbClr val="008000"/>
                </a:solidFill>
                <a:latin typeface="Cascadia Mono" panose="020B0609020000020004" pitchFamily="49" charset="0"/>
              </a:rPr>
              <a:t> progress)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CancellationTokenSource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tokenSource.Token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;            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Thread(() =&gt;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tokenSource.Cancel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}).Start();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try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await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ProgressDemo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(progress, token);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(Exception ex)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 }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Console.ReadLine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60387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Рекомендации по использованию</a:t>
            </a:r>
            <a:br>
              <a:rPr lang="ru-RU" dirty="0" smtClean="0"/>
            </a:br>
            <a:r>
              <a:rPr lang="en-GB" dirty="0" smtClean="0"/>
              <a:t>TPL</a:t>
            </a:r>
            <a:endParaRPr lang="en-US" dirty="0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4981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по </a:t>
            </a:r>
            <a:r>
              <a:rPr lang="ru-RU" dirty="0" smtClean="0"/>
              <a:t>использованию</a:t>
            </a:r>
            <a:r>
              <a:rPr lang="en-GB" dirty="0" smtClean="0"/>
              <a:t> TPL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Как только вы переходите на асинхронность, все ваши </a:t>
            </a:r>
            <a:r>
              <a:rPr lang="ru-RU" dirty="0" smtClean="0"/>
              <a:t>вызовы </a:t>
            </a:r>
            <a:r>
              <a:rPr lang="ru-RU" dirty="0"/>
              <a:t>должны быть </a:t>
            </a:r>
            <a:r>
              <a:rPr lang="ru-RU" dirty="0" smtClean="0"/>
              <a:t>асинхронными</a:t>
            </a:r>
            <a:r>
              <a:rPr lang="en-GB" dirty="0" smtClean="0"/>
              <a:t>.</a:t>
            </a:r>
          </a:p>
          <a:p>
            <a:r>
              <a:rPr lang="ru-RU" dirty="0"/>
              <a:t>Использование </a:t>
            </a:r>
            <a:r>
              <a:rPr lang="ru-RU" dirty="0" err="1"/>
              <a:t>Task.Result</a:t>
            </a:r>
            <a:r>
              <a:rPr lang="ru-RU" dirty="0"/>
              <a:t> или </a:t>
            </a:r>
            <a:r>
              <a:rPr lang="ru-RU" dirty="0" err="1"/>
              <a:t>Task.Wait</a:t>
            </a:r>
            <a:r>
              <a:rPr lang="ru-RU" dirty="0"/>
              <a:t> для блокировки ожидания завершения асинхронной операции НАМНОГО хуже, чем вызов действительно синхронного API для блокировки. Это явление называется «</a:t>
            </a:r>
            <a:r>
              <a:rPr lang="ru-RU" dirty="0" err="1"/>
              <a:t>Sync</a:t>
            </a:r>
            <a:r>
              <a:rPr lang="ru-RU" dirty="0"/>
              <a:t> </a:t>
            </a:r>
            <a:r>
              <a:rPr lang="ru-RU" dirty="0" err="1"/>
              <a:t>over</a:t>
            </a:r>
            <a:r>
              <a:rPr lang="ru-RU" dirty="0"/>
              <a:t> </a:t>
            </a:r>
            <a:r>
              <a:rPr lang="ru-RU" dirty="0" err="1"/>
              <a:t>async</a:t>
            </a:r>
            <a:r>
              <a:rPr lang="ru-RU" dirty="0"/>
              <a:t>».</a:t>
            </a:r>
            <a:endParaRPr lang="ru-RU" dirty="0" smtClean="0"/>
          </a:p>
          <a:p>
            <a:r>
              <a:rPr lang="en-US" sz="3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3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3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3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DoSomething</a:t>
            </a:r>
            <a:r>
              <a:rPr lang="en-US" sz="3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en-US" sz="3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3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3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 = </a:t>
            </a:r>
            <a:r>
              <a:rPr lang="en-US" sz="3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CalculateAsync</a:t>
            </a:r>
            <a:r>
              <a:rPr lang="en-US" sz="30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3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.Result;</a:t>
            </a:r>
          </a:p>
          <a:p>
            <a:r>
              <a:rPr lang="en-US" sz="3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3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3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result + 1;</a:t>
            </a:r>
          </a:p>
          <a:p>
            <a:r>
              <a:rPr lang="en-US" sz="30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30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73</a:t>
            </a:fld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7728438" y="4730262"/>
            <a:ext cx="2110154" cy="7825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043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по </a:t>
            </a:r>
            <a:r>
              <a:rPr lang="ru-RU" dirty="0" smtClean="0"/>
              <a:t>использованию</a:t>
            </a:r>
            <a:r>
              <a:rPr lang="en-GB" dirty="0" smtClean="0"/>
              <a:t> TPL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Отдавайте предпочтение </a:t>
            </a:r>
            <a:r>
              <a:rPr lang="ru-RU" b="1" i="1" dirty="0" err="1"/>
              <a:t>async</a:t>
            </a:r>
            <a:r>
              <a:rPr lang="ru-RU" b="1" i="1" dirty="0"/>
              <a:t> </a:t>
            </a:r>
            <a:r>
              <a:rPr lang="ru-RU" b="1" i="1" dirty="0" err="1"/>
              <a:t>Task</a:t>
            </a:r>
            <a:r>
              <a:rPr lang="ru-RU" b="1" i="1" dirty="0"/>
              <a:t> </a:t>
            </a:r>
            <a:r>
              <a:rPr lang="ru-RU" dirty="0"/>
              <a:t>вместо </a:t>
            </a:r>
            <a:r>
              <a:rPr lang="ru-RU" b="1" i="1" dirty="0" err="1"/>
              <a:t>async</a:t>
            </a:r>
            <a:r>
              <a:rPr lang="ru-RU" b="1" i="1" dirty="0"/>
              <a:t> </a:t>
            </a:r>
            <a:r>
              <a:rPr lang="ru-RU" b="1" i="1" dirty="0" err="1"/>
              <a:t>void</a:t>
            </a:r>
            <a:r>
              <a:rPr lang="ru-RU" dirty="0"/>
              <a:t>, за исключением обработчиков событий, поскольку </a:t>
            </a:r>
            <a:r>
              <a:rPr lang="ru-RU" dirty="0" err="1"/>
              <a:t>async</a:t>
            </a:r>
            <a:r>
              <a:rPr lang="ru-RU" dirty="0"/>
              <a:t> </a:t>
            </a:r>
            <a:r>
              <a:rPr lang="ru-RU" dirty="0" err="1"/>
              <a:t>void</a:t>
            </a:r>
            <a:r>
              <a:rPr lang="ru-RU" dirty="0"/>
              <a:t> может привести к необработанным исключениям и его сложнее тестировать.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7030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по </a:t>
            </a:r>
            <a:r>
              <a:rPr lang="ru-RU" dirty="0" smtClean="0"/>
              <a:t>использованию</a:t>
            </a:r>
            <a:r>
              <a:rPr lang="en-GB" dirty="0" smtClean="0"/>
              <a:t> TPL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Для предварительно вычисленных результатов нет необходимости вызывать </a:t>
            </a:r>
            <a:r>
              <a:rPr lang="ru-RU" dirty="0" err="1"/>
              <a:t>Task.Run</a:t>
            </a:r>
            <a:r>
              <a:rPr lang="ru-RU" dirty="0"/>
              <a:t>, который в конечном итоге поставит рабочий элемент в очередь пула потоков, который немедленно завершит работу с предварительно вычисленным значением. Вместо этого используйте </a:t>
            </a:r>
            <a:r>
              <a:rPr lang="ru-RU" dirty="0" err="1"/>
              <a:t>Task.FromResult</a:t>
            </a:r>
            <a:r>
              <a:rPr lang="ru-RU" dirty="0"/>
              <a:t>, чтобы создать задачу, оборачивающую уже вычисленные данные</a:t>
            </a:r>
            <a:r>
              <a:rPr lang="ru-RU" dirty="0" smtClean="0"/>
              <a:t>.</a:t>
            </a:r>
            <a:endParaRPr lang="en-GB" dirty="0" smtClean="0"/>
          </a:p>
          <a:p>
            <a:endParaRPr lang="en-GB" dirty="0" smtClean="0"/>
          </a:p>
          <a:p>
            <a:r>
              <a:rPr lang="en-US" sz="2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.Run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a + b</a:t>
            </a:r>
            <a:r>
              <a:rPr lang="en-US" sz="2800" dirty="0" smtClean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         </a:t>
            </a:r>
            <a:r>
              <a:rPr lang="en-US" sz="28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28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.FromResult</a:t>
            </a:r>
            <a:r>
              <a:rPr lang="en-US" sz="2800" dirty="0" smtClean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 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 b</a:t>
            </a:r>
            <a:r>
              <a:rPr lang="en-US" sz="2800" dirty="0" smtClean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US" sz="28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dirty="0"/>
              <a:t>Или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ValueTask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 + b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8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75</a:t>
            </a:fld>
            <a:endParaRPr lang="ru-RU"/>
          </a:p>
        </p:txBody>
      </p:sp>
      <p:sp>
        <p:nvSpPr>
          <p:cNvPr id="7" name="Стрелка вправо 6"/>
          <p:cNvSpPr/>
          <p:nvPr/>
        </p:nvSpPr>
        <p:spPr>
          <a:xfrm>
            <a:off x="5292969" y="4519246"/>
            <a:ext cx="923192" cy="72097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62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по </a:t>
            </a:r>
            <a:r>
              <a:rPr lang="ru-RU" dirty="0" smtClean="0"/>
              <a:t>использованию</a:t>
            </a:r>
            <a:r>
              <a:rPr lang="en-GB" dirty="0" smtClean="0"/>
              <a:t> TPL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Используйте </a:t>
            </a:r>
            <a:r>
              <a:rPr lang="ru-RU" b="1" dirty="0" err="1"/>
              <a:t>ValueTask</a:t>
            </a:r>
            <a:r>
              <a:rPr lang="ru-RU" dirty="0"/>
              <a:t> вместо </a:t>
            </a:r>
            <a:r>
              <a:rPr lang="ru-RU" b="1" dirty="0" err="1"/>
              <a:t>Task</a:t>
            </a:r>
            <a:r>
              <a:rPr lang="ru-RU" dirty="0"/>
              <a:t> для асинхронных методов, которые часто выполняются </a:t>
            </a:r>
            <a:r>
              <a:rPr lang="ru-RU" dirty="0" smtClean="0"/>
              <a:t>синхронно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ru-RU" dirty="0" smtClean="0"/>
              <a:t>Поскольку </a:t>
            </a:r>
            <a:r>
              <a:rPr lang="en-GB" dirty="0" err="1" smtClean="0"/>
              <a:t>ValueTask</a:t>
            </a:r>
            <a:r>
              <a:rPr lang="en-GB" dirty="0" smtClean="0"/>
              <a:t> – </a:t>
            </a:r>
            <a:r>
              <a:rPr lang="ru-RU" dirty="0" smtClean="0"/>
              <a:t>структура, то ее использование </a:t>
            </a:r>
            <a:r>
              <a:rPr lang="ru-RU" dirty="0"/>
              <a:t>снижает накладные расходы на выделение памяти.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7592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по </a:t>
            </a:r>
            <a:r>
              <a:rPr lang="ru-RU" dirty="0" smtClean="0"/>
              <a:t>использованию</a:t>
            </a:r>
            <a:r>
              <a:rPr lang="en-GB" dirty="0" smtClean="0"/>
              <a:t> TPL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Не </a:t>
            </a:r>
            <a:r>
              <a:rPr lang="ru-RU" dirty="0"/>
              <a:t>используйте </a:t>
            </a:r>
            <a:r>
              <a:rPr lang="ru-RU" dirty="0" err="1"/>
              <a:t>Task.Run</a:t>
            </a:r>
            <a:r>
              <a:rPr lang="ru-RU" dirty="0"/>
              <a:t> для длительной </a:t>
            </a:r>
            <a:r>
              <a:rPr lang="ru-RU" dirty="0" smtClean="0"/>
              <a:t>задачи, </a:t>
            </a:r>
            <a:r>
              <a:rPr lang="ru-RU" dirty="0"/>
              <a:t>которая блокирует </a:t>
            </a:r>
            <a:r>
              <a:rPr lang="ru-RU" dirty="0" smtClean="0"/>
              <a:t>поток.</a:t>
            </a:r>
            <a:r>
              <a:rPr lang="en-GB" dirty="0" smtClean="0"/>
              <a:t> </a:t>
            </a:r>
            <a:r>
              <a:rPr lang="ru-RU" dirty="0" err="1" smtClean="0"/>
              <a:t>Task.Run</a:t>
            </a:r>
            <a:r>
              <a:rPr lang="ru-RU" dirty="0" smtClean="0"/>
              <a:t> </a:t>
            </a:r>
            <a:r>
              <a:rPr lang="ru-RU" dirty="0"/>
              <a:t>поместит рабочий элемент в очередь пула потоков</a:t>
            </a:r>
            <a:r>
              <a:rPr lang="ru-RU" dirty="0" smtClean="0"/>
              <a:t>.</a:t>
            </a:r>
            <a:endParaRPr lang="en-GB" dirty="0" smtClean="0"/>
          </a:p>
          <a:p>
            <a:endParaRPr lang="ru-RU" dirty="0" smtClean="0"/>
          </a:p>
          <a:p>
            <a:r>
              <a:rPr lang="ru-RU" dirty="0" smtClean="0"/>
              <a:t>Возможные решения:</a:t>
            </a:r>
          </a:p>
          <a:p>
            <a:r>
              <a:rPr lang="ru-RU" dirty="0" smtClean="0"/>
              <a:t>Выделить отдельный поток для задачи</a:t>
            </a:r>
            <a:r>
              <a:rPr lang="en-GB" dirty="0" smtClean="0"/>
              <a:t>:</a:t>
            </a:r>
          </a:p>
          <a:p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Thread</a:t>
            </a:r>
            <a:r>
              <a:rPr lang="en-US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LongProcess</a:t>
            </a:r>
            <a:r>
              <a:rPr lang="en-US" sz="2800" dirty="0" smtClean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GB" sz="4400" dirty="0" smtClean="0"/>
          </a:p>
          <a:p>
            <a:endParaRPr lang="en-GB" dirty="0" smtClean="0"/>
          </a:p>
          <a:p>
            <a:r>
              <a:rPr lang="ru-RU" dirty="0" smtClean="0"/>
              <a:t>Синхронно (без </a:t>
            </a:r>
            <a:r>
              <a:rPr lang="en-GB" dirty="0" err="1" smtClean="0"/>
              <a:t>async</a:t>
            </a:r>
            <a:r>
              <a:rPr lang="en-GB" dirty="0" smtClean="0"/>
              <a:t> / await</a:t>
            </a:r>
            <a:r>
              <a:rPr lang="ru-RU" dirty="0" smtClean="0"/>
              <a:t>)</a:t>
            </a:r>
            <a:r>
              <a:rPr lang="en-GB" dirty="0" smtClean="0"/>
              <a:t> </a:t>
            </a:r>
            <a:r>
              <a:rPr lang="ru-RU" dirty="0" smtClean="0"/>
              <a:t>использовать </a:t>
            </a:r>
            <a:r>
              <a:rPr lang="en-GB" dirty="0" err="1" smtClean="0"/>
              <a:t>Task.Factory</a:t>
            </a:r>
            <a:r>
              <a:rPr lang="en-GB" dirty="0" smtClean="0"/>
              <a:t>:</a:t>
            </a:r>
            <a:r>
              <a:rPr lang="ru-RU" dirty="0" smtClean="0"/>
              <a:t>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.Factory.StartNew</a:t>
            </a:r>
            <a:r>
              <a:rPr lang="en-US" sz="22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LongProcess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TaskCreationOptions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.LongRunning</a:t>
            </a:r>
            <a:r>
              <a:rPr lang="en-US" sz="22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22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4869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по </a:t>
            </a:r>
            <a:r>
              <a:rPr lang="ru-RU" dirty="0" smtClean="0"/>
              <a:t>использованию</a:t>
            </a:r>
            <a:r>
              <a:rPr lang="en-GB" dirty="0" smtClean="0"/>
              <a:t> TPL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Всегда удаляйте </a:t>
            </a:r>
            <a:r>
              <a:rPr lang="ru-RU" sz="3200" dirty="0" err="1"/>
              <a:t>CancellationTokenSource</a:t>
            </a:r>
            <a:r>
              <a:rPr lang="ru-RU" sz="3200" dirty="0"/>
              <a:t>, используемые для </a:t>
            </a:r>
            <a:r>
              <a:rPr lang="ru-RU" sz="3200" dirty="0" smtClean="0"/>
              <a:t>тайм-аутов</a:t>
            </a:r>
            <a:r>
              <a:rPr lang="en-GB" sz="3200" dirty="0" smtClean="0"/>
              <a:t>:</a:t>
            </a:r>
          </a:p>
          <a:p>
            <a:endParaRPr lang="en-GB" sz="3200" dirty="0"/>
          </a:p>
          <a:p>
            <a:endParaRPr lang="en-GB" sz="3200" dirty="0" smtClean="0"/>
          </a:p>
          <a:p>
            <a:r>
              <a:rPr lang="en-GB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GB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GB" sz="2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GB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cts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endParaRPr lang="en-GB" sz="28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GB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GB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GB" sz="2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CancellationTokenSource</a:t>
            </a:r>
            <a:r>
              <a:rPr lang="en-GB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GB" sz="2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TimeSpan</a:t>
            </a:r>
            <a:r>
              <a:rPr lang="en-GB" sz="2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.FromSeconds</a:t>
            </a:r>
            <a:r>
              <a:rPr lang="en-GB" sz="28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GB" sz="2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</a:t>
            </a:r>
            <a:r>
              <a:rPr lang="en-GB" sz="28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GB" sz="2800" dirty="0">
                <a:solidFill>
                  <a:srgbClr val="FFD70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GB" sz="2800" dirty="0">
                <a:solidFill>
                  <a:srgbClr val="1A94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280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3958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по </a:t>
            </a:r>
            <a:r>
              <a:rPr lang="ru-RU" dirty="0" smtClean="0"/>
              <a:t>использованию</a:t>
            </a:r>
            <a:r>
              <a:rPr lang="en-GB" dirty="0" smtClean="0"/>
              <a:t> TPL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написании асинхронных методов предусматривайте использование </a:t>
            </a:r>
            <a:r>
              <a:rPr lang="en-GB" dirty="0" err="1" smtClean="0"/>
              <a:t>CancellationToken</a:t>
            </a:r>
            <a:endParaRPr lang="en-GB" dirty="0" smtClean="0"/>
          </a:p>
          <a:p>
            <a:endParaRPr lang="en-GB" dirty="0"/>
          </a:p>
          <a:p>
            <a:r>
              <a:rPr lang="ru-RU" dirty="0" smtClean="0"/>
              <a:t>Всегда передавайте </a:t>
            </a:r>
            <a:r>
              <a:rPr lang="en-GB" dirty="0" err="1" smtClean="0"/>
              <a:t>CancellationToken</a:t>
            </a:r>
            <a:r>
              <a:rPr lang="ru-RU" dirty="0" smtClean="0"/>
              <a:t> в методы </a:t>
            </a:r>
            <a:r>
              <a:rPr lang="en-GB" dirty="0" smtClean="0"/>
              <a:t>API</a:t>
            </a:r>
            <a:r>
              <a:rPr lang="ru-RU" dirty="0" smtClean="0"/>
              <a:t>, если он (</a:t>
            </a:r>
            <a:r>
              <a:rPr lang="ru-RU" dirty="0" err="1" smtClean="0"/>
              <a:t>токен</a:t>
            </a:r>
            <a:r>
              <a:rPr lang="ru-RU" dirty="0" smtClean="0"/>
              <a:t>) там предусмотрен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5175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Рекомендации по </a:t>
            </a:r>
            <a:r>
              <a:rPr lang="ru-RU" dirty="0" smtClean="0"/>
              <a:t>использованию</a:t>
            </a:r>
            <a:r>
              <a:rPr lang="en-GB" dirty="0" smtClean="0"/>
              <a:t> TPL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написании библиотек всегда при вызове асинхронных методов используйте </a:t>
            </a:r>
            <a:r>
              <a:rPr lang="en-GB" dirty="0" err="1" smtClean="0"/>
              <a:t>ConfigureAwait</a:t>
            </a:r>
            <a:r>
              <a:rPr lang="en-GB" dirty="0" smtClean="0"/>
              <a:t>:</a:t>
            </a:r>
          </a:p>
          <a:p>
            <a:endParaRPr lang="en-GB" dirty="0"/>
          </a:p>
          <a:p>
            <a:r>
              <a:rPr lang="en-US" sz="32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 </a:t>
            </a:r>
            <a:r>
              <a:rPr lang="en-US" sz="32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ProcessAsync</a:t>
            </a:r>
            <a:r>
              <a:rPr lang="en-US" sz="32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3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ConfigureAwait</a:t>
            </a:r>
            <a:r>
              <a:rPr lang="en-US" sz="32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3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US" sz="3200" dirty="0">
                <a:solidFill>
                  <a:srgbClr val="D86AC2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GB" sz="3200" dirty="0" smtClean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Кафедра информатики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Гламаздин И.И.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3134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545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b="1" dirty="0"/>
              <a:t>Parallel</a:t>
            </a:r>
            <a:r>
              <a:rPr lang="en-US" dirty="0"/>
              <a:t> </a:t>
            </a:r>
            <a:r>
              <a:rPr lang="ru-RU" dirty="0"/>
              <a:t>из пространства имен </a:t>
            </a:r>
            <a:r>
              <a:rPr lang="en-US" b="1" dirty="0" err="1"/>
              <a:t>System.Threading.Tasks</a:t>
            </a:r>
            <a:r>
              <a:rPr lang="en-US" dirty="0"/>
              <a:t> </a:t>
            </a:r>
            <a:r>
              <a:rPr lang="ru-RU" dirty="0"/>
              <a:t>предлагает ряд методов для простого выполнения нескольких задач (возможно параллельно) и для параллельной обработки коллекций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1790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Parallel.Invoke</a:t>
            </a:r>
            <a:endParaRPr lang="en-US" b="1" dirty="0"/>
          </a:p>
          <a:p>
            <a:endParaRPr lang="en-US" dirty="0"/>
          </a:p>
          <a:p>
            <a:r>
              <a:rPr lang="ru-RU" dirty="0"/>
              <a:t>Метод </a:t>
            </a:r>
            <a:r>
              <a:rPr lang="en-US" b="1" dirty="0" err="1"/>
              <a:t>Parallel.Invoke</a:t>
            </a:r>
            <a:r>
              <a:rPr lang="en-US" dirty="0"/>
              <a:t> </a:t>
            </a:r>
            <a:r>
              <a:rPr lang="ru-RU" dirty="0"/>
              <a:t>принимает в качестве </a:t>
            </a:r>
            <a:r>
              <a:rPr lang="ru-RU" dirty="0" err="1"/>
              <a:t>парамета</a:t>
            </a:r>
            <a:r>
              <a:rPr lang="ru-RU" dirty="0"/>
              <a:t> массив делегатов </a:t>
            </a:r>
            <a:r>
              <a:rPr lang="en-US" dirty="0"/>
              <a:t>Action&lt;T&gt; </a:t>
            </a:r>
            <a:r>
              <a:rPr lang="ru-RU" dirty="0"/>
              <a:t>и выполняет каждую задачу из указанных, </a:t>
            </a:r>
            <a:r>
              <a:rPr lang="ru-RU" b="1" i="1" dirty="0"/>
              <a:t>возможно</a:t>
            </a:r>
            <a:r>
              <a:rPr lang="ru-RU" dirty="0"/>
              <a:t>, параллельно.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36479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CalcFactorial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= 100;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 = 1;</a:t>
            </a:r>
          </a:p>
          <a:p>
            <a:r>
              <a:rPr lang="nn-NO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nn-NO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n-NO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i= 1; i &lt;= num;i++)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result *=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Факториал 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равен 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result}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 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7830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Parallel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.Invoke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(() =&gt;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1 запущена"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Thread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(500);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1 Завершена"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},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CalcFactorial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() =&gt;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{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2 запущена"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Thread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(500);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2 Завершена"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);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5070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 дается никаких гарантий относительно порядка выполнения операций или их параллельного выполнения. </a:t>
            </a:r>
            <a:endParaRPr lang="en-US" dirty="0"/>
          </a:p>
          <a:p>
            <a:endParaRPr lang="en-US" dirty="0"/>
          </a:p>
          <a:p>
            <a:r>
              <a:rPr lang="ru-RU" dirty="0"/>
              <a:t>Этот метод не завершается до тех пор, пока каждая из предоставленных операций не будет завершена, независимо от того, происходит ли завершение из-за нормального или исключительного завершения.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015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Parallel.For</a:t>
            </a:r>
            <a:endParaRPr lang="en-US" sz="4000" b="1" dirty="0"/>
          </a:p>
          <a:p>
            <a:endParaRPr lang="en-US" sz="4000" dirty="0"/>
          </a:p>
          <a:p>
            <a:r>
              <a:rPr lang="ru-RU" sz="4000" dirty="0"/>
              <a:t>Метод </a:t>
            </a:r>
            <a:r>
              <a:rPr lang="en-US" sz="4000" b="1" dirty="0" err="1"/>
              <a:t>Parallel.For</a:t>
            </a:r>
            <a:r>
              <a:rPr lang="en-US" sz="4000" dirty="0"/>
              <a:t> </a:t>
            </a:r>
            <a:r>
              <a:rPr lang="ru-RU" sz="4000" dirty="0"/>
              <a:t>выполняет цикл </a:t>
            </a:r>
            <a:r>
              <a:rPr lang="en-US" sz="4000" b="1" dirty="0"/>
              <a:t>for</a:t>
            </a:r>
            <a:r>
              <a:rPr lang="ru-RU" sz="4000" dirty="0"/>
              <a:t>, в котором итерации могут выполняться параллельно.</a:t>
            </a:r>
            <a:endParaRPr lang="en-US" sz="4000" dirty="0"/>
          </a:p>
          <a:p>
            <a:endParaRPr lang="ru-RU" sz="4000" dirty="0"/>
          </a:p>
          <a:p>
            <a:r>
              <a:rPr lang="ru-RU" sz="4000" dirty="0"/>
              <a:t>Простейшая перегрузка метода принимает три параметра: начальное и конечное значения</a:t>
            </a:r>
            <a:r>
              <a:rPr lang="en-US" sz="4000" dirty="0"/>
              <a:t> </a:t>
            </a:r>
            <a:r>
              <a:rPr lang="ru-RU" sz="4000" dirty="0"/>
              <a:t>для итерации и делегат </a:t>
            </a:r>
            <a:r>
              <a:rPr lang="en-US" sz="4000" dirty="0"/>
              <a:t>Action&lt;T&gt;.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301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 rand = </a:t>
            </a:r>
            <a:r>
              <a:rPr lang="en-US" sz="3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3200" dirty="0">
                <a:solidFill>
                  <a:srgbClr val="0070C0"/>
                </a:solidFill>
                <a:latin typeface="Cascadia Mono" panose="020B0609020000020004" pitchFamily="49" charset="0"/>
              </a:rPr>
              <a:t>Random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32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Parallel</a:t>
            </a:r>
            <a:r>
              <a:rPr lang="en-US" sz="3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.For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(1, 5, (</a:t>
            </a:r>
            <a:r>
              <a:rPr lang="en-US" sz="3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</a:t>
            </a:r>
          </a:p>
          <a:p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32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3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32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</a:t>
            </a:r>
            <a:r>
              <a:rPr lang="ru-RU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32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3200" dirty="0">
                <a:solidFill>
                  <a:srgbClr val="A31515"/>
                </a:solidFill>
                <a:latin typeface="Cascadia Mono" panose="020B0609020000020004" pitchFamily="49" charset="0"/>
              </a:rPr>
              <a:t>запущена"</a:t>
            </a:r>
            <a:r>
              <a:rPr lang="ru-RU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3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32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Thread</a:t>
            </a:r>
            <a:r>
              <a:rPr lang="en-US" sz="3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rand.Next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(300,1000)) ;</a:t>
            </a:r>
          </a:p>
          <a:p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32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3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32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32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</a:t>
            </a:r>
            <a:r>
              <a:rPr lang="ru-RU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32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3200" dirty="0">
                <a:solidFill>
                  <a:srgbClr val="A31515"/>
                </a:solidFill>
                <a:latin typeface="Cascadia Mono" panose="020B0609020000020004" pitchFamily="49" charset="0"/>
              </a:rPr>
              <a:t>Завершена"</a:t>
            </a:r>
            <a:r>
              <a:rPr lang="ru-RU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32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4052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Parallel.ForEach</a:t>
            </a:r>
            <a:endParaRPr lang="en-US" sz="4000" b="1" dirty="0"/>
          </a:p>
          <a:p>
            <a:endParaRPr lang="en-US" sz="4000" dirty="0"/>
          </a:p>
          <a:p>
            <a:r>
              <a:rPr lang="ru-RU" sz="4000" dirty="0"/>
              <a:t>Метод </a:t>
            </a:r>
            <a:r>
              <a:rPr lang="en-US" sz="4000" b="1" dirty="0" err="1"/>
              <a:t>Parallel.ForEach</a:t>
            </a:r>
            <a:r>
              <a:rPr lang="en-US" sz="4000" dirty="0"/>
              <a:t> </a:t>
            </a:r>
            <a:r>
              <a:rPr lang="ru-RU" sz="4000" dirty="0"/>
              <a:t>выполняет задачу для каждого элемента коллекции, возможно параллельно.</a:t>
            </a:r>
            <a:endParaRPr lang="en-US" sz="4000" dirty="0"/>
          </a:p>
          <a:p>
            <a:endParaRPr lang="ru-RU" sz="4000" dirty="0"/>
          </a:p>
          <a:p>
            <a:r>
              <a:rPr lang="ru-RU" sz="4000" dirty="0"/>
              <a:t>Простейшая перегрузка метода принимает коллекцию и делегат </a:t>
            </a:r>
            <a:r>
              <a:rPr lang="en-US" sz="4000" dirty="0"/>
              <a:t>Action&lt;T&gt;.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89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84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rand =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Cascadia Mono" panose="020B0609020000020004" pitchFamily="49" charset="0"/>
              </a:rPr>
              <a:t>Random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nums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[] { 1, 2, 3, 4, 5 };</a:t>
            </a:r>
          </a:p>
          <a:p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Parallel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.ForEach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nums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, (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запущена"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Thread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.Sleep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rand.Next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(300,1000)) ;</a:t>
            </a:r>
          </a:p>
          <a:p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28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Задача 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800" dirty="0">
                <a:solidFill>
                  <a:srgbClr val="A31515"/>
                </a:solidFill>
                <a:latin typeface="Cascadia Mono" panose="020B0609020000020004" pitchFamily="49" charset="0"/>
              </a:rPr>
              <a:t>Завершена"</a:t>
            </a:r>
            <a:r>
              <a:rPr lang="ru-RU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</a:rPr>
              <a:t>});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2284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/>
              <a:t>Parallel</a:t>
            </a:r>
            <a:r>
              <a:rPr lang="ru-RU" dirty="0"/>
              <a:t> (отмена выполнения)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ctr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CancellationTokenRegistration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ctr.Token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rand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ascadia Mono" panose="020B0609020000020004" pitchFamily="49" charset="0"/>
              </a:rPr>
              <a:t>Random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[] { 1, 2, 3, 4, 5 };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try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20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Parallel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.ForEach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ParallelOptions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CancellationToken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= token},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 =&gt;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{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. . .</a:t>
            </a:r>
            <a:endParaRPr lang="ru-RU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});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catch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000" dirty="0">
                <a:solidFill>
                  <a:srgbClr val="0070C0"/>
                </a:solidFill>
                <a:latin typeface="Cascadia Mono" panose="020B0609020000020004" pitchFamily="49" charset="0"/>
              </a:rPr>
              <a:t>Exception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ex) { }</a:t>
            </a:r>
          </a:p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</a:rPr>
              <a:t>finally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ctr.Dispose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(); }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9453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 smtClean="0"/>
              <a:t>Parallel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/>
              <a:t>Когда </a:t>
            </a:r>
            <a:r>
              <a:rPr lang="ru-RU" sz="3200" b="1" dirty="0" err="1"/>
              <a:t>Parallel.For</a:t>
            </a:r>
            <a:r>
              <a:rPr lang="ru-RU" sz="3200" b="1" dirty="0"/>
              <a:t> не подходит: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 smtClean="0"/>
              <a:t>Малые </a:t>
            </a:r>
            <a:r>
              <a:rPr lang="ru-RU" sz="3200" dirty="0"/>
              <a:t>задачи: если итерации выполняются быстро, накладные расходы на параллельность могут сделать метод менее </a:t>
            </a:r>
            <a:r>
              <a:rPr lang="ru-RU" sz="3200" dirty="0" smtClean="0"/>
              <a:t>эффективным.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 smtClean="0"/>
              <a:t>Зависимость итераций друг от друга: если каждая итерация зависит от результатов других, параллельность нарушает логику выполнения.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 smtClean="0"/>
              <a:t>Проблемы с </a:t>
            </a:r>
            <a:r>
              <a:rPr lang="ru-RU" sz="3200" dirty="0" err="1" smtClean="0"/>
              <a:t>потокобезопасностью</a:t>
            </a:r>
            <a:r>
              <a:rPr lang="ru-RU" sz="3200" dirty="0" smtClean="0"/>
              <a:t>: если внутри итераций используются общие ресурсы, их доступ должен быть синхронизирован, что может усложнить код.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722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 </a:t>
            </a:r>
            <a:r>
              <a:rPr lang="en-US" dirty="0" smtClean="0"/>
              <a:t>Parallel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b="1" dirty="0"/>
              <a:t>Преимущества </a:t>
            </a:r>
            <a:r>
              <a:rPr lang="ru-RU" sz="3200" b="1" dirty="0" err="1"/>
              <a:t>Parallel.For</a:t>
            </a:r>
            <a:r>
              <a:rPr lang="ru-RU" sz="3200" b="1" dirty="0" smtClean="0"/>
              <a:t>:</a:t>
            </a:r>
            <a:endParaRPr lang="en-GB" sz="3200" b="1" dirty="0" smtClean="0"/>
          </a:p>
          <a:p>
            <a:endParaRPr lang="ru-RU" sz="3200" b="1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 smtClean="0"/>
              <a:t>Ускорение </a:t>
            </a:r>
            <a:r>
              <a:rPr lang="ru-RU" sz="3200" dirty="0"/>
              <a:t>выполнения: этот метод использует </a:t>
            </a:r>
            <a:r>
              <a:rPr lang="ru-RU" sz="3200" dirty="0" err="1"/>
              <a:t>многопоточность</a:t>
            </a:r>
            <a:r>
              <a:rPr lang="ru-RU" sz="3200" dirty="0"/>
              <a:t>, распределяя задачи между ядрами процессора.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 smtClean="0"/>
              <a:t>Автоматическая </a:t>
            </a:r>
            <a:r>
              <a:rPr lang="ru-RU" sz="3200" dirty="0"/>
              <a:t>оптимизация: вам не нужно вручную управлять потоками или их количеством. Среда выполнения адаптируется под ресурсы.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3200" dirty="0" smtClean="0"/>
              <a:t>Простой </a:t>
            </a:r>
            <a:r>
              <a:rPr lang="ru-RU" sz="3200" dirty="0"/>
              <a:t>синтаксис: с помощью </a:t>
            </a:r>
            <a:r>
              <a:rPr lang="ru-RU" sz="3200" dirty="0" err="1"/>
              <a:t>Parallel.For</a:t>
            </a:r>
            <a:r>
              <a:rPr lang="ru-RU" sz="3200" dirty="0"/>
              <a:t> легко заменить обычный цикл </a:t>
            </a:r>
            <a:r>
              <a:rPr lang="ru-RU" sz="3200" dirty="0" err="1"/>
              <a:t>for</a:t>
            </a:r>
            <a:r>
              <a:rPr lang="ru-RU" sz="3200" dirty="0"/>
              <a:t>, добавив всего несколько строк кода.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94482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097280" y="4444420"/>
            <a:ext cx="10058400" cy="1143000"/>
          </a:xfrm>
        </p:spPr>
        <p:txBody>
          <a:bodyPr>
            <a:normAutofit/>
          </a:bodyPr>
          <a:lstStyle/>
          <a:p>
            <a:r>
              <a:rPr lang="ru-RU" dirty="0"/>
              <a:t>Параллелизм при декларативной обработке данных</a:t>
            </a:r>
            <a:r>
              <a:rPr lang="en-US" dirty="0"/>
              <a:t> (PLINQ)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94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3489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Параллельный LINQ (PLINQ) - это параллельная реализация шаблона </a:t>
            </a:r>
            <a:r>
              <a:rPr lang="ru-RU" dirty="0" err="1"/>
              <a:t>Language-Integrated</a:t>
            </a:r>
            <a:r>
              <a:rPr lang="ru-RU" dirty="0"/>
              <a:t> </a:t>
            </a:r>
            <a:r>
              <a:rPr lang="ru-RU" dirty="0" err="1"/>
              <a:t>Query</a:t>
            </a:r>
            <a:r>
              <a:rPr lang="ru-RU" dirty="0"/>
              <a:t> (LINQ). </a:t>
            </a:r>
            <a:endParaRPr lang="en-US" dirty="0"/>
          </a:p>
          <a:p>
            <a:pPr>
              <a:buNone/>
            </a:pPr>
            <a:r>
              <a:rPr lang="ru-RU" dirty="0"/>
              <a:t>PLINQ реализует полный набор стандартных операторов запросов LINQ как методы расширения для пространства имен </a:t>
            </a:r>
            <a:r>
              <a:rPr lang="ru-RU" dirty="0" err="1"/>
              <a:t>System.Linq</a:t>
            </a:r>
            <a:r>
              <a:rPr lang="ru-RU" dirty="0"/>
              <a:t> и имеет дополнительные операторы для параллельных операций.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95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51648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Благодаря параллельному выполнению PLINQ </a:t>
            </a:r>
            <a:r>
              <a:rPr lang="ru-RU" b="1" dirty="0"/>
              <a:t>может</a:t>
            </a:r>
            <a:r>
              <a:rPr lang="ru-RU" dirty="0"/>
              <a:t> значительно улучшить производительность по сравнению с последовательным выполнением для определенных типов запросов. </a:t>
            </a:r>
          </a:p>
          <a:p>
            <a:pPr>
              <a:buNone/>
            </a:pPr>
            <a:r>
              <a:rPr lang="ru-RU" dirty="0"/>
              <a:t>Однако параллелизм может создавать свои собственные сложности, и не все операции запросов выполняются в PLINQ быстрее.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96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7507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Класс </a:t>
            </a:r>
            <a:r>
              <a:rPr lang="ru-RU" b="1" dirty="0" err="1"/>
              <a:t>System.Linq.ParallelEnumerable</a:t>
            </a:r>
            <a:r>
              <a:rPr lang="ru-RU" dirty="0"/>
              <a:t> предоставляет почти все функциональные возможности PLINQ.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22705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Метод расширения </a:t>
            </a:r>
            <a:r>
              <a:rPr lang="ru-RU" b="1" dirty="0" err="1"/>
              <a:t>AsParallel</a:t>
            </a:r>
            <a:r>
              <a:rPr lang="ru-RU" dirty="0"/>
              <a:t> связывает последующие операторы запроса с реализациями </a:t>
            </a:r>
            <a:r>
              <a:rPr lang="ru-RU" dirty="0" err="1"/>
              <a:t>System.Linq.ParallelEnumerable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80625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source = </a:t>
            </a:r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Enumerable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(1, 10000);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source.AsParallel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"{0} even numbers out of {1} total"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evenNums.Count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(),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source.Count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99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6305006" y="1950720"/>
            <a:ext cx="2778034" cy="7924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6948" y="6303793"/>
            <a:ext cx="10735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https://docs.microsoft.com/en-us/dotnet/standard/parallel-programming/introduction-to-plinq#what-is-a-parallel-query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04850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PLINQ (</a:t>
            </a:r>
            <a:r>
              <a:rPr lang="ru-RU" dirty="0"/>
              <a:t>производительность на простых операциях</a:t>
            </a:r>
            <a:r>
              <a:rPr lang="en-US" dirty="0"/>
              <a:t>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[Benchmark]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void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PLINQ_simple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_source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Enumerable.Range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(1, 10000000);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(from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 _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source.AsParallel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where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select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 };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[Benchmark]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void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LINQ_simple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_source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Enumerable.Range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(1, 10000000);</a:t>
            </a:r>
          </a:p>
          <a:p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(from </a:t>
            </a:r>
            <a:r>
              <a:rPr lang="en-GB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GB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 _source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where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select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in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 };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99" y="2866144"/>
            <a:ext cx="6086475" cy="1647825"/>
          </a:xfrm>
          <a:prstGeom prst="rect">
            <a:avLst/>
          </a:prstGeom>
        </p:spPr>
      </p:pic>
      <p:sp>
        <p:nvSpPr>
          <p:cNvPr id="10" name="Стрелка вправо 9"/>
          <p:cNvSpPr/>
          <p:nvPr/>
        </p:nvSpPr>
        <p:spPr>
          <a:xfrm rot="10800000">
            <a:off x="7367954" y="2384247"/>
            <a:ext cx="378070" cy="53633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8409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PLINQ</a:t>
            </a:r>
            <a:r>
              <a:rPr lang="ru-RU" sz="4000" dirty="0"/>
              <a:t> (производительность на сложных операциях)</a:t>
            </a:r>
            <a:endParaRPr lang="en-US" sz="4000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[Benchmark]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void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PLINQ_complex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_source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Enumerable.Range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(1, 100000);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from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 _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source.AsParallel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select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CalcFactorial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 { };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[Benchmark]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void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LINQ_complex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_source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Enumerable.Range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(1, 100000);</a:t>
            </a:r>
          </a:p>
          <a:p>
            <a:r>
              <a:rPr lang="en-GB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GB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GB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evenNums_1 = from </a:t>
            </a:r>
            <a:r>
              <a:rPr lang="en-GB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GB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 _source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select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CalcFactorial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foreach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in evenNums_1) { };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CalcFactorial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 = 1;</a:t>
            </a:r>
          </a:p>
          <a:p>
            <a:r>
              <a:rPr lang="nn-NO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for (int i = 1; i &lt;= num; i++)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result *=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return result;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101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142" y="4498363"/>
            <a:ext cx="5981700" cy="1571625"/>
          </a:xfrm>
          <a:prstGeom prst="rect">
            <a:avLst/>
          </a:prstGeom>
        </p:spPr>
      </p:pic>
      <p:sp>
        <p:nvSpPr>
          <p:cNvPr id="10" name="Стрелка вправо 9"/>
          <p:cNvSpPr/>
          <p:nvPr/>
        </p:nvSpPr>
        <p:spPr>
          <a:xfrm rot="10800000">
            <a:off x="5713241" y="2155104"/>
            <a:ext cx="378070" cy="53633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0075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dirty="0"/>
              <a:t>По</a:t>
            </a:r>
            <a:r>
              <a:rPr lang="ru-RU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ru-RU" dirty="0"/>
              <a:t>умолчанию PLINQ использует </a:t>
            </a:r>
            <a:r>
              <a:rPr lang="ru-RU" b="1" dirty="0"/>
              <a:t>все</a:t>
            </a:r>
            <a:r>
              <a:rPr lang="ru-RU" dirty="0"/>
              <a:t> процессоры на главном компьютере. </a:t>
            </a:r>
          </a:p>
          <a:p>
            <a:r>
              <a:rPr lang="ru-RU" dirty="0"/>
              <a:t>Вы можете указать PLINQ использовать не более указанного числа процессоров с помощью метода </a:t>
            </a:r>
            <a:r>
              <a:rPr lang="ru-RU" b="1" dirty="0" err="1"/>
              <a:t>WithDegreeOfParallelism</a:t>
            </a:r>
            <a:r>
              <a:rPr lang="ru-RU" dirty="0"/>
              <a:t>. Это полезно, если вы хотите убедиться, что другие процессы, запущенные на компьютере, получают определенное количество процессорного времени.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3894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dirty="0"/>
              <a:t>Если нужны результаты, сохраняющие порядок исходной последовательности, используется оператор </a:t>
            </a:r>
            <a:r>
              <a:rPr lang="ru-RU" b="1" dirty="0" err="1"/>
              <a:t>AsOrdered</a:t>
            </a:r>
            <a:r>
              <a:rPr lang="ru-RU" dirty="0"/>
              <a:t>.. Последовательность </a:t>
            </a:r>
            <a:r>
              <a:rPr lang="ru-RU" dirty="0" err="1"/>
              <a:t>AsOrdered</a:t>
            </a:r>
            <a:r>
              <a:rPr lang="ru-RU" dirty="0"/>
              <a:t> по-прежнему обрабатывается параллельно, но ее результаты буферизуются и сортируются.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54036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source = </a:t>
            </a:r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Enumerable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(1, 20);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source.AsParallel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                           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ToArray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 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source.AsParallel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AsOrdered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   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ToArray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 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ru-RU" sz="2400" dirty="0"/>
              <a:t>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104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8072846" y="3500846"/>
            <a:ext cx="2386148" cy="5225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9996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PLINQ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factorials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ConcurrentBag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source = </a:t>
            </a:r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Enumerable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(1, 20);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source.AsParallel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evenNums.ForAll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=&gt;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factorials.Add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CalcFactorial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)));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105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1881051" y="3091543"/>
            <a:ext cx="1288869" cy="5225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4230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PLINQ (</a:t>
            </a:r>
            <a:r>
              <a:rPr lang="ru-RU" sz="4000" dirty="0"/>
              <a:t>отмена операций</a:t>
            </a:r>
            <a:r>
              <a:rPr lang="en-US" sz="4000" dirty="0"/>
              <a:t>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ctr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CancellationTokenRegistration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ctr.Token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source = </a:t>
            </a:r>
            <a:r>
              <a:rPr lang="en-US" sz="2400" dirty="0" err="1">
                <a:solidFill>
                  <a:srgbClr val="0070C0"/>
                </a:solidFill>
                <a:latin typeface="Cascadia Mono" panose="020B0609020000020004" pitchFamily="49" charset="0"/>
              </a:rPr>
              <a:t>Enumerable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.Range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(1, 20);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evenNums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source.AsParallel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WithCancellation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(token)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% 2 == 0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106</a:t>
            </a:fld>
            <a:endParaRPr lang="ru-RU"/>
          </a:p>
        </p:txBody>
      </p:sp>
      <p:sp>
        <p:nvSpPr>
          <p:cNvPr id="2" name="Rounded Rectangle 1"/>
          <p:cNvSpPr/>
          <p:nvPr/>
        </p:nvSpPr>
        <p:spPr>
          <a:xfrm>
            <a:off x="6252753" y="2804160"/>
            <a:ext cx="4484916" cy="5225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78848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TPL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097280" y="4444420"/>
            <a:ext cx="10058400" cy="1143000"/>
          </a:xfrm>
        </p:spPr>
        <p:txBody>
          <a:bodyPr>
            <a:normAutofit/>
          </a:bodyPr>
          <a:lstStyle/>
          <a:p>
            <a:r>
              <a:rPr lang="ru-RU" dirty="0" err="1"/>
              <a:t>Потокобезопасные</a:t>
            </a:r>
            <a:r>
              <a:rPr lang="ru-RU" dirty="0"/>
              <a:t> коллекции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107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3909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Потокобезопасные</a:t>
            </a:r>
            <a:r>
              <a:rPr lang="ru-RU" dirty="0"/>
              <a:t> коллекции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.NET </a:t>
            </a:r>
            <a:r>
              <a:rPr lang="ru-RU" dirty="0" err="1"/>
              <a:t>Framework</a:t>
            </a:r>
            <a:r>
              <a:rPr lang="ru-RU" dirty="0"/>
              <a:t> 4 представлено пространство имен </a:t>
            </a:r>
            <a:r>
              <a:rPr lang="ru-RU" b="1" dirty="0" err="1"/>
              <a:t>System.Collections.Concurrent</a:t>
            </a:r>
            <a:r>
              <a:rPr lang="ru-RU" dirty="0"/>
              <a:t>, которое включает несколько классов коллекций, которые являются как поточно-ориентированными, так и масштабируемыми.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108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1240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Потокобезопасные</a:t>
            </a:r>
            <a:r>
              <a:rPr lang="ru-RU" dirty="0"/>
              <a:t> коллекции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Несколько потоков могут безопасно и эффективно добавлять или удалять элементы из этих коллекций, не требуя дополнительной синхронизации в пользовательском коде.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109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14955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Потокобезопасные</a:t>
            </a:r>
            <a:r>
              <a:rPr lang="ru-RU" dirty="0"/>
              <a:t> коллекции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GB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Method1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Method2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GB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Method1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GB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"Added By Method1 "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GB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Method2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GB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"Added By Method2 "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GB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110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58877C-A6CE-8CE5-2440-054589633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15" y="5554195"/>
            <a:ext cx="9477375" cy="590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3992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Потокобезопасные</a:t>
            </a:r>
            <a:r>
              <a:rPr lang="ru-RU" dirty="0"/>
              <a:t> коллекции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111</a:t>
            </a:fld>
            <a:endParaRPr lang="ru-RU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49930"/>
              </p:ext>
            </p:extLst>
          </p:nvPr>
        </p:nvGraphicFramePr>
        <p:xfrm>
          <a:off x="196948" y="1349831"/>
          <a:ext cx="11788726" cy="519373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4653726">
                  <a:extLst>
                    <a:ext uri="{9D8B030D-6E8A-4147-A177-3AD203B41FA5}">
                      <a16:colId xmlns:a16="http://schemas.microsoft.com/office/drawing/2014/main" val="255820898"/>
                    </a:ext>
                  </a:extLst>
                </a:gridCol>
                <a:gridCol w="7135000">
                  <a:extLst>
                    <a:ext uri="{9D8B030D-6E8A-4147-A177-3AD203B41FA5}">
                      <a16:colId xmlns:a16="http://schemas.microsoft.com/office/drawing/2014/main" val="1359290550"/>
                    </a:ext>
                  </a:extLst>
                </a:gridCol>
              </a:tblGrid>
              <a:tr h="1191419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none" strike="noStrike" dirty="0" err="1">
                          <a:effectLst/>
                        </a:rPr>
                        <a:t>BlockingCollection</a:t>
                      </a:r>
                      <a:r>
                        <a:rPr lang="en-US" sz="2400" u="none" strike="noStrike" dirty="0">
                          <a:effectLst/>
                        </a:rPr>
                        <a:t>&lt;T&gt;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400" dirty="0">
                          <a:effectLst/>
                        </a:rPr>
                        <a:t>Предоставляет функции ограничения и блокировки для любого типа, реализующего </a:t>
                      </a:r>
                      <a:r>
                        <a:rPr lang="ru-RU" sz="2400" dirty="0" err="1">
                          <a:effectLst/>
                        </a:rPr>
                        <a:t>IProducerConsumerCollection</a:t>
                      </a:r>
                      <a:r>
                        <a:rPr lang="ru-RU" sz="2400" dirty="0">
                          <a:effectLst/>
                        </a:rPr>
                        <a:t> &lt;T&gt;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extLst>
                  <a:ext uri="{0D108BD9-81ED-4DB2-BD59-A6C34878D82A}">
                    <a16:rowId xmlns:a16="http://schemas.microsoft.com/office/drawing/2014/main" val="2767128917"/>
                  </a:ext>
                </a:extLst>
              </a:tr>
              <a:tr h="800464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none" strike="noStrike" dirty="0" err="1">
                          <a:effectLst/>
                        </a:rPr>
                        <a:t>ConcurrentDictionary</a:t>
                      </a:r>
                      <a:r>
                        <a:rPr lang="en-US" sz="2400" u="none" strike="noStrike" dirty="0">
                          <a:effectLst/>
                        </a:rPr>
                        <a:t>&lt;</a:t>
                      </a:r>
                      <a:r>
                        <a:rPr lang="en-US" sz="2400" u="none" strike="noStrike" dirty="0" err="1">
                          <a:effectLst/>
                        </a:rPr>
                        <a:t>TKey,TValue</a:t>
                      </a:r>
                      <a:r>
                        <a:rPr lang="en-US" sz="2400" u="none" strike="noStrike" dirty="0">
                          <a:effectLst/>
                        </a:rPr>
                        <a:t>&gt;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400" dirty="0">
                          <a:effectLst/>
                        </a:rPr>
                        <a:t>Поточно-ориентированная реализация словаря пар ключ-значение.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extLst>
                  <a:ext uri="{0D108BD9-81ED-4DB2-BD59-A6C34878D82A}">
                    <a16:rowId xmlns:a16="http://schemas.microsoft.com/office/drawing/2014/main" val="2955285405"/>
                  </a:ext>
                </a:extLst>
              </a:tr>
              <a:tr h="800464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none" strike="noStrike" dirty="0" err="1">
                          <a:effectLst/>
                        </a:rPr>
                        <a:t>ConcurrentQueue</a:t>
                      </a:r>
                      <a:r>
                        <a:rPr lang="en-US" sz="2400" u="none" strike="noStrike" dirty="0">
                          <a:effectLst/>
                        </a:rPr>
                        <a:t>&lt;T&gt;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400" dirty="0">
                          <a:effectLst/>
                        </a:rPr>
                        <a:t>Поточно-ориентированная реализация очереди FIFO (</a:t>
                      </a:r>
                      <a:r>
                        <a:rPr lang="ru-RU" sz="2400" dirty="0" err="1">
                          <a:effectLst/>
                        </a:rPr>
                        <a:t>first-in</a:t>
                      </a:r>
                      <a:r>
                        <a:rPr lang="ru-RU" sz="2400" dirty="0">
                          <a:effectLst/>
                        </a:rPr>
                        <a:t>, </a:t>
                      </a:r>
                      <a:r>
                        <a:rPr lang="ru-RU" sz="2400" dirty="0" err="1">
                          <a:effectLst/>
                        </a:rPr>
                        <a:t>first-out</a:t>
                      </a:r>
                      <a:r>
                        <a:rPr lang="ru-RU" sz="2400" dirty="0">
                          <a:effectLst/>
                        </a:rPr>
                        <a:t>).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extLst>
                  <a:ext uri="{0D108BD9-81ED-4DB2-BD59-A6C34878D82A}">
                    <a16:rowId xmlns:a16="http://schemas.microsoft.com/office/drawing/2014/main" val="3113747000"/>
                  </a:ext>
                </a:extLst>
              </a:tr>
              <a:tr h="800464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none" strike="noStrike" dirty="0" err="1">
                          <a:effectLst/>
                        </a:rPr>
                        <a:t>ConcurrentStack</a:t>
                      </a:r>
                      <a:r>
                        <a:rPr lang="en-US" sz="2400" u="none" strike="noStrike" dirty="0">
                          <a:effectLst/>
                        </a:rPr>
                        <a:t>&lt;T&gt;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400" dirty="0">
                          <a:effectLst/>
                        </a:rPr>
                        <a:t>Поточно-ориентированная реализация стека</a:t>
                      </a:r>
                      <a:r>
                        <a:rPr lang="en-US" sz="2400" dirty="0">
                          <a:effectLst/>
                        </a:rPr>
                        <a:t> LIFO (last-in, first-out).</a:t>
                      </a:r>
                    </a:p>
                  </a:txBody>
                  <a:tcPr marL="65130" marR="65130" marT="32565" marB="32565"/>
                </a:tc>
                <a:extLst>
                  <a:ext uri="{0D108BD9-81ED-4DB2-BD59-A6C34878D82A}">
                    <a16:rowId xmlns:a16="http://schemas.microsoft.com/office/drawing/2014/main" val="178753203"/>
                  </a:ext>
                </a:extLst>
              </a:tr>
              <a:tr h="800464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none" strike="noStrike" dirty="0" err="1">
                          <a:effectLst/>
                        </a:rPr>
                        <a:t>ConcurrentBag</a:t>
                      </a:r>
                      <a:r>
                        <a:rPr lang="en-US" sz="2400" u="none" strike="noStrike" dirty="0">
                          <a:effectLst/>
                        </a:rPr>
                        <a:t>&lt;T&gt;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400" dirty="0">
                          <a:effectLst/>
                        </a:rPr>
                        <a:t>Поточно-ориентированная реализация неупорядоченного набора элементов.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extLst>
                  <a:ext uri="{0D108BD9-81ED-4DB2-BD59-A6C34878D82A}">
                    <a16:rowId xmlns:a16="http://schemas.microsoft.com/office/drawing/2014/main" val="4062253798"/>
                  </a:ext>
                </a:extLst>
              </a:tr>
              <a:tr h="800464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u="none" strike="noStrike" dirty="0" err="1">
                          <a:effectLst/>
                        </a:rPr>
                        <a:t>IProducerConsumerCollection</a:t>
                      </a:r>
                      <a:r>
                        <a:rPr lang="en-US" sz="2400" u="none" strike="noStrike" dirty="0">
                          <a:effectLst/>
                        </a:rPr>
                        <a:t>&lt;T&gt;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2400" dirty="0">
                          <a:effectLst/>
                        </a:rPr>
                        <a:t>Интерфейс, который должен реализовать тип для использования в </a:t>
                      </a:r>
                      <a:r>
                        <a:rPr lang="ru-RU" sz="2400" dirty="0" err="1">
                          <a:effectLst/>
                        </a:rPr>
                        <a:t>BlockingCollection</a:t>
                      </a:r>
                      <a:r>
                        <a:rPr lang="ru-RU" sz="2400" dirty="0">
                          <a:effectLst/>
                        </a:rPr>
                        <a:t>.</a:t>
                      </a:r>
                      <a:endParaRPr lang="en-US" sz="2400" dirty="0">
                        <a:effectLst/>
                      </a:endParaRPr>
                    </a:p>
                  </a:txBody>
                  <a:tcPr marL="65130" marR="65130" marT="32565" marB="32565"/>
                </a:tc>
                <a:extLst>
                  <a:ext uri="{0D108BD9-81ED-4DB2-BD59-A6C34878D82A}">
                    <a16:rowId xmlns:a16="http://schemas.microsoft.com/office/drawing/2014/main" val="1591454814"/>
                  </a:ext>
                </a:extLst>
              </a:tr>
            </a:tbl>
          </a:graphicData>
        </a:graphic>
      </p:graphicFrame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68013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Потокобезопасные</a:t>
            </a:r>
            <a:r>
              <a:rPr lang="ru-RU" dirty="0"/>
              <a:t> коллекции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GB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ConcurrentDictionary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[];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Method1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Method2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GB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GB" sz="1400" b="0" dirty="0" smtClean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GB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GB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даём программе завершиться до завершения потоков </a:t>
            </a:r>
            <a:r>
              <a:rPr lang="en-GB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t1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GB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t2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GB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();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GB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$"Key: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GB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Value: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GB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Method1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GB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TryAdd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«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Добавил </a:t>
            </a:r>
            <a:r>
              <a:rPr lang="en-GB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Method1 "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GB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Method2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()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GB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TryAdd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«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Добавил </a:t>
            </a:r>
            <a:r>
              <a:rPr lang="en-GB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Method2 "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GB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GB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112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err="1"/>
              <a:t>Гламаздин</a:t>
            </a:r>
            <a:r>
              <a:rPr lang="ru-RU" dirty="0"/>
              <a:t> И.И.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3874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Потокобезопасные</a:t>
            </a:r>
            <a:r>
              <a:rPr lang="ru-RU" dirty="0"/>
              <a:t> коллекции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113</a:t>
            </a:fld>
            <a:endParaRPr lang="ru-RU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Кафедра информатики</a:t>
            </a:r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Гламаздин И.И.</a:t>
            </a:r>
            <a:endParaRPr lang="en-US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0EB30E78-F5E1-4DAA-8876-BC5095A0C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ConcurrentQueue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concurrentQueue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[];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Заполнить очередь 5000 элементами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concurrentQueue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Enqueue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Массив из 20 задач (</a:t>
            </a:r>
            <a:r>
              <a:rPr lang="en-GB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Task)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queueTasks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Заполнить массив.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Каждая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задача пытается полностью очистить очередь.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При каждом успешном извлечении элемента очереди увеличить счетчик на 1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queueTasks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queueTasks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Factory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StartNew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(()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=&gt;</a:t>
            </a: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concurrentQueue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IsEmpty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success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concurrentQueue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TryDequeue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success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GB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Interlocked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});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Ожидаем завершения задач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WhenAll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queueTasks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Вывести счетчик в консоль.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Он должен быть равен начальному размеру очереди (5000)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$"Counter: 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092332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00B7275-7A1C-4175-9DA8-32A05C069381}" vid="{7BA702E7-4841-4B17-B04A-ACB1ABD7F3F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98414</TotalTime>
  <Words>4615</Words>
  <Application>Microsoft Office PowerPoint</Application>
  <PresentationFormat>Широкоэкранный</PresentationFormat>
  <Paragraphs>1129</Paragraphs>
  <Slides>113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113</vt:i4>
      </vt:variant>
    </vt:vector>
  </HeadingPairs>
  <TitlesOfParts>
    <vt:vector size="122" baseType="lpstr">
      <vt:lpstr>Consolas</vt:lpstr>
      <vt:lpstr>TimesNewRomanPSMT</vt:lpstr>
      <vt:lpstr>Arial</vt:lpstr>
      <vt:lpstr>Times New Roman</vt:lpstr>
      <vt:lpstr>Cascadia Mono</vt:lpstr>
      <vt:lpstr>Calibri Light</vt:lpstr>
      <vt:lpstr>Calibri</vt:lpstr>
      <vt:lpstr>Wingdings</vt:lpstr>
      <vt:lpstr>Theme1</vt:lpstr>
      <vt:lpstr>Основы многопоточного программирования TPL</vt:lpstr>
      <vt:lpstr>TPL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</vt:lpstr>
      <vt:lpstr>Task (Задача) - пример</vt:lpstr>
      <vt:lpstr>Task (Задача)</vt:lpstr>
      <vt:lpstr>Task (Задача)</vt:lpstr>
      <vt:lpstr>TPL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https://learn.microsoft.com/ru-ru/dotnet/csharp/asynchronous-programming/task-asynchronous-programming-model#BKMK_WhatHappensUnderstandinganAsyncMethod </vt:lpstr>
      <vt:lpstr>Асинхронные операции</vt:lpstr>
      <vt:lpstr>Асинхронные операции</vt:lpstr>
      <vt:lpstr>Асинхронные операции</vt:lpstr>
      <vt:lpstr>Асинхронные операции (Пример 2)</vt:lpstr>
      <vt:lpstr>Асинхронные операции (Пример 2)</vt:lpstr>
      <vt:lpstr>Асинхронные операции (Пример 2)</vt:lpstr>
      <vt:lpstr>Асинхронные операции (Пример 2)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Асинхронные операции</vt:lpstr>
      <vt:lpstr>TPL</vt:lpstr>
      <vt:lpstr>Цепочки задач (Continuation Tasks)</vt:lpstr>
      <vt:lpstr>Цепочки задач (Continuation Tasks)</vt:lpstr>
      <vt:lpstr>Цепочки задач (Continuation Tasks)</vt:lpstr>
      <vt:lpstr>Цепочки задач (Continuation Tasks)</vt:lpstr>
      <vt:lpstr>Цепочки задач (Continuation Tasks)</vt:lpstr>
      <vt:lpstr>Цепочки задач (Continuation Tasks)</vt:lpstr>
      <vt:lpstr>Цепочки задач (Continuation Tasks)</vt:lpstr>
      <vt:lpstr>Цепочки задач (Continuation Tasks) (проверка результата antecendent)</vt:lpstr>
      <vt:lpstr>TPL</vt:lpstr>
      <vt:lpstr>Отмена задачи (Task Cancellation)</vt:lpstr>
      <vt:lpstr>Отмена задачи (Task Cancellation)</vt:lpstr>
      <vt:lpstr>Отмена задачи (Task Cancellation)</vt:lpstr>
      <vt:lpstr>Отмена задачи (Task Cancellation)</vt:lpstr>
      <vt:lpstr>Отмена задачи (Task Cancellation)</vt:lpstr>
      <vt:lpstr>TPL</vt:lpstr>
      <vt:lpstr>Контроль за прогрессом выполнения потока</vt:lpstr>
      <vt:lpstr>Контроль за прогрессом выполнения потока</vt:lpstr>
      <vt:lpstr>Контроль за прогрессом выполнения потока</vt:lpstr>
      <vt:lpstr>Контроль за прогрессом выполнения потока</vt:lpstr>
      <vt:lpstr>Контроль за прогрессом выполнения потока</vt:lpstr>
      <vt:lpstr>Рекомендации по использованию TPL</vt:lpstr>
      <vt:lpstr>Рекомендации по использованию TPL</vt:lpstr>
      <vt:lpstr>Рекомендации по использованию TPL</vt:lpstr>
      <vt:lpstr>Рекомендации по использованию TPL</vt:lpstr>
      <vt:lpstr>Рекомендации по использованию TPL</vt:lpstr>
      <vt:lpstr>Рекомендации по использованию TPL</vt:lpstr>
      <vt:lpstr>Рекомендации по использованию TPL</vt:lpstr>
      <vt:lpstr>Рекомендации по использованию TPL</vt:lpstr>
      <vt:lpstr>Рекомендации по использованию TPL</vt:lpstr>
      <vt:lpstr>TPL</vt:lpstr>
      <vt:lpstr>Класс Parallel</vt:lpstr>
      <vt:lpstr>Класс Parallel</vt:lpstr>
      <vt:lpstr>Класс Parallel</vt:lpstr>
      <vt:lpstr>Класс Parallel</vt:lpstr>
      <vt:lpstr>Класс Parallel</vt:lpstr>
      <vt:lpstr>Класс Parallel</vt:lpstr>
      <vt:lpstr>Класс Parallel</vt:lpstr>
      <vt:lpstr>Класс Parallel</vt:lpstr>
      <vt:lpstr>Класс Parallel</vt:lpstr>
      <vt:lpstr>Класс Parallel (отмена выполнения)</vt:lpstr>
      <vt:lpstr>Класс Parallel</vt:lpstr>
      <vt:lpstr>Класс Parallel</vt:lpstr>
      <vt:lpstr>TPL</vt:lpstr>
      <vt:lpstr>PLINQ</vt:lpstr>
      <vt:lpstr>PLINQ</vt:lpstr>
      <vt:lpstr>PLINQ</vt:lpstr>
      <vt:lpstr>PLINQ</vt:lpstr>
      <vt:lpstr>PLINQ</vt:lpstr>
      <vt:lpstr>PLINQ (производительность на простых операциях)</vt:lpstr>
      <vt:lpstr>PLINQ (производительность на сложных операциях)</vt:lpstr>
      <vt:lpstr>PLINQ</vt:lpstr>
      <vt:lpstr>PLINQ</vt:lpstr>
      <vt:lpstr>PLINQ</vt:lpstr>
      <vt:lpstr>PLINQ</vt:lpstr>
      <vt:lpstr>PLINQ (отмена операций)</vt:lpstr>
      <vt:lpstr>TPL</vt:lpstr>
      <vt:lpstr>Потокобезопасные коллекции</vt:lpstr>
      <vt:lpstr>Потокобезопасные коллекции</vt:lpstr>
      <vt:lpstr>Потокобезопасные коллекции</vt:lpstr>
      <vt:lpstr>Потокобезопасные коллекции</vt:lpstr>
      <vt:lpstr>Потокобезопасные коллекции</vt:lpstr>
      <vt:lpstr>Потокобезопасные коллекции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С# Лекция 3</dc:title>
  <dc:creator>Igor Glamazdin</dc:creator>
  <cp:lastModifiedBy>Igor Glamazdin</cp:lastModifiedBy>
  <cp:revision>485</cp:revision>
  <dcterms:modified xsi:type="dcterms:W3CDTF">2025-01-26T06:32:53Z</dcterms:modified>
</cp:coreProperties>
</file>