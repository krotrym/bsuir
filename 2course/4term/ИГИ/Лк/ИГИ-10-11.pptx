
<file path=[Content_Types].xml><?xml version="1.0" encoding="utf-8"?>
<Types xmlns="http://schemas.openxmlformats.org/package/2006/content-types">
  <Override PartName="/ppt/slides/slide47.xml" ContentType="application/vnd.openxmlformats-officedocument.presentationml.slide+xml"/>
  <Override PartName="/ppt/slides/slide94.xml" ContentType="application/vnd.openxmlformats-officedocument.presentationml.slide+xml"/>
  <Override PartName="/ppt/slides/slide142.xml" ContentType="application/vnd.openxmlformats-officedocument.presentationml.slide+xml"/>
  <Override PartName="/ppt/slides/slide120.xml" ContentType="application/vnd.openxmlformats-officedocument.presentationml.slide+xml"/>
  <Override PartName="/ppt/slides/slide218.xml" ContentType="application/vnd.openxmlformats-officedocument.presentationml.slide+xml"/>
  <Override PartName="/ppt/notesSlides/notesSlide38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141.xml" ContentType="application/vnd.openxmlformats-officedocument.presentationml.notesSlide+xml"/>
  <Override PartName="/ppt/slides/slide25.xml" ContentType="application/vnd.openxmlformats-officedocument.presentationml.slide+xml"/>
  <Override PartName="/ppt/slides/slide72.xml" ContentType="application/vnd.openxmlformats-officedocument.presentationml.slide+xml"/>
  <Override PartName="/ppt/slideLayouts/slideLayout2.xml" ContentType="application/vnd.openxmlformats-officedocument.presentationml.slideLayout+xml"/>
  <Override PartName="/ppt/notesSlides/notesSlide217.xml" ContentType="application/vnd.openxmlformats-officedocument.presentationml.notesSlide+xml"/>
  <Default Extension="xml" ContentType="application/xml"/>
  <Override PartName="/ppt/slides/slide50.xml" ContentType="application/vnd.openxmlformats-officedocument.presentationml.slide+xml"/>
  <Override PartName="/ppt/notesSlides/notesSlide16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179.xml" ContentType="application/vnd.openxmlformats-officedocument.presentationml.notesSlide+xml"/>
  <Override PartName="/ppt/slides/slide158.xml" ContentType="application/vnd.openxmlformats-officedocument.presentationml.slide+xml"/>
  <Override PartName="/ppt/slides/slide136.xml" ContentType="application/vnd.openxmlformats-officedocument.presentationml.slide+xml"/>
  <Override PartName="/ppt/slides/slide183.xml" ContentType="application/vnd.openxmlformats-officedocument.presentationml.slide+xml"/>
  <Override PartName="/ppt/notesSlides/notesSlide7.xml" ContentType="application/vnd.openxmlformats-officedocument.presentationml.notesSlide+xml"/>
  <Override PartName="/ppt/notesSlides/notesSlide15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135.xml" ContentType="application/vnd.openxmlformats-officedocument.presentationml.notesSlide+xml"/>
  <Override PartName="/ppt/notesSlides/notesSlide182.xml" ContentType="application/vnd.openxmlformats-officedocument.presentationml.notesSlide+xml"/>
  <Override PartName="/ppt/slides/slide19.xml" ContentType="application/vnd.openxmlformats-officedocument.presentationml.slide+xml"/>
  <Override PartName="/ppt/slides/slide66.xml" ContentType="application/vnd.openxmlformats-officedocument.presentationml.slide+xml"/>
  <Override PartName="/ppt/slides/slide114.xml" ContentType="application/vnd.openxmlformats-officedocument.presentationml.slide+xml"/>
  <Override PartName="/ppt/slides/slide161.xml" ContentType="application/vnd.openxmlformats-officedocument.presentationml.slide+xml"/>
  <Default Extension="png" ContentType="image/png"/>
  <Override PartName="/ppt/notesSlides/notesSlide79.xml" ContentType="application/vnd.openxmlformats-officedocument.presentationml.notesSlide+xml"/>
  <Override PartName="/ppt/theme/theme2.xml" ContentType="application/vnd.openxmlformats-officedocument.theme+xml"/>
  <Override PartName="/ppt/notesSlides/notesSlide57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60.xml" ContentType="application/vnd.openxmlformats-officedocument.presentationml.notesSlide+xml"/>
  <Override PartName="/ppt/slides/slide44.xml" ContentType="application/vnd.openxmlformats-officedocument.presentationml.slide+xml"/>
  <Override PartName="/ppt/slides/slide91.xml" ContentType="application/vnd.openxmlformats-officedocument.presentationml.slide+xml"/>
  <Override PartName="/ppt/slides/slide215.xml" ContentType="application/vnd.openxmlformats-officedocument.presentationml.slide+xml"/>
  <Override PartName="/ppt/slides/slide22.xml" ContentType="application/vnd.openxmlformats-officedocument.presentationml.slide+xml"/>
  <Override PartName="/ppt/slides/slide199.xml" ContentType="application/vnd.openxmlformats-officedocument.presentationml.slide+xml"/>
  <Override PartName="/ppt/notesSlides/notesSlide35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198.xml" ContentType="application/vnd.openxmlformats-officedocument.presentationml.notesSlide+xml"/>
  <Override PartName="/ppt/slides/slide177.xml" ContentType="application/vnd.openxmlformats-officedocument.presentationml.slide+xml"/>
  <Override PartName="/ppt/notesSlides/notesSlide129.xml" ContentType="application/vnd.openxmlformats-officedocument.presentationml.notesSlide+xml"/>
  <Override PartName="/ppt/notesSlides/notesSlide176.xml" ContentType="application/vnd.openxmlformats-officedocument.presentationml.notesSlide+xml"/>
  <Override PartName="/ppt/slides/slide108.xml" ContentType="application/vnd.openxmlformats-officedocument.presentationml.slide+xml"/>
  <Override PartName="/ppt/slides/slide155.xml" ContentType="application/vnd.openxmlformats-officedocument.presentationml.slide+xml"/>
  <Override PartName="/ppt/notesSlides/notesSlide118.xml" ContentType="application/vnd.openxmlformats-officedocument.presentationml.notesSlide+xml"/>
  <Override PartName="/ppt/notesSlides/notesSlide165.xml" ContentType="application/vnd.openxmlformats-officedocument.presentationml.notesSlide+xml"/>
  <Override PartName="/ppt/slides/slide49.xml" ContentType="application/vnd.openxmlformats-officedocument.presentationml.slide+xml"/>
  <Override PartName="/ppt/slides/slide96.xml" ContentType="application/vnd.openxmlformats-officedocument.presentationml.slide+xml"/>
  <Override PartName="/ppt/slides/slide144.xml" ContentType="application/vnd.openxmlformats-officedocument.presentationml.slide+xml"/>
  <Override PartName="/ppt/slides/slide191.xml" ContentType="application/vnd.openxmlformats-officedocument.presentationml.slide+xml"/>
  <Override PartName="/ppt/notesSlides/notesSlide4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54.xml" ContentType="application/vnd.openxmlformats-officedocument.presentationml.notesSlide+xml"/>
  <Override PartName="/ppt/slides/slide38.xml" ContentType="application/vnd.openxmlformats-officedocument.presentationml.slide+xml"/>
  <Override PartName="/ppt/slides/slide85.xml" ContentType="application/vnd.openxmlformats-officedocument.presentationml.slide+xml"/>
  <Override PartName="/ppt/slides/slide122.xml" ContentType="application/vnd.openxmlformats-officedocument.presentationml.slide+xml"/>
  <Override PartName="/ppt/slides/slide133.xml" ContentType="application/vnd.openxmlformats-officedocument.presentationml.slide+xml"/>
  <Override PartName="/ppt/slides/slide180.xml" ContentType="application/vnd.openxmlformats-officedocument.presentationml.slide+xml"/>
  <Override PartName="/ppt/notesSlides/notesSlide8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90.xml" ContentType="application/vnd.openxmlformats-officedocument.presentationml.notesSlide+xml"/>
  <Override PartName="/ppt/slides/slide27.xml" ContentType="application/vnd.openxmlformats-officedocument.presentationml.slide+xml"/>
  <Override PartName="/ppt/slides/slide74.xml" ContentType="application/vnd.openxmlformats-officedocument.presentationml.slide+xml"/>
  <Override PartName="/ppt/slides/slide111.xml" ContentType="application/vnd.openxmlformats-officedocument.presentationml.slide+xml"/>
  <Override PartName="/ppt/slides/slide209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21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100.xml" ContentType="application/vnd.openxmlformats-officedocument.presentationml.slide+xml"/>
  <Override PartName="/ppt/notesSlides/notesSlide18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208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90.xml" ContentType="application/vnd.openxmlformats-officedocument.presentationml.notesSlide+xml"/>
  <Override PartName="/ppt/slides/slide30.xml" ContentType="application/vnd.openxmlformats-officedocument.presentationml.slide+xml"/>
  <Override PartName="/ppt/slides/slide149.xml" ContentType="application/vnd.openxmlformats-officedocument.presentationml.slide+xml"/>
  <Override PartName="/ppt/slides/slide196.xml" ContentType="application/vnd.openxmlformats-officedocument.presentationml.slide+xml"/>
  <Override PartName="/ppt/slides/slide21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138.xml" ContentType="application/vnd.openxmlformats-officedocument.presentationml.slide+xml"/>
  <Override PartName="/ppt/slides/slide185.xml" ContentType="application/vnd.openxmlformats-officedocument.presentationml.slide+xml"/>
  <Override PartName="/ppt/slides/slide201.xml" ContentType="application/vnd.openxmlformats-officedocument.presentationml.slide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11.xml" ContentType="application/vnd.openxmlformats-officedocument.presentationml.notesSlide+xml"/>
  <Override PartName="/ppt/slides/slide79.xml" ContentType="application/vnd.openxmlformats-officedocument.presentationml.slide+xml"/>
  <Override PartName="/ppt/slides/slide127.xml" ContentType="application/vnd.openxmlformats-officedocument.presentationml.slide+xml"/>
  <Override PartName="/ppt/slides/slide174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84.xml" ContentType="application/vnd.openxmlformats-officedocument.presentationml.notesSlide+xml"/>
  <Override PartName="/ppt/slides/slide7.xml" ContentType="application/vnd.openxmlformats-officedocument.presentationml.slide+xml"/>
  <Override PartName="/ppt/slides/slide68.xml" ContentType="application/vnd.openxmlformats-officedocument.presentationml.slide+xml"/>
  <Override PartName="/ppt/slides/slide116.xml" ContentType="application/vnd.openxmlformats-officedocument.presentationml.slide+xml"/>
  <Override PartName="/ppt/slides/slide163.xml" ContentType="application/vnd.openxmlformats-officedocument.presentationml.slide+xml"/>
  <Override PartName="/ppt/slideLayouts/slideLayout9.xml" ContentType="application/vnd.openxmlformats-officedocument.presentationml.slideLayout+xml"/>
  <Override PartName="/ppt/notesSlides/notesSlide126.xml" ContentType="application/vnd.openxmlformats-officedocument.presentationml.notesSlide+xml"/>
  <Override PartName="/ppt/notesSlides/notesSlide173.xml" ContentType="application/vnd.openxmlformats-officedocument.presentationml.notesSlide+xml"/>
  <Override PartName="/ppt/slides/slide57.xml" ContentType="application/vnd.openxmlformats-officedocument.presentationml.slide+xml"/>
  <Override PartName="/ppt/slides/slide105.xml" ContentType="application/vnd.openxmlformats-officedocument.presentationml.slide+xml"/>
  <Override PartName="/ppt/slides/slide141.xml" ContentType="application/vnd.openxmlformats-officedocument.presentationml.slide+xml"/>
  <Override PartName="/ppt/slides/slide15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62.xml" ContentType="application/vnd.openxmlformats-officedocument.presentationml.notesSlide+xml"/>
  <Override PartName="/ppt/slides/slide46.xml" ContentType="application/vnd.openxmlformats-officedocument.presentationml.slide+xml"/>
  <Override PartName="/ppt/slides/slide93.xml" ContentType="application/vnd.openxmlformats-officedocument.presentationml.slide+xml"/>
  <Override PartName="/ppt/slides/slide130.xml" ContentType="application/vnd.openxmlformats-officedocument.presentationml.slide+xml"/>
  <Override PartName="/ppt/slides/slide217.xml" ContentType="application/vnd.openxmlformats-officedocument.presentationml.slide+xml"/>
  <Override PartName="/ppt/notesSlides/notesSlide48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140.xml" ContentType="application/vnd.openxmlformats-officedocument.presentationml.notesSlide+xml"/>
  <Override PartName="/ppt/slides/slide24.xml" ContentType="application/vnd.openxmlformats-officedocument.presentationml.slide+xml"/>
  <Override PartName="/ppt/slides/slide35.xml" ContentType="application/vnd.openxmlformats-officedocument.presentationml.slide+xml"/>
  <Override PartName="/ppt/slides/slide71.xml" ContentType="application/vnd.openxmlformats-officedocument.presentationml.slide+xml"/>
  <Override PartName="/ppt/slides/slide82.xml" ContentType="application/vnd.openxmlformats-officedocument.presentationml.slide+xml"/>
  <Override PartName="/ppt/slides/slide206.xml" ContentType="application/vnd.openxmlformats-officedocument.presentationml.slide+xml"/>
  <Override PartName="/ppt/notesSlides/notesSlide37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216.xml" ContentType="application/vnd.openxmlformats-officedocument.presentationml.notesSlide+xml"/>
  <Override PartName="/ppt/slides/slide13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205.xml" ContentType="application/vnd.openxmlformats-officedocument.presentationml.notesSlide+xml"/>
  <Override PartName="/ppt/slides/slide168.xml" ContentType="application/vnd.openxmlformats-officedocument.presentationml.slide+xml"/>
  <Override PartName="/ppt/slides/slide179.xml" ContentType="application/vnd.openxmlformats-officedocument.presentationml.slide+xml"/>
  <Override PartName="/ppt/notesSlides/notesSlide51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89.xml" ContentType="application/vnd.openxmlformats-officedocument.presentationml.notesSlide+xml"/>
  <Override PartName="/ppt/slides/slide157.xml" ContentType="application/vnd.openxmlformats-officedocument.presentationml.slide+xml"/>
  <Override PartName="/ppt/notesSlides/notesSlide40.xml" ContentType="application/vnd.openxmlformats-officedocument.presentationml.notesSlide+xml"/>
  <Override PartName="/ppt/notesSlides/notesSlide167.xml" ContentType="application/vnd.openxmlformats-officedocument.presentationml.notesSlide+xml"/>
  <Override PartName="/ppt/slides/slide98.xml" ContentType="application/vnd.openxmlformats-officedocument.presentationml.slide+xml"/>
  <Override PartName="/ppt/slides/slide146.xml" ContentType="application/vnd.openxmlformats-officedocument.presentationml.slide+xml"/>
  <Override PartName="/ppt/slides/slide193.xml" ContentType="application/vnd.openxmlformats-officedocument.presentationml.slide+xml"/>
  <Override PartName="/ppt/notesSlides/notesSlide6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56.xml" ContentType="application/vnd.openxmlformats-officedocument.presentationml.notesSlide+xml"/>
  <Override PartName="/ppt/slides/slide87.xml" ContentType="application/vnd.openxmlformats-officedocument.presentationml.slide+xml"/>
  <Override PartName="/ppt/slides/slide124.xml" ContentType="application/vnd.openxmlformats-officedocument.presentationml.slide+xml"/>
  <Override PartName="/ppt/slides/slide135.xml" ContentType="application/vnd.openxmlformats-officedocument.presentationml.slide+xml"/>
  <Override PartName="/ppt/slides/slide171.xml" ContentType="application/vnd.openxmlformats-officedocument.presentationml.slide+xml"/>
  <Override PartName="/ppt/slides/slide182.xml" ContentType="application/vnd.openxmlformats-officedocument.presentationml.slide+xml"/>
  <Override PartName="/ppt/notesSlides/notesSlide89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92.xml" ContentType="application/vnd.openxmlformats-officedocument.presentationml.notesSlide+xml"/>
  <Override PartName="/ppt/slides/slide29.xml" ContentType="application/vnd.openxmlformats-officedocument.presentationml.slide+xml"/>
  <Override PartName="/ppt/slides/slide76.xml" ContentType="application/vnd.openxmlformats-officedocument.presentationml.slide+xml"/>
  <Override PartName="/ppt/slides/slide113.xml" ContentType="application/vnd.openxmlformats-officedocument.presentationml.slide+xml"/>
  <Override PartName="/ppt/slides/slide160.xml" ContentType="application/vnd.openxmlformats-officedocument.presentationml.slide+xml"/>
  <Override PartName="/ppt/notesSlides/notesSlide78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81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102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67.xml" ContentType="application/vnd.openxmlformats-officedocument.presentationml.notesSlide+xml"/>
  <Override PartName="/ppt/notesSlides/notesSlide112.xml" ContentType="application/vnd.openxmlformats-officedocument.presentationml.notesSlide+xml"/>
  <Override PartName="/ppt/slides/slide43.xml" ContentType="application/vnd.openxmlformats-officedocument.presentationml.slide+xml"/>
  <Override PartName="/ppt/slides/slide90.xml" ContentType="application/vnd.openxmlformats-officedocument.presentationml.slide+xml"/>
  <Override PartName="/ppt/theme/theme1.xml" ContentType="application/vnd.openxmlformats-officedocument.theme+xml"/>
  <Override PartName="/ppt/notesSlides/notesSlide4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101.xml" ContentType="application/vnd.openxmlformats-officedocument.presentationml.notesSlide+xml"/>
  <Override PartName="/ppt/slides/slide32.xml" ContentType="application/vnd.openxmlformats-officedocument.presentationml.slide+xml"/>
  <Override PartName="/ppt/slides/slide214.xml" ContentType="application/vnd.openxmlformats-officedocument.presentationml.slide+xml"/>
  <Override PartName="/ppt/notesSlides/notesSlide34.xml" ContentType="application/vnd.openxmlformats-officedocument.presentationml.notesSlide+xml"/>
  <Override PartName="/ppt/notesSlides/notesSlide81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slides/slide187.xml" ContentType="application/vnd.openxmlformats-officedocument.presentationml.slide+xml"/>
  <Override PartName="/ppt/slides/slide198.xml" ContentType="application/vnd.openxmlformats-officedocument.presentationml.slide+xml"/>
  <Override PartName="/ppt/slides/slide203.xml" ContentType="application/vnd.openxmlformats-officedocument.presentationml.slide+xml"/>
  <Override PartName="/ppt/notesSlides/notesSlide23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213.xml" ContentType="application/vnd.openxmlformats-officedocument.presentationml.notesSlide+xml"/>
  <Override PartName="/ppt/slides/slide129.xml" ContentType="application/vnd.openxmlformats-officedocument.presentationml.slide+xml"/>
  <Override PartName="/ppt/slides/slide176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202.xml" ContentType="application/vnd.openxmlformats-officedocument.presentationml.notesSlide+xml"/>
  <Override PartName="/ppt/slides/slide118.xml" ContentType="application/vnd.openxmlformats-officedocument.presentationml.slide+xml"/>
  <Override PartName="/ppt/slides/slide165.xml" ContentType="application/vnd.openxmlformats-officedocument.presentationml.slide+xml"/>
  <Override PartName="/ppt/notesSlides/notesSlide128.xml" ContentType="application/vnd.openxmlformats-officedocument.presentationml.notesSlide+xml"/>
  <Override PartName="/ppt/notesSlides/notesSlide175.xml" ContentType="application/vnd.openxmlformats-officedocument.presentationml.notes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107.xml" ContentType="application/vnd.openxmlformats-officedocument.presentationml.slide+xml"/>
  <Override PartName="/ppt/slides/slide143.xml" ContentType="application/vnd.openxmlformats-officedocument.presentationml.slide+xml"/>
  <Override PartName="/ppt/slides/slide154.xml" ContentType="application/vnd.openxmlformats-officedocument.presentationml.slide+xml"/>
  <Override PartName="/ppt/slides/slide190.xml" ContentType="application/vnd.openxmlformats-officedocument.presentationml.slide+xml"/>
  <Override PartName="/ppt/viewProps.xml" ContentType="application/vnd.openxmlformats-officedocument.presentationml.viewProps+xml"/>
  <Override PartName="/ppt/notesSlides/notesSlide10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64.xml" ContentType="application/vnd.openxmlformats-officedocument.presentationml.notesSlide+xml"/>
  <Override PartName="/ppt/slides/slide48.xml" ContentType="application/vnd.openxmlformats-officedocument.presentationml.slide+xml"/>
  <Override PartName="/ppt/slides/slide95.xml" ContentType="application/vnd.openxmlformats-officedocument.presentationml.slide+xml"/>
  <Override PartName="/ppt/slides/slide132.xml" ContentType="application/vnd.openxmlformats-officedocument.presentationml.slide+xml"/>
  <Override PartName="/ppt/notesSlides/notesSlide3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142.xml" ContentType="application/vnd.openxmlformats-officedocument.presentationml.notes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slides/slide121.xml" ContentType="application/vnd.openxmlformats-officedocument.presentationml.slide+xml"/>
  <Override PartName="/ppt/slides/slide208.xml" ContentType="application/vnd.openxmlformats-officedocument.presentationml.slide+xml"/>
  <Override PartName="/ppt/slides/slide219.xml" ContentType="application/vnd.openxmlformats-officedocument.presentationml.slide+xml"/>
  <Override PartName="/ppt/presProps.xml" ContentType="application/vnd.openxmlformats-officedocument.presentationml.presProps+xml"/>
  <Override PartName="/ppt/notesSlides/notesSlide39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218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62.xml" ContentType="application/vnd.openxmlformats-officedocument.presentationml.slide+xml"/>
  <Override PartName="/ppt/slides/slide110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207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40.xml" ContentType="application/vnd.openxmlformats-officedocument.presentationml.slide+xml"/>
  <Override PartName="/ppt/slides/slide159.xml" ContentType="application/vnd.openxmlformats-officedocument.presentationml.slide+xml"/>
  <Override PartName="/ppt/slides/slide211.xml" ContentType="application/vnd.openxmlformats-officedocument.presentationml.slide+xml"/>
  <Override PartName="/ppt/notesSlides/notesSlide42.xml" ContentType="application/vnd.openxmlformats-officedocument.presentationml.notesSlide+xml"/>
  <Override PartName="/ppt/notesSlides/notesSlide169.xml" ContentType="application/vnd.openxmlformats-officedocument.presentationml.notesSlide+xml"/>
  <Override PartName="/ppt/slides/slide148.xml" ContentType="application/vnd.openxmlformats-officedocument.presentationml.slide+xml"/>
  <Override PartName="/ppt/slides/slide195.xml" ContentType="application/vnd.openxmlformats-officedocument.presentationml.slide+xml"/>
  <Override PartName="/ppt/slides/slide200.xml" ContentType="application/vnd.openxmlformats-officedocument.presentationml.slide+xml"/>
  <Override PartName="/ppt/notesSlides/notesSlide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210.xml" ContentType="application/vnd.openxmlformats-officedocument.presentationml.notesSlide+xml"/>
  <Override PartName="/ppt/slides/slide89.xml" ContentType="application/vnd.openxmlformats-officedocument.presentationml.slide+xml"/>
  <Override PartName="/ppt/slides/slide126.xml" ContentType="application/vnd.openxmlformats-officedocument.presentationml.slide+xml"/>
  <Override PartName="/ppt/slides/slide137.xml" ContentType="application/vnd.openxmlformats-officedocument.presentationml.slide+xml"/>
  <Override PartName="/ppt/slides/slide173.xml" ContentType="application/vnd.openxmlformats-officedocument.presentationml.slide+xml"/>
  <Override PartName="/ppt/slides/slide184.xml" ContentType="application/vnd.openxmlformats-officedocument.presentationml.slide+xml"/>
  <Override PartName="/ppt/notesSlides/notesSlide147.xml" ContentType="application/vnd.openxmlformats-officedocument.presentationml.notesSlide+xml"/>
  <Override PartName="/ppt/notesSlides/notesSlide194.xml" ContentType="application/vnd.openxmlformats-officedocument.presentationml.notesSlide+xml"/>
  <Override PartName="/ppt/slides/slide78.xml" ContentType="application/vnd.openxmlformats-officedocument.presentationml.slide+xml"/>
  <Override PartName="/ppt/slides/slide115.xml" ContentType="application/vnd.openxmlformats-officedocument.presentationml.slide+xml"/>
  <Override PartName="/ppt/slides/slide162.xml" ContentType="application/vnd.openxmlformats-officedocument.presentationml.slide+xml"/>
  <Override PartName="/ppt/handoutMasters/handoutMaster1.xml" ContentType="application/vnd.openxmlformats-officedocument.presentationml.handoutMaster+xml"/>
  <Override PartName="/ppt/notesSlides/notesSlide12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83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s/slide104.xml" ContentType="application/vnd.openxmlformats-officedocument.presentationml.slide+xml"/>
  <Override PartName="/ppt/slides/slide151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69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6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5.xml" ContentType="application/vnd.openxmlformats-officedocument.presentationml.slide+xml"/>
  <Override PartName="/ppt/slides/slide92.xml" ContentType="application/vnd.openxmlformats-officedocument.presentationml.slide+xml"/>
  <Override PartName="/ppt/slides/slide140.xml" ContentType="application/vnd.openxmlformats-officedocument.presentationml.slide+xml"/>
  <Override PartName="/ppt/theme/theme3.xml" ContentType="application/vnd.openxmlformats-officedocument.theme+xml"/>
  <Override PartName="/ppt/notesSlides/notesSlide4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50.xml" ContentType="application/vnd.openxmlformats-officedocument.presentationml.notesSlide+xml"/>
  <Override PartName="/ppt/slides/slide34.xml" ContentType="application/vnd.openxmlformats-officedocument.presentationml.slide+xml"/>
  <Override PartName="/ppt/slides/slide81.xml" ContentType="application/vnd.openxmlformats-officedocument.presentationml.slide+xml"/>
  <Override PartName="/ppt/slides/slide216.xml" ContentType="application/vnd.openxmlformats-officedocument.presentationml.slide+xml"/>
  <Override PartName="/ppt/notesSlides/notesSlide36.xml" ContentType="application/vnd.openxmlformats-officedocument.presentationml.notesSlide+xml"/>
  <Override PartName="/ppt/notesSlides/notesSlide83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70.xml" ContentType="application/vnd.openxmlformats-officedocument.presentationml.slide+xml"/>
  <Override PartName="/ppt/slides/slide189.xml" ContentType="application/vnd.openxmlformats-officedocument.presentationml.slide+xml"/>
  <Override PartName="/ppt/slides/slide205.xml" ContentType="application/vnd.openxmlformats-officedocument.presentationml.slide+xml"/>
  <Override PartName="/ppt/notesSlides/notesSlide25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15.xml" ContentType="application/vnd.openxmlformats-officedocument.presentationml.notesSlide+xml"/>
  <Override PartName="/ppt/slides/slide12.xml" ContentType="application/vnd.openxmlformats-officedocument.presentationml.slide+xml"/>
  <Override PartName="/ppt/slides/slide178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204.xml" ContentType="application/vnd.openxmlformats-officedocument.presentationml.notesSlide+xml"/>
  <Override PartName="/ppt/slides/slide167.xml" ContentType="application/vnd.openxmlformats-officedocument.presentationml.slide+xml"/>
  <Override PartName="/ppt/notesSlides/notesSlide50.xml" ContentType="application/vnd.openxmlformats-officedocument.presentationml.notesSlide+xml"/>
  <Override PartName="/ppt/notesSlides/notesSlide177.xml" ContentType="application/vnd.openxmlformats-officedocument.presentationml.notesSlide+xml"/>
  <Override PartName="/ppt/slides/slide109.xml" ContentType="application/vnd.openxmlformats-officedocument.presentationml.slide+xml"/>
  <Override PartName="/ppt/slides/slide145.xml" ContentType="application/vnd.openxmlformats-officedocument.presentationml.slide+xml"/>
  <Override PartName="/ppt/slides/slide156.xml" ContentType="application/vnd.openxmlformats-officedocument.presentationml.slide+xml"/>
  <Override PartName="/ppt/slides/slide192.xml" ContentType="application/vnd.openxmlformats-officedocument.presentationml.slide+xml"/>
  <Override PartName="/ppt/notesSlides/notesSlide10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66.xml" ContentType="application/vnd.openxmlformats-officedocument.presentationml.notesSlide+xml"/>
  <Override PartName="/ppt/slides/slide97.xml" ContentType="application/vnd.openxmlformats-officedocument.presentationml.slide+xml"/>
  <Override PartName="/ppt/slides/slide134.xml" ContentType="application/vnd.openxmlformats-officedocument.presentationml.slide+xml"/>
  <Override PartName="/ppt/slides/slide181.xml" ContentType="application/vnd.openxmlformats-officedocument.presentationml.slide+xml"/>
  <Override PartName="/ppt/notesSlides/notesSlide5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91.xml" ContentType="application/vnd.openxmlformats-officedocument.presentationml.notes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75.xml" ContentType="application/vnd.openxmlformats-officedocument.presentationml.slide+xml"/>
  <Override PartName="/ppt/slides/slide86.xml" ContentType="application/vnd.openxmlformats-officedocument.presentationml.slide+xml"/>
  <Override PartName="/ppt/slides/slide123.xml" ContentType="application/vnd.openxmlformats-officedocument.presentationml.slide+xml"/>
  <Override PartName="/ppt/slides/slide170.xml" ContentType="application/vnd.openxmlformats-officedocument.presentationml.slide+xml"/>
  <Override PartName="/ppt/notesSlides/notesSlide88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80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64.xml" ContentType="application/vnd.openxmlformats-officedocument.presentationml.slide+xml"/>
  <Override PartName="/ppt/slides/slide101.xml" ContentType="application/vnd.openxmlformats-officedocument.presentationml.slide+xml"/>
  <Override PartName="/ppt/slides/slide112.xml" ContentType="application/vnd.openxmlformats-officedocument.presentationml.slide+xml"/>
  <Override PartName="/ppt/slideLayouts/slideLayout5.xml" ContentType="application/vnd.openxmlformats-officedocument.presentationml.slideLayout+xml"/>
  <Override PartName="/ppt/notesSlides/notesSlide19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209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5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11.xml" ContentType="application/vnd.openxmlformats-officedocument.presentationml.notesSlide+xml"/>
  <Default Extension="jpeg" ContentType="image/jpeg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213.xml" ContentType="application/vnd.openxmlformats-officedocument.presentationml.slide+xml"/>
  <Override PartName="/ppt/notesSlides/notesSlide44.xml" ContentType="application/vnd.openxmlformats-officedocument.presentationml.notesSlide+xml"/>
  <Override PartName="/ppt/notesSlides/notesSlide91.xml" ContentType="application/vnd.openxmlformats-officedocument.presentationml.notesSlide+xml"/>
  <Override PartName="/ppt/slides/slide20.xml" ContentType="application/vnd.openxmlformats-officedocument.presentationml.slide+xml"/>
  <Override PartName="/ppt/slides/slide197.xml" ContentType="application/vnd.openxmlformats-officedocument.presentationml.slide+xml"/>
  <Override PartName="/ppt/slides/slide202.xml" ContentType="application/vnd.openxmlformats-officedocument.presentationml.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212.xml" ContentType="application/vnd.openxmlformats-officedocument.presentationml.notesSlide+xml"/>
  <Override PartName="/ppt/slides/slide139.xml" ContentType="application/vnd.openxmlformats-officedocument.presentationml.slide+xml"/>
  <Override PartName="/ppt/slides/slide186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201.xml" ContentType="application/vnd.openxmlformats-officedocument.presentationml.notesSlide+xml"/>
  <Override PartName="/ppt/slides/slide117.xml" ContentType="application/vnd.openxmlformats-officedocument.presentationml.slide+xml"/>
  <Override PartName="/ppt/slides/slide128.xml" ContentType="application/vnd.openxmlformats-officedocument.presentationml.slide+xml"/>
  <Override PartName="/ppt/slides/slide164.xml" ContentType="application/vnd.openxmlformats-officedocument.presentationml.slide+xml"/>
  <Override PartName="/ppt/slides/slide175.xml" ContentType="application/vnd.openxmlformats-officedocument.presentationml.slide+xml"/>
  <Override PartName="/ppt/notesSlides/notesSlide12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85.xml" ContentType="application/vnd.openxmlformats-officedocument.presentationml.notesSlide+xml"/>
  <Override PartName="/ppt/slides/slide8.xml" ContentType="application/vnd.openxmlformats-officedocument.presentationml.slide+xml"/>
  <Override PartName="/ppt/slides/slide69.xml" ContentType="application/vnd.openxmlformats-officedocument.presentationml.slide+xml"/>
  <Override PartName="/ppt/slides/slide106.xml" ContentType="application/vnd.openxmlformats-officedocument.presentationml.slide+xml"/>
  <Override PartName="/ppt/slides/slide153.xml" ContentType="application/vnd.openxmlformats-officedocument.presentationml.slide+xml"/>
  <Override PartName="/ppt/notesSlides/notesSlide116.xml" ContentType="application/vnd.openxmlformats-officedocument.presentationml.notesSlide+xml"/>
  <Override PartName="/ppt/notesSlides/notesSlide163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52.xml" ContentType="application/vnd.openxmlformats-officedocument.presentationml.notesSlide+xml"/>
  <Override PartName="/ppt/slides/slide36.xml" ContentType="application/vnd.openxmlformats-officedocument.presentationml.slide+xml"/>
  <Override PartName="/ppt/slides/slide83.xml" ContentType="application/vnd.openxmlformats-officedocument.presentationml.slide+xml"/>
  <Override PartName="/ppt/slides/slide131.xml" ContentType="application/vnd.openxmlformats-officedocument.presentationml.slide+xml"/>
  <Override PartName="/ppt/notesSlides/notesSlide49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130.xml" ContentType="application/vnd.openxmlformats-officedocument.presentationml.notesSlide+xml"/>
  <Override PartName="/ppt/slides/slide207.xml" ContentType="application/vnd.openxmlformats-officedocument.presentationml.slide+xml"/>
  <Override PartName="/ppt/notesSlides/notesSlide27.xml" ContentType="application/vnd.openxmlformats-officedocument.presentationml.notesSlide+xml"/>
  <Override PartName="/ppt/notesSlides/notesSlide74.xml" ContentType="application/vnd.openxmlformats-officedocument.presentationml.notesSlide+xml"/>
  <Override PartName="/ppt/slides/slide14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206.xml" ContentType="application/vnd.openxmlformats-officedocument.presentationml.notesSlide+xml"/>
  <Override PartName="/ppt/slides/slide169.xml" ContentType="application/vnd.openxmlformats-officedocument.presentationml.slide+xml"/>
  <Override PartName="/ppt/tableStyles.xml" ContentType="application/vnd.openxmlformats-officedocument.presentationml.tableStyles+xml"/>
  <Override PartName="/ppt/notesSlides/notesSlide52.xml" ContentType="application/vnd.openxmlformats-officedocument.presentationml.notesSlide+xml"/>
  <Override PartName="/ppt/slides/slide147.xml" ContentType="application/vnd.openxmlformats-officedocument.presentationml.slide+xml"/>
  <Override PartName="/ppt/slides/slide194.xml" ContentType="application/vnd.openxmlformats-officedocument.presentationml.slide+xml"/>
  <Override PartName="/ppt/slides/slide210.xml" ContentType="application/vnd.openxmlformats-officedocument.presentationml.slide+xml"/>
  <Override PartName="/ppt/notesSlides/notesSlide30.xml" ContentType="application/vnd.openxmlformats-officedocument.presentationml.notesSlide+xml"/>
  <Override PartName="/ppt/notesSlides/notesSlide16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146.xml" ContentType="application/vnd.openxmlformats-officedocument.presentationml.notesSlide+xml"/>
  <Override PartName="/ppt/notesSlides/notesSlide193.xml" ContentType="application/vnd.openxmlformats-officedocument.presentationml.notesSlide+xml"/>
  <Override PartName="/ppt/slides/slide77.xml" ContentType="application/vnd.openxmlformats-officedocument.presentationml.slide+xml"/>
  <Override PartName="/ppt/slides/slide125.xml" ContentType="application/vnd.openxmlformats-officedocument.presentationml.slide+xml"/>
  <Override PartName="/ppt/slides/slide172.xml" ContentType="application/vnd.openxmlformats-officedocument.presentationml.slide+xml"/>
  <Override PartName="/ppt/slides/slide5.xml" ContentType="application/vnd.openxmlformats-officedocument.presentationml.slide+xml"/>
  <Override PartName="/ppt/slides/slide103.xml" ContentType="application/vnd.openxmlformats-officedocument.presentationml.slide+xml"/>
  <Override PartName="/ppt/slides/slide150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68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71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102.xml" ContentType="application/vnd.openxmlformats-officedocument.presentationml.notesSlide+xml"/>
  <Override PartName="/ppt/slides/slide33.xml" ContentType="application/vnd.openxmlformats-officedocument.presentationml.slide+xml"/>
  <Override PartName="/ppt/slides/slide80.xml" ContentType="application/vnd.openxmlformats-officedocument.presentationml.slide+xml"/>
  <Override PartName="/ppt/notesSlides/notesSlide46.xml" ContentType="application/vnd.openxmlformats-officedocument.presentationml.notesSlide+xml"/>
  <Override PartName="/ppt/notesSlides/notesSlide93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204.xml" ContentType="application/vnd.openxmlformats-officedocument.presentationml.slide+xml"/>
  <Override PartName="/ppt/notesSlides/notesSlide24.xml" ContentType="application/vnd.openxmlformats-officedocument.presentationml.notesSlide+xml"/>
  <Override PartName="/ppt/notesSlides/notesSlide71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188.xml" ContentType="application/vnd.openxmlformats-officedocument.presentationml.slide+xml"/>
  <Override PartName="/ppt/notesSlides/notesSlide203.xml" ContentType="application/vnd.openxmlformats-officedocument.presentationml.notesSlide+xml"/>
  <Override PartName="/ppt/slides/slide119.xml" ContentType="application/vnd.openxmlformats-officedocument.presentationml.slide+xml"/>
  <Override PartName="/ppt/slides/slide166.xml" ContentType="application/vnd.openxmlformats-officedocument.presentationml.slide+xml"/>
  <Override PartName="/ppt/slideLayouts/slideLayout10.xml" ContentType="application/vnd.openxmlformats-officedocument.presentationml.slideLayout+xml"/>
  <Override PartName="/ppt/notesSlides/notesSlide187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72" r:id="rId1"/>
  </p:sldMasterIdLst>
  <p:notesMasterIdLst>
    <p:notesMasterId r:id="rId221"/>
  </p:notesMasterIdLst>
  <p:handoutMasterIdLst>
    <p:handoutMasterId r:id="rId222"/>
  </p:handoutMasterIdLst>
  <p:sldIdLst>
    <p:sldId id="280" r:id="rId2"/>
    <p:sldId id="433" r:id="rId3"/>
    <p:sldId id="624" r:id="rId4"/>
    <p:sldId id="626" r:id="rId5"/>
    <p:sldId id="625" r:id="rId6"/>
    <p:sldId id="627" r:id="rId7"/>
    <p:sldId id="628" r:id="rId8"/>
    <p:sldId id="629" r:id="rId9"/>
    <p:sldId id="630" r:id="rId10"/>
    <p:sldId id="631" r:id="rId11"/>
    <p:sldId id="632" r:id="rId12"/>
    <p:sldId id="634" r:id="rId13"/>
    <p:sldId id="633" r:id="rId14"/>
    <p:sldId id="635" r:id="rId15"/>
    <p:sldId id="636" r:id="rId16"/>
    <p:sldId id="637" r:id="rId17"/>
    <p:sldId id="638" r:id="rId18"/>
    <p:sldId id="639" r:id="rId19"/>
    <p:sldId id="640" r:id="rId20"/>
    <p:sldId id="641" r:id="rId21"/>
    <p:sldId id="642" r:id="rId22"/>
    <p:sldId id="643" r:id="rId23"/>
    <p:sldId id="644" r:id="rId24"/>
    <p:sldId id="645" r:id="rId25"/>
    <p:sldId id="646" r:id="rId26"/>
    <p:sldId id="647" r:id="rId27"/>
    <p:sldId id="649" r:id="rId28"/>
    <p:sldId id="648" r:id="rId29"/>
    <p:sldId id="650" r:id="rId30"/>
    <p:sldId id="652" r:id="rId31"/>
    <p:sldId id="792" r:id="rId32"/>
    <p:sldId id="793" r:id="rId33"/>
    <p:sldId id="654" r:id="rId34"/>
    <p:sldId id="655" r:id="rId35"/>
    <p:sldId id="657" r:id="rId36"/>
    <p:sldId id="658" r:id="rId37"/>
    <p:sldId id="656" r:id="rId38"/>
    <p:sldId id="653" r:id="rId39"/>
    <p:sldId id="659" r:id="rId40"/>
    <p:sldId id="795" r:id="rId41"/>
    <p:sldId id="660" r:id="rId42"/>
    <p:sldId id="662" r:id="rId43"/>
    <p:sldId id="661" r:id="rId44"/>
    <p:sldId id="663" r:id="rId45"/>
    <p:sldId id="664" r:id="rId46"/>
    <p:sldId id="665" r:id="rId47"/>
    <p:sldId id="666" r:id="rId48"/>
    <p:sldId id="667" r:id="rId49"/>
    <p:sldId id="668" r:id="rId50"/>
    <p:sldId id="671" r:id="rId51"/>
    <p:sldId id="673" r:id="rId52"/>
    <p:sldId id="672" r:id="rId53"/>
    <p:sldId id="674" r:id="rId54"/>
    <p:sldId id="675" r:id="rId55"/>
    <p:sldId id="676" r:id="rId56"/>
    <p:sldId id="677" r:id="rId57"/>
    <p:sldId id="678" r:id="rId58"/>
    <p:sldId id="679" r:id="rId59"/>
    <p:sldId id="680" r:id="rId60"/>
    <p:sldId id="681" r:id="rId61"/>
    <p:sldId id="682" r:id="rId62"/>
    <p:sldId id="683" r:id="rId63"/>
    <p:sldId id="684" r:id="rId64"/>
    <p:sldId id="685" r:id="rId65"/>
    <p:sldId id="686" r:id="rId66"/>
    <p:sldId id="687" r:id="rId67"/>
    <p:sldId id="688" r:id="rId68"/>
    <p:sldId id="689" r:id="rId69"/>
    <p:sldId id="690" r:id="rId70"/>
    <p:sldId id="692" r:id="rId71"/>
    <p:sldId id="696" r:id="rId72"/>
    <p:sldId id="697" r:id="rId73"/>
    <p:sldId id="698" r:id="rId74"/>
    <p:sldId id="691" r:id="rId75"/>
    <p:sldId id="695" r:id="rId76"/>
    <p:sldId id="693" r:id="rId77"/>
    <p:sldId id="694" r:id="rId78"/>
    <p:sldId id="699" r:id="rId79"/>
    <p:sldId id="700" r:id="rId80"/>
    <p:sldId id="701" r:id="rId81"/>
    <p:sldId id="703" r:id="rId82"/>
    <p:sldId id="704" r:id="rId83"/>
    <p:sldId id="705" r:id="rId84"/>
    <p:sldId id="706" r:id="rId85"/>
    <p:sldId id="707" r:id="rId86"/>
    <p:sldId id="708" r:id="rId87"/>
    <p:sldId id="709" r:id="rId88"/>
    <p:sldId id="710" r:id="rId89"/>
    <p:sldId id="711" r:id="rId90"/>
    <p:sldId id="761" r:id="rId91"/>
    <p:sldId id="796" r:id="rId92"/>
    <p:sldId id="712" r:id="rId93"/>
    <p:sldId id="714" r:id="rId94"/>
    <p:sldId id="716" r:id="rId95"/>
    <p:sldId id="715" r:id="rId96"/>
    <p:sldId id="717" r:id="rId97"/>
    <p:sldId id="718" r:id="rId98"/>
    <p:sldId id="719" r:id="rId99"/>
    <p:sldId id="721" r:id="rId100"/>
    <p:sldId id="720" r:id="rId101"/>
    <p:sldId id="723" r:id="rId102"/>
    <p:sldId id="763" r:id="rId103"/>
    <p:sldId id="722" r:id="rId104"/>
    <p:sldId id="725" r:id="rId105"/>
    <p:sldId id="726" r:id="rId106"/>
    <p:sldId id="727" r:id="rId107"/>
    <p:sldId id="728" r:id="rId108"/>
    <p:sldId id="729" r:id="rId109"/>
    <p:sldId id="730" r:id="rId110"/>
    <p:sldId id="731" r:id="rId111"/>
    <p:sldId id="732" r:id="rId112"/>
    <p:sldId id="733" r:id="rId113"/>
    <p:sldId id="734" r:id="rId114"/>
    <p:sldId id="762" r:id="rId115"/>
    <p:sldId id="736" r:id="rId116"/>
    <p:sldId id="748" r:id="rId117"/>
    <p:sldId id="737" r:id="rId118"/>
    <p:sldId id="739" r:id="rId119"/>
    <p:sldId id="738" r:id="rId120"/>
    <p:sldId id="749" r:id="rId121"/>
    <p:sldId id="750" r:id="rId122"/>
    <p:sldId id="751" r:id="rId123"/>
    <p:sldId id="753" r:id="rId124"/>
    <p:sldId id="754" r:id="rId125"/>
    <p:sldId id="752" r:id="rId126"/>
    <p:sldId id="755" r:id="rId127"/>
    <p:sldId id="756" r:id="rId128"/>
    <p:sldId id="757" r:id="rId129"/>
    <p:sldId id="764" r:id="rId130"/>
    <p:sldId id="758" r:id="rId131"/>
    <p:sldId id="759" r:id="rId132"/>
    <p:sldId id="760" r:id="rId133"/>
    <p:sldId id="740" r:id="rId134"/>
    <p:sldId id="741" r:id="rId135"/>
    <p:sldId id="743" r:id="rId136"/>
    <p:sldId id="744" r:id="rId137"/>
    <p:sldId id="745" r:id="rId138"/>
    <p:sldId id="746" r:id="rId139"/>
    <p:sldId id="747" r:id="rId140"/>
    <p:sldId id="765" r:id="rId141"/>
    <p:sldId id="766" r:id="rId142"/>
    <p:sldId id="767" r:id="rId143"/>
    <p:sldId id="808" r:id="rId144"/>
    <p:sldId id="840" r:id="rId145"/>
    <p:sldId id="809" r:id="rId146"/>
    <p:sldId id="807" r:id="rId147"/>
    <p:sldId id="810" r:id="rId148"/>
    <p:sldId id="811" r:id="rId149"/>
    <p:sldId id="812" r:id="rId150"/>
    <p:sldId id="813" r:id="rId151"/>
    <p:sldId id="814" r:id="rId152"/>
    <p:sldId id="815" r:id="rId153"/>
    <p:sldId id="816" r:id="rId154"/>
    <p:sldId id="817" r:id="rId155"/>
    <p:sldId id="818" r:id="rId156"/>
    <p:sldId id="819" r:id="rId157"/>
    <p:sldId id="820" r:id="rId158"/>
    <p:sldId id="821" r:id="rId159"/>
    <p:sldId id="841" r:id="rId160"/>
    <p:sldId id="842" r:id="rId161"/>
    <p:sldId id="822" r:id="rId162"/>
    <p:sldId id="823" r:id="rId163"/>
    <p:sldId id="825" r:id="rId164"/>
    <p:sldId id="826" r:id="rId165"/>
    <p:sldId id="827" r:id="rId166"/>
    <p:sldId id="828" r:id="rId167"/>
    <p:sldId id="824" r:id="rId168"/>
    <p:sldId id="829" r:id="rId169"/>
    <p:sldId id="831" r:id="rId170"/>
    <p:sldId id="832" r:id="rId171"/>
    <p:sldId id="833" r:id="rId172"/>
    <p:sldId id="834" r:id="rId173"/>
    <p:sldId id="835" r:id="rId174"/>
    <p:sldId id="836" r:id="rId175"/>
    <p:sldId id="830" r:id="rId176"/>
    <p:sldId id="843" r:id="rId177"/>
    <p:sldId id="837" r:id="rId178"/>
    <p:sldId id="838" r:id="rId179"/>
    <p:sldId id="839" r:id="rId180"/>
    <p:sldId id="768" r:id="rId181"/>
    <p:sldId id="769" r:id="rId182"/>
    <p:sldId id="770" r:id="rId183"/>
    <p:sldId id="771" r:id="rId184"/>
    <p:sldId id="772" r:id="rId185"/>
    <p:sldId id="773" r:id="rId186"/>
    <p:sldId id="774" r:id="rId187"/>
    <p:sldId id="775" r:id="rId188"/>
    <p:sldId id="777" r:id="rId189"/>
    <p:sldId id="778" r:id="rId190"/>
    <p:sldId id="779" r:id="rId191"/>
    <p:sldId id="776" r:id="rId192"/>
    <p:sldId id="780" r:id="rId193"/>
    <p:sldId id="781" r:id="rId194"/>
    <p:sldId id="783" r:id="rId195"/>
    <p:sldId id="782" r:id="rId196"/>
    <p:sldId id="784" r:id="rId197"/>
    <p:sldId id="785" r:id="rId198"/>
    <p:sldId id="786" r:id="rId199"/>
    <p:sldId id="787" r:id="rId200"/>
    <p:sldId id="788" r:id="rId201"/>
    <p:sldId id="789" r:id="rId202"/>
    <p:sldId id="790" r:id="rId203"/>
    <p:sldId id="791" r:id="rId204"/>
    <p:sldId id="844" r:id="rId205"/>
    <p:sldId id="845" r:id="rId206"/>
    <p:sldId id="846" r:id="rId207"/>
    <p:sldId id="670" r:id="rId208"/>
    <p:sldId id="713" r:id="rId209"/>
    <p:sldId id="794" r:id="rId210"/>
    <p:sldId id="797" r:id="rId211"/>
    <p:sldId id="798" r:id="rId212"/>
    <p:sldId id="799" r:id="rId213"/>
    <p:sldId id="800" r:id="rId214"/>
    <p:sldId id="801" r:id="rId215"/>
    <p:sldId id="802" r:id="rId216"/>
    <p:sldId id="803" r:id="rId217"/>
    <p:sldId id="804" r:id="rId218"/>
    <p:sldId id="805" r:id="rId219"/>
    <p:sldId id="806" r:id="rId220"/>
  </p:sldIdLst>
  <p:sldSz cx="12192000" cy="6858000"/>
  <p:notesSz cx="9928225" cy="67976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3659BA"/>
    <a:srgbClr val="CC6600"/>
    <a:srgbClr val="FF99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Средний стиль 1 —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E3FDE45-AF77-4B5C-9715-49D594BDF05E}" styleName="Светлый стиль 1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6857" autoAdjust="0"/>
    <p:restoredTop sz="76661" autoAdjust="0"/>
  </p:normalViewPr>
  <p:slideViewPr>
    <p:cSldViewPr snapToGrid="0">
      <p:cViewPr varScale="1">
        <p:scale>
          <a:sx n="76" d="100"/>
          <a:sy n="76" d="100"/>
        </p:scale>
        <p:origin x="-1320" y="-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226" Type="http://schemas.openxmlformats.org/officeDocument/2006/relationships/tableStyles" Target="tableStyles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16" Type="http://schemas.openxmlformats.org/officeDocument/2006/relationships/slide" Target="slides/slide215.xml"/><Relationship Id="rId211" Type="http://schemas.openxmlformats.org/officeDocument/2006/relationships/slide" Target="slides/slide210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55" Type="http://schemas.openxmlformats.org/officeDocument/2006/relationships/slide" Target="slides/slide154.xml"/><Relationship Id="rId171" Type="http://schemas.openxmlformats.org/officeDocument/2006/relationships/slide" Target="slides/slide170.xml"/><Relationship Id="rId176" Type="http://schemas.openxmlformats.org/officeDocument/2006/relationships/slide" Target="slides/slide175.xml"/><Relationship Id="rId192" Type="http://schemas.openxmlformats.org/officeDocument/2006/relationships/slide" Target="slides/slide191.xml"/><Relationship Id="rId197" Type="http://schemas.openxmlformats.org/officeDocument/2006/relationships/slide" Target="slides/slide196.xml"/><Relationship Id="rId206" Type="http://schemas.openxmlformats.org/officeDocument/2006/relationships/slide" Target="slides/slide205.xml"/><Relationship Id="rId201" Type="http://schemas.openxmlformats.org/officeDocument/2006/relationships/slide" Target="slides/slide200.xml"/><Relationship Id="rId222" Type="http://schemas.openxmlformats.org/officeDocument/2006/relationships/handoutMaster" Target="handoutMasters/handoutMaster1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61" Type="http://schemas.openxmlformats.org/officeDocument/2006/relationships/slide" Target="slides/slide160.xml"/><Relationship Id="rId166" Type="http://schemas.openxmlformats.org/officeDocument/2006/relationships/slide" Target="slides/slide165.xml"/><Relationship Id="rId182" Type="http://schemas.openxmlformats.org/officeDocument/2006/relationships/slide" Target="slides/slide181.xml"/><Relationship Id="rId187" Type="http://schemas.openxmlformats.org/officeDocument/2006/relationships/slide" Target="slides/slide186.xml"/><Relationship Id="rId217" Type="http://schemas.openxmlformats.org/officeDocument/2006/relationships/slide" Target="slides/slide21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12" Type="http://schemas.openxmlformats.org/officeDocument/2006/relationships/slide" Target="slides/slide211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2" Type="http://schemas.openxmlformats.org/officeDocument/2006/relationships/slide" Target="slides/slide201.xml"/><Relationship Id="rId207" Type="http://schemas.openxmlformats.org/officeDocument/2006/relationships/slide" Target="slides/slide206.xml"/><Relationship Id="rId223" Type="http://schemas.openxmlformats.org/officeDocument/2006/relationships/presProps" Target="presProp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13" Type="http://schemas.openxmlformats.org/officeDocument/2006/relationships/slide" Target="slides/slide212.xml"/><Relationship Id="rId218" Type="http://schemas.openxmlformats.org/officeDocument/2006/relationships/slide" Target="slides/slide217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208" Type="http://schemas.openxmlformats.org/officeDocument/2006/relationships/slide" Target="slides/slide207.xml"/><Relationship Id="rId19" Type="http://schemas.openxmlformats.org/officeDocument/2006/relationships/slide" Target="slides/slide18.xml"/><Relationship Id="rId224" Type="http://schemas.openxmlformats.org/officeDocument/2006/relationships/viewProps" Target="viewProps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slide" Target="slides/slide188.xml"/><Relationship Id="rId219" Type="http://schemas.openxmlformats.org/officeDocument/2006/relationships/slide" Target="slides/slide218.xml"/><Relationship Id="rId3" Type="http://schemas.openxmlformats.org/officeDocument/2006/relationships/slide" Target="slides/slide2.xml"/><Relationship Id="rId214" Type="http://schemas.openxmlformats.org/officeDocument/2006/relationships/slide" Target="slides/slide213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0" Type="http://schemas.openxmlformats.org/officeDocument/2006/relationships/slide" Target="slides/slide219.xml"/><Relationship Id="rId225" Type="http://schemas.openxmlformats.org/officeDocument/2006/relationships/theme" Target="theme/theme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10" Type="http://schemas.openxmlformats.org/officeDocument/2006/relationships/slide" Target="slides/slide209.xml"/><Relationship Id="rId215" Type="http://schemas.openxmlformats.org/officeDocument/2006/relationships/slide" Target="slides/slide214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221" Type="http://schemas.openxmlformats.org/officeDocument/2006/relationships/notesMaster" Target="notesMasters/notesMaster1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623697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293CAB-A6E8-4F84-B002-DB1C4B9BC430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623697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9271A0-3214-4C0F-98E9-07E8770FBF3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5618946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3697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56B409-7F35-4B75-975D-83CC9322541B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823" y="3271381"/>
            <a:ext cx="794258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3697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3E2D1D-25A5-45DC-B24F-AC401B916F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376818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ru.wikipedia.org/wiki/%D0%9F%D1%80%D0%BE%D1%81%D1%82%D1%80%D0%B0%D0%BD%D1%81%D1%82%D0%B2%D0%BE_%D0%B8%D0%BC%D1%91%D0%BD_(%D0%BF%D1%80%D0%BE%D0%B3%D1%80%D0%B0%D0%BC%D0%BC%D0%B8%D1%80%D0%BE%D0%B2%D0%B0%D0%BD%D0%B8%D0%B5)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ll-python.ru/osnovy/os.html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8" Type="http://schemas.openxmlformats.org/officeDocument/2006/relationships/hyperlink" Target="https://ru.wikipedia.org/wiki/%D0%93%D0%B5%D0%BE%D0%BC%D0%B5%D1%82%D1%80%D0%B8%D1%87%D0%B5%D1%81%D0%BA%D0%B8%D0%B9_%D1%86%D0%B5%D0%BD%D1%82%D1%80" TargetMode="External"/><Relationship Id="rId3" Type="http://schemas.openxmlformats.org/officeDocument/2006/relationships/hyperlink" Target="https://docs.python.org/3/library/statistics.html" TargetMode="External"/><Relationship Id="rId7" Type="http://schemas.openxmlformats.org/officeDocument/2006/relationships/hyperlink" Target="https://ru.wikipedia.org/wiki/%D0%90%D0%B1%D1%81%D0%BE%D0%BB%D1%8E%D1%82%D0%BD%D0%B0%D1%8F_%D0%B2%D0%B5%D0%BB%D0%B8%D1%87%D0%B8%D0%BD%D0%B0" TargetMode="External"/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ru.wikipedia.org/wiki/%D0%9C%D0%B5%D0%B4%D0%B8%D0%B0%D0%BD%D0%B0_(%D1%81%D1%82%D0%B0%D1%82%D0%B8%D1%81%D1%82%D0%B8%D0%BA%D0%B0)" TargetMode="External"/><Relationship Id="rId5" Type="http://schemas.openxmlformats.org/officeDocument/2006/relationships/hyperlink" Target="https://ru.wiktionary.org/wiki/en:mediana" TargetMode="External"/><Relationship Id="rId10" Type="http://schemas.openxmlformats.org/officeDocument/2006/relationships/hyperlink" Target="https://ru.wikipedia.org/wiki/%D0%A1%D1%80%D0%B5%D0%B4%D0%BD%D0%B8%D0%B5_%D0%B2%D0%B5%D0%BB%D0%B8%D1%87%D0%B8%D0%BD%D1%8B" TargetMode="External"/><Relationship Id="rId4" Type="http://schemas.openxmlformats.org/officeDocument/2006/relationships/hyperlink" Target="https://ru.wikipedia.org/wiki/%D0%9B%D0%B0%D1%82%D0%B8%D0%BD%D1%81%D0%BA%D0%B8%D0%B9_%D1%8F%D0%B7%D1%8B%D0%BA" TargetMode="External"/><Relationship Id="rId9" Type="http://schemas.openxmlformats.org/officeDocument/2006/relationships/hyperlink" Target="https://ru.wikipedia.org/wiki/%D0%9D%D0%BE%D1%80%D0%BC%D0%B0%D0%BB%D1%8C%D0%BD%D0%BE%D0%B5_%D1%80%D0%B0%D1%81%D0%BF%D1%80%D0%B5%D0%B4%D0%B5%D0%BB%D0%B5%D0%BD%D0%B8%D0%B5" TargetMode="Externa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8" Type="http://schemas.openxmlformats.org/officeDocument/2006/relationships/hyperlink" Target="https://ru.wikipedia.org/wiki/%D0%A7%D0%B0%D1%81%D0%BE%D0%B2%D0%BE%D0%B9_%D0%BF%D0%BE%D1%8F%D1%81" TargetMode="External"/><Relationship Id="rId13" Type="http://schemas.openxmlformats.org/officeDocument/2006/relationships/hyperlink" Target="https://ru.wikipedia.org/wiki/%D0%9F%D1%80%D0%BE%D0%B3%D1%80%D0%B0%D0%BC%D0%BC%D0%BD%D0%BE%D0%B5_%D0%BE%D0%B1%D0%B5%D1%81%D0%BF%D0%B5%D1%87%D0%B5%D0%BD%D0%B8%D0%B5" TargetMode="External"/><Relationship Id="rId3" Type="http://schemas.openxmlformats.org/officeDocument/2006/relationships/hyperlink" Target="https://ru.wikipedia.org/wiki/%D0%96%D0%B0%D1%80%D0%B3%D0%BE%D0%BD" TargetMode="External"/><Relationship Id="rId7" Type="http://schemas.openxmlformats.org/officeDocument/2006/relationships/hyperlink" Target="https://ru.wikipedia.org/wiki/%D0%A1%D1%82%D1%80%D0%B0%D0%BD%D0%B0" TargetMode="External"/><Relationship Id="rId12" Type="http://schemas.openxmlformats.org/officeDocument/2006/relationships/hyperlink" Target="https://ru.wikipedia.org/wiki/%D0%9F%D0%BE%D0%BB%D1%8C%D0%B7%D0%BE%D0%B2%D0%B0%D1%82%D0%B5%D0%BB%D1%8C" TargetMode="External"/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ru.wikipedia.org/wiki/%D0%9F%D0%BE%D0%BB%D1%8C%D0%B7%D0%BE%D0%B2%D0%B0%D1%82%D0%B5%D0%BB%D1%8C%D1%81%D0%BA%D0%B8%D0%B9_%D0%B8%D0%BD%D1%82%D0%B5%D1%80%D1%84%D0%B5%D0%B9%D1%81" TargetMode="External"/><Relationship Id="rId11" Type="http://schemas.openxmlformats.org/officeDocument/2006/relationships/hyperlink" Target="https://ru.wikipedia.org/wiki/%D0%9B%D0%BE%D0%BA%D0%B0%D0%BB%D0%B8%D0%B7%D0%B0%D1%86%D0%B8%D1%8F_%D0%BF%D1%80%D0%BE%D0%B3%D1%80%D0%B0%D0%BC%D0%BC%D0%BD%D0%BE%D0%B3%D0%BE_%D0%BE%D0%B1%D0%B5%D1%81%D0%BF%D0%B5%D1%87%D0%B5%D0%BD%D0%B8%D1%8F" TargetMode="External"/><Relationship Id="rId5" Type="http://schemas.openxmlformats.org/officeDocument/2006/relationships/hyperlink" Target="https://ru.wikipedia.org/wiki/%D0%9C%D0%B5%D0%B6%D0%B4%D1%83%D0%BD%D0%B0%D1%80%D0%BE%D0%B4%D0%BD%D1%8B%D0%B9_%D1%84%D0%BE%D0%BD%D0%B5%D1%82%D0%B8%D1%87%D0%B5%D1%81%D0%BA%D0%B8%D0%B9_%D0%B0%D0%BB%D1%84%D0%B0%D0%B2%D0%B8%D1%82" TargetMode="External"/><Relationship Id="rId10" Type="http://schemas.openxmlformats.org/officeDocument/2006/relationships/hyperlink" Target="https://ru.wikipedia.org/wiki/%D0%94%D0%B5%D0%BD%D0%B5%D0%B6%D0%BD%D0%B0%D1%8F_%D0%B5%D0%B4%D0%B8%D0%BD%D0%B8%D1%86%D0%B0" TargetMode="External"/><Relationship Id="rId4" Type="http://schemas.openxmlformats.org/officeDocument/2006/relationships/hyperlink" Target="https://ru.wikipedia.org/wiki/%D0%90%D0%BD%D0%B3%D0%BB%D0%B8%D0%B9%D1%81%D0%BA%D0%B8%D0%B9_%D1%8F%D0%B7%D1%8B%D0%BA" TargetMode="External"/><Relationship Id="rId9" Type="http://schemas.openxmlformats.org/officeDocument/2006/relationships/hyperlink" Target="https://ru.wikipedia.org/wiki/%D0%9D%D0%B0%D0%B1%D0%BE%D1%80_%D1%81%D0%B8%D0%BC%D0%B2%D0%BE%D0%BB%D0%BE%D0%B2" TargetMode="Externa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nu.org/software/libc/manual/html_node/Formatting-Calendar-Time.html" TargetMode="External"/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3" Type="http://schemas.openxmlformats.org/officeDocument/2006/relationships/hyperlink" Target="https://ru.wikipedia.org/wiki/UNIX-%D0%B2%D1%80%D0%B5%D0%BC%D1%8F" TargetMode="External"/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ru.wikipedia.org/wiki/%D0%9F%D1%80%D0%BE%D0%B1%D0%BB%D0%B5%D0%BC%D0%B0_2000_%D0%B3%D0%BE%D0%B4%D0%B0" TargetMode="External"/><Relationship Id="rId4" Type="http://schemas.openxmlformats.org/officeDocument/2006/relationships/hyperlink" Target="https://ru.wikipedia.org/wiki/%D0%9F%D1%80%D0%BE%D0%B1%D0%BB%D0%B5%D0%BC%D0%B0_2038_%D0%B3%D0%BE%D0%B4%D0%B0" TargetMode="External"/></Relationships>
</file>

<file path=ppt/notesSlides/_rels/notesSlide87.xml.rels><?xml version="1.0" encoding="UTF-8" standalone="yes"?>
<Relationships xmlns="http://schemas.openxmlformats.org/package/2006/relationships"><Relationship Id="rId3" Type="http://schemas.openxmlformats.org/officeDocument/2006/relationships/hyperlink" Target="https://ru.wikipedia.org/wiki/UNIX-%D0%B2%D1%80%D0%B5%D0%BC%D1%8F" TargetMode="External"/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ru.wikipedia.org/wiki/%D0%9F%D1%80%D0%BE%D0%B1%D0%BB%D0%B5%D0%BC%D0%B0_2000_%D0%B3%D0%BE%D0%B4%D0%B0" TargetMode="External"/><Relationship Id="rId4" Type="http://schemas.openxmlformats.org/officeDocument/2006/relationships/hyperlink" Target="https://ru.wikipedia.org/wiki/%D0%9F%D1%80%D0%BE%D0%B1%D0%BB%D0%B5%D0%BC%D0%B0_2038_%D0%B3%D0%BE%D0%B4%D0%B0" TargetMode="External"/></Relationships>
</file>

<file path=ppt/notesSlides/_rels/notesSlide88.xml.rels><?xml version="1.0" encoding="UTF-8" standalone="yes"?>
<Relationships xmlns="http://schemas.openxmlformats.org/package/2006/relationships"><Relationship Id="rId8" Type="http://schemas.openxmlformats.org/officeDocument/2006/relationships/hyperlink" Target="https://ru.wikipedia.org/wiki/Tz_database" TargetMode="External"/><Relationship Id="rId3" Type="http://schemas.openxmlformats.org/officeDocument/2006/relationships/hyperlink" Target="https://pytz.sourceforge.net/" TargetMode="External"/><Relationship Id="rId7" Type="http://schemas.openxmlformats.org/officeDocument/2006/relationships/hyperlink" Target="https://ru.wikipedia.org/wiki/%D0%9F%D1%80%D0%BE%D0%B3%D1%80%D0%B0%D0%BC%D0%BC%D0%B8%D1%80%D0%BE%D0%B2%D0%B0%D0%BD%D0%B8%D0%B5" TargetMode="External"/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ru.wikipedia.org/wiki/%D0%9E%D0%BF%D0%B5%D1%80%D0%B0%D1%86%D0%B8%D0%BE%D0%BD%D0%BD%D0%B0%D1%8F_%D1%81%D0%B8%D1%81%D1%82%D0%B5%D0%BC%D0%B0" TargetMode="External"/><Relationship Id="rId5" Type="http://schemas.openxmlformats.org/officeDocument/2006/relationships/hyperlink" Target="https://ru.wikipedia.org/wiki/%D0%A7%D0%B0%D1%81%D0%BE%D0%B2%D0%BE%D0%B9_%D0%BF%D0%BE%D1%8F%D1%81" TargetMode="External"/><Relationship Id="rId4" Type="http://schemas.openxmlformats.org/officeDocument/2006/relationships/hyperlink" Target="https://ru.wikipedia.org/wiki/%D0%90%D0%BD%D0%B3%D0%BB%D0%B8%D0%B9%D1%81%D0%BA%D0%B8%D0%B9_%D1%8F%D0%B7%D1%8B%D0%BA" TargetMode="External"/><Relationship Id="rId9" Type="http://schemas.openxmlformats.org/officeDocument/2006/relationships/hyperlink" Target="https://ru.wikipedia.org/wiki/UNIX-%D0%B2%D1%80%D0%B5%D0%BC%D1%8F" TargetMode="Externa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3" Type="http://schemas.openxmlformats.org/officeDocument/2006/relationships/hyperlink" Target="https://regex101.com/" TargetMode="External"/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3" Type="http://schemas.openxmlformats.org/officeDocument/2006/relationships/hyperlink" Target="https://regex101.com/" TargetMode="External"/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uripetrov.ru/edu/python/ch_11_01.html" TargetMode="External"/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2.xml"/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3.xml"/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4.xml"/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5.xml"/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6.xml"/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7.xml"/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8.xml"/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9.xml"/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0.xml"/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1.xml"/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2.xml"/><Relationship Id="rId1" Type="http://schemas.openxmlformats.org/officeDocument/2006/relationships/notesMaster" Target="../notesMasters/notesMaster1.xml"/></Relationships>
</file>

<file path=ppt/notesSlides/_rels/notesSlide1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3.xml"/><Relationship Id="rId1" Type="http://schemas.openxmlformats.org/officeDocument/2006/relationships/notesMaster" Target="../notesMasters/notesMaster1.xml"/></Relationships>
</file>

<file path=ppt/notesSlides/_rels/notesSlide1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4.xml"/><Relationship Id="rId1" Type="http://schemas.openxmlformats.org/officeDocument/2006/relationships/notesMaster" Target="../notesMasters/notesMaster1.xml"/></Relationships>
</file>

<file path=ppt/notesSlides/_rels/notesSlide1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5.xml"/><Relationship Id="rId1" Type="http://schemas.openxmlformats.org/officeDocument/2006/relationships/notesMaster" Target="../notesMasters/notesMaster1.xml"/></Relationships>
</file>

<file path=ppt/notesSlides/_rels/notesSlide1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6.xml"/><Relationship Id="rId1" Type="http://schemas.openxmlformats.org/officeDocument/2006/relationships/notesMaster" Target="../notesMasters/notesMaster1.xml"/></Relationships>
</file>

<file path=ppt/notesSlides/_rels/notesSlide1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7.xml"/><Relationship Id="rId1" Type="http://schemas.openxmlformats.org/officeDocument/2006/relationships/notesMaster" Target="../notesMasters/notesMaster1.xml"/></Relationships>
</file>

<file path=ppt/notesSlides/_rels/notesSlide1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8.xml"/><Relationship Id="rId1" Type="http://schemas.openxmlformats.org/officeDocument/2006/relationships/notesMaster" Target="../notesMasters/notesMaster1.xml"/></Relationships>
</file>

<file path=ppt/notesSlides/_rels/notesSlide1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9.xml"/><Relationship Id="rId1" Type="http://schemas.openxmlformats.org/officeDocument/2006/relationships/notesMaster" Target="../notesMasters/notesMaster1.xml"/></Relationships>
</file>

<file path=ppt/notesSlides/_rels/notesSlide180.xml.rels><?xml version="1.0" encoding="UTF-8" standalone="yes"?>
<Relationships xmlns="http://schemas.openxmlformats.org/package/2006/relationships"><Relationship Id="rId3" Type="http://schemas.openxmlformats.org/officeDocument/2006/relationships/hyperlink" Target="http://ru.wikipedia.org/wiki/%D0%9B%D0%B8%D1%86%D0%B5%D0%BD%D0%B7%D0%B8%D1%8F_BSD" TargetMode="External"/><Relationship Id="rId2" Type="http://schemas.openxmlformats.org/officeDocument/2006/relationships/slide" Target="../slides/slide180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ru.wikipedia.org/wiki/MATLAB" TargetMode="External"/><Relationship Id="rId4" Type="http://schemas.openxmlformats.org/officeDocument/2006/relationships/hyperlink" Target="http://matplotlib.org/users/license.html" TargetMode="External"/></Relationships>
</file>

<file path=ppt/notesSlides/_rels/notesSlide1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1.xml"/><Relationship Id="rId1" Type="http://schemas.openxmlformats.org/officeDocument/2006/relationships/notesMaster" Target="../notesMasters/notesMaster1.xml"/></Relationships>
</file>

<file path=ppt/notesSlides/_rels/notesSlide182.xml.rels><?xml version="1.0" encoding="UTF-8" standalone="yes"?>
<Relationships xmlns="http://schemas.openxmlformats.org/package/2006/relationships"><Relationship Id="rId3" Type="http://schemas.openxmlformats.org/officeDocument/2006/relationships/hyperlink" Target="https://ru.wikipedia.org/wiki/%D0%9A%D0%BE%D0%BD%D0%B5%D1%87%D0%BD%D1%8B%D0%B9_%D0%B0%D0%B2%D1%82%D0%BE%D0%BC%D0%B0%D1%82" TargetMode="External"/><Relationship Id="rId2" Type="http://schemas.openxmlformats.org/officeDocument/2006/relationships/slide" Target="../slides/slide182.xml"/><Relationship Id="rId1" Type="http://schemas.openxmlformats.org/officeDocument/2006/relationships/notesMaster" Target="../notesMasters/notesMaster1.xml"/></Relationships>
</file>

<file path=ppt/notesSlides/_rels/notesSlide18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uripetrov.ru/edu/python/ch_03_01.html" TargetMode="External"/><Relationship Id="rId2" Type="http://schemas.openxmlformats.org/officeDocument/2006/relationships/slide" Target="../slides/slide183.xml"/><Relationship Id="rId1" Type="http://schemas.openxmlformats.org/officeDocument/2006/relationships/notesMaster" Target="../notesMasters/notesMaster1.xml"/></Relationships>
</file>

<file path=ppt/notesSlides/_rels/notesSlide1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4.xml"/><Relationship Id="rId1" Type="http://schemas.openxmlformats.org/officeDocument/2006/relationships/notesMaster" Target="../notesMasters/notesMaster1.xml"/></Relationships>
</file>

<file path=ppt/notesSlides/_rels/notesSlide1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5.xml"/><Relationship Id="rId1" Type="http://schemas.openxmlformats.org/officeDocument/2006/relationships/notesMaster" Target="../notesMasters/notesMaster1.xml"/></Relationships>
</file>

<file path=ppt/notesSlides/_rels/notesSlide1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6.xml"/><Relationship Id="rId1" Type="http://schemas.openxmlformats.org/officeDocument/2006/relationships/notesMaster" Target="../notesMasters/notesMaster1.xml"/></Relationships>
</file>

<file path=ppt/notesSlides/_rels/notesSlide1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7.xml"/><Relationship Id="rId1" Type="http://schemas.openxmlformats.org/officeDocument/2006/relationships/notesMaster" Target="../notesMasters/notesMaster1.xml"/></Relationships>
</file>

<file path=ppt/notesSlides/_rels/notesSlide1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8.xml"/><Relationship Id="rId1" Type="http://schemas.openxmlformats.org/officeDocument/2006/relationships/notesMaster" Target="../notesMasters/notesMaster1.xml"/></Relationships>
</file>

<file path=ppt/notesSlides/_rels/notesSlide1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9.xml"/><Relationship Id="rId1" Type="http://schemas.openxmlformats.org/officeDocument/2006/relationships/notesMaster" Target="../notesMasters/notesMaster1.xml"/></Relationships>
</file>

<file path=ppt/notesSlides/_rels/notesSlide1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0.xml"/><Relationship Id="rId1" Type="http://schemas.openxmlformats.org/officeDocument/2006/relationships/notesMaster" Target="../notesMasters/notesMaster1.xml"/></Relationships>
</file>

<file path=ppt/notesSlides/_rels/notesSlide1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1.xml"/><Relationship Id="rId1" Type="http://schemas.openxmlformats.org/officeDocument/2006/relationships/notesMaster" Target="../notesMasters/notesMaster1.xml"/></Relationships>
</file>

<file path=ppt/notesSlides/_rels/notesSlide1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2.xml"/><Relationship Id="rId1" Type="http://schemas.openxmlformats.org/officeDocument/2006/relationships/notesMaster" Target="../notesMasters/notesMaster1.xml"/></Relationships>
</file>

<file path=ppt/notesSlides/_rels/notesSlide1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3.xml"/><Relationship Id="rId1" Type="http://schemas.openxmlformats.org/officeDocument/2006/relationships/notesMaster" Target="../notesMasters/notesMaster1.xml"/></Relationships>
</file>

<file path=ppt/notesSlides/_rels/notesSlide1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4.xml"/><Relationship Id="rId1" Type="http://schemas.openxmlformats.org/officeDocument/2006/relationships/notesMaster" Target="../notesMasters/notesMaster1.xml"/></Relationships>
</file>

<file path=ppt/notesSlides/_rels/notesSlide1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5.xml"/><Relationship Id="rId1" Type="http://schemas.openxmlformats.org/officeDocument/2006/relationships/notesMaster" Target="../notesMasters/notesMaster1.xml"/></Relationships>
</file>

<file path=ppt/notesSlides/_rels/notesSlide1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6.xml"/><Relationship Id="rId1" Type="http://schemas.openxmlformats.org/officeDocument/2006/relationships/notesMaster" Target="../notesMasters/notesMaster1.xml"/></Relationships>
</file>

<file path=ppt/notesSlides/_rels/notesSlide1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7.xml"/><Relationship Id="rId1" Type="http://schemas.openxmlformats.org/officeDocument/2006/relationships/notesMaster" Target="../notesMasters/notesMaster1.xml"/></Relationships>
</file>

<file path=ppt/notesSlides/_rels/notesSlide1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8.xml"/><Relationship Id="rId1" Type="http://schemas.openxmlformats.org/officeDocument/2006/relationships/notesMaster" Target="../notesMasters/notesMaster1.xml"/></Relationships>
</file>

<file path=ppt/notesSlides/_rels/notesSlide199.xml.rels><?xml version="1.0" encoding="UTF-8" standalone="yes"?>
<Relationships xmlns="http://schemas.openxmlformats.org/package/2006/relationships"><Relationship Id="rId3" Type="http://schemas.openxmlformats.org/officeDocument/2006/relationships/hyperlink" Target="https://ru.wikipedia.org/wiki/TeX" TargetMode="External"/><Relationship Id="rId2" Type="http://schemas.openxmlformats.org/officeDocument/2006/relationships/slide" Target="../slides/slide199.xml"/><Relationship Id="rId1" Type="http://schemas.openxmlformats.org/officeDocument/2006/relationships/notesMaster" Target="../notesMasters/notesMaster1.xml"/></Relationships>
</file>

<file path=ppt/notesSlides/_rels/notesSlide200.xml.rels><?xml version="1.0" encoding="UTF-8" standalone="yes"?>
<Relationships xmlns="http://schemas.openxmlformats.org/package/2006/relationships"><Relationship Id="rId3" Type="http://schemas.openxmlformats.org/officeDocument/2006/relationships/hyperlink" Target="https://ru.wikipedia.org/wiki/TeX" TargetMode="External"/><Relationship Id="rId2" Type="http://schemas.openxmlformats.org/officeDocument/2006/relationships/slide" Target="../slides/slide200.xml"/><Relationship Id="rId1" Type="http://schemas.openxmlformats.org/officeDocument/2006/relationships/notesMaster" Target="../notesMasters/notesMaster1.xml"/></Relationships>
</file>

<file path=ppt/notesSlides/_rels/notesSlide2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1.xml"/><Relationship Id="rId1" Type="http://schemas.openxmlformats.org/officeDocument/2006/relationships/notesMaster" Target="../notesMasters/notesMaster1.xml"/></Relationships>
</file>

<file path=ppt/notesSlides/_rels/notesSlide2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2.xml"/><Relationship Id="rId1" Type="http://schemas.openxmlformats.org/officeDocument/2006/relationships/notesMaster" Target="../notesMasters/notesMaster1.xml"/></Relationships>
</file>

<file path=ppt/notesSlides/_rels/notesSlide2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3.xml"/><Relationship Id="rId1" Type="http://schemas.openxmlformats.org/officeDocument/2006/relationships/notesMaster" Target="../notesMasters/notesMaster1.xml"/></Relationships>
</file>

<file path=ppt/notesSlides/_rels/notesSlide2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4.xml"/><Relationship Id="rId1" Type="http://schemas.openxmlformats.org/officeDocument/2006/relationships/notesMaster" Target="../notesMasters/notesMaster1.xml"/></Relationships>
</file>

<file path=ppt/notesSlides/_rels/notesSlide2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5.xml"/><Relationship Id="rId1" Type="http://schemas.openxmlformats.org/officeDocument/2006/relationships/notesMaster" Target="../notesMasters/notesMaster1.xml"/></Relationships>
</file>

<file path=ppt/notesSlides/_rels/notesSlide2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6.xml"/><Relationship Id="rId1" Type="http://schemas.openxmlformats.org/officeDocument/2006/relationships/notesMaster" Target="../notesMasters/notesMaster1.xml"/></Relationships>
</file>

<file path=ppt/notesSlides/_rels/notesSlide2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7.xml"/><Relationship Id="rId1" Type="http://schemas.openxmlformats.org/officeDocument/2006/relationships/notesMaster" Target="../notesMasters/notesMaster1.xml"/></Relationships>
</file>

<file path=ppt/notesSlides/_rels/notesSlide2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8.xml"/><Relationship Id="rId1" Type="http://schemas.openxmlformats.org/officeDocument/2006/relationships/notesMaster" Target="../notesMasters/notesMaster1.xml"/></Relationships>
</file>

<file path=ppt/notesSlides/_rels/notesSlide2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9.xml"/><Relationship Id="rId1" Type="http://schemas.openxmlformats.org/officeDocument/2006/relationships/notesMaster" Target="../notesMasters/notesMaster1.xml"/></Relationships>
</file>

<file path=ppt/notesSlides/_rels/notesSlide2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0.xml"/><Relationship Id="rId1" Type="http://schemas.openxmlformats.org/officeDocument/2006/relationships/notesMaster" Target="../notesMasters/notesMaster1.xml"/></Relationships>
</file>

<file path=ppt/notesSlides/_rels/notesSlide2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1.xml"/><Relationship Id="rId1" Type="http://schemas.openxmlformats.org/officeDocument/2006/relationships/notesMaster" Target="../notesMasters/notesMaster1.xml"/></Relationships>
</file>

<file path=ppt/notesSlides/_rels/notesSlide2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2.xml"/><Relationship Id="rId1" Type="http://schemas.openxmlformats.org/officeDocument/2006/relationships/notesMaster" Target="../notesMasters/notesMaster1.xml"/></Relationships>
</file>

<file path=ppt/notesSlides/_rels/notesSlide2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3.xml"/><Relationship Id="rId1" Type="http://schemas.openxmlformats.org/officeDocument/2006/relationships/notesMaster" Target="../notesMasters/notesMaster1.xml"/></Relationships>
</file>

<file path=ppt/notesSlides/_rels/notesSlide2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4.xml"/><Relationship Id="rId1" Type="http://schemas.openxmlformats.org/officeDocument/2006/relationships/notesMaster" Target="../notesMasters/notesMaster1.xml"/></Relationships>
</file>

<file path=ppt/notesSlides/_rels/notesSlide2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5.xml"/><Relationship Id="rId1" Type="http://schemas.openxmlformats.org/officeDocument/2006/relationships/notesMaster" Target="../notesMasters/notesMaster1.xml"/></Relationships>
</file>

<file path=ppt/notesSlides/_rels/notesSlide2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6.xml"/><Relationship Id="rId1" Type="http://schemas.openxmlformats.org/officeDocument/2006/relationships/notesMaster" Target="../notesMasters/notesMaster1.xml"/></Relationships>
</file>

<file path=ppt/notesSlides/_rels/notesSlide2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7.xml"/><Relationship Id="rId1" Type="http://schemas.openxmlformats.org/officeDocument/2006/relationships/notesMaster" Target="../notesMasters/notesMaster1.xml"/></Relationships>
</file>

<file path=ppt/notesSlides/_rels/notesSlide2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8.xml"/><Relationship Id="rId1" Type="http://schemas.openxmlformats.org/officeDocument/2006/relationships/notesMaster" Target="../notesMasters/notesMaster1.xml"/></Relationships>
</file>

<file path=ppt/notesSlides/_rels/notesSlide2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6792691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https://pyneng.readthedocs.io/ru/latest/book/01_intro/pip.html</a:t>
            </a:r>
            <a:endParaRPr lang="ru-RU" sz="1200" b="0" i="0" u="none" strike="noStrik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9921434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Одна из основных целей использования как модулей, так и пакетов - реализация модели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пространства имен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позволяющей логически группировать и в то же время изолировать различные идентификаторы. Например, при наличии глобальной переменной </a:t>
            </a:r>
            <a:r>
              <a:rPr lang="ru-RU" sz="1000" dirty="0" err="1" smtClean="0">
                <a:effectLst/>
              </a:rPr>
              <a:t>author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в модуле </a:t>
            </a:r>
            <a:r>
              <a:rPr lang="ru-RU" sz="1000" dirty="0" smtClean="0">
                <a:effectLst/>
              </a:rPr>
              <a:t>A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и </a:t>
            </a:r>
            <a:r>
              <a:rPr lang="ru-RU" sz="1000" dirty="0" smtClean="0">
                <a:effectLst/>
              </a:rPr>
              <a:t>B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не произойдет конфликта, т.к. они находятся в разном пространстве имен: </a:t>
            </a:r>
            <a:r>
              <a:rPr lang="ru-RU" sz="1000" dirty="0" err="1" smtClean="0">
                <a:effectLst/>
              </a:rPr>
              <a:t>A.author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и </a:t>
            </a:r>
            <a:r>
              <a:rPr lang="ru-RU" sz="1000" dirty="0" err="1" smtClean="0">
                <a:effectLst/>
              </a:rPr>
              <a:t>B.author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соответственно.</a:t>
            </a:r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064092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5018754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7875526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2472965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Модуль 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</a:t>
            </a:r>
            <a:r>
              <a:rPr lang="ru-RU" sz="10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входит в состав дистрибутива </a:t>
            </a:r>
            <a:r>
              <a:rPr lang="en-US" sz="10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</a:t>
            </a:r>
          </a:p>
          <a:p>
            <a:endParaRPr lang="en-US" sz="1000" b="0" i="0" kern="1200" baseline="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fontAlgn="base"/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Модуль 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даёт следующую информацию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fontAlgn="base"/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Какая версия Питона запущена.</a:t>
            </a:r>
          </a:p>
          <a:p>
            <a:pPr fontAlgn="base"/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Путь к интерпретатору Python, исполняющему текущий скрипт.</a:t>
            </a:r>
          </a:p>
          <a:p>
            <a:pPr fontAlgn="base"/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Параметры командной строки, используемые при запуске на выполнение скрипта.</a:t>
            </a:r>
          </a:p>
          <a:p>
            <a:pPr fontAlgn="base"/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Флаги, установленные интерпретатором.</a:t>
            </a:r>
          </a:p>
          <a:p>
            <a:pPr fontAlgn="base"/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Представление значений с плавающей точкой.</a:t>
            </a:r>
          </a:p>
          <a:p>
            <a:pPr fontAlgn="base"/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Многое другое.</a:t>
            </a:r>
          </a:p>
          <a:p>
            <a:pPr fontAlgn="base"/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Модуль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часто используют с 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модулем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os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С помощью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получают нужную информацию об операционной системе, чтобы избежать непредвиденных ошибок, а с помощью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взаимодействуют с ней (работа с файлами, запуск программ на выполнение, обработка путей и так далее).</a:t>
            </a:r>
          </a:p>
          <a:p>
            <a:endParaRPr lang="en-US" sz="1000" b="0" i="0" kern="1200" baseline="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https://pythonim.ru/moduli/sys-python</a:t>
            </a:r>
          </a:p>
          <a:p>
            <a:endParaRPr lang="en-US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all-python.ru/osnovy/sys.html#:~:text=%D1%81%D0%BE%D1%81%D1%82%D0%B0%D0%B2%20%D0%B4%D0%B8%D1%81%D1%82%D1%80%D0%B8%D0%B1%D1%83%D1%82%D0%B8%D0%B2%D0%B0%20Python.-,%D0%A7%D1%82%D0%BE%20%D1%82%D0%B0%D0%BA%D0%BE%D0%B5%20%D0%BC%D0%BE%D0%B4%D1%83%D0%BB%D1%8C%20sys,%D0%B8%D0%BD%D1%82%D0%B5%D1%80%D0%BF%D1%80%D0%B5%D1%82%D0%B0%D1%82%D0%BE%D1%80%D1%83%20Python%2C%20%D0%B8%D1%81%D0%BF%D0%BE%D0%BB%D0%BD%D1%8F%D1%8E%D1%89%D0%B5%D0%BC%D1%83%20%D1%82%D0%B5%D0%BA%D1%83%D1%89%D0%B8%D0%B9%20%D1%81%D0%BA%D1%80%D0%B8%D0%BF%D1%82.</a:t>
            </a:r>
          </a:p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605822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98608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2769452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NumPy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это библиотека языка Python, добавляющая поддержку больших многомерных массивов и матриц, вместе с большой библиотекой высокоуровневых (и очень быстрых) математических функций для операций с этими массивами.</a:t>
            </a:r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https://pythonworld.ru/numpy/1.html</a:t>
            </a:r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1427716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5190739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использования модуля или пакета в коде необходимо его предварительно подключить (импортировать).</a:t>
            </a:r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315639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8591591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924347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Пакет подключается аналогичным образом. Кроме того, имеется возможность импорта отдельных модулей из пакета, если нет необходимости использовать весь пакет</a:t>
            </a:r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4730091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257884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825377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36707655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8010625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2947144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1320559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32199552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40162317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2555703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0154483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99272779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53754215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32492022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16618255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7309218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863727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73307967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52124968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47263617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1139435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7093804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67887139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85260760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Модуль </a:t>
            </a:r>
            <a:r>
              <a:rPr lang="ru-RU" sz="10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random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реализует генератор псевдослучайных чисел (ГПСЧ).</a:t>
            </a:r>
          </a:p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Случайность - проблема для компьютерной техники, поскольку все компьютеры являются цифровыми, и как следствие, детерминированы. Если дать компьютеру одни и те же инструкции, будет получаться один и тот же результат. Получается, что математически невозможно сгенерировать по-настоящему случайные числа, используя компьютер, однако довольно просто сгенерировать псевдослучайные числа. В отличие от случайных чисел одни и те же псевдослучайные могут быть сгенерированы раз за разом.</a:t>
            </a:r>
          </a:p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Псевдослучайные числа обладают определенными характеристиками:</a:t>
            </a:r>
          </a:p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сгенерированная последовательность не должна повторяться;</a:t>
            </a:r>
          </a:p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числа в последовательности должны быть равномерно распределены на определенном промежутке.</a:t>
            </a:r>
          </a:p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Примеры последовательностей:</a:t>
            </a:r>
          </a:p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плохие последовательности:</a:t>
            </a:r>
          </a:p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 3 3 3 3 3 3 3 3 3 3 3 3 3 3 3 3 3 3 3 (все числа одинаковы);</a:t>
            </a:r>
          </a:p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 1 2 3 4 5 6 7 8 9 0 1 2 3 4 5 6 7 8 9 (отсутствует случайность);</a:t>
            </a:r>
          </a:p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 3 2 5 3 9 1 2 4 2 5 1 1 2 8 1 5 2 3 4 (неравномерно распределена);</a:t>
            </a:r>
          </a:p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 8 4 6 0 9 8 2 4 8 6 4 2 2 5 1 4 8 6 2 (много четных чисел);</a:t>
            </a:r>
          </a:p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хорошие последовательности:</a:t>
            </a:r>
          </a:p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 9 1 2 0 4 2 8 5 7 2 9 1 9 2 5 3 1 9 2;</a:t>
            </a:r>
          </a:p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 2 5 3 4 1 9 7 8 0 2 1 6 4 5 8 9 5 0 9;</a:t>
            </a:r>
          </a:p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 8 5 2 3 4 5 7 9 5 2 1 0 2 1 0 9 7 6 4;</a:t>
            </a:r>
          </a:p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9 0 6 4 8 3 1 5 2 7 6 1 4 6 0 1 9 7 5 6.</a:t>
            </a:r>
          </a:p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инициализации ГПСЧ требует определенное целое число (т.н. инициализатор), определяющее будущую генерируемую последовательность. При этом в целом нет возможности узнать зависимость между этим числом и получаемой последовательностью.</a:t>
            </a:r>
          </a:p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Практически все функции модуля основаны на функции </a:t>
            </a:r>
            <a:r>
              <a:rPr lang="ru-RU" sz="10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random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(). Для генерации чисел используется алгоритм «Вихрь </a:t>
            </a:r>
            <a:r>
              <a:rPr lang="ru-RU" sz="10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Мерсенна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», который лишен многих недостатков, присущих другим алгоритмам генерации (малый период, предсказуемость, легко выявляемая статистическая зависимость и др.). При этом данный алгоритм не является </a:t>
            </a:r>
            <a:r>
              <a:rPr lang="ru-RU" sz="10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криптостойким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(в данном случае, теоретически возможно «предсказать» их генерацию), поэтому не должен использоваться для задач, связанных с информационной безопасностью (например, для криптографии, шифрования и т.д.).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85241094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69998051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77755902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39615658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9118943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2768822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Модуль </a:t>
            </a:r>
            <a:r>
              <a:rPr lang="ru-RU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statistics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содержит функции для осуществления статистических операций. Как правило, все функции поддерживают целые и вещественные типы.</a:t>
            </a:r>
          </a:p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Медиа́на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(от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 tooltip="Латинский язык"/>
              </a:rPr>
              <a:t>лат.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1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 tooltip="wikt:en:mediana"/>
              </a:rPr>
              <a:t>mediāna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«середина») или 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серединное значение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набора чисел — число, которое находится в середине этого набора, если его упорядочить по возрастанию, то есть такое число, что половина из элементов набора не меньше него, а другая половина не больше. Другое равносильное определение</a:t>
            </a:r>
            <a:r>
              <a:rPr lang="ru-RU" sz="1200" b="0" i="0" u="none" strike="noStrike" kern="1200" baseline="300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/>
              </a:rPr>
              <a:t>[1]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 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медиана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набора чисел — это число, сумма расстояний (или, если более строго,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7" tooltip="Абсолютная величина"/>
              </a:rPr>
              <a:t>модулей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от которого до всех чисел из набора минимальна. Это определение естественным образом обобщается на многомерные наборы данных и называется </a:t>
            </a:r>
            <a:r>
              <a:rPr lang="ru-RU" sz="1200" b="1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8" tooltip="Геометрический центр"/>
              </a:rPr>
              <a:t>1-медианой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Например, медианой набора {11, 9, 3, 5, 5} является число 5, так как оно стоит в середине этого набора после его упорядочивания: {3, 5, 5, 9, 11}. Если в выборке чётное число элементов, медиана может быть не определена однозначно: тогда для числовых данных чаще всего используют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полусумму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двух соседних значений (то есть медиану набора {1, 3, 5, 7} принимают равной 4)</a:t>
            </a:r>
          </a:p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Мо́да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значение во множестве наблюдений, которое встречается наиболее часто (мода = типичность). Иногда в совокупности встречается более чем одна мода 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(например: 6, 2, 6, 6, 8, 9, 9, 9, 0; мода — 6 и 9)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В этом случае можно сказать, что совокупность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мультимодальна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Из структурных средних величин только мода обладает таким уникальным свойством. Как правило,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мультимодальность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указывает на то, что набор данных не подчиняется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9" tooltip="Нормальное распределение"/>
              </a:rPr>
              <a:t>нормальному распределению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Мода как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0" tooltip="Средние величины"/>
              </a:rPr>
              <a:t>средняя величина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употребляется чаще для данных, имеющих нечисловую природу. Среди перечисленных цветов автомобилей — 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белый, чёрный, синий металлик, белый, синий металлик, белый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мода будет равна 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белому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цвету. При экспертной оценке с её помощью определяют наиболее популярные типы продукта, что учитывается при прогнозе продаж или планировании их производства.</a:t>
            </a:r>
          </a:p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7687507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45947269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54559960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 поддерживает работу с датой и временем  и предоставляет соответствующие модули и пакеты</a:t>
            </a:r>
          </a:p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Лока́ль</a:t>
            </a:r>
            <a:endParaRPr lang="ru-RU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Региональные настройки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региональный стандарт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региональные параметры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параметры региона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(проф.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Жаргон"/>
              </a:rPr>
              <a:t>жарг.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лока́ль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от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 tooltip="Английский язык"/>
              </a:rPr>
              <a:t>англ.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locale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 tooltip="Международный фонетический алфавит"/>
              </a:rPr>
              <a:t>/</a:t>
            </a:r>
            <a:r>
              <a:rPr lang="ru-RU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 tooltip="Международный фонетический алфавит"/>
              </a:rPr>
              <a:t>lɔ.kal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 tooltip="Международный фонетический алфавит"/>
              </a:rPr>
              <a:t>/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или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 tooltip="Международный фонетический алфавит"/>
              </a:rPr>
              <a:t>/</a:t>
            </a:r>
            <a:r>
              <a:rPr lang="ru-RU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 tooltip="Международный фонетический алфавит"/>
              </a:rPr>
              <a:t>ləuˈkɑ:l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 tooltip="Международный фонетический алфавит"/>
              </a:rPr>
              <a:t>/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 — набор параметров, определяющий региональные настройки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 tooltip="Пользовательский интерфейс"/>
              </a:rPr>
              <a:t>пользовательского интерфейса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такие как язык,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7" tooltip="Страна"/>
              </a:rPr>
              <a:t>страна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8" tooltip="Часовой пояс"/>
              </a:rPr>
              <a:t>часовой пояс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9" tooltip="Набор символов"/>
              </a:rPr>
              <a:t>набор символов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формат вывода даты, времени, используемая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0" tooltip="Денежная единица"/>
              </a:rPr>
              <a:t>денежная единица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и пр.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Установка региональных параметров является частью большого процесса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1" tooltip="Локализация программного обеспечения"/>
              </a:rPr>
              <a:t>локализации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При этом изменение региональных настроек часто доступно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2" tooltip="Пользователь"/>
              </a:rPr>
              <a:t>конечному пользователю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системы без перепрограммирования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3" tooltip="Программное обеспечение"/>
              </a:rPr>
              <a:t>программного обеспечения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(ПО), в отличие от перевода сообщений пользовательского интерфейса, который часто требует изменения программного кода разработчиками ПО</a:t>
            </a:r>
          </a:p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01004790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Ключевым модулем для работы с датой/временем является модуль </a:t>
            </a:r>
            <a:r>
              <a:rPr lang="ru-RU" dirty="0" err="1" smtClean="0">
                <a:effectLst/>
              </a:rPr>
              <a:t>datetime</a:t>
            </a:r>
            <a:endParaRPr lang="ru-RU" dirty="0" smtClean="0">
              <a:effectLst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Все экземпляры данных классов являются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немутирующими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(неизменяемыми).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Классы 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или 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datetime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могут быть «наивными» или «осведомленными»: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«наивный» (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англ.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Naive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или «неосведомленный»: не содержит информацию о часовых поясах (временных зонах), летнем/зимнем времени и представляет «чистую» дату/время, которую можно интерпретировать так, как это понадобится в приложении;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«осведомленный» (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англ.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Aware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 знает и содержит информацию о часовых поясах (временных зонах), летнем/зимнем времени, однозначно определяя дату/время.</a:t>
            </a:r>
          </a:p>
          <a:p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Naive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-вариант проще в использовании и может использоваться в приложении, если нет необходимости учитывать часовые пояса или летнее/зимнее время.</a:t>
            </a:r>
          </a:p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83749253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59496698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Нередко при работе с датами возникает необходимость добавить к какой-либо дате определенный промежуток времени или, наоборот, вычесть некоторый период. И специально для таких операций в модуле </a:t>
            </a:r>
            <a:r>
              <a:rPr lang="ru-RU" sz="10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datetime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определен класс </a:t>
            </a:r>
            <a:r>
              <a:rPr lang="ru-RU" sz="10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timedelta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Фактически этот класс определяет некоторый период времени. Для определения промежутка времени можно использовать конструктор </a:t>
            </a:r>
            <a:r>
              <a:rPr lang="ru-RU" sz="10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timedelta</a:t>
            </a:r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47355426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5086489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313550765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50518926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33157385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297796014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284951468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30206525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186288180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839764520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ttps://www.geeksforgeeks.org/python-datetime-tzname-method-with-example/?ref=rp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- хорошие примеры использования разных функций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405002789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03000325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25417214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9768148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768639410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Стандарт SQL устанавливает, что «В определении „литерала типа дата-время“, „значения типа дата-время“ ограничены естественными правилами, касающимися дат и времени согласно григорианскому календарю». Следуя стандарту SQL, 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Postgres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подсчитывает даты исключительно в григорианском календаре, включая годы, когда этот календарь ещё не использовался. Это правило известно как 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пролептический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григорианский календарь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Юлианский календарь был введён Юлием Цезарем в 45 г. до н. э. Он широко использовался западной цивилизацией до 1582 года, когда страны начали переходить на григорианский календарь. В юлианском календаре тропический год длится приблизительно 365 1/4 дня = 365,25 дня. Каждые 128 лет накапливается примерно 1 день.</a:t>
            </a:r>
          </a:p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430121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65397029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79204779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Всеми́рное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координи́рованное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вре́мя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(англ.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Coordinated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Universal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фр.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Temps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Universel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Coordonné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UTC) — 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стандарт, по которому общество регулирует часы и время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Отличается на целое количество секунд от атомного времени и на дробное количество секунд от всемирного времени UT1.</a:t>
            </a:r>
          </a:p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чего необходимо время UTC?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 помощью шкалы 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UTC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ведется точное летоисчисление без каких-либо серьезных погрешностей. Этот стандарт времени не зависит от вращения Земли или Солнца. 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UTC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регулирует 24 мировых часовых поясов, а в качестве точки отсчета используется Гринвичский меридиан — 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UTC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0.</a:t>
            </a:r>
          </a:p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12210175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Стандарт SQL устанавливает, что «В определении „литерала типа дата-время“, „значения типа дата-время“ ограничены естественными правилами, касающимися дат и времени согласно григорианскому календарю». Следуя стандарту SQL, 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Postgres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подсчитывает даты исключительно в григорианском календаре, включая годы, когда этот календарь ещё не использовался. Это правило известно как 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пролептический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григорианский календарь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Юлианский календарь был введён Юлием Цезарем в 45 г. до н. э. Он широко использовался западной цивилизацией до 1582 года, когда страны начали переходить на григорианский календарь. В юлианском календаре тропический год длится приблизительно 365 1/4 дня = 365,25 дня. Каждые 128 лет накапливается примерно 1 день.</a:t>
            </a:r>
          </a:p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623101583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179122389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23388242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926962999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664266657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Классы 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date, 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datetime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 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 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поддерживают гибкое преобразование в строку с помощью функции 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strftime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().</a:t>
            </a:r>
          </a:p>
          <a:p>
            <a:r>
              <a:rPr lang="en-US" sz="1000" i="1" dirty="0" smtClean="0">
                <a:effectLst/>
              </a:rPr>
              <a:t>Class</a:t>
            </a:r>
            <a:r>
              <a:rPr lang="ru-RU" sz="1000" i="1" dirty="0" smtClean="0">
                <a:effectLst/>
              </a:rPr>
              <a:t> </a:t>
            </a:r>
            <a:r>
              <a:rPr lang="en-US" sz="1000" dirty="0" err="1" smtClean="0"/>
              <a:t>datetime.datetime</a:t>
            </a:r>
            <a:endParaRPr lang="ru-RU" sz="1000" dirty="0" smtClean="0"/>
          </a:p>
          <a:p>
            <a:r>
              <a:rPr lang="en-US" sz="1000" dirty="0" err="1" smtClean="0"/>
              <a:t>strftime</a:t>
            </a:r>
            <a:r>
              <a:rPr lang="en-US" sz="1000" dirty="0" smtClean="0">
                <a:effectLst/>
              </a:rPr>
              <a:t>(</a:t>
            </a:r>
            <a:r>
              <a:rPr lang="en-US" sz="1000" i="1" dirty="0" smtClean="0">
                <a:effectLst/>
              </a:rPr>
              <a:t>format</a:t>
            </a:r>
            <a:r>
              <a:rPr lang="en-US" sz="1000" dirty="0" smtClean="0">
                <a:effectLst/>
              </a:rPr>
              <a:t>)</a:t>
            </a:r>
            <a:r>
              <a:rPr lang="ru-RU" sz="1000" dirty="0" smtClean="0">
                <a:effectLst/>
              </a:rPr>
              <a:t>Возвращает строку по формату </a:t>
            </a:r>
            <a:r>
              <a:rPr lang="en-US" sz="1000" dirty="0" smtClean="0">
                <a:effectLst/>
              </a:rPr>
              <a:t>format </a:t>
            </a:r>
            <a:r>
              <a:rPr lang="ru-RU" sz="1000" dirty="0" smtClean="0">
                <a:effectLst/>
              </a:rPr>
              <a:t>для заданного объекта.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Создать экземпляр класса 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datetime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можно используя «обратную» функцию 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strptime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():</a:t>
            </a:r>
          </a:p>
          <a:p>
            <a:r>
              <a:rPr lang="en-US" sz="1000" i="1" dirty="0" smtClean="0">
                <a:effectLst/>
              </a:rPr>
              <a:t>Class</a:t>
            </a:r>
            <a:r>
              <a:rPr lang="ru-RU" sz="1000" i="1" dirty="0" smtClean="0">
                <a:effectLst/>
              </a:rPr>
              <a:t> </a:t>
            </a:r>
            <a:r>
              <a:rPr lang="en-US" sz="1000" dirty="0" err="1" smtClean="0"/>
              <a:t>datetime.datetime</a:t>
            </a:r>
            <a:endParaRPr lang="ru-RU" sz="1000" dirty="0" smtClean="0"/>
          </a:p>
          <a:p>
            <a:r>
              <a:rPr lang="en-US" sz="1000" i="1" dirty="0" err="1" smtClean="0">
                <a:effectLst/>
              </a:rPr>
              <a:t>Classmethod</a:t>
            </a:r>
            <a:r>
              <a:rPr lang="ru-RU" sz="1000" i="1" dirty="0" smtClean="0">
                <a:effectLst/>
              </a:rPr>
              <a:t> </a:t>
            </a:r>
            <a:r>
              <a:rPr lang="en-US" sz="1000" dirty="0" err="1" smtClean="0"/>
              <a:t>strptime</a:t>
            </a:r>
            <a:r>
              <a:rPr lang="en-US" sz="1000" dirty="0" smtClean="0">
                <a:effectLst/>
              </a:rPr>
              <a:t>(</a:t>
            </a:r>
            <a:r>
              <a:rPr lang="en-US" sz="1000" i="1" dirty="0" err="1" smtClean="0">
                <a:effectLst/>
              </a:rPr>
              <a:t>date_string</a:t>
            </a:r>
            <a:r>
              <a:rPr lang="en-US" sz="1000" dirty="0" smtClean="0"/>
              <a:t>, </a:t>
            </a:r>
            <a:r>
              <a:rPr lang="en-US" sz="1000" i="1" dirty="0" smtClean="0">
                <a:effectLst/>
              </a:rPr>
              <a:t>format</a:t>
            </a:r>
            <a:r>
              <a:rPr lang="en-US" sz="1000" dirty="0" smtClean="0">
                <a:effectLst/>
              </a:rPr>
              <a:t>)</a:t>
            </a:r>
            <a:r>
              <a:rPr lang="ru-RU" sz="1000" dirty="0" smtClean="0">
                <a:effectLst/>
              </a:rPr>
              <a:t>Возвращает </a:t>
            </a:r>
            <a:r>
              <a:rPr lang="en-US" sz="1000" dirty="0" err="1" smtClean="0">
                <a:effectLst/>
              </a:rPr>
              <a:t>datetime</a:t>
            </a:r>
            <a:r>
              <a:rPr lang="en-US" sz="1000" dirty="0" smtClean="0">
                <a:effectLst/>
              </a:rPr>
              <a:t>-</a:t>
            </a:r>
            <a:r>
              <a:rPr lang="ru-RU" sz="1000" dirty="0" smtClean="0">
                <a:effectLst/>
              </a:rPr>
              <a:t>объект, составленный из строки </a:t>
            </a:r>
            <a:r>
              <a:rPr lang="en-US" sz="1000" dirty="0" err="1" smtClean="0">
                <a:effectLst/>
              </a:rPr>
              <a:t>date_string</a:t>
            </a:r>
            <a:r>
              <a:rPr lang="en-US" sz="1000" dirty="0" smtClean="0">
                <a:effectLst/>
              </a:rPr>
              <a:t> </a:t>
            </a:r>
            <a:r>
              <a:rPr lang="ru-RU" sz="1000" dirty="0" smtClean="0">
                <a:effectLst/>
              </a:rPr>
              <a:t>по формату </a:t>
            </a:r>
            <a:r>
              <a:rPr lang="en-US" sz="1000" dirty="0" smtClean="0">
                <a:effectLst/>
              </a:rPr>
              <a:t>format.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Функция 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strftime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 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базируется на аналогичной функции языка Си </a:t>
            </a:r>
            <a:r>
              <a:rPr lang="en-US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strftime</a:t>
            </a:r>
            <a:r>
              <a:rPr 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()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 поддерживает соответствующие спецификаторы (коды) формата.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51327997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eaLnBrk="1" fontAlgn="t" latinLnBrk="0" hangingPunct="1"/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strptime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ru-RU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date_string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format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- Возвращает </a:t>
            </a:r>
            <a:r>
              <a:rPr lang="ru-RU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datetime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-объект, составленный из строки </a:t>
            </a:r>
            <a:r>
              <a:rPr lang="ru-RU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date_string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по формату </a:t>
            </a:r>
            <a:r>
              <a:rPr lang="ru-RU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format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(см. Функции </a:t>
            </a:r>
            <a:r>
              <a:rPr lang="ru-RU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strftime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 и </a:t>
            </a:r>
            <a:r>
              <a:rPr lang="ru-RU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strptime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()).</a:t>
            </a:r>
            <a:endParaRPr lang="en-US" sz="1200" b="0" i="0" u="none" strike="noStrik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37611507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0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Возвращает строковое представление даты/времени в заданном формате </a:t>
            </a:r>
            <a:r>
              <a:rPr lang="ru-RU" sz="1000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format</a:t>
            </a:r>
            <a:r>
              <a:rPr lang="ru-RU" sz="10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781998232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Экземпляр класса-потомка </a:t>
            </a:r>
            <a:r>
              <a:rPr lang="ru-RU" sz="1000" dirty="0" err="1" smtClean="0">
                <a:effectLst/>
              </a:rPr>
              <a:t>tzinfo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может быть передан в конструктор объектов типа </a:t>
            </a:r>
            <a:r>
              <a:rPr lang="ru-RU" sz="1000" dirty="0" err="1" smtClean="0">
                <a:effectLst/>
              </a:rPr>
              <a:t>datetime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и </a:t>
            </a:r>
            <a:r>
              <a:rPr lang="ru-RU" sz="1000" dirty="0" err="1" smtClean="0">
                <a:effectLst/>
              </a:rPr>
              <a:t>time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при этом атрибуты объектов находятся в местном времени, а </a:t>
            </a:r>
            <a:r>
              <a:rPr lang="ru-RU" sz="1000" dirty="0" err="1" smtClean="0">
                <a:effectLst/>
              </a:rPr>
              <a:t>tzinfo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позволяет найти отклонение от заданного часового пояса.</a:t>
            </a:r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74404168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4732468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589071029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9516723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857964332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19765450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9335058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93349713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Основные термины и особенности: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эра (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англ.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Unix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 </a:t>
            </a:r>
            <a:r>
              <a:rPr lang="ru-RU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Epoch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 количество секунд, прошедших с полуночи (00:00:00 UTC) 1 января 1970 года (четверг) </a:t>
            </a:r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функции могут не работать с датами вне промежутка от начала эпохи до 2038 г. (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проблема 2038 года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);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отсутствует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проблема 2000 года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678048154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Основные термины и особенности: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эра (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англ.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Unix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 </a:t>
            </a:r>
            <a:r>
              <a:rPr lang="ru-RU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Epoch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 количество секунд, прошедших с полуночи (00:00:00 UTC) 1 января 1970 года (четверг) </a:t>
            </a:r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функции могут не работать с датами вне промежутка от начала эпохи до 2038 г. (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проблема 2038 года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);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отсутствует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проблема 2000 года</a:t>
            </a:r>
            <a:endParaRPr lang="ru-RU" sz="1200" b="0" i="0" u="none" strike="noStrik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b="0" i="0" u="none" strike="noStrik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Функция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input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() в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ввод данных с клавиатура. Позволяет производить ввод данных в консоли. Синтаксис: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input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prompt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 Параметры: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prompt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строка подсказки. Возвращаемое значение: строка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даже если вводятся цифровые значения. Описание: Функция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input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() позволяет обеспечить ввод пользовательских данных из консоли. Если передан необязательный аргумент подсказки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prompt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то он записывается в стандартный вывод без завершающей строки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23573537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000" dirty="0" err="1" smtClean="0">
                <a:hlinkClick r:id="rId3"/>
              </a:rPr>
              <a:t>pytz</a:t>
            </a:r>
            <a:r>
              <a:rPr lang="ru-RU" sz="1000" dirty="0" smtClean="0">
                <a:hlinkClick r:id="rId3"/>
              </a:rPr>
              <a:t> - Определения мирового часового пояса для </a:t>
            </a:r>
            <a:r>
              <a:rPr lang="ru-RU" sz="1000" dirty="0" err="1" smtClean="0">
                <a:hlinkClick r:id="rId3"/>
              </a:rPr>
              <a:t>Python</a:t>
            </a:r>
            <a:r>
              <a:rPr lang="ru-RU" sz="1000" dirty="0" smtClean="0">
                <a:hlinkClick r:id="rId3"/>
              </a:rPr>
              <a:t> — документация по </a:t>
            </a:r>
            <a:r>
              <a:rPr lang="ru-RU" sz="1000" dirty="0" err="1" smtClean="0">
                <a:hlinkClick r:id="rId3"/>
              </a:rPr>
              <a:t>pytz</a:t>
            </a:r>
            <a:r>
              <a:rPr lang="ru-RU" sz="1000" dirty="0" smtClean="0">
                <a:hlinkClick r:id="rId3"/>
              </a:rPr>
              <a:t> 2014.10 (sourceforge.net)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en-US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tz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database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(с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 tooltip="Английский язык"/>
              </a:rPr>
              <a:t>англ.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timezone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database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база данных часовых поясов) или 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IANA 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Zone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Database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или 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zoneinfo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database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(база данных информации о зонах) — совместно собираемая информация о мировых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 tooltip="Часовой пояс"/>
              </a:rPr>
              <a:t>часовых зонах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предназначенная для использования в первую очередь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 tooltip="Операционная система"/>
              </a:rPr>
              <a:t>операционными системами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и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7" tooltip="Программирование"/>
              </a:rPr>
              <a:t>компьютерными программами</a:t>
            </a:r>
            <a:r>
              <a:rPr lang="ru-RU" sz="1200" b="0" i="0" u="none" strike="noStrike" kern="1200" baseline="300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8"/>
              </a:rPr>
              <a:t>[2]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Иногда она упоминается как «база данных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Олсона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» (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Olson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database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так как была основана Артуром Дэвидом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Олсоном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Arthur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David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Olson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ru-RU" sz="1200" b="0" i="0" u="none" strike="noStrike" kern="1200" baseline="300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8"/>
              </a:rPr>
              <a:t>[3]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Редактором и хранителем базы является Пол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Эггерт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Paul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Eggert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ru-RU" sz="1200" b="0" i="0" u="none" strike="noStrike" kern="1200" baseline="300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8"/>
              </a:rPr>
              <a:t>[4]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Её самая известная возможность — унифицированное именование часовых поясов, разработанное Полом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Эггертом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такое, как «Америка/Нью-Йорк» и «Европа/Париж»</a:t>
            </a:r>
            <a:r>
              <a:rPr lang="ru-RU" sz="1200" b="0" i="0" u="none" strike="noStrike" kern="1200" baseline="300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8"/>
              </a:rPr>
              <a:t>[5]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В базе данных пытаются собрать информацию обо всех исторических часовых поясах и всех их гражданских изменениях начиная с 1970 года,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9" tooltip="UNIX-время"/>
              </a:rPr>
              <a:t>эпохи </a:t>
            </a:r>
            <a:r>
              <a:rPr lang="ru-RU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9" tooltip="UNIX-время"/>
              </a:rPr>
              <a:t>юникс</a:t>
            </a:r>
            <a:r>
              <a:rPr lang="ru-RU" sz="1200" b="0" i="0" u="none" strike="noStrike" kern="1200" baseline="300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8"/>
              </a:rPr>
              <a:t>[6]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Она также включает в себя информацию о переходе на летнее время, и даже запись високосных секунд</a:t>
            </a:r>
            <a:r>
              <a:rPr lang="ru-RU" sz="1200" b="0" i="0" u="none" strike="noStrike" kern="1200" baseline="300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8"/>
              </a:rPr>
              <a:t>[7]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22924567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868471362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Библиотека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pytz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предоставляет функцию </a:t>
            </a:r>
            <a:r>
              <a:rPr lang="ru-RU" dirty="0" err="1" smtClean="0"/>
              <a:t>localize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позволяющую сделать «наивный» объект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datetime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«осведомленным». Теперь объекты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datetime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можно сравнивать без возникновения ошибки.</a:t>
            </a:r>
          </a:p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Zoneinfo</a:t>
            </a:r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 3.9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 существовало встроенного в стандартную библиотеку модуля для преобразований значений даты и времени, связанных с часовыми поясами. Поэтому все пользовались модулем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pytz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 теперь в стандартной библиотеке имеется модуль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zoneinfo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 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datetime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import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datetime</a:t>
            </a:r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import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pytz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# pip install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pytz</a:t>
            </a:r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dt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datetime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(2022, 6, 4)</a:t>
            </a:r>
          </a:p>
          <a:p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nyc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pytz.timezone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("America/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New_York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")</a:t>
            </a:r>
          </a:p>
          <a:p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localized =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nyc.localize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dt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print(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f"Datetime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{localized},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Timezone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{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localized.tzname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()}, TZ Info: {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localized.tzinfo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}")</a:t>
            </a:r>
          </a:p>
          <a:p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По-новому: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zoneinfo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import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ZoneInfo</a:t>
            </a:r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nyc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ZoneInfo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("America/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New_York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")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localized =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datetime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(2022, 6, 4,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tzinfo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nyc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print(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f"Datetime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{localized},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Timezone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{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localized.tzname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()}, TZ Info: {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localized.tzinfo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}")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Datetime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2022-06-04 00:00:00-04:00,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Timezone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EDT, TZ Info: America/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New_York</a:t>
            </a:r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Модуль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datetime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делегирует все манипуляции с часовыми поясами абстрактному базовому классу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datetime.tzinfo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Этот абстрактный базовый класс нуждается в конкретной реализации. До выхода этого модуля такую реализацию, по всей вероятности, брали из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pytz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 теперь, когда в стандартной библиотеке есть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zoneinfo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этот модуль можно использовать вместо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pytz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 использования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zoneinfo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правда, есть один нюанс: модуль предполагает, что в системе имеются сведения о часовых поясах. В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UNIX-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подобных системах это так. Если же в вашей системе таких данных нет — тогда вам понадобится пакет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tzdata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 — библиотека, поддержкой которой занимаются основные разработчики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CPython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ней имеется база данных часовых поясов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IANA.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382162397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916600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конструктор выражений (например, онлайн-сервисом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https://regex101.com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91397213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конструктор выражений (например, онлайн-сервисом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https://regex101.com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090528183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502434228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Большинство символов могут использоваться как литералы, однако некоторые имеют «специальное назначение» в языке регулярных выражений и потому должны экранироваться символом обратного слеша </a:t>
            </a:r>
            <a:r>
              <a:rPr lang="ru-RU" sz="1000" dirty="0" smtClean="0">
                <a:effectLst/>
              </a:rPr>
              <a:t>'\'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когда они используются как литералы.</a:t>
            </a:r>
          </a:p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dirty="0" smtClean="0"/>
              <a:t>символы-джокеры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https://ru.wikipedia.org/wiki/%D0%A1%D0%B8%D0%BC%D0%B2%D0%BE%D0%BB%D1%8B-%D0%B4%D0%B6%D0%BE%D0%BA%D0%B5%D1%80%D1%8B</a:t>
            </a:r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84458346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41747558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865538853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 использовании онлайн-сервисов будьте внимательны - некоторые не поддерживает Юникод в полном объеме, поэтому, например, выражение </a:t>
            </a:r>
            <a:r>
              <a:rPr lang="ru-RU" sz="1000" dirty="0" smtClean="0">
                <a:effectLst/>
              </a:rPr>
              <a:t>'\w'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может не находить кириллицу в тексте. В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данной проблемы нет.</a:t>
            </a:r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946311036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Зачастую требуется не только найти слово по символам или группе символов, но и указать количество возможных повторений, для чего в регулярных выражениях используются квантификаторы.</a:t>
            </a:r>
          </a:p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Квантификаторы записываются после символа/строки/множества.</a:t>
            </a:r>
          </a:p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Каждый квантификатор может быть: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жадный (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англ.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greedy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 находит как можно больше подходящих символов;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ленивый (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англ.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lazy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 находит как можно меньше подходящих символов.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 умолчанию, все квантификаторы являются жадными; для включения «ленивого» режима необходимо поставить знак '?' после квантификатора.</a:t>
            </a:r>
          </a:p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725057614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48199622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776645253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192151456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86136166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160485328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03189497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https://docs.python.org/3/library/re.html - </a:t>
            </a:r>
            <a:r>
              <a:rPr lang="ru-RU" sz="10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примеры</a:t>
            </a:r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39918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Механизм регулярных выражений в языке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предоставляет возможность устанавливать флаги, влияющие на работу регулярных выражений. Обычно флаги устанавливаются при вызове функции </a:t>
            </a:r>
            <a:r>
              <a:rPr lang="ru-RU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re.compile"/>
              </a:rPr>
              <a:t>re.compile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re.compile"/>
              </a:rPr>
              <a:t>()</a:t>
            </a:r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91977503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918888896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39817583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859931902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re.compile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(pattern, flags=0)</a:t>
            </a:r>
          </a:p>
          <a:p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Компилирует регулярное выражение 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pattern, 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используя флаги 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flags (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например, </a:t>
            </a:r>
            <a:r>
              <a:rPr lang="en-US" sz="10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re.MULTILINE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 возвращая объект класса </a:t>
            </a:r>
            <a:r>
              <a:rPr lang="en-US" sz="10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re.regex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Пример:</a:t>
            </a:r>
          </a:p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regex = </a:t>
            </a:r>
            <a:r>
              <a:rPr lang="en-US" sz="10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re.compile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("^.+?(\d)")</a:t>
            </a:r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288436239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61014250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479317150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461014718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306641590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4042844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127849615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92856782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772029242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методы </a:t>
            </a:r>
            <a:r>
              <a:rPr lang="ru-RU" sz="1000" dirty="0" err="1" smtClean="0"/>
              <a:t>start</a:t>
            </a:r>
            <a:r>
              <a:rPr lang="ru-RU" sz="1000" dirty="0" smtClean="0"/>
              <a:t>()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и </a:t>
            </a:r>
            <a:r>
              <a:rPr lang="ru-RU" sz="1000" dirty="0" err="1" smtClean="0"/>
              <a:t>end</a:t>
            </a:r>
            <a:r>
              <a:rPr lang="ru-RU" sz="1000" dirty="0" smtClean="0"/>
              <a:t>()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для того, чтобы узнать начальную и конечную позицию найденной строки</a:t>
            </a:r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3148379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50890532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Возвращает список всех найденных совпадений. У метода </a:t>
            </a:r>
            <a:r>
              <a:rPr lang="ru-RU" sz="1000" dirty="0" err="1" smtClean="0"/>
              <a:t>findall</a:t>
            </a:r>
            <a:r>
              <a:rPr lang="ru-RU" sz="1000" dirty="0" smtClean="0"/>
              <a:t>()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нет ограничений на поиск в начале или конце строки. Если мы будем искать «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…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» в нашей строке, он вернет все вхождения «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…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». Для поиска рекомендуется использовать именно </a:t>
            </a:r>
            <a:r>
              <a:rPr lang="ru-RU" sz="1000" dirty="0" err="1" smtClean="0"/>
              <a:t>findall</a:t>
            </a:r>
            <a:r>
              <a:rPr lang="ru-RU" sz="1000" dirty="0" smtClean="0"/>
              <a:t>()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так как он может работать и как </a:t>
            </a:r>
            <a:r>
              <a:rPr lang="ru-RU" sz="1000" dirty="0" err="1" smtClean="0"/>
              <a:t>re.search</a:t>
            </a:r>
            <a:r>
              <a:rPr lang="ru-RU" sz="1000" dirty="0" smtClean="0"/>
              <a:t>()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и как </a:t>
            </a:r>
            <a:r>
              <a:rPr lang="ru-RU" sz="1000" dirty="0" err="1" smtClean="0"/>
              <a:t>re.match</a:t>
            </a:r>
            <a:r>
              <a:rPr lang="ru-RU" sz="1000" dirty="0" smtClean="0"/>
              <a:t>()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558485386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метод разделяет строку по заданному шаблону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Метод </a:t>
            </a:r>
            <a:r>
              <a:rPr lang="ru-RU" sz="1000" dirty="0" err="1" smtClean="0"/>
              <a:t>split</a:t>
            </a:r>
            <a:r>
              <a:rPr lang="ru-RU" sz="1000" dirty="0" smtClean="0"/>
              <a:t>()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принимает также аргумент </a:t>
            </a:r>
            <a:r>
              <a:rPr lang="ru-RU" sz="1000" dirty="0" err="1" smtClean="0"/>
              <a:t>maxsplit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со значением по умолчанию, равным 0. В данном случае он разделит строку столько раз, сколько возможно, но если указать этот аргумент, то разделение будет произведено не более указанного коли</a:t>
            </a:r>
          </a:p>
          <a:p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чества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раз. </a:t>
            </a:r>
          </a:p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Мы установили параметр </a:t>
            </a:r>
            <a:r>
              <a:rPr lang="ru-RU" sz="1000" dirty="0" err="1" smtClean="0"/>
              <a:t>maxsplit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равным 1, и в результате строка была разделена на две части вместо трех.</a:t>
            </a:r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505637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Ищет шаблон в строке и заменяет его на указанную подстроку. Если шаблон не найден, строка остается неизменной.</a:t>
            </a:r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268962415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Это также избавляет от переписывания одного и того же выражения.</a:t>
            </a:r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27530396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000" dirty="0" err="1" smtClean="0"/>
              <a:t>re.findall</a:t>
            </a:r>
            <a:r>
              <a:rPr lang="ru-RU" sz="1000" dirty="0" smtClean="0"/>
              <a:t>(</a:t>
            </a:r>
            <a:r>
              <a:rPr lang="ru-RU" sz="1000" b="1" dirty="0" smtClean="0"/>
              <a:t>r'.', </a:t>
            </a:r>
            <a:r>
              <a:rPr lang="en-US" sz="1000" b="1" dirty="0" smtClean="0"/>
              <a:t>…) – </a:t>
            </a:r>
            <a:r>
              <a:rPr lang="ru-RU" sz="1000" b="1" dirty="0" smtClean="0"/>
              <a:t>вытащить каждый символ</a:t>
            </a:r>
          </a:p>
          <a:p>
            <a:r>
              <a:rPr lang="en-US" sz="1000" dirty="0" err="1" smtClean="0"/>
              <a:t>re.findall</a:t>
            </a:r>
            <a:r>
              <a:rPr lang="en-US" sz="1000" dirty="0" smtClean="0"/>
              <a:t>(</a:t>
            </a:r>
            <a:r>
              <a:rPr lang="en-US" sz="1000" b="1" dirty="0" smtClean="0"/>
              <a:t>r'\w', </a:t>
            </a:r>
            <a:r>
              <a:rPr lang="ru-RU" sz="1000" b="1" dirty="0" smtClean="0"/>
              <a:t>….) – вытащить каждый символ кроме пробела</a:t>
            </a:r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19350142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7516956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83312230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68748185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93595852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8956816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682737095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48169645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82765354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6886967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80401457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919154144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12105587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https://docs.python.org/3/library/re.html</a:t>
            </a:r>
          </a:p>
          <a:p>
            <a:endParaRPr lang="en-US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https://tproger.ru/translations/regular-expression-python/</a:t>
            </a:r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670004378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https://docs.python.org/3/library/re.html</a:t>
            </a:r>
          </a:p>
          <a:p>
            <a:endParaRPr lang="en-US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https://tproger.ru/translations/regular-expression-python/</a:t>
            </a:r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10897774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https://docs.python.org/3/library/re.html</a:t>
            </a:r>
          </a:p>
          <a:p>
            <a:endParaRPr lang="en-US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https://tproger.ru/translations/regular-expression-python/</a:t>
            </a:r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928904694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https://docs.python.org/3/library/re.html</a:t>
            </a:r>
          </a:p>
          <a:p>
            <a:endParaRPr lang="en-US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https://tproger.ru/translations/regular-expression-python/</a:t>
            </a:r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910815354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0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NumPy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это </a:t>
            </a:r>
            <a:r>
              <a:rPr lang="ru-RU" sz="10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open-source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модуль для </a:t>
            </a:r>
            <a:r>
              <a:rPr lang="ru-RU" sz="10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который предоставляет общие математические и числовые операции в виде пре-скомпилированных, быстрых функций. Они объединяются в высокоуровневые пакеты. Обеспечивают функционал, который можно сравнить с функционалом </a:t>
            </a:r>
            <a:r>
              <a:rPr lang="ru-RU" sz="10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MatLab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ru-RU" sz="10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NumPy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ru-RU" sz="10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Numeric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Python) предоставляет базовые методы для манипуляции с большими массивами и матрицами. </a:t>
            </a:r>
            <a:r>
              <a:rPr lang="ru-RU" sz="10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SciPy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ru-RU" sz="10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Scientific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Python) расширяет функционал </a:t>
            </a:r>
            <a:r>
              <a:rPr lang="ru-RU" sz="10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numpy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огромной коллекцией полезных алгоритмов, таких как минимизация, преобразование Фурье, регрессия, и другие прикладные математические техники.</a:t>
            </a:r>
            <a:endParaRPr lang="ru-RU" sz="8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08495764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0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NumPy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это </a:t>
            </a:r>
            <a:r>
              <a:rPr lang="ru-RU" sz="10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open-source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модуль для </a:t>
            </a:r>
            <a:r>
              <a:rPr lang="ru-RU" sz="10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который предоставляет общие математические и числовые операции в виде пре-скомпилированных, быстрых функций. Они объединяются в высокоуровневые пакеты. Обеспечивают функционал, который можно сравнить с функционалом </a:t>
            </a:r>
            <a:r>
              <a:rPr lang="ru-RU" sz="10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MatLab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ru-RU" sz="10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NumPy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ru-RU" sz="10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Numeric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Python) предоставляет базовые методы для манипуляции с большими массивами и матрицами. </a:t>
            </a:r>
            <a:r>
              <a:rPr lang="ru-RU" sz="10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SciPy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ru-RU" sz="10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Scientific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Python) расширяет функционал </a:t>
            </a:r>
            <a:r>
              <a:rPr lang="ru-RU" sz="10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numpy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огромной коллекцией полезных алгоритмов, таких как минимизация, преобразование Фурье, регрессия, и другие прикладные математические техники.</a:t>
            </a:r>
            <a:endParaRPr lang="ru-RU" sz="8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380981913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https://pythonru.com/biblioteki/biblioteka-numpy-ndarray-sozdanie-massiva-i-tipy-dannyh</a:t>
            </a:r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17515855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570538387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7241807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44182414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76820940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507740402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52566641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509852075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89244986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423146056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1898893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05637360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86305127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439353095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18405102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078550529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74122798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42014290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541121214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19190482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72585800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622645101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570749169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970212436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544209013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588092000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615834846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104799648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088763309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6881694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10586674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9959783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https://pythonru.com/biblioteki/scipy-python</a:t>
            </a:r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49273309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https://pythonru.com/biblioteki/scipy-python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411883961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https://pythonru.com/biblioteki/scipy-python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117590457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http://matplotlib.org/users/screenshots.html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http://matplotlib.org/gallery.html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https://spapas.github.io/2021/02/08/django-matplotlib/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https://www.youtube.com/watch?v=f1EYHGiaUEs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https://www.youtube.com/watch?v=04L0BbAcCpQ</a:t>
            </a:r>
          </a:p>
          <a:p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Matplotlib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распространяется на условиях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BSD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-подобной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лицензии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Библиотека поддерживает двумерную (2D) и трехмерную (3D) графику, а также анимированные рисунки.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Создаваемые изображения могут быть использованы в мультимедийных приложениях, научных проектах, а также различных документах, публикациях и веб-приложениях. Исторически библиотека формировалась под влиянием математического пакета </a:t>
            </a:r>
            <a:r>
              <a:rPr lang="ru-RU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Matlab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но являлась и является независимым от него проектом. Построенная на принципах ООП, библиотека также имеет процедурный интерфейс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pylab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который предоставляет аналоги команд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Matlab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Последняя стабильная версия библиотеки поддерживает Python 2.6 и выше.</a:t>
            </a:r>
          </a:p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192629808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63287057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http://matplotlib.org/users/installing.html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matplotlib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все объекты организованы в единую иерархию: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вершине иерархии находится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конечный автомат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(модель, число возможных внутренних состояний которой конечно), предоставляемый модулем 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matplotlib.pyplot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На данном уровне все функции, используемые для рисования диаграмм (линии, рисунки, текст и т.д.) применяются к текущему изображению.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уровне ниже располагается объектно-ориентированный интерфейс, используемый для создания изображений, где объектами являются само изображение, оси координат, графические примитивы и т.д.</a:t>
            </a:r>
          </a:p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62514561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NumPy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фундаментальный пакет для научных вычислений на Python, который содержит: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мощный объект - многомерный массив (в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т.ч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матрицы);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высокоуровневые функции для работы с массивами, линейной алгеброй и а также быстрого создания набора данных (примерный аналог - функция </a:t>
            </a:r>
            <a:r>
              <a:rPr lang="ru-RU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range"/>
              </a:rPr>
              <a:t>range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range"/>
              </a:rPr>
              <a:t>()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);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инструменты для интеграции кода на C/C++ и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Fortran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522376879"/>
      </p:ext>
    </p:extLst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540818315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57416068"/>
      </p:ext>
    </p:extLst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88292355"/>
      </p:ext>
    </p:extLst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63529285"/>
      </p:ext>
    </p:extLst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1323206"/>
      </p:ext>
    </p:extLst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57944641"/>
      </p:ext>
    </p:extLst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00208383"/>
      </p:ext>
    </p:extLst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511206935"/>
      </p:ext>
    </p:extLst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86363791"/>
      </p:ext>
    </p:extLst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330938818"/>
      </p:ext>
    </p:extLst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50554623"/>
      </p:ext>
    </p:extLst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577566864"/>
      </p:ext>
    </p:extLst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098663715"/>
      </p:ext>
    </p:extLst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031580059"/>
      </p:ext>
    </p:extLst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9432819"/>
      </p:ext>
    </p:extLst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Текст в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matplotlib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поддерживает известный научный формат </a:t>
            </a:r>
            <a:r>
              <a:rPr lang="ru-RU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TeX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(произносится как «тех»), позволяющий записывать сложные математические выражения.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67246220"/>
      </p:ext>
    </p:extLst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Текст в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matplotlib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поддерживает известный научный формат </a:t>
            </a:r>
            <a:r>
              <a:rPr lang="ru-RU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TeX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(произносится как «тех»), позволяющий записывать сложные математические выражения.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200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30754042"/>
      </p:ext>
    </p:extLst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201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10032864"/>
      </p:ext>
    </p:extLst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import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numpy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 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np</a:t>
            </a:r>
            <a:endParaRPr lang="en-US" sz="1200" b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import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matplotlib</a:t>
            </a:r>
            <a:endParaRPr lang="en-US" sz="1200" b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import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matplotlib</a:t>
            </a:r>
            <a:r>
              <a:rPr lang="en-US" sz="1200" b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pyplot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plt</a:t>
            </a:r>
            <a:endParaRPr lang="en-US" sz="1200" b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__name__ == "__main__":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x =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np</a:t>
            </a:r>
            <a:r>
              <a:rPr lang="en-US" sz="1200" b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arange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(-8, 3, 0.1)  </a:t>
            </a:r>
            <a:r>
              <a:rPr lang="en-US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x - 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массив </a:t>
            </a:r>
            <a:r>
              <a:rPr lang="en-US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np.array</a:t>
            </a:r>
            <a:endParaRPr lang="en-US" sz="1200" b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y1 = 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abs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(x**2 + 4*x - 5)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y2 = [9] *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len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(x)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fig, (ax1, ax2) =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plt</a:t>
            </a:r>
            <a:r>
              <a:rPr lang="en-US" sz="1200" b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subplots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b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ncols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=2)  </a:t>
            </a:r>
            <a:r>
              <a:rPr lang="en-US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2 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диаграммы по горизонтали</a:t>
            </a:r>
            <a:endParaRPr lang="ru-RU" sz="1200" b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1) 1-й график</a:t>
            </a:r>
            <a:endParaRPr lang="ru-RU" sz="1200" b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Настройки диаграммы и осей</a:t>
            </a:r>
            <a:endParaRPr lang="ru-RU" sz="1200" b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ax1.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set_title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</a:t>
            </a:r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Графики функций: экстремум")</a:t>
            </a:r>
          </a:p>
          <a:p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ax1.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set_xlabel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</a:t>
            </a:r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Ось абсцисс")</a:t>
            </a:r>
          </a:p>
          <a:p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ax1.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set_ylabel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</a:t>
            </a:r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Ось ординат")</a:t>
            </a:r>
          </a:p>
          <a:p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ax1.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grid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(True)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2 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графика</a:t>
            </a:r>
            <a:endParaRPr lang="ru-RU" sz="1200" b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ax1.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plot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(x, y1, 'r', linewidth=3, label="</a:t>
            </a:r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Парабола")</a:t>
            </a:r>
          </a:p>
          <a:p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ax1.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plot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(x, y2, label="</a:t>
            </a:r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Линия")</a:t>
            </a:r>
          </a:p>
          <a:p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Аннотации и текст</a:t>
            </a:r>
            <a:endParaRPr lang="ru-RU" sz="1200" b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ax1.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annotate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(r"</a:t>
            </a:r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Экстремум функции = $\</a:t>
            </a:r>
            <a:r>
              <a:rPr lang="en-US" sz="1200" b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frac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{-b}{2a} = \</a:t>
            </a:r>
            <a:r>
              <a:rPr lang="en-US" sz="1200" b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frac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{-4}{2} = -2$",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    </a:t>
            </a:r>
            <a:r>
              <a:rPr lang="en-US" sz="1200" b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xy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=(-2, 9), </a:t>
            </a:r>
            <a:r>
              <a:rPr lang="en-US" sz="1200" b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xytext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=(-4.8, 15.5),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    </a:t>
            </a:r>
            <a:r>
              <a:rPr lang="en-US" sz="1200" b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arrowprops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dict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b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facecolor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="black", shrink=0.05))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ax1.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(-7, 24.5, "</a:t>
            </a:r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диаграмме 2 графика:\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</a:t>
            </a:r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парабола и линия экстремума")</a:t>
            </a:r>
          </a:p>
          <a:p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Легенда</a:t>
            </a:r>
            <a:endParaRPr lang="ru-RU" sz="1200" b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ax1.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legend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2) 2-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й график</a:t>
            </a:r>
            <a:endParaRPr lang="ru-RU" sz="1200" b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Настройки диаграммы и осей</a:t>
            </a:r>
            <a:endParaRPr lang="ru-RU" sz="1200" b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ax2.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set_title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</a:t>
            </a:r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Графики функций: корни уравнения")</a:t>
            </a:r>
          </a:p>
          <a:p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3 графика</a:t>
            </a:r>
            <a:endParaRPr lang="ru-RU" sz="1200" b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y2 = 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list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range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(-20, 21))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x2 = [-5] *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len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(y2)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x3 = [1] *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len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(y2)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ax2.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plot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(x, y1, linewidth=3, label="</a:t>
            </a:r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Парабола")</a:t>
            </a:r>
          </a:p>
          <a:p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ax2.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plot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(x2, y2, label="</a:t>
            </a:r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Корень 1")</a:t>
            </a:r>
          </a:p>
          <a:p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ax2.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plot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(x3, y2, label="</a:t>
            </a:r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Корень 2")</a:t>
            </a:r>
          </a:p>
          <a:p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Аннотации и текст</a:t>
            </a:r>
            <a:endParaRPr lang="ru-RU" sz="1200" b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ax2.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(-2, 27, "</a:t>
            </a:r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диаграмме 3 графика:\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</a:t>
            </a:r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парабола и корни",</a:t>
            </a:r>
          </a:p>
          <a:p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 </a:t>
            </a:r>
            <a:r>
              <a:rPr lang="en-US" sz="1200" b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horizontalalignment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="center")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ax2.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annotate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</a:t>
            </a:r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Корень 1 = -5", </a:t>
            </a:r>
            <a:r>
              <a:rPr lang="en-US" sz="1200" b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xy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=(-5, -1.5), </a:t>
            </a:r>
            <a:r>
              <a:rPr lang="en-US" sz="1200" b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xytext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=(-10, -5),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     </a:t>
            </a:r>
            <a:r>
              <a:rPr lang="en-US" sz="1200" b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arrowprops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dict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        </a:t>
            </a:r>
            <a:r>
              <a:rPr lang="en-US" sz="1200" b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facecolor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="black", </a:t>
            </a:r>
            <a:r>
              <a:rPr lang="en-US" sz="1200" b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connectionstyle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="angle3",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        </a:t>
            </a:r>
            <a:r>
              <a:rPr lang="en-US" sz="1200" b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arrowstyle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="-&gt;"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    ))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ax2.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annotate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</a:t>
            </a:r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Корень 2 = 1", </a:t>
            </a:r>
            <a:r>
              <a:rPr lang="en-US" sz="1200" b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xy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=(1, -1.5), </a:t>
            </a:r>
            <a:r>
              <a:rPr lang="en-US" sz="1200" b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xytext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=(2, -8),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     </a:t>
            </a:r>
            <a:r>
              <a:rPr lang="en-US" sz="1200" b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arrowprops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dict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        </a:t>
            </a:r>
            <a:r>
              <a:rPr lang="en-US" sz="1200" b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facecolor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="black", </a:t>
            </a:r>
            <a:r>
              <a:rPr lang="en-US" sz="1200" b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connectionstyle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="angle3",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        </a:t>
            </a:r>
            <a:r>
              <a:rPr lang="en-US" sz="1200" b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arrowstyle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="-&gt;"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    ))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ax2.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set_xlim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(-10, 10)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ax2.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set_ylim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(-10, 10)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ax2.spines["left"].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set_position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("center")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ax2.spines["bottom"].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set_position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("center")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ax2.spines['top'].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set_visible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(False)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ax2.spines['right'].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set_visible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(False)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Легенда</a:t>
            </a:r>
            <a:endParaRPr lang="ru-RU" sz="1200" b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ax2.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legend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b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="best")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plt</a:t>
            </a:r>
            <a:r>
              <a:rPr lang="en-US" sz="1200" b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show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</a:t>
            </a:r>
          </a:p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202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02455611"/>
      </p:ext>
    </p:extLst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203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171796415"/>
      </p:ext>
    </p:extLst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204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573232872"/>
      </p:ext>
    </p:extLst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205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015067120"/>
      </p:ext>
    </p:extLst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206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74828771"/>
      </p:ext>
    </p:extLst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207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39645870"/>
      </p:ext>
    </p:extLst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208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1491836"/>
      </p:ext>
    </p:extLst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209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286952331"/>
      </p:ext>
    </p:extLst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210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822364392"/>
      </p:ext>
    </p:extLst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211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416879479"/>
      </p:ext>
    </p:extLst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212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93529332"/>
      </p:ext>
    </p:extLst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213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402457840"/>
      </p:ext>
    </p:extLst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214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276220319"/>
      </p:ext>
    </p:extLst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215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946950326"/>
      </p:ext>
    </p:extLst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216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652868665"/>
      </p:ext>
    </p:extLst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217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184023089"/>
      </p:ext>
    </p:extLst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218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86776680"/>
      </p:ext>
    </p:extLst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219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250725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AE0A-37F8-43B6-8A56-4BDD2B51FA78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755-7084-4254-A2EF-6950312A7CC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46876666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AE0A-37F8-43B6-8A56-4BDD2B51FA78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755-7084-4254-A2EF-6950312A7CC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11958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AE0A-37F8-43B6-8A56-4BDD2B51FA78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755-7084-4254-A2EF-6950312A7CC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4062813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AE0A-37F8-43B6-8A56-4BDD2B51FA78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755-7084-4254-A2EF-6950312A7CC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105802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AE0A-37F8-43B6-8A56-4BDD2B51FA78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755-7084-4254-A2EF-6950312A7CC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79522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AE0A-37F8-43B6-8A56-4BDD2B51FA78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755-7084-4254-A2EF-6950312A7CC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58294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AE0A-37F8-43B6-8A56-4BDD2B51FA78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755-7084-4254-A2EF-6950312A7CC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742958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642AE0A-37F8-43B6-8A56-4BDD2B51FA78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B6A1755-7084-4254-A2EF-6950312A7CC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489951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AE0A-37F8-43B6-8A56-4BDD2B51FA78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755-7084-4254-A2EF-6950312A7CC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506344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AE0A-37F8-43B6-8A56-4BDD2B51FA78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755-7084-4254-A2EF-6950312A7CC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702933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AE0A-37F8-43B6-8A56-4BDD2B51FA78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755-7084-4254-A2EF-6950312A7CC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88857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642AE0A-37F8-43B6-8A56-4BDD2B51FA78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7B6A1755-7084-4254-A2EF-6950312A7CC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595273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ru.wikipedia.org/wiki/%D0%9C%D0%BE%D0%B4%D1%83%D0%BB%D1%8C%D0%BD%D0%BE%D0%B5_%D0%BF%D1%80%D0%BE%D0%B3%D1%80%D0%B0%D0%BC%D0%BC%D0%B8%D1%80%D0%BE%D0%B2%D0%B0%D0%BD%D0%B8%D0%B5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ru.wikipedia.org/wiki/%D0%9F%D1%80%D0%BE%D1%81%D1%82%D1%80%D0%B0%D0%BD%D1%81%D1%82%D0%B2%D0%BE_%D0%B8%D0%BC%D1%91%D0%BD_(%D0%BF%D1%80%D0%BE%D0%B3%D1%80%D0%B0%D0%BC%D0%BC%D0%B8%D1%80%D0%BE%D0%B2%D0%B0%D0%BD%D0%B8%D0%B5)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ru.wikipedia.org/wiki/%D0%9F%D0%B0%D0%BA%D0%B5%D1%82_%D0%BF%D1%80%D0%B8%D0%BA%D0%BB%D0%B0%D0%B4%D0%BD%D1%8B%D1%85_%D0%BF%D1%80%D0%BE%D0%B3%D1%80%D0%B0%D0%BC%D0%BC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ru.wikipedia.org/wiki/%D0%9F%D1%80%D0%B5%D0%B4%D0%BC%D0%B5%D1%82%D0%BD%D0%B0%D1%8F_%D0%BE%D0%B1%D0%BB%D0%B0%D1%81%D1%82%D1%8C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cs.python.org/3/library/xml.html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uripetrov.ru/edu/python/ch_08_01.html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uripetrov.ru/edu/python/ch_11_01.html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pypi.python.org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yuripetrov.ru/edu/python/ch_08_01.html" TargetMode="External"/><Relationship Id="rId4" Type="http://schemas.openxmlformats.org/officeDocument/2006/relationships/hyperlink" Target="https://www.yuripetrov.ru/edu/python/ch_11_01.html" TargetMode="Externa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uripetrov.ru/edu/python/ch_01_01.html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ru.wikipedia.org/wiki/%D0%94%D0%B5%D0%BA%D0%BE%D0%BC%D0%BF%D0%B8%D0%BB%D1%8F%D1%82%D0%BE%D1%80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yuripetrov.ru/edu/python/ch_05_01.html" TargetMode="External"/><Relationship Id="rId4" Type="http://schemas.openxmlformats.org/officeDocument/2006/relationships/hyperlink" Target="https://ru.wikipedia.org/wiki/Snake_case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uripetrov.ru/edu/python/ch_09_01.html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statistics.html" TargetMode="External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ru.wikipedia.org/wiki/%D0%94%D0%B8%D1%81%D0%BF%D0%B5%D1%80%D1%81%D0%B8%D1%8F_%D1%81%D0%BB%D1%83%D1%87%D0%B0%D0%B9%D0%BD%D0%BE%D0%B9_%D0%B2%D0%B5%D0%BB%D0%B8%D1%87%D0%B8%D0%BD%D1%8B" TargetMode="External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ru.wikipedia.org/wiki/%D0%A1%D1%80%D0%B5%D0%B4%D0%BD%D0%B5%D0%BA%D0%B2%D0%B0%D0%B4%D1%80%D0%B0%D1%82%D0%B8%D1%87%D0%B5%D1%81%D0%BA%D0%BE%D0%B5_%D0%BE%D1%82%D0%BA%D0%BB%D0%BE%D0%BD%D0%B5%D0%BD%D0%B8%D0%B5" TargetMode="External"/><Relationship Id="rId5" Type="http://schemas.openxmlformats.org/officeDocument/2006/relationships/hyperlink" Target="https://ru.wikipedia.org/wiki/%D0%93%D0%B5%D0%BD%D0%B5%D1%80%D0%B0%D0%BB%D1%8C%D0%BD%D0%B0%D1%8F_%D1%81%D0%BE%D0%B2%D0%BE%D0%BA%D1%83%D0%BF%D0%BD%D0%BE%D1%81%D1%82%D1%8C" TargetMode="External"/><Relationship Id="rId4" Type="http://schemas.openxmlformats.org/officeDocument/2006/relationships/hyperlink" Target="https://ru.wikipedia.org/wiki/%D0%92%D1%8B%D0%B1%D0%BE%D1%80%D0%BA%D0%B0" TargetMode="Externa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python.org/3/library/locale.html" TargetMode="External"/><Relationship Id="rId3" Type="http://schemas.openxmlformats.org/officeDocument/2006/relationships/hyperlink" Target="https://docs.python.org/3/library/datetime.html" TargetMode="External"/><Relationship Id="rId7" Type="http://schemas.openxmlformats.org/officeDocument/2006/relationships/hyperlink" Target="https://ru.wikipedia.org/wiki/Tz_database" TargetMode="External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pytz.sourceforge.net/" TargetMode="External"/><Relationship Id="rId5" Type="http://schemas.openxmlformats.org/officeDocument/2006/relationships/hyperlink" Target="https://docs.python.org/3/library/calendar.html" TargetMode="External"/><Relationship Id="rId4" Type="http://schemas.openxmlformats.org/officeDocument/2006/relationships/hyperlink" Target="https://docs.python.org/3/library/time.html" TargetMode="External"/><Relationship Id="rId9" Type="http://schemas.openxmlformats.org/officeDocument/2006/relationships/hyperlink" Target="https://ru.wikipedia.org/wiki/%D0%9B%D0%BE%D0%BA%D0%B0%D0%BB%D1%8C" TargetMode="Externa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datetime.html" TargetMode="External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ru.wikipedia.org/wiki/%D0%92%D1%81%D0%B5%D0%BC%D0%B8%D1%80%D0%BD%D0%BE%D0%B5_%D0%BA%D0%BE%D0%BE%D1%80%D0%B4%D0%B8%D0%BD%D0%B8%D1%80%D0%BE%D0%B2%D0%B0%D0%BD%D0%BD%D0%BE%D0%B5_%D0%B2%D1%80%D0%B5%D0%BC%D1%8F" TargetMode="External"/><Relationship Id="rId4" Type="http://schemas.openxmlformats.org/officeDocument/2006/relationships/hyperlink" Target="https://ru.wikipedia.org/wiki/%D0%93%D1%80%D0%B8%D0%B3%D0%BE%D1%80%D0%B8%D0%B0%D0%BD%D1%81%D0%BA%D0%B8%D0%B9_%D0%BA%D0%B0%D0%BB%D0%B5%D0%BD%D0%B4%D0%B0%D1%80%D1%8C" TargetMode="Externa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hyperlink" Target="https://ru.wikipedia.org/wiki/ISO_8601" TargetMode="External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Moscow_Time" TargetMode="External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ru.wikipedia.org/wiki/%D0%A1%D0%B5%D0%B2%D0%B5%D1%80%D0%BE%D0%B0%D0%BC%D0%B5%D1%80%D0%B8%D0%BA%D0%B0%D0%BD%D1%81%D0%BA%D0%BE%D0%B5_%D0%B2%D0%BE%D1%81%D1%82%D0%BE%D1%87%D0%BD%D0%BE%D0%B5_%D0%B2%D1%80%D0%B5%D0%BC%D1%8F" TargetMode="Externa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hyperlink" Target="https://ru.wikipedia.org/wiki/%D0%9B%D0%BE%D0%BA%D0%B0%D0%BB%D1%8C" TargetMode="External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png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hyperlink" Target="https://ru.wikipedia.org/wiki/Tz_database" TargetMode="External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2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5.png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hyperlink" Target="https://regex101.com/" TargetMode="External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uripetrov.ru/edu/python/ch_11_01.html" TargetMode="External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png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7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image" Target="../media/image73.png"/><Relationship Id="rId7" Type="http://schemas.openxmlformats.org/officeDocument/2006/relationships/image" Target="../media/image77.png"/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2.png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5.png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1.png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3.png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6.png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6.png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9.png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1.png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3.png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7.png"/><Relationship Id="rId5" Type="http://schemas.openxmlformats.org/officeDocument/2006/relationships/image" Target="../media/image106.png"/><Relationship Id="rId4" Type="http://schemas.openxmlformats.org/officeDocument/2006/relationships/image" Target="../media/image105.png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0.png"/><Relationship Id="rId4" Type="http://schemas.openxmlformats.org/officeDocument/2006/relationships/image" Target="../media/image109.png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habr.com/ru/companies/rosbank/articles/765538/" TargetMode="Externa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7.xml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3.png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6.png"/><Relationship Id="rId4" Type="http://schemas.openxmlformats.org/officeDocument/2006/relationships/image" Target="../media/image115.png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7.xml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9.png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7.xml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notesSlide" Target="../notesSlides/notesSlide149.xml"/><Relationship Id="rId1" Type="http://schemas.openxmlformats.org/officeDocument/2006/relationships/slideLayout" Target="../slideLayouts/slideLayout7.xml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notesSlide" Target="../notesSlides/notesSlide150.xml"/><Relationship Id="rId1" Type="http://schemas.openxmlformats.org/officeDocument/2006/relationships/slideLayout" Target="../slideLayouts/slideLayout7.xml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notesSlide" Target="../notesSlides/notesSlide151.xml"/><Relationship Id="rId1" Type="http://schemas.openxmlformats.org/officeDocument/2006/relationships/slideLayout" Target="../slideLayouts/slideLayout7.xml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notesSlide" Target="../notesSlides/notesSlide152.xml"/><Relationship Id="rId1" Type="http://schemas.openxmlformats.org/officeDocument/2006/relationships/slideLayout" Target="../slideLayouts/slideLayout7.xml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notesSlide" Target="../notesSlides/notesSlide153.xml"/><Relationship Id="rId1" Type="http://schemas.openxmlformats.org/officeDocument/2006/relationships/slideLayout" Target="../slideLayouts/slideLayout7.xml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notesSlide" Target="../notesSlides/notesSlide154.xml"/><Relationship Id="rId1" Type="http://schemas.openxmlformats.org/officeDocument/2006/relationships/slideLayout" Target="../slideLayouts/slideLayout7.xml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notesSlide" Target="../notesSlides/notesSlide155.xml"/><Relationship Id="rId1" Type="http://schemas.openxmlformats.org/officeDocument/2006/relationships/slideLayout" Target="../slideLayouts/slideLayout7.xml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notesSlide" Target="../notesSlides/notesSlide156.xml"/><Relationship Id="rId1" Type="http://schemas.openxmlformats.org/officeDocument/2006/relationships/slideLayout" Target="../slideLayouts/slideLayout7.xml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notesSlide" Target="../notesSlides/notesSlide15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0.png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notesSlide" Target="../notesSlides/notesSlide158.xml"/><Relationship Id="rId1" Type="http://schemas.openxmlformats.org/officeDocument/2006/relationships/slideLayout" Target="../slideLayouts/slideLayout7.xml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notesSlide" Target="../notesSlides/notesSlide15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3.png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notesSlide" Target="../notesSlides/notesSlide160.xml"/><Relationship Id="rId1" Type="http://schemas.openxmlformats.org/officeDocument/2006/relationships/slideLayout" Target="../slideLayouts/slideLayout7.xml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notesSlide" Target="../notesSlides/notesSlide16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6.png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2" Type="http://schemas.openxmlformats.org/officeDocument/2006/relationships/notesSlide" Target="../notesSlides/notesSlide16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9.png"/><Relationship Id="rId4" Type="http://schemas.openxmlformats.org/officeDocument/2006/relationships/image" Target="../media/image138.png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notesSlide" Target="../notesSlides/notesSlide16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1.png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notesSlide" Target="../notesSlides/notesSlide16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5.png"/><Relationship Id="rId5" Type="http://schemas.openxmlformats.org/officeDocument/2006/relationships/image" Target="../media/image144.png"/><Relationship Id="rId4" Type="http://schemas.openxmlformats.org/officeDocument/2006/relationships/image" Target="../media/image143.png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notesSlide" Target="../notesSlides/notesSlide16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7.png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openxmlformats.org/officeDocument/2006/relationships/notesSlide" Target="../notesSlides/notesSlide16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0.png"/><Relationship Id="rId4" Type="http://schemas.openxmlformats.org/officeDocument/2006/relationships/image" Target="../media/image149.png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7" Type="http://schemas.openxmlformats.org/officeDocument/2006/relationships/image" Target="../media/image155.png"/><Relationship Id="rId2" Type="http://schemas.openxmlformats.org/officeDocument/2006/relationships/notesSlide" Target="../notesSlides/notesSlide16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4.png"/><Relationship Id="rId5" Type="http://schemas.openxmlformats.org/officeDocument/2006/relationships/image" Target="../media/image153.png"/><Relationship Id="rId4" Type="http://schemas.openxmlformats.org/officeDocument/2006/relationships/image" Target="../media/image152.png"/></Relationships>
</file>

<file path=ppt/slides/_rels/slide1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png"/><Relationship Id="rId2" Type="http://schemas.openxmlformats.org/officeDocument/2006/relationships/notesSlide" Target="../notesSlides/notesSlide16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7.png"/></Relationships>
</file>

<file path=ppt/slides/_rels/slide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png"/><Relationship Id="rId2" Type="http://schemas.openxmlformats.org/officeDocument/2006/relationships/notesSlide" Target="../notesSlides/notesSlide16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9.png"/></Relationships>
</file>

<file path=ppt/slides/_rels/slide1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7" Type="http://schemas.openxmlformats.org/officeDocument/2006/relationships/image" Target="../media/image164.png"/><Relationship Id="rId2" Type="http://schemas.openxmlformats.org/officeDocument/2006/relationships/notesSlide" Target="../notesSlides/notesSlide17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3.png"/><Relationship Id="rId5" Type="http://schemas.openxmlformats.org/officeDocument/2006/relationships/image" Target="../media/image162.png"/><Relationship Id="rId4" Type="http://schemas.openxmlformats.org/officeDocument/2006/relationships/image" Target="../media/image161.png"/></Relationships>
</file>

<file path=ppt/slides/_rels/slide1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5.png"/><Relationship Id="rId2" Type="http://schemas.openxmlformats.org/officeDocument/2006/relationships/notesSlide" Target="../notesSlides/notesSlide17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8.png"/><Relationship Id="rId5" Type="http://schemas.openxmlformats.org/officeDocument/2006/relationships/image" Target="../media/image167.png"/><Relationship Id="rId4" Type="http://schemas.openxmlformats.org/officeDocument/2006/relationships/image" Target="../media/image166.png"/></Relationships>
</file>

<file path=ppt/slides/_rels/slide1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png"/><Relationship Id="rId2" Type="http://schemas.openxmlformats.org/officeDocument/2006/relationships/notesSlide" Target="../notesSlides/notesSlide172.xml"/><Relationship Id="rId1" Type="http://schemas.openxmlformats.org/officeDocument/2006/relationships/slideLayout" Target="../slideLayouts/slideLayout7.xml"/></Relationships>
</file>

<file path=ppt/slides/_rels/slide1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notesSlide" Target="../notesSlides/notesSlide173.xml"/><Relationship Id="rId1" Type="http://schemas.openxmlformats.org/officeDocument/2006/relationships/slideLayout" Target="../slideLayouts/slideLayout7.xml"/></Relationships>
</file>

<file path=ppt/slides/_rels/slide1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png"/><Relationship Id="rId2" Type="http://schemas.openxmlformats.org/officeDocument/2006/relationships/notesSlide" Target="../notesSlides/notesSlide174.xml"/><Relationship Id="rId1" Type="http://schemas.openxmlformats.org/officeDocument/2006/relationships/slideLayout" Target="../slideLayouts/slideLayout7.xml"/></Relationships>
</file>

<file path=ppt/slides/_rels/slide1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png"/><Relationship Id="rId2" Type="http://schemas.openxmlformats.org/officeDocument/2006/relationships/notesSlide" Target="../notesSlides/notesSlide175.xml"/><Relationship Id="rId1" Type="http://schemas.openxmlformats.org/officeDocument/2006/relationships/slideLayout" Target="../slideLayouts/slideLayout7.xml"/></Relationships>
</file>

<file path=ppt/slides/_rels/slide1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png"/><Relationship Id="rId2" Type="http://schemas.openxmlformats.org/officeDocument/2006/relationships/notesSlide" Target="../notesSlides/notesSlide17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3.png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7.xml"/><Relationship Id="rId1" Type="http://schemas.openxmlformats.org/officeDocument/2006/relationships/slideLayout" Target="../slideLayouts/slideLayout7.xml"/></Relationships>
</file>

<file path=ppt/slides/_rels/slide17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scipy.org/doc/scipy/reference/tutorial/" TargetMode="External"/><Relationship Id="rId2" Type="http://schemas.openxmlformats.org/officeDocument/2006/relationships/notesSlide" Target="../notesSlides/notesSlide178.xml"/><Relationship Id="rId1" Type="http://schemas.openxmlformats.org/officeDocument/2006/relationships/slideLayout" Target="../slideLayouts/slideLayout7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9.xml"/><Relationship Id="rId1" Type="http://schemas.openxmlformats.org/officeDocument/2006/relationships/slideLayout" Target="../slideLayouts/slideLayout7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0.xml"/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1.xml"/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png"/><Relationship Id="rId2" Type="http://schemas.openxmlformats.org/officeDocument/2006/relationships/notesSlide" Target="../notesSlides/notesSlide18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matplotlib.org/2.0.2/mpl_examples/images_contours_and_fields/streamplot_demo_features.py" TargetMode="External"/><Relationship Id="rId4" Type="http://schemas.openxmlformats.org/officeDocument/2006/relationships/hyperlink" Target="http://matplotlib.org/users/screenshots.html" TargetMode="Externa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3.xml"/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4.xml"/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5.png"/><Relationship Id="rId2" Type="http://schemas.openxmlformats.org/officeDocument/2006/relationships/notesSlide" Target="../notesSlides/notesSlide185.xml"/><Relationship Id="rId1" Type="http://schemas.openxmlformats.org/officeDocument/2006/relationships/slideLayout" Target="../slideLayouts/slideLayout7.xml"/></Relationships>
</file>

<file path=ppt/slides/_rels/slide1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6.xml"/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7.xml"/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png"/><Relationship Id="rId2" Type="http://schemas.openxmlformats.org/officeDocument/2006/relationships/notesSlide" Target="../notesSlides/notesSlide188.xml"/><Relationship Id="rId1" Type="http://schemas.openxmlformats.org/officeDocument/2006/relationships/slideLayout" Target="../slideLayouts/slideLayout2.xml"/></Relationships>
</file>

<file path=ppt/slides/_rels/slide1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7.png"/><Relationship Id="rId2" Type="http://schemas.openxmlformats.org/officeDocument/2006/relationships/notesSlide" Target="../notesSlides/notesSlide189.xml"/><Relationship Id="rId1" Type="http://schemas.openxmlformats.org/officeDocument/2006/relationships/slideLayout" Target="../slideLayouts/slideLayout2.xml"/></Relationships>
</file>

<file path=ppt/slides/_rels/slide1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png"/><Relationship Id="rId2" Type="http://schemas.openxmlformats.org/officeDocument/2006/relationships/notesSlide" Target="../notesSlides/notesSlide190.xml"/><Relationship Id="rId1" Type="http://schemas.openxmlformats.org/officeDocument/2006/relationships/slideLayout" Target="../slideLayouts/slideLayout2.xml"/></Relationships>
</file>

<file path=ppt/slides/_rels/slide191.xml.rels><?xml version="1.0" encoding="UTF-8" standalone="yes"?>
<Relationships xmlns="http://schemas.openxmlformats.org/package/2006/relationships"><Relationship Id="rId3" Type="http://schemas.openxmlformats.org/officeDocument/2006/relationships/hyperlink" Target="http://matplotlib.org/api/pyplot_api.html" TargetMode="External"/><Relationship Id="rId2" Type="http://schemas.openxmlformats.org/officeDocument/2006/relationships/notesSlide" Target="../notesSlides/notesSlide191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matplotlib.org/2.0.2/api/pyplot_api.html" TargetMode="External"/></Relationships>
</file>

<file path=ppt/slides/_rels/slide1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2.xml"/><Relationship Id="rId1" Type="http://schemas.openxmlformats.org/officeDocument/2006/relationships/slideLayout" Target="../slideLayouts/slideLayout7.xml"/></Relationships>
</file>

<file path=ppt/slides/_rels/slide193.xml.rels><?xml version="1.0" encoding="UTF-8" standalone="yes"?>
<Relationships xmlns="http://schemas.openxmlformats.org/package/2006/relationships"><Relationship Id="rId3" Type="http://schemas.openxmlformats.org/officeDocument/2006/relationships/hyperlink" Target="https://ru.wikipedia.org/wiki/Dpi" TargetMode="External"/><Relationship Id="rId2" Type="http://schemas.openxmlformats.org/officeDocument/2006/relationships/notesSlide" Target="../notesSlides/notesSlide193.xml"/><Relationship Id="rId1" Type="http://schemas.openxmlformats.org/officeDocument/2006/relationships/slideLayout" Target="../slideLayouts/slideLayout2.xml"/></Relationships>
</file>

<file path=ppt/slides/_rels/slide19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uripetrov.ru/edu/python/ch_03_01.html" TargetMode="External"/><Relationship Id="rId2" Type="http://schemas.openxmlformats.org/officeDocument/2006/relationships/notesSlide" Target="../notesSlides/notesSlide194.xml"/><Relationship Id="rId1" Type="http://schemas.openxmlformats.org/officeDocument/2006/relationships/slideLayout" Target="../slideLayouts/slideLayout2.xml"/></Relationships>
</file>

<file path=ppt/slides/_rels/slide1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9.png"/><Relationship Id="rId2" Type="http://schemas.openxmlformats.org/officeDocument/2006/relationships/notesSlide" Target="../notesSlides/notesSlide195.xml"/><Relationship Id="rId1" Type="http://schemas.openxmlformats.org/officeDocument/2006/relationships/slideLayout" Target="../slideLayouts/slideLayout2.xml"/></Relationships>
</file>

<file path=ppt/slides/_rels/slide1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notesSlide" Target="../notesSlides/notesSlide196.xml"/><Relationship Id="rId1" Type="http://schemas.openxmlformats.org/officeDocument/2006/relationships/slideLayout" Target="../slideLayouts/slideLayout2.xml"/></Relationships>
</file>

<file path=ppt/slides/_rels/slide197.xml.rels><?xml version="1.0" encoding="UTF-8" standalone="yes"?>
<Relationships xmlns="http://schemas.openxmlformats.org/package/2006/relationships"><Relationship Id="rId3" Type="http://schemas.openxmlformats.org/officeDocument/2006/relationships/hyperlink" Target="http://matplotlib.org/api/_as_gen/matplotlib.axes.Axes.grid.html" TargetMode="External"/><Relationship Id="rId7" Type="http://schemas.openxmlformats.org/officeDocument/2006/relationships/hyperlink" Target="http://matplotlib.org/api/spines_api.html" TargetMode="External"/><Relationship Id="rId2" Type="http://schemas.openxmlformats.org/officeDocument/2006/relationships/notesSlide" Target="../notesSlides/notesSlide197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matplotlib.org/api/_as_gen/matplotlib.axes.Axes.set_ylim.html" TargetMode="External"/><Relationship Id="rId5" Type="http://schemas.openxmlformats.org/officeDocument/2006/relationships/hyperlink" Target="http://matplotlib.org/api/_as_gen/matplotlib.axes.Axes.set_xlim.html" TargetMode="External"/><Relationship Id="rId4" Type="http://schemas.openxmlformats.org/officeDocument/2006/relationships/hyperlink" Target="http://matplotlib.org/api/_as_gen/matplotlib.axes.Axes.set_aspect.html" TargetMode="External"/></Relationships>
</file>

<file path=ppt/slides/_rels/slide198.xml.rels><?xml version="1.0" encoding="UTF-8" standalone="yes"?>
<Relationships xmlns="http://schemas.openxmlformats.org/package/2006/relationships"><Relationship Id="rId3" Type="http://schemas.openxmlformats.org/officeDocument/2006/relationships/hyperlink" Target="http://matplotlib.org/api/_as_gen/matplotlib.axes.Axes.legend.html" TargetMode="External"/><Relationship Id="rId2" Type="http://schemas.openxmlformats.org/officeDocument/2006/relationships/notesSlide" Target="../notesSlides/notesSlide19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2.png"/><Relationship Id="rId4" Type="http://schemas.openxmlformats.org/officeDocument/2006/relationships/image" Target="../media/image181.png"/></Relationships>
</file>

<file path=ppt/slides/_rels/slide199.xml.rels><?xml version="1.0" encoding="UTF-8" standalone="yes"?>
<Relationships xmlns="http://schemas.openxmlformats.org/package/2006/relationships"><Relationship Id="rId3" Type="http://schemas.openxmlformats.org/officeDocument/2006/relationships/hyperlink" Target="https://ru.wikipedia.org/wiki/TeX" TargetMode="External"/><Relationship Id="rId7" Type="http://schemas.openxmlformats.org/officeDocument/2006/relationships/hyperlink" Target="https://www.yuripetrov.ru/edu/python/ch_03_01.html" TargetMode="External"/><Relationship Id="rId2" Type="http://schemas.openxmlformats.org/officeDocument/2006/relationships/notesSlide" Target="../notesSlides/notesSlide199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matplotlib.org/api/text_api.html" TargetMode="External"/><Relationship Id="rId5" Type="http://schemas.openxmlformats.org/officeDocument/2006/relationships/hyperlink" Target="http://matplotlib.org/api/_as_gen/matplotlib.axes.Axes.annotate.html" TargetMode="External"/><Relationship Id="rId4" Type="http://schemas.openxmlformats.org/officeDocument/2006/relationships/hyperlink" Target="http://matplotlib.org/api/_as_gen/matplotlib.axes.Axes.text.html" TargetMode="External"/></Relationships>
</file>

<file path=ppt/slides/_rels/slide2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3.png"/><Relationship Id="rId2" Type="http://schemas.openxmlformats.org/officeDocument/2006/relationships/notesSlide" Target="../notesSlides/notesSlide20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4.png"/></Relationships>
</file>

<file path=ppt/slides/_rels/slide2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5.png"/><Relationship Id="rId2" Type="http://schemas.openxmlformats.org/officeDocument/2006/relationships/notesSlide" Target="../notesSlides/notesSlide201.xml"/><Relationship Id="rId1" Type="http://schemas.openxmlformats.org/officeDocument/2006/relationships/slideLayout" Target="../slideLayouts/slideLayout7.xml"/></Relationships>
</file>

<file path=ppt/slides/_rels/slide2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2.xml"/><Relationship Id="rId1" Type="http://schemas.openxmlformats.org/officeDocument/2006/relationships/slideLayout" Target="../slideLayouts/slideLayout7.xml"/></Relationships>
</file>

<file path=ppt/slides/_rels/slide2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6.png"/><Relationship Id="rId2" Type="http://schemas.openxmlformats.org/officeDocument/2006/relationships/notesSlide" Target="../notesSlides/notesSlide203.xml"/><Relationship Id="rId1" Type="http://schemas.openxmlformats.org/officeDocument/2006/relationships/slideLayout" Target="../slideLayouts/slideLayout7.xml"/></Relationships>
</file>

<file path=ppt/slides/_rels/slide2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7.png"/><Relationship Id="rId2" Type="http://schemas.openxmlformats.org/officeDocument/2006/relationships/notesSlide" Target="../notesSlides/notesSlide20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8.png"/></Relationships>
</file>

<file path=ppt/slides/_rels/slide2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9.png"/><Relationship Id="rId2" Type="http://schemas.openxmlformats.org/officeDocument/2006/relationships/notesSlide" Target="../notesSlides/notesSlide205.xml"/><Relationship Id="rId1" Type="http://schemas.openxmlformats.org/officeDocument/2006/relationships/slideLayout" Target="../slideLayouts/slideLayout7.xml"/></Relationships>
</file>

<file path=ppt/slides/_rels/slide2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notesSlide" Target="../notesSlides/notesSlide206.xml"/><Relationship Id="rId1" Type="http://schemas.openxmlformats.org/officeDocument/2006/relationships/slideLayout" Target="../slideLayouts/slideLayout7.xml"/></Relationships>
</file>

<file path=ppt/slides/_rels/slide207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python.org/3/library/glob.html" TargetMode="External"/><Relationship Id="rId3" Type="http://schemas.openxmlformats.org/officeDocument/2006/relationships/hyperlink" Target="https://docs.python.org/3/library/sys.html" TargetMode="External"/><Relationship Id="rId7" Type="http://schemas.openxmlformats.org/officeDocument/2006/relationships/hyperlink" Target="https://docs.python.org/3/library/subprocess.html" TargetMode="External"/><Relationship Id="rId2" Type="http://schemas.openxmlformats.org/officeDocument/2006/relationships/notesSlide" Target="../notesSlides/notesSlide207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python.org/3/library/shutil.html" TargetMode="External"/><Relationship Id="rId5" Type="http://schemas.openxmlformats.org/officeDocument/2006/relationships/hyperlink" Target="https://docs.python.org/3/library/os.html" TargetMode="External"/><Relationship Id="rId4" Type="http://schemas.openxmlformats.org/officeDocument/2006/relationships/hyperlink" Target="https://docs.python.org/3/library/platform.html" TargetMode="External"/></Relationships>
</file>

<file path=ppt/slides/_rels/slide2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8.xml"/><Relationship Id="rId1" Type="http://schemas.openxmlformats.org/officeDocument/2006/relationships/slideLayout" Target="../slideLayouts/slideLayout2.xml"/></Relationships>
</file>

<file path=ppt/slides/_rels/slide2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1.png"/><Relationship Id="rId2" Type="http://schemas.openxmlformats.org/officeDocument/2006/relationships/notesSlide" Target="../notesSlides/notesSlide20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4.png"/><Relationship Id="rId5" Type="http://schemas.openxmlformats.org/officeDocument/2006/relationships/image" Target="../media/image193.png"/><Relationship Id="rId4" Type="http://schemas.openxmlformats.org/officeDocument/2006/relationships/image" Target="../media/image192.png"/></Relationships>
</file>

<file path=ppt/slides/_rels/slide210.xml.rels><?xml version="1.0" encoding="UTF-8" standalone="yes"?>
<Relationships xmlns="http://schemas.openxmlformats.org/package/2006/relationships"><Relationship Id="rId3" Type="http://schemas.openxmlformats.org/officeDocument/2006/relationships/hyperlink" Target="https://pypi.python.org/pypi/pypng/" TargetMode="External"/><Relationship Id="rId2" Type="http://schemas.openxmlformats.org/officeDocument/2006/relationships/notesSlide" Target="../notesSlides/notesSlide2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6.png"/><Relationship Id="rId4" Type="http://schemas.openxmlformats.org/officeDocument/2006/relationships/image" Target="../media/image195.png"/></Relationships>
</file>

<file path=ppt/slides/_rels/slide2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7.png"/><Relationship Id="rId2" Type="http://schemas.openxmlformats.org/officeDocument/2006/relationships/notesSlide" Target="../notesSlides/notesSlide2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8.png"/></Relationships>
</file>

<file path=ppt/slides/_rels/slide2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2.xml"/><Relationship Id="rId1" Type="http://schemas.openxmlformats.org/officeDocument/2006/relationships/slideLayout" Target="../slideLayouts/slideLayout7.xml"/></Relationships>
</file>

<file path=ppt/slides/_rels/slide2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3.xml"/><Relationship Id="rId1" Type="http://schemas.openxmlformats.org/officeDocument/2006/relationships/slideLayout" Target="../slideLayouts/slideLayout7.xml"/></Relationships>
</file>

<file path=ppt/slides/_rels/slide2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9.png"/><Relationship Id="rId2" Type="http://schemas.openxmlformats.org/officeDocument/2006/relationships/notesSlide" Target="../notesSlides/notesSlide2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0.png"/></Relationships>
</file>

<file path=ppt/slides/_rels/slide2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1.png"/><Relationship Id="rId2" Type="http://schemas.openxmlformats.org/officeDocument/2006/relationships/notesSlide" Target="../notesSlides/notesSlide215.xml"/><Relationship Id="rId1" Type="http://schemas.openxmlformats.org/officeDocument/2006/relationships/slideLayout" Target="../slideLayouts/slideLayout7.xml"/></Relationships>
</file>

<file path=ppt/slides/_rels/slide2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2.png"/><Relationship Id="rId2" Type="http://schemas.openxmlformats.org/officeDocument/2006/relationships/notesSlide" Target="../notesSlides/notesSlide216.xml"/><Relationship Id="rId1" Type="http://schemas.openxmlformats.org/officeDocument/2006/relationships/slideLayout" Target="../slideLayouts/slideLayout7.xml"/></Relationships>
</file>

<file path=ppt/slides/_rels/slide2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3.png"/><Relationship Id="rId2" Type="http://schemas.openxmlformats.org/officeDocument/2006/relationships/notesSlide" Target="../notesSlides/notesSlide2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4.png"/></Relationships>
</file>

<file path=ppt/slides/_rels/slide2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5.png"/><Relationship Id="rId2" Type="http://schemas.openxmlformats.org/officeDocument/2006/relationships/notesSlide" Target="../notesSlides/notesSlide218.xml"/><Relationship Id="rId1" Type="http://schemas.openxmlformats.org/officeDocument/2006/relationships/slideLayout" Target="../slideLayouts/slideLayout7.xml"/></Relationships>
</file>

<file path=ppt/slides/_rels/slide2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6.png"/><Relationship Id="rId2" Type="http://schemas.openxmlformats.org/officeDocument/2006/relationships/notesSlide" Target="../notesSlides/notesSlide2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0051" y="472081"/>
            <a:ext cx="10058400" cy="3566160"/>
          </a:xfrm>
        </p:spPr>
        <p:txBody>
          <a:bodyPr/>
          <a:lstStyle/>
          <a:p>
            <a:r>
              <a:rPr lang="ru-RU" dirty="0" smtClean="0"/>
              <a:t>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Лекция</a:t>
            </a:r>
            <a:r>
              <a:rPr lang="en-US" dirty="0" smtClean="0"/>
              <a:t> </a:t>
            </a:r>
            <a:r>
              <a:rPr lang="ru-RU" dirty="0" smtClean="0"/>
              <a:t>10 - 11</a:t>
            </a:r>
            <a:endParaRPr lang="en-US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100051" y="1136993"/>
            <a:ext cx="10058400" cy="223633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800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Избранные главы информатики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129827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Модули, пакеты, стандартная библиотека. Визуализация данных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737361"/>
            <a:ext cx="10058400" cy="4617720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Clr>
                <a:srgbClr val="FF0000"/>
              </a:buClr>
              <a:buFont typeface="+mj-lt"/>
              <a:buAutoNum type="arabicPeriod"/>
            </a:pPr>
            <a:r>
              <a:rPr lang="ru-RU" sz="3600" dirty="0"/>
              <a:t>Модули. </a:t>
            </a:r>
            <a:endParaRPr lang="ru-RU" sz="3600" dirty="0" smtClean="0"/>
          </a:p>
          <a:p>
            <a:pPr marL="514350" indent="-514350">
              <a:buClr>
                <a:srgbClr val="FF0000"/>
              </a:buClr>
              <a:buFont typeface="+mj-lt"/>
              <a:buAutoNum type="arabicPeriod"/>
            </a:pPr>
            <a:r>
              <a:rPr lang="ru-RU" sz="3600" dirty="0" smtClean="0"/>
              <a:t>Пакеты</a:t>
            </a:r>
            <a:r>
              <a:rPr lang="ru-RU" sz="3600" dirty="0"/>
              <a:t>. </a:t>
            </a:r>
            <a:endParaRPr lang="ru-RU" sz="3600" dirty="0" smtClean="0"/>
          </a:p>
          <a:p>
            <a:pPr marL="514350" indent="-514350">
              <a:buClr>
                <a:srgbClr val="FF0000"/>
              </a:buClr>
              <a:buFont typeface="+mj-lt"/>
              <a:buAutoNum type="arabicPeriod"/>
            </a:pPr>
            <a:r>
              <a:rPr lang="ru-RU" sz="3600" dirty="0" smtClean="0"/>
              <a:t>Классификация</a:t>
            </a:r>
            <a:r>
              <a:rPr lang="ru-RU" sz="3600" dirty="0"/>
              <a:t>. </a:t>
            </a:r>
            <a:r>
              <a:rPr lang="ru-RU" sz="3600" dirty="0" smtClean="0"/>
              <a:t>Подключение </a:t>
            </a:r>
            <a:r>
              <a:rPr lang="ru-RU" sz="3600" dirty="0"/>
              <a:t>и использование модулей и пакетов. </a:t>
            </a:r>
            <a:endParaRPr lang="ru-RU" sz="3600" dirty="0" smtClean="0"/>
          </a:p>
          <a:p>
            <a:pPr marL="514350" indent="-514350">
              <a:buClr>
                <a:srgbClr val="FF0000"/>
              </a:buClr>
              <a:buFont typeface="+mj-lt"/>
              <a:buAutoNum type="arabicPeriod"/>
            </a:pPr>
            <a:r>
              <a:rPr lang="ru-RU" sz="3600" dirty="0" smtClean="0"/>
              <a:t>Специальные </a:t>
            </a:r>
            <a:r>
              <a:rPr lang="ru-RU" sz="3600" dirty="0"/>
              <a:t>атрибуты. </a:t>
            </a:r>
            <a:endParaRPr lang="ru-RU" sz="3600" dirty="0" smtClean="0"/>
          </a:p>
          <a:p>
            <a:pPr marL="514350" indent="-514350">
              <a:buClr>
                <a:srgbClr val="FF0000"/>
              </a:buClr>
              <a:buFont typeface="+mj-lt"/>
              <a:buAutoNum type="arabicPeriod"/>
            </a:pPr>
            <a:r>
              <a:rPr lang="ru-RU" sz="3600" dirty="0" smtClean="0"/>
              <a:t>Стандартная </a:t>
            </a:r>
            <a:r>
              <a:rPr lang="ru-RU" sz="3600" dirty="0"/>
              <a:t>библиотека Python. </a:t>
            </a:r>
            <a:endParaRPr lang="ru-RU" sz="3600" dirty="0" smtClean="0"/>
          </a:p>
          <a:p>
            <a:pPr marL="514350" indent="-514350">
              <a:buClr>
                <a:srgbClr val="FF0000"/>
              </a:buClr>
              <a:buFont typeface="+mj-lt"/>
              <a:buAutoNum type="arabicPeriod"/>
            </a:pPr>
            <a:r>
              <a:rPr lang="ru-RU" sz="3600" dirty="0" smtClean="0"/>
              <a:t>Регулярные </a:t>
            </a:r>
            <a:r>
              <a:rPr lang="ru-RU" sz="3600" dirty="0"/>
              <a:t>выражения. </a:t>
            </a:r>
            <a:endParaRPr lang="ru-RU" sz="3600" dirty="0" smtClean="0"/>
          </a:p>
          <a:p>
            <a:pPr marL="514350" indent="-514350">
              <a:buClr>
                <a:srgbClr val="FF0000"/>
              </a:buClr>
              <a:buFont typeface="+mj-lt"/>
              <a:buAutoNum type="arabicPeriod"/>
            </a:pPr>
            <a:r>
              <a:rPr lang="ru-RU" sz="3600" dirty="0" smtClean="0"/>
              <a:t>Визуализация </a:t>
            </a:r>
            <a:r>
              <a:rPr lang="ru-RU" sz="3600" dirty="0"/>
              <a:t>данных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xmlns="" val="1594573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652" y="170121"/>
            <a:ext cx="10058400" cy="727743"/>
          </a:xfrm>
        </p:spPr>
        <p:txBody>
          <a:bodyPr>
            <a:normAutofit/>
          </a:bodyPr>
          <a:lstStyle/>
          <a:p>
            <a:r>
              <a:rPr lang="ru-RU" dirty="0" smtClean="0"/>
              <a:t>Модули и пакеты</a:t>
            </a:r>
            <a:endParaRPr lang="ru-RU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494387" y="1195331"/>
            <a:ext cx="10727474" cy="2246769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1B7A41"/>
                </a:solidFill>
                <a:effectLst/>
                <a:latin typeface="+mn-lt"/>
                <a:hlinkClick r:id="rId3"/>
              </a:rPr>
              <a:t>Модуль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 </a:t>
            </a:r>
            <a:r>
              <a:rPr kumimoji="0" lang="en-US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 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- специальное средство языка программирования, позволяющее объединить вместе данные и функции и использовать их как одну функционально-законченную единицу (например, математический модуль, содержащий тригонометрические и прочие функции, константы π, ϵ и т.д.)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1B7A41"/>
                </a:solidFill>
                <a:effectLst/>
                <a:latin typeface="+mn-lt"/>
              </a:rPr>
              <a:t> </a:t>
            </a:r>
            <a:endParaRPr kumimoji="0" lang="ru-RU" altLang="ru-RU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494387" y="3665519"/>
            <a:ext cx="11697613" cy="274397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157113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alibri" panose="020F0502020204030204" pitchFamily="34" charset="0"/>
              <a:buChar char="‒"/>
              <a:tabLst/>
            </a:pP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</a:rPr>
              <a:t>отдельный файл с кодом на Python, содержащий функции и данные;</a:t>
            </a:r>
            <a:endParaRPr kumimoji="0" lang="ru-RU" altLang="ru-RU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alibri" panose="020F0502020204030204" pitchFamily="34" charset="0"/>
              <a:buChar char="‒"/>
              <a:tabLst/>
            </a:pP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</a:rPr>
              <a:t>имеет расширение 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E74C3C"/>
                </a:solidFill>
                <a:effectLst/>
              </a:rPr>
              <a:t>*.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rgbClr val="E74C3C"/>
                </a:solidFill>
                <a:effectLst/>
              </a:rPr>
              <a:t>py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</a:rPr>
              <a:t> (имя файла является именем модуля);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alibri" panose="020F0502020204030204" pitchFamily="34" charset="0"/>
              <a:buChar char="‒"/>
              <a:tabLst/>
            </a:pP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</a:rPr>
              <a:t>может быть импортирован (подключен) (директива 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rgbClr val="E74C3C"/>
                </a:solidFill>
                <a:effectLst/>
              </a:rPr>
              <a:t>import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E74C3C"/>
                </a:solidFill>
                <a:effectLst/>
              </a:rPr>
              <a:t> ...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</a:rPr>
              <a:t>);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alibri" panose="020F0502020204030204" pitchFamily="34" charset="0"/>
              <a:buChar char="‒"/>
              <a:tabLst/>
            </a:pP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</a:rPr>
              <a:t>может быть многократно использован;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Calibri" panose="020F0502020204030204" pitchFamily="34" charset="0"/>
              <a:buChar char="‒"/>
            </a:pPr>
            <a:r>
              <a:rPr lang="ru-RU" sz="2800" dirty="0"/>
              <a:t>реализация модели </a:t>
            </a:r>
            <a:r>
              <a:rPr lang="ru-RU" sz="2800" dirty="0">
                <a:hlinkClick r:id="rId4"/>
              </a:rPr>
              <a:t>пространства имен</a:t>
            </a:r>
            <a:r>
              <a:rPr lang="ru-RU" sz="2800" dirty="0"/>
              <a:t>, позволяющей логически группировать и в то же время изолировать различные идентификаторы</a:t>
            </a:r>
            <a:endParaRPr kumimoji="0" lang="ru-RU" altLang="ru-RU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99114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652" y="170121"/>
            <a:ext cx="5031152" cy="727743"/>
          </a:xfrm>
        </p:spPr>
        <p:txBody>
          <a:bodyPr>
            <a:normAutofit/>
          </a:bodyPr>
          <a:lstStyle/>
          <a:p>
            <a:r>
              <a:rPr lang="ru-RU" dirty="0" smtClean="0"/>
              <a:t>Модули и пакеты</a:t>
            </a:r>
            <a:endParaRPr lang="ru-RU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212652" y="1254133"/>
            <a:ext cx="11780874" cy="1815882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1B7A41"/>
                </a:solidFill>
                <a:effectLst/>
                <a:latin typeface="+mn-lt"/>
                <a:hlinkClick r:id="rId3"/>
              </a:rPr>
              <a:t>Пакеты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 </a:t>
            </a:r>
            <a:r>
              <a:rPr kumimoji="0" lang="en-US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 -  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набор взаимосвязанных модулей, предназначенных для решения задач определенного класса некоторой 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1B7A41"/>
                </a:solidFill>
                <a:effectLst/>
                <a:latin typeface="+mn-lt"/>
                <a:hlinkClick r:id="rId4"/>
              </a:rPr>
              <a:t>предметной области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 (например, пакет для решения систем уравнений, который может включать математический модуль, модуль со специальными типами данных и т.д.)</a:t>
            </a:r>
            <a:endParaRPr kumimoji="0" lang="ru-RU" altLang="ru-RU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212652" y="3274636"/>
            <a:ext cx="11780874" cy="310854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способ структуризации модулей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lang="ru-RU" altLang="ru-RU" sz="2800" dirty="0">
                <a:solidFill>
                  <a:srgbClr val="404040"/>
                </a:solidFill>
                <a:latin typeface="+mn-lt"/>
              </a:rPr>
              <a:t>п</a:t>
            </a:r>
            <a:r>
              <a:rPr lang="ru-RU" altLang="ru-RU" sz="2800" dirty="0" smtClean="0">
                <a:solidFill>
                  <a:srgbClr val="404040"/>
                </a:solidFill>
                <a:latin typeface="+mn-lt"/>
              </a:rPr>
              <a:t>редставляет собой 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папку, в которой содержатся модули и другие пакеты и обязательный файл 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E74C3C"/>
                </a:solidFill>
                <a:effectLst/>
                <a:latin typeface="+mn-lt"/>
              </a:rPr>
              <a:t>__init.py__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, отвечающий за инициализацию пакета</a:t>
            </a:r>
          </a:p>
          <a:p>
            <a:pPr marL="457200" lvl="0" indent="-457200" algn="just">
              <a:buFontTx/>
              <a:buChar char="-"/>
            </a:pPr>
            <a:r>
              <a:rPr lang="ru-RU" sz="2800" dirty="0">
                <a:latin typeface="+mn-lt"/>
              </a:rPr>
              <a:t>каждый модуль (или вложенный пакет) отвечает за свою часть реализации </a:t>
            </a:r>
            <a:r>
              <a:rPr lang="ru-RU" sz="2800" dirty="0" smtClean="0">
                <a:latin typeface="+mn-lt"/>
              </a:rPr>
              <a:t>работы, </a:t>
            </a:r>
            <a:r>
              <a:rPr lang="ru-RU" sz="2800" dirty="0">
                <a:latin typeface="+mn-lt"/>
              </a:rPr>
              <a:t>однако рассматривается как единое целое в виде пакета</a:t>
            </a:r>
            <a:endParaRPr kumimoji="0" lang="ru-RU" altLang="ru-RU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945036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66345" y="148856"/>
            <a:ext cx="4635795" cy="727743"/>
          </a:xfrm>
        </p:spPr>
        <p:txBody>
          <a:bodyPr>
            <a:normAutofit/>
          </a:bodyPr>
          <a:lstStyle/>
          <a:p>
            <a:r>
              <a:rPr lang="ru-RU" dirty="0" smtClean="0"/>
              <a:t>Модули и пакеты</a:t>
            </a:r>
            <a:endParaRPr lang="ru-RU" dirty="0"/>
          </a:p>
        </p:txBody>
      </p:sp>
      <p:pic>
        <p:nvPicPr>
          <p:cNvPr id="5" name="Рисунок 4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5975498" cy="6901017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7949680" y="2738375"/>
            <a:ext cx="2815531" cy="29532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пакет </a:t>
            </a:r>
            <a:r>
              <a:rPr lang="ru-RU" dirty="0" err="1">
                <a:hlinkClick r:id="rId4"/>
              </a:rPr>
              <a:t>xml</a:t>
            </a:r>
            <a:r>
              <a:rPr lang="ru-RU" dirty="0"/>
              <a:t> имеет следующую структуру</a:t>
            </a:r>
            <a:r>
              <a:rPr lang="en-US" dirty="0"/>
              <a:t>, </a:t>
            </a:r>
            <a:r>
              <a:rPr lang="ru-RU" dirty="0"/>
              <a:t>где каждый модуль (или вложенный пакет) отвечает за свою часть реализации работы с XML-форматом, однако рассматривается как единое целое в виде пакета</a:t>
            </a:r>
          </a:p>
        </p:txBody>
      </p:sp>
    </p:spTree>
    <p:extLst>
      <p:ext uri="{BB962C8B-B14F-4D97-AF65-F5344CB8AC3E}">
        <p14:creationId xmlns:p14="http://schemas.microsoft.com/office/powerpoint/2010/main" xmlns="" val="2365443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652" y="170121"/>
            <a:ext cx="10058400" cy="727743"/>
          </a:xfrm>
        </p:spPr>
        <p:txBody>
          <a:bodyPr>
            <a:normAutofit/>
          </a:bodyPr>
          <a:lstStyle/>
          <a:p>
            <a:r>
              <a:rPr lang="ru-RU" dirty="0" smtClean="0"/>
              <a:t>Модули и пакеты - классификация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637954" y="2351199"/>
            <a:ext cx="10738883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smtClean="0">
                <a:solidFill>
                  <a:srgbClr val="404040"/>
                </a:solidFill>
              </a:rPr>
              <a:t>1. </a:t>
            </a:r>
            <a:r>
              <a:rPr lang="ru-RU" sz="2800" b="1" dirty="0" smtClean="0">
                <a:solidFill>
                  <a:srgbClr val="404040"/>
                </a:solidFill>
              </a:rPr>
              <a:t>Встроенные</a:t>
            </a:r>
            <a:r>
              <a:rPr lang="ru-RU" sz="2800" dirty="0" smtClean="0">
                <a:solidFill>
                  <a:srgbClr val="404040"/>
                </a:solidFill>
              </a:rPr>
              <a:t> </a:t>
            </a:r>
            <a:r>
              <a:rPr lang="en-US" sz="2800" dirty="0" smtClean="0">
                <a:solidFill>
                  <a:srgbClr val="404040"/>
                </a:solidFill>
              </a:rPr>
              <a:t>(Built-in) </a:t>
            </a:r>
            <a:r>
              <a:rPr lang="ru-RU" sz="2800" dirty="0" smtClean="0">
                <a:solidFill>
                  <a:srgbClr val="404040"/>
                </a:solidFill>
              </a:rPr>
              <a:t>- </a:t>
            </a:r>
            <a:r>
              <a:rPr lang="ru-RU" sz="2800" dirty="0"/>
              <a:t>встроенные в язык и предоставляющие базовые возможности языка (написаны на языке Си</a:t>
            </a:r>
            <a:r>
              <a:rPr lang="ru-RU" sz="2800" dirty="0" smtClean="0"/>
              <a:t>):</a:t>
            </a:r>
            <a:endParaRPr lang="en-US" sz="2800" dirty="0" smtClean="0"/>
          </a:p>
          <a:p>
            <a:endParaRPr lang="ru-RU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 smtClean="0"/>
              <a:t>Модули общего назначения (</a:t>
            </a:r>
            <a:r>
              <a:rPr lang="en-US" sz="2800" dirty="0" smtClean="0"/>
              <a:t>math, random ….</a:t>
            </a:r>
            <a:r>
              <a:rPr lang="ru-RU" sz="2800" dirty="0" smtClean="0"/>
              <a:t>)</a:t>
            </a:r>
            <a:endParaRPr lang="en-US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 err="1" smtClean="0"/>
              <a:t>Платформозависимые</a:t>
            </a:r>
            <a:r>
              <a:rPr lang="ru-RU" sz="2800" dirty="0" smtClean="0"/>
              <a:t> модули (</a:t>
            </a:r>
            <a:r>
              <a:rPr lang="en-US" sz="2800" dirty="0" err="1" smtClean="0"/>
              <a:t>winreg</a:t>
            </a:r>
            <a:r>
              <a:rPr lang="en-US" sz="2800" dirty="0" smtClean="0"/>
              <a:t> – </a:t>
            </a:r>
            <a:r>
              <a:rPr lang="ru-RU" sz="2800" dirty="0" smtClean="0"/>
              <a:t>реестр ОС</a:t>
            </a:r>
            <a:r>
              <a:rPr lang="en-US" sz="2800" dirty="0" smtClean="0"/>
              <a:t> Windows</a:t>
            </a:r>
            <a:r>
              <a:rPr lang="ru-RU" sz="2800" dirty="0" smtClean="0"/>
              <a:t>)</a:t>
            </a:r>
            <a:endParaRPr lang="en-US" sz="2800" dirty="0"/>
          </a:p>
          <a:p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xmlns="" val="1040783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169863"/>
            <a:ext cx="10058400" cy="728662"/>
          </a:xfrm>
        </p:spPr>
        <p:txBody>
          <a:bodyPr>
            <a:normAutofit/>
          </a:bodyPr>
          <a:lstStyle/>
          <a:p>
            <a:r>
              <a:rPr lang="ru-RU" dirty="0" smtClean="0"/>
              <a:t>Модули и пакеты - классификация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531627" y="1015804"/>
            <a:ext cx="1073888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Список установленных встроенных </a:t>
            </a:r>
            <a:r>
              <a:rPr lang="ru-RU" sz="2800" dirty="0" smtClean="0"/>
              <a:t>модулей</a:t>
            </a:r>
            <a:r>
              <a:rPr lang="en-US" sz="2800" dirty="0"/>
              <a:t>:</a:t>
            </a:r>
            <a:endParaRPr lang="ru-RU" sz="2800" dirty="0"/>
          </a:p>
        </p:txBody>
      </p:sp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31627" y="1656964"/>
            <a:ext cx="7409237" cy="857912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212652" y="2514876"/>
            <a:ext cx="11979348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rgbClr val="3659BA"/>
                </a:solidFill>
              </a:rPr>
              <a:t>('_</a:t>
            </a:r>
            <a:r>
              <a:rPr lang="ru-RU" sz="2800" dirty="0" err="1">
                <a:solidFill>
                  <a:srgbClr val="3659BA"/>
                </a:solidFill>
              </a:rPr>
              <a:t>abc</a:t>
            </a:r>
            <a:r>
              <a:rPr lang="ru-RU" sz="2800" dirty="0">
                <a:solidFill>
                  <a:srgbClr val="3659BA"/>
                </a:solidFill>
              </a:rPr>
              <a:t>', '_</a:t>
            </a:r>
            <a:r>
              <a:rPr lang="ru-RU" sz="2800" dirty="0" err="1">
                <a:solidFill>
                  <a:srgbClr val="3659BA"/>
                </a:solidFill>
              </a:rPr>
              <a:t>ast</a:t>
            </a:r>
            <a:r>
              <a:rPr lang="ru-RU" sz="2800" dirty="0">
                <a:solidFill>
                  <a:srgbClr val="3659BA"/>
                </a:solidFill>
              </a:rPr>
              <a:t>', '_</a:t>
            </a:r>
            <a:r>
              <a:rPr lang="ru-RU" sz="2800" dirty="0" err="1">
                <a:solidFill>
                  <a:srgbClr val="3659BA"/>
                </a:solidFill>
              </a:rPr>
              <a:t>bisect</a:t>
            </a:r>
            <a:r>
              <a:rPr lang="ru-RU" sz="2800" dirty="0">
                <a:solidFill>
                  <a:srgbClr val="3659BA"/>
                </a:solidFill>
              </a:rPr>
              <a:t>', '_blake2', '_</a:t>
            </a:r>
            <a:r>
              <a:rPr lang="ru-RU" sz="2800" dirty="0" err="1">
                <a:solidFill>
                  <a:srgbClr val="3659BA"/>
                </a:solidFill>
              </a:rPr>
              <a:t>codecs</a:t>
            </a:r>
            <a:r>
              <a:rPr lang="ru-RU" sz="2800" dirty="0">
                <a:solidFill>
                  <a:srgbClr val="3659BA"/>
                </a:solidFill>
              </a:rPr>
              <a:t>', '_</a:t>
            </a:r>
            <a:r>
              <a:rPr lang="ru-RU" sz="2800" dirty="0" err="1">
                <a:solidFill>
                  <a:srgbClr val="3659BA"/>
                </a:solidFill>
              </a:rPr>
              <a:t>codecs_cn</a:t>
            </a:r>
            <a:r>
              <a:rPr lang="ru-RU" sz="2800" dirty="0">
                <a:solidFill>
                  <a:srgbClr val="3659BA"/>
                </a:solidFill>
              </a:rPr>
              <a:t>', '_</a:t>
            </a:r>
            <a:r>
              <a:rPr lang="ru-RU" sz="2800" dirty="0" err="1">
                <a:solidFill>
                  <a:srgbClr val="3659BA"/>
                </a:solidFill>
              </a:rPr>
              <a:t>codecs_hk</a:t>
            </a:r>
            <a:r>
              <a:rPr lang="ru-RU" sz="2800" dirty="0">
                <a:solidFill>
                  <a:srgbClr val="3659BA"/>
                </a:solidFill>
              </a:rPr>
              <a:t>', '_codecs_iso2022', '_</a:t>
            </a:r>
            <a:r>
              <a:rPr lang="ru-RU" sz="2800" dirty="0" err="1">
                <a:solidFill>
                  <a:srgbClr val="3659BA"/>
                </a:solidFill>
              </a:rPr>
              <a:t>codecs_jp</a:t>
            </a:r>
            <a:r>
              <a:rPr lang="ru-RU" sz="2800" dirty="0">
                <a:solidFill>
                  <a:srgbClr val="3659BA"/>
                </a:solidFill>
              </a:rPr>
              <a:t>', '_</a:t>
            </a:r>
            <a:r>
              <a:rPr lang="ru-RU" sz="2800" dirty="0" err="1">
                <a:solidFill>
                  <a:srgbClr val="3659BA"/>
                </a:solidFill>
              </a:rPr>
              <a:t>codecs_kr</a:t>
            </a:r>
            <a:r>
              <a:rPr lang="ru-RU" sz="2800" dirty="0">
                <a:solidFill>
                  <a:srgbClr val="3659BA"/>
                </a:solidFill>
              </a:rPr>
              <a:t>', '_</a:t>
            </a:r>
            <a:r>
              <a:rPr lang="ru-RU" sz="2800" dirty="0" err="1">
                <a:solidFill>
                  <a:srgbClr val="3659BA"/>
                </a:solidFill>
              </a:rPr>
              <a:t>codecs_tw</a:t>
            </a:r>
            <a:r>
              <a:rPr lang="ru-RU" sz="2800" dirty="0">
                <a:solidFill>
                  <a:srgbClr val="3659BA"/>
                </a:solidFill>
              </a:rPr>
              <a:t>', '_</a:t>
            </a:r>
            <a:r>
              <a:rPr lang="ru-RU" sz="2800" dirty="0" err="1">
                <a:solidFill>
                  <a:srgbClr val="3659BA"/>
                </a:solidFill>
              </a:rPr>
              <a:t>collections</a:t>
            </a:r>
            <a:r>
              <a:rPr lang="ru-RU" sz="2800" dirty="0">
                <a:solidFill>
                  <a:srgbClr val="3659BA"/>
                </a:solidFill>
              </a:rPr>
              <a:t>', '_</a:t>
            </a:r>
            <a:r>
              <a:rPr lang="ru-RU" sz="2800" dirty="0" err="1">
                <a:solidFill>
                  <a:srgbClr val="3659BA"/>
                </a:solidFill>
              </a:rPr>
              <a:t>contextvars</a:t>
            </a:r>
            <a:r>
              <a:rPr lang="ru-RU" sz="2800" dirty="0">
                <a:solidFill>
                  <a:srgbClr val="3659BA"/>
                </a:solidFill>
              </a:rPr>
              <a:t>', '_</a:t>
            </a:r>
            <a:r>
              <a:rPr lang="ru-RU" sz="2800" dirty="0" err="1">
                <a:solidFill>
                  <a:srgbClr val="3659BA"/>
                </a:solidFill>
              </a:rPr>
              <a:t>csv</a:t>
            </a:r>
            <a:r>
              <a:rPr lang="ru-RU" sz="2800" dirty="0">
                <a:solidFill>
                  <a:srgbClr val="3659BA"/>
                </a:solidFill>
              </a:rPr>
              <a:t>', '_</a:t>
            </a:r>
            <a:r>
              <a:rPr lang="ru-RU" sz="2800" dirty="0" err="1">
                <a:solidFill>
                  <a:srgbClr val="3659BA"/>
                </a:solidFill>
              </a:rPr>
              <a:t>datetime</a:t>
            </a:r>
            <a:r>
              <a:rPr lang="ru-RU" sz="2800" dirty="0">
                <a:solidFill>
                  <a:srgbClr val="3659BA"/>
                </a:solidFill>
              </a:rPr>
              <a:t>', '_</a:t>
            </a:r>
            <a:r>
              <a:rPr lang="ru-RU" sz="2800" dirty="0" err="1">
                <a:solidFill>
                  <a:srgbClr val="3659BA"/>
                </a:solidFill>
              </a:rPr>
              <a:t>functools</a:t>
            </a:r>
            <a:r>
              <a:rPr lang="ru-RU" sz="2800" dirty="0">
                <a:solidFill>
                  <a:srgbClr val="3659BA"/>
                </a:solidFill>
              </a:rPr>
              <a:t>', '_</a:t>
            </a:r>
            <a:r>
              <a:rPr lang="ru-RU" sz="2800" dirty="0" err="1">
                <a:solidFill>
                  <a:srgbClr val="3659BA"/>
                </a:solidFill>
              </a:rPr>
              <a:t>heapq</a:t>
            </a:r>
            <a:r>
              <a:rPr lang="ru-RU" sz="2800" dirty="0">
                <a:solidFill>
                  <a:srgbClr val="3659BA"/>
                </a:solidFill>
              </a:rPr>
              <a:t>', '_</a:t>
            </a:r>
            <a:r>
              <a:rPr lang="ru-RU" sz="2800" dirty="0" err="1">
                <a:solidFill>
                  <a:srgbClr val="3659BA"/>
                </a:solidFill>
              </a:rPr>
              <a:t>imp</a:t>
            </a:r>
            <a:r>
              <a:rPr lang="ru-RU" sz="2800" dirty="0">
                <a:solidFill>
                  <a:srgbClr val="3659BA"/>
                </a:solidFill>
              </a:rPr>
              <a:t>', '_</a:t>
            </a:r>
            <a:r>
              <a:rPr lang="ru-RU" sz="2800" dirty="0" err="1">
                <a:solidFill>
                  <a:srgbClr val="3659BA"/>
                </a:solidFill>
              </a:rPr>
              <a:t>io</a:t>
            </a:r>
            <a:r>
              <a:rPr lang="ru-RU" sz="2800" dirty="0">
                <a:solidFill>
                  <a:srgbClr val="3659BA"/>
                </a:solidFill>
              </a:rPr>
              <a:t>', '_</a:t>
            </a:r>
            <a:r>
              <a:rPr lang="ru-RU" sz="2800" dirty="0" err="1">
                <a:solidFill>
                  <a:srgbClr val="3659BA"/>
                </a:solidFill>
              </a:rPr>
              <a:t>json</a:t>
            </a:r>
            <a:r>
              <a:rPr lang="ru-RU" sz="2800" dirty="0">
                <a:solidFill>
                  <a:srgbClr val="3659BA"/>
                </a:solidFill>
              </a:rPr>
              <a:t>', '_</a:t>
            </a:r>
            <a:r>
              <a:rPr lang="ru-RU" sz="2800" dirty="0" err="1">
                <a:solidFill>
                  <a:srgbClr val="3659BA"/>
                </a:solidFill>
              </a:rPr>
              <a:t>locale</a:t>
            </a:r>
            <a:r>
              <a:rPr lang="ru-RU" sz="2800" dirty="0">
                <a:solidFill>
                  <a:srgbClr val="3659BA"/>
                </a:solidFill>
              </a:rPr>
              <a:t>', '_</a:t>
            </a:r>
            <a:r>
              <a:rPr lang="ru-RU" sz="2800" dirty="0" err="1">
                <a:solidFill>
                  <a:srgbClr val="3659BA"/>
                </a:solidFill>
              </a:rPr>
              <a:t>lsprof</a:t>
            </a:r>
            <a:r>
              <a:rPr lang="ru-RU" sz="2800" dirty="0">
                <a:solidFill>
                  <a:srgbClr val="3659BA"/>
                </a:solidFill>
              </a:rPr>
              <a:t>', '_md5', '_</a:t>
            </a:r>
            <a:r>
              <a:rPr lang="ru-RU" sz="2800" dirty="0" err="1">
                <a:solidFill>
                  <a:srgbClr val="3659BA"/>
                </a:solidFill>
              </a:rPr>
              <a:t>multibytecodec</a:t>
            </a:r>
            <a:r>
              <a:rPr lang="ru-RU" sz="2800" dirty="0">
                <a:solidFill>
                  <a:srgbClr val="3659BA"/>
                </a:solidFill>
              </a:rPr>
              <a:t>', '_</a:t>
            </a:r>
            <a:r>
              <a:rPr lang="ru-RU" sz="2800" dirty="0" err="1">
                <a:solidFill>
                  <a:srgbClr val="3659BA"/>
                </a:solidFill>
              </a:rPr>
              <a:t>opcode</a:t>
            </a:r>
            <a:r>
              <a:rPr lang="ru-RU" sz="2800" dirty="0">
                <a:solidFill>
                  <a:srgbClr val="3659BA"/>
                </a:solidFill>
              </a:rPr>
              <a:t>', '_</a:t>
            </a:r>
            <a:r>
              <a:rPr lang="ru-RU" sz="2800" dirty="0" err="1">
                <a:solidFill>
                  <a:srgbClr val="3659BA"/>
                </a:solidFill>
              </a:rPr>
              <a:t>operator</a:t>
            </a:r>
            <a:r>
              <a:rPr lang="ru-RU" sz="2800" dirty="0">
                <a:solidFill>
                  <a:srgbClr val="3659BA"/>
                </a:solidFill>
              </a:rPr>
              <a:t>', '_</a:t>
            </a:r>
            <a:r>
              <a:rPr lang="ru-RU" sz="2800" dirty="0" err="1">
                <a:solidFill>
                  <a:srgbClr val="3659BA"/>
                </a:solidFill>
              </a:rPr>
              <a:t>pickle</a:t>
            </a:r>
            <a:r>
              <a:rPr lang="ru-RU" sz="2800" dirty="0">
                <a:solidFill>
                  <a:srgbClr val="3659BA"/>
                </a:solidFill>
              </a:rPr>
              <a:t>', '_</a:t>
            </a:r>
            <a:r>
              <a:rPr lang="ru-RU" sz="2800" dirty="0" err="1">
                <a:solidFill>
                  <a:srgbClr val="3659BA"/>
                </a:solidFill>
              </a:rPr>
              <a:t>random</a:t>
            </a:r>
            <a:r>
              <a:rPr lang="ru-RU" sz="2800" dirty="0">
                <a:solidFill>
                  <a:srgbClr val="3659BA"/>
                </a:solidFill>
              </a:rPr>
              <a:t>', '_sha1', '_sha256', '_sha3', '_sha512', '_</a:t>
            </a:r>
            <a:r>
              <a:rPr lang="ru-RU" sz="2800" dirty="0" err="1">
                <a:solidFill>
                  <a:srgbClr val="3659BA"/>
                </a:solidFill>
              </a:rPr>
              <a:t>signal</a:t>
            </a:r>
            <a:r>
              <a:rPr lang="ru-RU" sz="2800" dirty="0">
                <a:solidFill>
                  <a:srgbClr val="3659BA"/>
                </a:solidFill>
              </a:rPr>
              <a:t>', '_</a:t>
            </a:r>
            <a:r>
              <a:rPr lang="ru-RU" sz="2800" dirty="0" err="1">
                <a:solidFill>
                  <a:srgbClr val="3659BA"/>
                </a:solidFill>
              </a:rPr>
              <a:t>sre</a:t>
            </a:r>
            <a:r>
              <a:rPr lang="ru-RU" sz="2800" dirty="0">
                <a:solidFill>
                  <a:srgbClr val="3659BA"/>
                </a:solidFill>
              </a:rPr>
              <a:t>', '_</a:t>
            </a:r>
            <a:r>
              <a:rPr lang="ru-RU" sz="2800" dirty="0" err="1">
                <a:solidFill>
                  <a:srgbClr val="3659BA"/>
                </a:solidFill>
              </a:rPr>
              <a:t>stat</a:t>
            </a:r>
            <a:r>
              <a:rPr lang="ru-RU" sz="2800" dirty="0">
                <a:solidFill>
                  <a:srgbClr val="3659BA"/>
                </a:solidFill>
              </a:rPr>
              <a:t>', '_</a:t>
            </a:r>
            <a:r>
              <a:rPr lang="ru-RU" sz="2800" dirty="0" err="1">
                <a:solidFill>
                  <a:srgbClr val="3659BA"/>
                </a:solidFill>
              </a:rPr>
              <a:t>statistics</a:t>
            </a:r>
            <a:r>
              <a:rPr lang="ru-RU" sz="2800" dirty="0">
                <a:solidFill>
                  <a:srgbClr val="3659BA"/>
                </a:solidFill>
              </a:rPr>
              <a:t>', '_</a:t>
            </a:r>
            <a:r>
              <a:rPr lang="ru-RU" sz="2800" dirty="0" err="1">
                <a:solidFill>
                  <a:srgbClr val="3659BA"/>
                </a:solidFill>
              </a:rPr>
              <a:t>string</a:t>
            </a:r>
            <a:r>
              <a:rPr lang="ru-RU" sz="2800" dirty="0">
                <a:solidFill>
                  <a:srgbClr val="3659BA"/>
                </a:solidFill>
              </a:rPr>
              <a:t>', '_</a:t>
            </a:r>
            <a:r>
              <a:rPr lang="ru-RU" sz="2800" dirty="0" err="1">
                <a:solidFill>
                  <a:srgbClr val="3659BA"/>
                </a:solidFill>
              </a:rPr>
              <a:t>struct</a:t>
            </a:r>
            <a:r>
              <a:rPr lang="ru-RU" sz="2800" dirty="0">
                <a:solidFill>
                  <a:srgbClr val="3659BA"/>
                </a:solidFill>
              </a:rPr>
              <a:t>', '_</a:t>
            </a:r>
            <a:r>
              <a:rPr lang="ru-RU" sz="2800" dirty="0" err="1">
                <a:solidFill>
                  <a:srgbClr val="3659BA"/>
                </a:solidFill>
              </a:rPr>
              <a:t>symtable</a:t>
            </a:r>
            <a:r>
              <a:rPr lang="ru-RU" sz="2800" dirty="0">
                <a:solidFill>
                  <a:srgbClr val="3659BA"/>
                </a:solidFill>
              </a:rPr>
              <a:t>', '_</a:t>
            </a:r>
            <a:r>
              <a:rPr lang="ru-RU" sz="2800" dirty="0" err="1">
                <a:solidFill>
                  <a:srgbClr val="3659BA"/>
                </a:solidFill>
              </a:rPr>
              <a:t>thread</a:t>
            </a:r>
            <a:r>
              <a:rPr lang="ru-RU" sz="2800" dirty="0">
                <a:solidFill>
                  <a:srgbClr val="3659BA"/>
                </a:solidFill>
              </a:rPr>
              <a:t>', '_</a:t>
            </a:r>
            <a:r>
              <a:rPr lang="ru-RU" sz="2800" dirty="0" err="1">
                <a:solidFill>
                  <a:srgbClr val="3659BA"/>
                </a:solidFill>
              </a:rPr>
              <a:t>tokenize</a:t>
            </a:r>
            <a:r>
              <a:rPr lang="ru-RU" sz="2800" dirty="0">
                <a:solidFill>
                  <a:srgbClr val="3659BA"/>
                </a:solidFill>
              </a:rPr>
              <a:t>', '_</a:t>
            </a:r>
            <a:r>
              <a:rPr lang="ru-RU" sz="2800" dirty="0" err="1">
                <a:solidFill>
                  <a:srgbClr val="3659BA"/>
                </a:solidFill>
              </a:rPr>
              <a:t>tracemalloc</a:t>
            </a:r>
            <a:r>
              <a:rPr lang="ru-RU" sz="2800" dirty="0">
                <a:solidFill>
                  <a:srgbClr val="3659BA"/>
                </a:solidFill>
              </a:rPr>
              <a:t>', '_</a:t>
            </a:r>
            <a:r>
              <a:rPr lang="ru-RU" sz="2800" dirty="0" err="1">
                <a:solidFill>
                  <a:srgbClr val="3659BA"/>
                </a:solidFill>
              </a:rPr>
              <a:t>typing</a:t>
            </a:r>
            <a:r>
              <a:rPr lang="ru-RU" sz="2800" dirty="0">
                <a:solidFill>
                  <a:srgbClr val="3659BA"/>
                </a:solidFill>
              </a:rPr>
              <a:t>', '_</a:t>
            </a:r>
            <a:r>
              <a:rPr lang="ru-RU" sz="2800" dirty="0" err="1">
                <a:solidFill>
                  <a:srgbClr val="3659BA"/>
                </a:solidFill>
              </a:rPr>
              <a:t>warnings</a:t>
            </a:r>
            <a:r>
              <a:rPr lang="ru-RU" sz="2800" dirty="0">
                <a:solidFill>
                  <a:srgbClr val="3659BA"/>
                </a:solidFill>
              </a:rPr>
              <a:t>', '_</a:t>
            </a:r>
            <a:r>
              <a:rPr lang="ru-RU" sz="2800" dirty="0" err="1">
                <a:solidFill>
                  <a:srgbClr val="3659BA"/>
                </a:solidFill>
              </a:rPr>
              <a:t>weakref</a:t>
            </a:r>
            <a:r>
              <a:rPr lang="ru-RU" sz="2800" dirty="0">
                <a:solidFill>
                  <a:srgbClr val="3659BA"/>
                </a:solidFill>
              </a:rPr>
              <a:t>', '_</a:t>
            </a:r>
            <a:r>
              <a:rPr lang="ru-RU" sz="2800" dirty="0" err="1">
                <a:solidFill>
                  <a:srgbClr val="3659BA"/>
                </a:solidFill>
              </a:rPr>
              <a:t>winapi</a:t>
            </a:r>
            <a:r>
              <a:rPr lang="ru-RU" sz="2800" dirty="0">
                <a:solidFill>
                  <a:srgbClr val="3659BA"/>
                </a:solidFill>
              </a:rPr>
              <a:t>', '_</a:t>
            </a:r>
            <a:r>
              <a:rPr lang="ru-RU" sz="2800" dirty="0" err="1">
                <a:solidFill>
                  <a:srgbClr val="3659BA"/>
                </a:solidFill>
              </a:rPr>
              <a:t>xxsubinterpreters</a:t>
            </a:r>
            <a:r>
              <a:rPr lang="ru-RU" sz="2800" dirty="0">
                <a:solidFill>
                  <a:srgbClr val="3659BA"/>
                </a:solidFill>
              </a:rPr>
              <a:t>', '</a:t>
            </a:r>
            <a:r>
              <a:rPr lang="ru-RU" sz="2800" dirty="0" err="1">
                <a:solidFill>
                  <a:srgbClr val="3659BA"/>
                </a:solidFill>
              </a:rPr>
              <a:t>array</a:t>
            </a:r>
            <a:r>
              <a:rPr lang="ru-RU" sz="2800" dirty="0">
                <a:solidFill>
                  <a:srgbClr val="3659BA"/>
                </a:solidFill>
              </a:rPr>
              <a:t>', '</a:t>
            </a:r>
            <a:r>
              <a:rPr lang="ru-RU" sz="2800" dirty="0" err="1">
                <a:solidFill>
                  <a:srgbClr val="3659BA"/>
                </a:solidFill>
              </a:rPr>
              <a:t>atexit</a:t>
            </a:r>
            <a:r>
              <a:rPr lang="ru-RU" sz="2800" dirty="0">
                <a:solidFill>
                  <a:srgbClr val="3659BA"/>
                </a:solidFill>
              </a:rPr>
              <a:t>', '</a:t>
            </a:r>
            <a:r>
              <a:rPr lang="ru-RU" sz="2800" dirty="0" err="1">
                <a:solidFill>
                  <a:srgbClr val="3659BA"/>
                </a:solidFill>
              </a:rPr>
              <a:t>audioop</a:t>
            </a:r>
            <a:r>
              <a:rPr lang="ru-RU" sz="2800" dirty="0">
                <a:solidFill>
                  <a:srgbClr val="3659BA"/>
                </a:solidFill>
              </a:rPr>
              <a:t>', '</a:t>
            </a:r>
            <a:r>
              <a:rPr lang="ru-RU" sz="2800" dirty="0" err="1">
                <a:solidFill>
                  <a:srgbClr val="3659BA"/>
                </a:solidFill>
              </a:rPr>
              <a:t>binascii</a:t>
            </a:r>
            <a:r>
              <a:rPr lang="ru-RU" sz="2800" dirty="0">
                <a:solidFill>
                  <a:srgbClr val="3659BA"/>
                </a:solidFill>
              </a:rPr>
              <a:t>', '</a:t>
            </a:r>
            <a:r>
              <a:rPr lang="ru-RU" sz="2800" dirty="0" err="1">
                <a:solidFill>
                  <a:srgbClr val="3659BA"/>
                </a:solidFill>
              </a:rPr>
              <a:t>builtins</a:t>
            </a:r>
            <a:r>
              <a:rPr lang="ru-RU" sz="2800" dirty="0">
                <a:solidFill>
                  <a:srgbClr val="3659BA"/>
                </a:solidFill>
              </a:rPr>
              <a:t>', '</a:t>
            </a:r>
            <a:r>
              <a:rPr lang="ru-RU" sz="2800" dirty="0" err="1">
                <a:solidFill>
                  <a:srgbClr val="3659BA"/>
                </a:solidFill>
              </a:rPr>
              <a:t>cmath</a:t>
            </a:r>
            <a:r>
              <a:rPr lang="ru-RU" sz="2800" dirty="0">
                <a:solidFill>
                  <a:srgbClr val="3659BA"/>
                </a:solidFill>
              </a:rPr>
              <a:t>', '</a:t>
            </a:r>
            <a:r>
              <a:rPr lang="ru-RU" sz="2800" dirty="0" err="1">
                <a:solidFill>
                  <a:srgbClr val="3659BA"/>
                </a:solidFill>
              </a:rPr>
              <a:t>errno</a:t>
            </a:r>
            <a:r>
              <a:rPr lang="ru-RU" sz="2800" dirty="0">
                <a:solidFill>
                  <a:srgbClr val="3659BA"/>
                </a:solidFill>
              </a:rPr>
              <a:t>', '</a:t>
            </a:r>
            <a:r>
              <a:rPr lang="ru-RU" sz="2800" dirty="0" err="1">
                <a:solidFill>
                  <a:srgbClr val="3659BA"/>
                </a:solidFill>
              </a:rPr>
              <a:t>faulthandler</a:t>
            </a:r>
            <a:r>
              <a:rPr lang="ru-RU" sz="2800" dirty="0">
                <a:solidFill>
                  <a:srgbClr val="3659BA"/>
                </a:solidFill>
              </a:rPr>
              <a:t>', '</a:t>
            </a:r>
            <a:r>
              <a:rPr lang="ru-RU" sz="2800" dirty="0" err="1">
                <a:solidFill>
                  <a:srgbClr val="3659BA"/>
                </a:solidFill>
              </a:rPr>
              <a:t>gc</a:t>
            </a:r>
            <a:r>
              <a:rPr lang="ru-RU" sz="2800" dirty="0">
                <a:solidFill>
                  <a:srgbClr val="3659BA"/>
                </a:solidFill>
              </a:rPr>
              <a:t>', '</a:t>
            </a:r>
            <a:r>
              <a:rPr lang="ru-RU" sz="2800" dirty="0" err="1">
                <a:solidFill>
                  <a:srgbClr val="3659BA"/>
                </a:solidFill>
              </a:rPr>
              <a:t>itertools</a:t>
            </a:r>
            <a:r>
              <a:rPr lang="ru-RU" sz="2800" dirty="0">
                <a:solidFill>
                  <a:srgbClr val="3659BA"/>
                </a:solidFill>
              </a:rPr>
              <a:t>', '</a:t>
            </a:r>
            <a:r>
              <a:rPr lang="ru-RU" sz="2800" dirty="0" err="1">
                <a:solidFill>
                  <a:srgbClr val="3659BA"/>
                </a:solidFill>
              </a:rPr>
              <a:t>marshal</a:t>
            </a:r>
            <a:r>
              <a:rPr lang="ru-RU" sz="2800" dirty="0">
                <a:solidFill>
                  <a:srgbClr val="3659BA"/>
                </a:solidFill>
              </a:rPr>
              <a:t>', '</a:t>
            </a:r>
            <a:r>
              <a:rPr lang="ru-RU" sz="2800" dirty="0" err="1">
                <a:solidFill>
                  <a:srgbClr val="3659BA"/>
                </a:solidFill>
              </a:rPr>
              <a:t>math</a:t>
            </a:r>
            <a:r>
              <a:rPr lang="ru-RU" sz="2800" dirty="0">
                <a:solidFill>
                  <a:srgbClr val="3659BA"/>
                </a:solidFill>
              </a:rPr>
              <a:t>', '</a:t>
            </a:r>
            <a:r>
              <a:rPr lang="ru-RU" sz="2800" dirty="0" err="1">
                <a:solidFill>
                  <a:srgbClr val="3659BA"/>
                </a:solidFill>
              </a:rPr>
              <a:t>mmap</a:t>
            </a:r>
            <a:r>
              <a:rPr lang="ru-RU" sz="2800" dirty="0">
                <a:solidFill>
                  <a:srgbClr val="3659BA"/>
                </a:solidFill>
              </a:rPr>
              <a:t>', '</a:t>
            </a:r>
            <a:r>
              <a:rPr lang="ru-RU" sz="2800" dirty="0" err="1">
                <a:solidFill>
                  <a:srgbClr val="3659BA"/>
                </a:solidFill>
              </a:rPr>
              <a:t>msvcrt</a:t>
            </a:r>
            <a:r>
              <a:rPr lang="ru-RU" sz="2800" dirty="0">
                <a:solidFill>
                  <a:srgbClr val="3659BA"/>
                </a:solidFill>
              </a:rPr>
              <a:t>', '</a:t>
            </a:r>
            <a:r>
              <a:rPr lang="ru-RU" sz="2800" dirty="0" err="1">
                <a:solidFill>
                  <a:srgbClr val="3659BA"/>
                </a:solidFill>
              </a:rPr>
              <a:t>nt</a:t>
            </a:r>
            <a:r>
              <a:rPr lang="ru-RU" sz="2800" dirty="0">
                <a:solidFill>
                  <a:srgbClr val="3659BA"/>
                </a:solidFill>
              </a:rPr>
              <a:t>', '</a:t>
            </a:r>
            <a:r>
              <a:rPr lang="ru-RU" sz="2800" dirty="0" err="1">
                <a:solidFill>
                  <a:srgbClr val="3659BA"/>
                </a:solidFill>
              </a:rPr>
              <a:t>sys</a:t>
            </a:r>
            <a:r>
              <a:rPr lang="ru-RU" sz="2800" dirty="0">
                <a:solidFill>
                  <a:srgbClr val="3659BA"/>
                </a:solidFill>
              </a:rPr>
              <a:t>', '</a:t>
            </a:r>
            <a:r>
              <a:rPr lang="ru-RU" sz="2800" dirty="0" err="1">
                <a:solidFill>
                  <a:srgbClr val="3659BA"/>
                </a:solidFill>
              </a:rPr>
              <a:t>time</a:t>
            </a:r>
            <a:r>
              <a:rPr lang="ru-RU" sz="2800" dirty="0">
                <a:solidFill>
                  <a:srgbClr val="3659BA"/>
                </a:solidFill>
              </a:rPr>
              <a:t>', '</a:t>
            </a:r>
            <a:r>
              <a:rPr lang="ru-RU" sz="2800" dirty="0" err="1">
                <a:solidFill>
                  <a:srgbClr val="3659BA"/>
                </a:solidFill>
              </a:rPr>
              <a:t>winreg</a:t>
            </a:r>
            <a:r>
              <a:rPr lang="ru-RU" sz="2800" dirty="0">
                <a:solidFill>
                  <a:srgbClr val="3659BA"/>
                </a:solidFill>
              </a:rPr>
              <a:t>', '</a:t>
            </a:r>
            <a:r>
              <a:rPr lang="ru-RU" sz="2800" dirty="0" err="1">
                <a:solidFill>
                  <a:srgbClr val="3659BA"/>
                </a:solidFill>
              </a:rPr>
              <a:t>xxsubtype</a:t>
            </a:r>
            <a:r>
              <a:rPr lang="ru-RU" sz="2800" dirty="0">
                <a:solidFill>
                  <a:srgbClr val="3659BA"/>
                </a:solidFill>
              </a:rPr>
              <a:t>', '</a:t>
            </a:r>
            <a:r>
              <a:rPr lang="ru-RU" sz="2800" dirty="0" err="1">
                <a:solidFill>
                  <a:srgbClr val="3659BA"/>
                </a:solidFill>
              </a:rPr>
              <a:t>zlib</a:t>
            </a:r>
            <a:r>
              <a:rPr lang="ru-RU" sz="2800" dirty="0">
                <a:solidFill>
                  <a:srgbClr val="3659BA"/>
                </a:solidFill>
              </a:rPr>
              <a:t>')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9855081" y="427827"/>
            <a:ext cx="2239926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100" dirty="0"/>
              <a:t>Модуль </a:t>
            </a:r>
            <a:r>
              <a:rPr lang="ru-RU" sz="1100" dirty="0" err="1"/>
              <a:t>sys</a:t>
            </a:r>
            <a:r>
              <a:rPr lang="ru-RU" sz="1100" dirty="0"/>
              <a:t> предоставляет программисту набор функций, которые дают информацию о том, как интерпретатор Python взаимодействует с операционной системой</a:t>
            </a:r>
            <a:r>
              <a:rPr lang="en-US" sz="1100" dirty="0"/>
              <a:t> </a:t>
            </a:r>
            <a:r>
              <a:rPr lang="ru-RU" sz="1100" dirty="0"/>
              <a:t>и позволяют напрямую взаимодействовать нам с </a:t>
            </a:r>
            <a:r>
              <a:rPr lang="ru-RU" sz="1100" dirty="0" smtClean="0"/>
              <a:t>интерпретатором</a:t>
            </a:r>
          </a:p>
          <a:p>
            <a:r>
              <a:rPr lang="ru-RU" sz="1100" dirty="0" smtClean="0"/>
              <a:t>Предоставляет инфо о версии Питона, пути к интерпретатору, параметрах командной строки, флагах интерпретатора…….</a:t>
            </a: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xmlns="" val="1318201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652" y="170121"/>
            <a:ext cx="10058400" cy="727743"/>
          </a:xfrm>
        </p:spPr>
        <p:txBody>
          <a:bodyPr>
            <a:normAutofit/>
          </a:bodyPr>
          <a:lstStyle/>
          <a:p>
            <a:r>
              <a:rPr lang="ru-RU" dirty="0" smtClean="0"/>
              <a:t>Модули и пакеты - классификация</a:t>
            </a:r>
            <a:endParaRPr lang="ru-RU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292347" y="1958779"/>
            <a:ext cx="11137652" cy="18821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157113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ru-RU" sz="2800" dirty="0" smtClean="0"/>
              <a:t>2. 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</a:rPr>
              <a:t>Стандартная библиотека (</a:t>
            </a:r>
            <a:r>
              <a:rPr kumimoji="0" lang="ru-RU" altLang="ru-RU" sz="2800" b="0" i="1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</a:rPr>
              <a:t>англ.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</a:rPr>
              <a:t> 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</a:rPr>
              <a:t>Standard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</a:rPr>
              <a:t> 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</a:rPr>
              <a:t>Library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</a:rPr>
              <a:t>Модули и пакеты, написанные на Python, предоставляющие расширенные возможности, например, </a:t>
            </a:r>
            <a:r>
              <a:rPr kumimoji="0" lang="ru-RU" altLang="ru-RU" sz="2800" b="1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hlinkClick r:id="rId3" tooltip="json"/>
              </a:rPr>
              <a:t>json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</a:rPr>
              <a:t> или </a:t>
            </a:r>
            <a:r>
              <a:rPr kumimoji="0" lang="ru-RU" altLang="ru-RU" sz="2800" b="1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hlinkClick r:id="rId4" tooltip="os"/>
              </a:rPr>
              <a:t>os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774093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652" y="170121"/>
            <a:ext cx="10058400" cy="727743"/>
          </a:xfrm>
        </p:spPr>
        <p:txBody>
          <a:bodyPr>
            <a:normAutofit/>
          </a:bodyPr>
          <a:lstStyle/>
          <a:p>
            <a:r>
              <a:rPr lang="ru-RU" dirty="0" smtClean="0"/>
              <a:t>Модули и пакеты - классификация</a:t>
            </a:r>
            <a:endParaRPr lang="ru-RU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562275" y="897864"/>
            <a:ext cx="10655547" cy="2246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</a:rPr>
              <a:t>3.</a:t>
            </a:r>
            <a:r>
              <a:rPr kumimoji="0" lang="en-US" altLang="ru-RU" sz="2800" b="0" i="0" u="none" strike="noStrike" cap="none" normalizeH="0" dirty="0" smtClean="0">
                <a:ln>
                  <a:noFill/>
                </a:ln>
                <a:solidFill>
                  <a:srgbClr val="404040"/>
                </a:solidFill>
                <a:effectLst/>
              </a:rPr>
              <a:t> 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</a:rPr>
              <a:t>Сторонние (</a:t>
            </a:r>
            <a:r>
              <a:rPr kumimoji="0" lang="ru-RU" altLang="ru-RU" sz="2800" b="0" i="1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</a:rPr>
              <a:t>англ.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</a:rPr>
              <a:t> 3rd 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</a:rPr>
              <a:t>Party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</a:rPr>
              <a:t>).</a:t>
            </a:r>
            <a:endParaRPr kumimoji="0" lang="ru-RU" altLang="ru-RU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Модули и пакеты, которые не входят в дистрибутив Python, и могут быть установлены из 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1B7A41"/>
                </a:solidFill>
                <a:effectLst/>
                <a:hlinkClick r:id="rId3"/>
              </a:rPr>
              <a:t>каталога пакетов Python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 (</a:t>
            </a:r>
            <a:r>
              <a:rPr kumimoji="0" lang="ru-RU" altLang="ru-RU" sz="28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англ.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 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PyPI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- 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the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Python 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Package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Index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более 90.000 пакетов) с помощью утилиты 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rgbClr val="E74C3C"/>
                </a:solidFill>
                <a:effectLst/>
              </a:rPr>
              <a:t>pip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endParaRPr kumimoji="0" lang="en-US" altLang="ru-RU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i="1" dirty="0" smtClean="0"/>
              <a:t>python </a:t>
            </a:r>
            <a:r>
              <a:rPr lang="en-US" sz="2800" i="1" dirty="0"/>
              <a:t>-m pip install -U pip</a:t>
            </a:r>
            <a:endParaRPr kumimoji="0" lang="ru-RU" altLang="ru-RU" sz="2800" b="0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4393" y="3144633"/>
            <a:ext cx="12167607" cy="3531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50611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652" y="170121"/>
            <a:ext cx="10058400" cy="727743"/>
          </a:xfrm>
        </p:spPr>
        <p:txBody>
          <a:bodyPr>
            <a:normAutofit/>
          </a:bodyPr>
          <a:lstStyle/>
          <a:p>
            <a:r>
              <a:rPr lang="ru-RU" dirty="0" smtClean="0"/>
              <a:t>Модули и пакеты - классификация</a:t>
            </a:r>
            <a:endParaRPr lang="ru-RU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616064" y="1113598"/>
            <a:ext cx="10655547" cy="13849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</a:rPr>
              <a:t>3.</a:t>
            </a:r>
            <a:r>
              <a:rPr kumimoji="0" lang="en-US" altLang="ru-RU" sz="2800" b="0" i="0" u="none" strike="noStrike" cap="none" normalizeH="0" dirty="0" smtClean="0">
                <a:ln>
                  <a:noFill/>
                </a:ln>
                <a:solidFill>
                  <a:srgbClr val="404040"/>
                </a:solidFill>
                <a:effectLst/>
              </a:rPr>
              <a:t> 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</a:rPr>
              <a:t>Сторонние (</a:t>
            </a:r>
            <a:r>
              <a:rPr kumimoji="0" lang="ru-RU" altLang="ru-RU" sz="2800" b="0" i="1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</a:rPr>
              <a:t>англ.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</a:rPr>
              <a:t> 3rd 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</a:rPr>
              <a:t>Party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</a:rPr>
              <a:t>).</a:t>
            </a:r>
            <a:endParaRPr kumimoji="0" lang="ru-RU" altLang="ru-RU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ru-RU" sz="2800" dirty="0"/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Установка с помощью </a:t>
            </a:r>
            <a:r>
              <a:rPr kumimoji="0" lang="en-US" alt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pip:       </a:t>
            </a:r>
            <a:r>
              <a:rPr kumimoji="0" lang="en-US" altLang="ru-RU" sz="28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pip</a:t>
            </a:r>
            <a:r>
              <a:rPr kumimoji="0" lang="en-US" altLang="ru-RU" sz="2800" b="0" i="1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install &lt;</a:t>
            </a:r>
            <a:r>
              <a:rPr kumimoji="0" lang="en-US" altLang="ru-RU" sz="2800" b="0" i="1" u="none" strike="noStrike" cap="none" normalizeH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packageName</a:t>
            </a:r>
            <a:r>
              <a:rPr kumimoji="0" lang="en-US" altLang="ru-RU" sz="2800" b="0" i="1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&gt;</a:t>
            </a:r>
            <a:endParaRPr kumimoji="0" lang="ru-RU" altLang="ru-RU" sz="2800" b="0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3144632"/>
            <a:ext cx="12055930" cy="1857674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241034" y="5648345"/>
            <a:ext cx="1140560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rgbClr val="404040"/>
                </a:solidFill>
              </a:rPr>
              <a:t>При установке пакета автоматически устанавливаются зависимые пакеты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xmlns="" val="3388182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652" y="170121"/>
            <a:ext cx="10058400" cy="727743"/>
          </a:xfrm>
        </p:spPr>
        <p:txBody>
          <a:bodyPr>
            <a:normAutofit/>
          </a:bodyPr>
          <a:lstStyle/>
          <a:p>
            <a:r>
              <a:rPr lang="ru-RU" dirty="0" smtClean="0"/>
              <a:t>Модули и пакеты - классификация</a:t>
            </a:r>
            <a:endParaRPr lang="ru-RU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642958" y="1490116"/>
            <a:ext cx="10655547" cy="13849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ru-RU" sz="2800" dirty="0" smtClean="0">
                <a:solidFill>
                  <a:srgbClr val="404040"/>
                </a:solidFill>
              </a:rPr>
              <a:t>4. </a:t>
            </a:r>
            <a:r>
              <a:rPr lang="ru-RU" sz="2800" dirty="0"/>
              <a:t>Пользовательские (собственные</a:t>
            </a:r>
            <a:r>
              <a:rPr lang="ru-RU" sz="2800" dirty="0" smtClean="0"/>
              <a:t>)</a:t>
            </a:r>
            <a:endParaRPr lang="en-US" sz="2800" dirty="0" smtClean="0"/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ru-RU" altLang="ru-RU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sz="2800" dirty="0"/>
              <a:t>Модули и пакеты, создаваемые разработчиком</a:t>
            </a:r>
            <a:endParaRPr kumimoji="0" lang="ru-RU" altLang="ru-RU" sz="2800" b="0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91509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6447" y="197016"/>
            <a:ext cx="9654988" cy="932537"/>
          </a:xfrm>
        </p:spPr>
        <p:txBody>
          <a:bodyPr>
            <a:normAutofit/>
          </a:bodyPr>
          <a:lstStyle/>
          <a:p>
            <a:r>
              <a:rPr lang="ru-RU" dirty="0" smtClean="0"/>
              <a:t>Модули и пакеты – подключение  </a:t>
            </a:r>
            <a:endParaRPr lang="ru-RU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454699" y="2238976"/>
            <a:ext cx="9818854" cy="187743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800" dirty="0" smtClean="0">
                <a:solidFill>
                  <a:srgbClr val="404040"/>
                </a:solidFill>
              </a:rPr>
              <a:t>Порядок импортирования модулей/пакетов: 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800" dirty="0" smtClean="0">
                <a:solidFill>
                  <a:srgbClr val="404040"/>
                </a:solidFill>
              </a:rPr>
              <a:t>от встроенных до собственных</a:t>
            </a:r>
            <a:r>
              <a:rPr lang="en-US" altLang="ru-RU" sz="2800" dirty="0" smtClean="0">
                <a:solidFill>
                  <a:srgbClr val="404040"/>
                </a:solidFill>
              </a:rPr>
              <a:t> (</a:t>
            </a:r>
            <a:r>
              <a:rPr lang="ru-RU" altLang="ru-RU" sz="2800" dirty="0" smtClean="0">
                <a:solidFill>
                  <a:srgbClr val="404040"/>
                </a:solidFill>
              </a:rPr>
              <a:t>инструкция в начале файла</a:t>
            </a:r>
            <a:r>
              <a:rPr lang="en-US" altLang="ru-RU" sz="2800" dirty="0" smtClean="0">
                <a:solidFill>
                  <a:srgbClr val="404040"/>
                </a:solidFill>
              </a:rPr>
              <a:t>)</a:t>
            </a:r>
            <a:endParaRPr lang="ru-RU" altLang="ru-RU" sz="2800" dirty="0" smtClean="0">
              <a:solidFill>
                <a:srgbClr val="404040"/>
              </a:solidFill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ru-RU" altLang="ru-RU" sz="2800" b="0" i="1" u="none" strike="noStrike" cap="none" normalizeH="0" baseline="0" dirty="0">
              <a:ln>
                <a:noFill/>
              </a:ln>
              <a:solidFill>
                <a:srgbClr val="404040"/>
              </a:solidFill>
              <a:effectLst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ru-RU" sz="3200" b="1" i="1" dirty="0" smtClean="0">
                <a:solidFill>
                  <a:srgbClr val="404040"/>
                </a:solidFill>
              </a:rPr>
              <a:t>import &lt;</a:t>
            </a:r>
            <a:r>
              <a:rPr lang="en-US" altLang="ru-RU" sz="3200" b="1" i="1" dirty="0" err="1" smtClean="0">
                <a:solidFill>
                  <a:srgbClr val="404040"/>
                </a:solidFill>
              </a:rPr>
              <a:t>packageName</a:t>
            </a:r>
            <a:r>
              <a:rPr lang="en-US" altLang="ru-RU" sz="3200" b="1" i="1" dirty="0" smtClean="0">
                <a:solidFill>
                  <a:srgbClr val="404040"/>
                </a:solidFill>
              </a:rPr>
              <a:t>&gt;</a:t>
            </a:r>
            <a:endParaRPr kumimoji="0" lang="ru-RU" altLang="ru-RU" sz="3200" b="1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66945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6447" y="0"/>
            <a:ext cx="9654988" cy="717384"/>
          </a:xfrm>
        </p:spPr>
        <p:txBody>
          <a:bodyPr>
            <a:normAutofit/>
          </a:bodyPr>
          <a:lstStyle/>
          <a:p>
            <a:r>
              <a:rPr lang="ru-RU" dirty="0" smtClean="0"/>
              <a:t>Модули – подключение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81498" y="717384"/>
            <a:ext cx="12055084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 smtClean="0"/>
              <a:t>Способ </a:t>
            </a:r>
            <a:r>
              <a:rPr lang="ru-RU" sz="2800" b="1" dirty="0"/>
              <a:t>№</a:t>
            </a:r>
            <a:r>
              <a:rPr lang="ru-RU" sz="2800" b="1" dirty="0" smtClean="0"/>
              <a:t>1 -  </a:t>
            </a:r>
            <a:r>
              <a:rPr lang="ru-RU" sz="2800" b="1" dirty="0"/>
              <a:t>В данном способе обратиться к </a:t>
            </a:r>
            <a:r>
              <a:rPr lang="ru-RU" sz="2800" b="1" dirty="0" smtClean="0"/>
              <a:t>элементу модуля </a:t>
            </a:r>
            <a:r>
              <a:rPr lang="ru-RU" sz="2800" b="1" dirty="0"/>
              <a:t>можно с указанием модуля</a:t>
            </a:r>
            <a:r>
              <a:rPr lang="ru-RU" sz="2800" b="1" dirty="0" smtClean="0"/>
              <a:t>,  </a:t>
            </a:r>
            <a:r>
              <a:rPr lang="ru-RU" sz="2800" b="1" dirty="0"/>
              <a:t>например, module_1.object_1</a:t>
            </a:r>
          </a:p>
          <a:p>
            <a:endParaRPr lang="ru-RU" sz="2800" dirty="0"/>
          </a:p>
          <a:p>
            <a:r>
              <a:rPr lang="ru-RU" sz="2800" i="1" dirty="0"/>
              <a:t># Импортирует модуль 'module_1'</a:t>
            </a:r>
          </a:p>
          <a:p>
            <a:r>
              <a:rPr lang="ru-RU" sz="2800" dirty="0" err="1"/>
              <a:t>import</a:t>
            </a:r>
            <a:r>
              <a:rPr lang="ru-RU" sz="2800" dirty="0"/>
              <a:t> module_1</a:t>
            </a:r>
          </a:p>
          <a:p>
            <a:endParaRPr lang="ru-RU" sz="2800" dirty="0"/>
          </a:p>
          <a:p>
            <a:r>
              <a:rPr lang="ru-RU" sz="2800" i="1" dirty="0"/>
              <a:t># Импортирует модули 'module_1', 'module_2',..., '</a:t>
            </a:r>
            <a:r>
              <a:rPr lang="ru-RU" sz="2800" i="1" dirty="0" err="1"/>
              <a:t>module_n</a:t>
            </a:r>
            <a:r>
              <a:rPr lang="ru-RU" sz="2800" i="1" dirty="0"/>
              <a:t>'</a:t>
            </a:r>
          </a:p>
          <a:p>
            <a:r>
              <a:rPr lang="ru-RU" sz="2800" dirty="0" err="1"/>
              <a:t>import</a:t>
            </a:r>
            <a:r>
              <a:rPr lang="ru-RU" sz="2800" dirty="0"/>
              <a:t> module_1, module_2, ..., </a:t>
            </a:r>
            <a:r>
              <a:rPr lang="ru-RU" sz="2800" dirty="0" err="1"/>
              <a:t>module_n</a:t>
            </a:r>
            <a:endParaRPr lang="ru-RU" sz="2800" dirty="0"/>
          </a:p>
          <a:p>
            <a:endParaRPr lang="ru-RU" sz="2800" dirty="0"/>
          </a:p>
          <a:p>
            <a:r>
              <a:rPr lang="ru-RU" sz="2800" i="1" dirty="0"/>
              <a:t># Импортирует модуль 'module_1' под псевдонимом '</a:t>
            </a:r>
            <a:r>
              <a:rPr lang="ru-RU" sz="2800" i="1" dirty="0" err="1"/>
              <a:t>preferred_name</a:t>
            </a:r>
            <a:r>
              <a:rPr lang="ru-RU" sz="2800" i="1" dirty="0"/>
              <a:t>'</a:t>
            </a:r>
          </a:p>
          <a:p>
            <a:r>
              <a:rPr lang="ru-RU" sz="2800" dirty="0" err="1"/>
              <a:t>import</a:t>
            </a:r>
            <a:r>
              <a:rPr lang="ru-RU" sz="2800" dirty="0"/>
              <a:t> module_1 </a:t>
            </a:r>
            <a:r>
              <a:rPr lang="ru-RU" sz="2800" dirty="0" err="1"/>
              <a:t>as</a:t>
            </a:r>
            <a:r>
              <a:rPr lang="ru-RU" sz="2800" dirty="0"/>
              <a:t> </a:t>
            </a:r>
            <a:r>
              <a:rPr lang="ru-RU" sz="2800" dirty="0" err="1"/>
              <a:t>preferred_name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xmlns="" val="972375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6447" y="0"/>
            <a:ext cx="9654988" cy="717384"/>
          </a:xfrm>
        </p:spPr>
        <p:txBody>
          <a:bodyPr>
            <a:normAutofit/>
          </a:bodyPr>
          <a:lstStyle/>
          <a:p>
            <a:r>
              <a:rPr lang="ru-RU" dirty="0" smtClean="0"/>
              <a:t>Модули  – подключение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717384"/>
            <a:ext cx="12191999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 smtClean="0"/>
              <a:t>Способ </a:t>
            </a:r>
            <a:r>
              <a:rPr lang="ru-RU" sz="2800" b="1" dirty="0"/>
              <a:t>№2 - В данном способе обратиться к члену модуля можно без указания модуля, например, </a:t>
            </a:r>
            <a:r>
              <a:rPr lang="en-US" sz="2800" b="1" dirty="0"/>
              <a:t>object_1</a:t>
            </a:r>
          </a:p>
          <a:p>
            <a:endParaRPr lang="en-US" sz="2800" b="1" dirty="0"/>
          </a:p>
          <a:p>
            <a:r>
              <a:rPr lang="en-US" sz="2800" i="1" dirty="0"/>
              <a:t># </a:t>
            </a:r>
            <a:r>
              <a:rPr lang="ru-RU" sz="2800" i="1" dirty="0"/>
              <a:t>Импортирует '</a:t>
            </a:r>
            <a:r>
              <a:rPr lang="en-US" sz="2800" i="1" dirty="0"/>
              <a:t>object' </a:t>
            </a:r>
            <a:r>
              <a:rPr lang="ru-RU" sz="2800" i="1" dirty="0"/>
              <a:t>под псевдонимом '</a:t>
            </a:r>
            <a:r>
              <a:rPr lang="en-US" sz="2800" i="1" dirty="0" err="1"/>
              <a:t>preferred_name</a:t>
            </a:r>
            <a:r>
              <a:rPr lang="en-US" sz="2800" i="1" dirty="0"/>
              <a:t>' </a:t>
            </a:r>
            <a:r>
              <a:rPr lang="ru-RU" sz="2400" i="1" dirty="0"/>
              <a:t>из модуля '</a:t>
            </a:r>
            <a:r>
              <a:rPr lang="en-US" sz="2400" i="1" dirty="0"/>
              <a:t>module_1'</a:t>
            </a:r>
          </a:p>
          <a:p>
            <a:r>
              <a:rPr lang="en-US" sz="2800" dirty="0"/>
              <a:t>from module_1 import object as </a:t>
            </a:r>
            <a:r>
              <a:rPr lang="en-US" sz="2800" dirty="0" err="1"/>
              <a:t>preferred_name</a:t>
            </a:r>
            <a:endParaRPr lang="en-US" sz="2800" dirty="0"/>
          </a:p>
          <a:p>
            <a:endParaRPr lang="en-US" sz="2800" dirty="0"/>
          </a:p>
          <a:p>
            <a:r>
              <a:rPr lang="en-US" sz="2800" i="1" dirty="0"/>
              <a:t># </a:t>
            </a:r>
            <a:r>
              <a:rPr lang="ru-RU" sz="2800" i="1" dirty="0"/>
              <a:t>Импортирует объекты '</a:t>
            </a:r>
            <a:r>
              <a:rPr lang="en-US" sz="2800" i="1" dirty="0"/>
              <a:t>object_1', ..., '</a:t>
            </a:r>
            <a:r>
              <a:rPr lang="en-US" sz="2800" i="1" dirty="0" err="1"/>
              <a:t>object_n</a:t>
            </a:r>
            <a:r>
              <a:rPr lang="en-US" sz="2800" i="1" dirty="0"/>
              <a:t>' </a:t>
            </a:r>
            <a:r>
              <a:rPr lang="ru-RU" sz="2800" i="1" dirty="0"/>
              <a:t>из модуля '</a:t>
            </a:r>
            <a:r>
              <a:rPr lang="en-US" sz="2800" i="1" dirty="0"/>
              <a:t>module_1'</a:t>
            </a:r>
          </a:p>
          <a:p>
            <a:r>
              <a:rPr lang="en-US" sz="2800" dirty="0"/>
              <a:t>from module_1 import object_1, object_2, ..., </a:t>
            </a:r>
            <a:r>
              <a:rPr lang="en-US" sz="2800" dirty="0" err="1"/>
              <a:t>object_n</a:t>
            </a:r>
            <a:endParaRPr lang="en-US" sz="2800" dirty="0"/>
          </a:p>
          <a:p>
            <a:endParaRPr lang="en-US" sz="2800" dirty="0"/>
          </a:p>
          <a:p>
            <a:r>
              <a:rPr lang="en-US" sz="2800" i="1" dirty="0"/>
              <a:t># </a:t>
            </a:r>
            <a:r>
              <a:rPr lang="ru-RU" sz="2800" i="1" dirty="0"/>
              <a:t>Импортирует все объекты из модуля '</a:t>
            </a:r>
            <a:r>
              <a:rPr lang="en-US" sz="2800" i="1" dirty="0"/>
              <a:t>module_1'</a:t>
            </a:r>
          </a:p>
          <a:p>
            <a:r>
              <a:rPr lang="en-US" sz="2800" dirty="0"/>
              <a:t>from module_1 import *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xmlns="" val="4220702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738" y="415637"/>
            <a:ext cx="9654988" cy="717384"/>
          </a:xfrm>
        </p:spPr>
        <p:txBody>
          <a:bodyPr>
            <a:normAutofit/>
          </a:bodyPr>
          <a:lstStyle/>
          <a:p>
            <a:r>
              <a:rPr lang="ru-RU" dirty="0" smtClean="0"/>
              <a:t>Пакеты – подключение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128738" y="2546184"/>
            <a:ext cx="9587345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i="1" dirty="0"/>
              <a:t># Импортирует пакет '</a:t>
            </a:r>
            <a:r>
              <a:rPr lang="en-US" sz="2800" i="1" dirty="0"/>
              <a:t>package_1'</a:t>
            </a:r>
          </a:p>
          <a:p>
            <a:r>
              <a:rPr lang="en-US" sz="2800" dirty="0"/>
              <a:t>import package_1</a:t>
            </a:r>
          </a:p>
          <a:p>
            <a:endParaRPr lang="en-US" sz="2800" dirty="0"/>
          </a:p>
          <a:p>
            <a:r>
              <a:rPr lang="en-US" sz="2800" i="1" dirty="0"/>
              <a:t># </a:t>
            </a:r>
            <a:r>
              <a:rPr lang="ru-RU" sz="2800" i="1" dirty="0"/>
              <a:t>Импортирует модуль '</a:t>
            </a:r>
            <a:r>
              <a:rPr lang="en-US" sz="2800" i="1" dirty="0"/>
              <a:t>module_1' </a:t>
            </a:r>
            <a:r>
              <a:rPr lang="ru-RU" sz="2800" i="1" dirty="0"/>
              <a:t>из пакета '</a:t>
            </a:r>
            <a:r>
              <a:rPr lang="en-US" sz="2800" i="1" dirty="0"/>
              <a:t>package_1'</a:t>
            </a:r>
          </a:p>
          <a:p>
            <a:r>
              <a:rPr lang="en-US" sz="2800" dirty="0"/>
              <a:t>import package_1.module_1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xmlns="" val="4165799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21673" y="1936584"/>
            <a:ext cx="11693236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i="1" dirty="0" smtClean="0"/>
              <a:t># </a:t>
            </a:r>
            <a:r>
              <a:rPr lang="ru-RU" sz="2800" i="1" dirty="0" smtClean="0"/>
              <a:t>Использование любого элемента модуля </a:t>
            </a:r>
            <a:r>
              <a:rPr lang="en-US" sz="2800" i="1" dirty="0" smtClean="0"/>
              <a:t>math </a:t>
            </a:r>
            <a:r>
              <a:rPr lang="ru-RU" sz="2800" i="1" dirty="0" smtClean="0"/>
              <a:t>возможно через</a:t>
            </a:r>
          </a:p>
          <a:p>
            <a:r>
              <a:rPr lang="ru-RU" sz="2800" i="1" dirty="0" smtClean="0"/>
              <a:t># предварительное указание его имени: </a:t>
            </a:r>
            <a:r>
              <a:rPr lang="en-US" sz="2800" i="1" dirty="0" smtClean="0"/>
              <a:t>math.&lt;...&gt;</a:t>
            </a:r>
          </a:p>
          <a:p>
            <a:r>
              <a:rPr lang="en-US" sz="2800" i="1" dirty="0" smtClean="0"/>
              <a:t>#</a:t>
            </a:r>
          </a:p>
          <a:p>
            <a:r>
              <a:rPr lang="en-US" sz="2800" i="1" dirty="0" smtClean="0"/>
              <a:t># </a:t>
            </a:r>
            <a:r>
              <a:rPr lang="ru-RU" sz="2800" i="1" dirty="0" smtClean="0"/>
              <a:t>Это - рекомендуемый способ импортирования модуля</a:t>
            </a:r>
          </a:p>
          <a:p>
            <a:endParaRPr lang="ru-RU" sz="2800" i="1" dirty="0" smtClean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097280" y="324278"/>
            <a:ext cx="9654988" cy="9325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Модули и пакеты – подключение  </a:t>
            </a:r>
            <a:endParaRPr lang="ru-RU" dirty="0"/>
          </a:p>
        </p:txBody>
      </p:sp>
      <p:pic>
        <p:nvPicPr>
          <p:cNvPr id="6" name="Рисунок 5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21673" y="4183353"/>
            <a:ext cx="11475809" cy="1081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562836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304800" y="1659493"/>
            <a:ext cx="1169323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i="1" dirty="0" smtClean="0"/>
              <a:t># </a:t>
            </a:r>
            <a:r>
              <a:rPr lang="ru-RU" sz="2800" i="1" dirty="0"/>
              <a:t>Доступ к функции </a:t>
            </a:r>
            <a:r>
              <a:rPr lang="ru-RU" sz="2800" i="1" dirty="0" err="1"/>
              <a:t>sin</a:t>
            </a:r>
            <a:r>
              <a:rPr lang="ru-RU" sz="2800" i="1" dirty="0"/>
              <a:t>() возможен без указания модуля, а</a:t>
            </a:r>
          </a:p>
          <a:p>
            <a:r>
              <a:rPr lang="ru-RU" sz="2800" i="1" dirty="0"/>
              <a:t># к функции </a:t>
            </a:r>
            <a:r>
              <a:rPr lang="ru-RU" sz="2800" i="1" dirty="0" err="1"/>
              <a:t>radians</a:t>
            </a:r>
            <a:r>
              <a:rPr lang="ru-RU" sz="2800" i="1" dirty="0"/>
              <a:t>() только с указанием</a:t>
            </a:r>
          </a:p>
          <a:p>
            <a:r>
              <a:rPr lang="ru-RU" sz="2800" i="1" dirty="0"/>
              <a:t>#</a:t>
            </a:r>
          </a:p>
          <a:p>
            <a:r>
              <a:rPr lang="ru-RU" sz="2800" i="1" dirty="0"/>
              <a:t># Данный способ рекомендуется использовать:</a:t>
            </a:r>
          </a:p>
          <a:p>
            <a:r>
              <a:rPr lang="ru-RU" sz="2800" i="1" dirty="0"/>
              <a:t># - для повышения читаемости кода;</a:t>
            </a:r>
          </a:p>
          <a:p>
            <a:r>
              <a:rPr lang="ru-RU" sz="2800" i="1" dirty="0"/>
              <a:t># - если вероятность конфликта имен с другими участками кода </a:t>
            </a:r>
            <a:r>
              <a:rPr lang="ru-RU" sz="2800" i="1" dirty="0" smtClean="0"/>
              <a:t>мала</a:t>
            </a:r>
            <a:endParaRPr lang="ru-RU" sz="2800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097280" y="324278"/>
            <a:ext cx="9654988" cy="9325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Модули и пакеты – подключение  </a:t>
            </a:r>
            <a:endParaRPr lang="ru-RU" dirty="0"/>
          </a:p>
        </p:txBody>
      </p:sp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04800" y="4633710"/>
            <a:ext cx="10442222" cy="1379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950723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1783288"/>
            <a:ext cx="121920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700" i="1" dirty="0"/>
              <a:t># Любую функцию из модуля </a:t>
            </a:r>
            <a:r>
              <a:rPr lang="ru-RU" sz="2700" i="1" dirty="0" err="1"/>
              <a:t>math</a:t>
            </a:r>
            <a:r>
              <a:rPr lang="ru-RU" sz="2700" i="1" dirty="0"/>
              <a:t> можно указывать без ссылки на модуль</a:t>
            </a:r>
          </a:p>
          <a:p>
            <a:r>
              <a:rPr lang="ru-RU" sz="2700" i="1" dirty="0"/>
              <a:t>#</a:t>
            </a:r>
          </a:p>
          <a:p>
            <a:r>
              <a:rPr lang="ru-RU" sz="2700" i="1" dirty="0"/>
              <a:t># Данный способ, хотя и экономит место, НЕ рекомендуется в виду</a:t>
            </a:r>
          </a:p>
          <a:p>
            <a:r>
              <a:rPr lang="ru-RU" sz="2700" i="1" dirty="0"/>
              <a:t># высокой вероятности конфликта имен (импортированные таким образом</a:t>
            </a:r>
          </a:p>
          <a:p>
            <a:r>
              <a:rPr lang="ru-RU" sz="2700" i="1" dirty="0"/>
              <a:t># члены модуля могут совпасть по имени с другими объектами) </a:t>
            </a:r>
            <a:r>
              <a:rPr lang="ru-RU" sz="2700" i="1" dirty="0" smtClean="0"/>
              <a:t>и</a:t>
            </a:r>
            <a:endParaRPr lang="ru-RU" sz="2700" i="1" dirty="0"/>
          </a:p>
          <a:p>
            <a:r>
              <a:rPr lang="ru-RU" sz="2700" i="1" dirty="0" smtClean="0"/>
              <a:t>#</a:t>
            </a:r>
            <a:r>
              <a:rPr lang="en-US" sz="2700" i="1" dirty="0" smtClean="0"/>
              <a:t> </a:t>
            </a:r>
            <a:r>
              <a:rPr lang="ru-RU" sz="2700" i="1" dirty="0"/>
              <a:t>неоднозначности</a:t>
            </a:r>
            <a:r>
              <a:rPr lang="ru-RU" sz="2700" i="1" dirty="0" smtClean="0"/>
              <a:t> </a:t>
            </a:r>
            <a:r>
              <a:rPr lang="ru-RU" sz="2700" i="1" dirty="0"/>
              <a:t>поиска идентификатора (откуда импортирован </a:t>
            </a:r>
            <a:r>
              <a:rPr lang="ru-RU" sz="2700" i="1" dirty="0" err="1"/>
              <a:t>sin</a:t>
            </a:r>
            <a:r>
              <a:rPr lang="ru-RU" sz="2700" i="1" dirty="0"/>
              <a:t>?)</a:t>
            </a:r>
            <a:endParaRPr lang="ru-RU" sz="2700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097280" y="324278"/>
            <a:ext cx="9654988" cy="9325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Модули и пакеты – подключение  </a:t>
            </a:r>
            <a:endParaRPr lang="ru-RU" dirty="0"/>
          </a:p>
        </p:txBody>
      </p:sp>
      <p:pic>
        <p:nvPicPr>
          <p:cNvPr id="6" name="Рисунок 5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33574" y="4661689"/>
            <a:ext cx="10790008" cy="1212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644342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097280" y="324278"/>
            <a:ext cx="9654988" cy="9325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Модули и пакеты – подключение  </a:t>
            </a:r>
            <a:endParaRPr lang="ru-RU" dirty="0"/>
          </a:p>
        </p:txBody>
      </p:sp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42279" y="2244384"/>
            <a:ext cx="11164990" cy="1967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533725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097279" y="168442"/>
            <a:ext cx="10068025" cy="154004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Модули и пакеты – просмотр содержимого</a:t>
            </a:r>
            <a:endParaRPr lang="ru-RU" dirty="0"/>
          </a:p>
        </p:txBody>
      </p:sp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2189" y="2094141"/>
            <a:ext cx="12087246" cy="283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244605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097279" y="168442"/>
            <a:ext cx="10068025" cy="154004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Модули и пакеты – просмотр справки</a:t>
            </a:r>
            <a:endParaRPr lang="ru-RU" dirty="0"/>
          </a:p>
        </p:txBody>
      </p:sp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97279" y="2054487"/>
            <a:ext cx="9336922" cy="4081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642013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097279" y="168442"/>
            <a:ext cx="10068025" cy="154004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Модули и пакеты – поиск импортированного модуля</a:t>
            </a:r>
            <a:endParaRPr lang="ru-RU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77800" y="2236931"/>
            <a:ext cx="12014200" cy="4201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smtClean="0"/>
              <a:t>1. Встроенный </a:t>
            </a:r>
            <a:r>
              <a:rPr lang="ru-RU" sz="2800" dirty="0"/>
              <a:t>модуль?</a:t>
            </a:r>
          </a:p>
          <a:p>
            <a:pPr>
              <a:spcBef>
                <a:spcPts val="600"/>
              </a:spcBef>
            </a:pPr>
            <a:r>
              <a:rPr lang="ru-RU" sz="2800" dirty="0" smtClean="0"/>
              <a:t>2. Файл </a:t>
            </a:r>
            <a:r>
              <a:rPr lang="ru-RU" sz="2800" dirty="0"/>
              <a:t>module.py / </a:t>
            </a:r>
            <a:r>
              <a:rPr lang="ru-RU" sz="2800" dirty="0" err="1"/>
              <a:t>module.pyc</a:t>
            </a:r>
            <a:r>
              <a:rPr lang="ru-RU" sz="2800" dirty="0"/>
              <a:t>, или пакет </a:t>
            </a:r>
            <a:r>
              <a:rPr lang="ru-RU" sz="2800" dirty="0" err="1"/>
              <a:t>package</a:t>
            </a:r>
            <a:r>
              <a:rPr lang="ru-RU" sz="2800" dirty="0"/>
              <a:t> есть в списке путей переменной </a:t>
            </a:r>
            <a:r>
              <a:rPr lang="ru-RU" sz="2800" dirty="0" err="1"/>
              <a:t>sys.path</a:t>
            </a:r>
            <a:r>
              <a:rPr lang="ru-RU" sz="2800" dirty="0"/>
              <a:t>?</a:t>
            </a:r>
          </a:p>
          <a:p>
            <a:pPr>
              <a:spcBef>
                <a:spcPts val="600"/>
              </a:spcBef>
            </a:pPr>
            <a:r>
              <a:rPr lang="ru-RU" sz="2800" i="1" dirty="0" err="1" smtClean="0"/>
              <a:t>sys.path</a:t>
            </a:r>
            <a:r>
              <a:rPr lang="ru-RU" sz="2800" dirty="0" smtClean="0"/>
              <a:t> </a:t>
            </a:r>
            <a:r>
              <a:rPr lang="ru-RU" sz="2800" dirty="0"/>
              <a:t>- список, при инициализации включающий:</a:t>
            </a:r>
          </a:p>
          <a:p>
            <a:pPr marL="890588" indent="-457200">
              <a:buFont typeface="Arial" panose="020B0604020202020204" pitchFamily="34" charset="0"/>
              <a:buChar char="•"/>
              <a:tabLst>
                <a:tab pos="265113" algn="l"/>
              </a:tabLst>
            </a:pPr>
            <a:r>
              <a:rPr lang="ru-RU" sz="2800" dirty="0" smtClean="0"/>
              <a:t>рабочую </a:t>
            </a:r>
            <a:r>
              <a:rPr lang="ru-RU" sz="2800" dirty="0"/>
              <a:t>директорию скрипта (основного модуля);</a:t>
            </a:r>
          </a:p>
          <a:p>
            <a:pPr marL="890588" indent="-457200">
              <a:buFont typeface="Arial" panose="020B0604020202020204" pitchFamily="34" charset="0"/>
              <a:buChar char="•"/>
              <a:tabLst>
                <a:tab pos="265113" algn="l"/>
              </a:tabLst>
            </a:pPr>
            <a:r>
              <a:rPr lang="ru-RU" sz="2800" dirty="0" smtClean="0"/>
              <a:t>переменную </a:t>
            </a:r>
            <a:r>
              <a:rPr lang="ru-RU" sz="2800" dirty="0"/>
              <a:t>окружения PYTHONPATH и пути инсталляции Python.</a:t>
            </a:r>
          </a:p>
          <a:p>
            <a:pPr>
              <a:spcBef>
                <a:spcPts val="600"/>
              </a:spcBef>
            </a:pPr>
            <a:r>
              <a:rPr lang="ru-RU" sz="2800" dirty="0" smtClean="0"/>
              <a:t>Если </a:t>
            </a:r>
            <a:r>
              <a:rPr lang="ru-RU" sz="2800" dirty="0"/>
              <a:t>модуль не удается найти, возбуждается исключение </a:t>
            </a:r>
            <a:r>
              <a:rPr lang="ru-RU" sz="2800" dirty="0" err="1"/>
              <a:t>ModuleNotFoundError</a:t>
            </a:r>
            <a:r>
              <a:rPr lang="ru-RU" sz="2800" dirty="0"/>
              <a:t>. </a:t>
            </a:r>
            <a:endParaRPr lang="ru-RU" sz="2800" dirty="0" smtClean="0"/>
          </a:p>
          <a:p>
            <a:r>
              <a:rPr lang="ru-RU" sz="2800" dirty="0" smtClean="0"/>
              <a:t>При </a:t>
            </a:r>
            <a:r>
              <a:rPr lang="ru-RU" sz="2800" dirty="0"/>
              <a:t>ошибке загрузки существующего модуля - </a:t>
            </a:r>
            <a:r>
              <a:rPr lang="ru-RU" sz="2800" dirty="0" err="1"/>
              <a:t>ImportError</a:t>
            </a:r>
            <a:r>
              <a:rPr lang="ru-RU" sz="2800" dirty="0"/>
              <a:t>.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77800" y="1788041"/>
            <a:ext cx="86719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404040"/>
                </a:solidFill>
                <a:latin typeface="Lato" panose="020F0502020204030203" pitchFamily="34" charset="0"/>
              </a:rPr>
              <a:t>При импорте модуля или пакета Python выполняет его поиск в следующем порядке: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xmlns="" val="518621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097279" y="168442"/>
            <a:ext cx="10068025" cy="154004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Модули и пакеты – поиск импортированного модуля</a:t>
            </a:r>
            <a:endParaRPr lang="ru-RU" dirty="0"/>
          </a:p>
        </p:txBody>
      </p:sp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31902" y="2608501"/>
            <a:ext cx="2571472" cy="560449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87691" y="3677229"/>
            <a:ext cx="11887200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500" dirty="0"/>
              <a:t>['', 'C:\\</a:t>
            </a:r>
            <a:r>
              <a:rPr lang="ru-RU" sz="2500" dirty="0" err="1"/>
              <a:t>Users</a:t>
            </a:r>
            <a:r>
              <a:rPr lang="ru-RU" sz="2500" dirty="0"/>
              <a:t>\\ANNA\\</a:t>
            </a:r>
            <a:r>
              <a:rPr lang="ru-RU" sz="2500" dirty="0" err="1"/>
              <a:t>AppData</a:t>
            </a:r>
            <a:r>
              <a:rPr lang="ru-RU" sz="2500" dirty="0"/>
              <a:t>\\</a:t>
            </a:r>
            <a:r>
              <a:rPr lang="ru-RU" sz="2500" dirty="0" err="1"/>
              <a:t>Local</a:t>
            </a:r>
            <a:r>
              <a:rPr lang="ru-RU" sz="2500" dirty="0"/>
              <a:t>\\</a:t>
            </a:r>
            <a:r>
              <a:rPr lang="ru-RU" sz="2500" dirty="0" err="1"/>
              <a:t>Programs</a:t>
            </a:r>
            <a:r>
              <a:rPr lang="ru-RU" sz="2500" dirty="0"/>
              <a:t>\\Python\\Python311\\</a:t>
            </a:r>
            <a:r>
              <a:rPr lang="ru-RU" sz="2500" dirty="0" err="1"/>
              <a:t>Lib</a:t>
            </a:r>
            <a:r>
              <a:rPr lang="ru-RU" sz="2500" dirty="0"/>
              <a:t>\\</a:t>
            </a:r>
            <a:r>
              <a:rPr lang="ru-RU" sz="2500" dirty="0" err="1"/>
              <a:t>idlelib</a:t>
            </a:r>
            <a:r>
              <a:rPr lang="ru-RU" sz="2500" dirty="0"/>
              <a:t>', 'C:\\</a:t>
            </a:r>
            <a:r>
              <a:rPr lang="ru-RU" sz="2500" dirty="0" err="1"/>
              <a:t>Users</a:t>
            </a:r>
            <a:r>
              <a:rPr lang="ru-RU" sz="2500" dirty="0"/>
              <a:t>\\ANNA\\</a:t>
            </a:r>
            <a:r>
              <a:rPr lang="ru-RU" sz="2500" dirty="0" err="1"/>
              <a:t>AppData</a:t>
            </a:r>
            <a:r>
              <a:rPr lang="ru-RU" sz="2500" dirty="0"/>
              <a:t>\\</a:t>
            </a:r>
            <a:r>
              <a:rPr lang="ru-RU" sz="2500" dirty="0" err="1"/>
              <a:t>Local</a:t>
            </a:r>
            <a:r>
              <a:rPr lang="ru-RU" sz="2500" dirty="0"/>
              <a:t>\\</a:t>
            </a:r>
            <a:r>
              <a:rPr lang="ru-RU" sz="2500" dirty="0" err="1"/>
              <a:t>Programs</a:t>
            </a:r>
            <a:r>
              <a:rPr lang="ru-RU" sz="2500" dirty="0"/>
              <a:t>\\Python\\Python311\\python311.zip', 'C:\\</a:t>
            </a:r>
            <a:r>
              <a:rPr lang="ru-RU" sz="2500" dirty="0" err="1"/>
              <a:t>Users</a:t>
            </a:r>
            <a:r>
              <a:rPr lang="ru-RU" sz="2500" dirty="0"/>
              <a:t>\\ANNA\\</a:t>
            </a:r>
            <a:r>
              <a:rPr lang="ru-RU" sz="2500" dirty="0" err="1"/>
              <a:t>AppData</a:t>
            </a:r>
            <a:r>
              <a:rPr lang="ru-RU" sz="2500" dirty="0"/>
              <a:t>\\</a:t>
            </a:r>
            <a:r>
              <a:rPr lang="ru-RU" sz="2500" dirty="0" err="1"/>
              <a:t>Local</a:t>
            </a:r>
            <a:r>
              <a:rPr lang="ru-RU" sz="2500" dirty="0"/>
              <a:t>\\</a:t>
            </a:r>
            <a:r>
              <a:rPr lang="ru-RU" sz="2500" dirty="0" err="1"/>
              <a:t>Programs</a:t>
            </a:r>
            <a:r>
              <a:rPr lang="ru-RU" sz="2500" dirty="0"/>
              <a:t>\\Python\\Python311\\</a:t>
            </a:r>
            <a:r>
              <a:rPr lang="ru-RU" sz="2500" dirty="0" err="1"/>
              <a:t>Lib</a:t>
            </a:r>
            <a:r>
              <a:rPr lang="ru-RU" sz="2500" dirty="0"/>
              <a:t>', 'C:\\</a:t>
            </a:r>
            <a:r>
              <a:rPr lang="ru-RU" sz="2500" dirty="0" err="1"/>
              <a:t>Users</a:t>
            </a:r>
            <a:r>
              <a:rPr lang="ru-RU" sz="2500" dirty="0"/>
              <a:t>\\ANNA\\</a:t>
            </a:r>
            <a:r>
              <a:rPr lang="ru-RU" sz="2500" dirty="0" err="1"/>
              <a:t>AppData</a:t>
            </a:r>
            <a:r>
              <a:rPr lang="ru-RU" sz="2500" dirty="0"/>
              <a:t>\\</a:t>
            </a:r>
            <a:r>
              <a:rPr lang="ru-RU" sz="2500" dirty="0" err="1"/>
              <a:t>Local</a:t>
            </a:r>
            <a:r>
              <a:rPr lang="ru-RU" sz="2500" dirty="0"/>
              <a:t>\\</a:t>
            </a:r>
            <a:r>
              <a:rPr lang="ru-RU" sz="2500" dirty="0" err="1"/>
              <a:t>Programs</a:t>
            </a:r>
            <a:r>
              <a:rPr lang="ru-RU" sz="2500" dirty="0"/>
              <a:t>\\Python\\Python311\\</a:t>
            </a:r>
            <a:r>
              <a:rPr lang="ru-RU" sz="2500" dirty="0" err="1"/>
              <a:t>DLLs</a:t>
            </a:r>
            <a:r>
              <a:rPr lang="ru-RU" sz="2500" dirty="0"/>
              <a:t>', 'C:\\</a:t>
            </a:r>
            <a:r>
              <a:rPr lang="ru-RU" sz="2500" dirty="0" err="1"/>
              <a:t>Users</a:t>
            </a:r>
            <a:r>
              <a:rPr lang="ru-RU" sz="2500" dirty="0"/>
              <a:t>\\ANNA\\</a:t>
            </a:r>
            <a:r>
              <a:rPr lang="ru-RU" sz="2500" dirty="0" err="1"/>
              <a:t>AppData</a:t>
            </a:r>
            <a:r>
              <a:rPr lang="ru-RU" sz="2500" dirty="0"/>
              <a:t>\\</a:t>
            </a:r>
            <a:r>
              <a:rPr lang="ru-RU" sz="2500" dirty="0" err="1"/>
              <a:t>Local</a:t>
            </a:r>
            <a:r>
              <a:rPr lang="ru-RU" sz="2500" dirty="0"/>
              <a:t>\\</a:t>
            </a:r>
            <a:r>
              <a:rPr lang="ru-RU" sz="2500" dirty="0" err="1"/>
              <a:t>Programs</a:t>
            </a:r>
            <a:r>
              <a:rPr lang="ru-RU" sz="2500" dirty="0"/>
              <a:t>\\Python\\Python311', 'C:\\</a:t>
            </a:r>
            <a:r>
              <a:rPr lang="ru-RU" sz="2500" dirty="0" err="1"/>
              <a:t>Users</a:t>
            </a:r>
            <a:r>
              <a:rPr lang="ru-RU" sz="2500" dirty="0"/>
              <a:t>\\ANNA\\</a:t>
            </a:r>
            <a:r>
              <a:rPr lang="ru-RU" sz="2500" dirty="0" err="1"/>
              <a:t>AppData</a:t>
            </a:r>
            <a:r>
              <a:rPr lang="ru-RU" sz="2500" dirty="0"/>
              <a:t>\\</a:t>
            </a:r>
            <a:r>
              <a:rPr lang="ru-RU" sz="2500" dirty="0" err="1"/>
              <a:t>Local</a:t>
            </a:r>
            <a:r>
              <a:rPr lang="ru-RU" sz="2500" dirty="0"/>
              <a:t>\\</a:t>
            </a:r>
            <a:r>
              <a:rPr lang="ru-RU" sz="2500" dirty="0" err="1"/>
              <a:t>Programs</a:t>
            </a:r>
            <a:r>
              <a:rPr lang="ru-RU" sz="2500" dirty="0"/>
              <a:t>\\Python\\Python311\\</a:t>
            </a:r>
            <a:r>
              <a:rPr lang="ru-RU" sz="2500" dirty="0" err="1"/>
              <a:t>Lib</a:t>
            </a:r>
            <a:r>
              <a:rPr lang="ru-RU" sz="2500" dirty="0"/>
              <a:t>\\</a:t>
            </a:r>
            <a:r>
              <a:rPr lang="ru-RU" sz="2500" dirty="0" err="1"/>
              <a:t>site-packages</a:t>
            </a:r>
            <a:r>
              <a:rPr lang="ru-RU" sz="2500" dirty="0"/>
              <a:t>']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631902" y="1793005"/>
            <a:ext cx="5464098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Для проверки содержимого </a:t>
            </a:r>
            <a:r>
              <a:rPr kumimoji="0" lang="ru-RU" altLang="ru-RU" sz="900" b="1" i="0" u="none" strike="noStrike" cap="none" normalizeH="0" baseline="0" smtClean="0">
                <a:ln>
                  <a:noFill/>
                </a:ln>
                <a:solidFill>
                  <a:srgbClr val="404040"/>
                </a:solidFill>
                <a:effectLst/>
                <a:latin typeface="SFMono-Regular"/>
                <a:hlinkClick r:id="rId4" tooltip="sys.path"/>
              </a:rPr>
              <a:t>sys.path</a:t>
            </a:r>
            <a: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 можно выполнить следующий код:</a:t>
            </a:r>
            <a:r>
              <a:rPr kumimoji="0" lang="ru-RU" altLang="ru-RU" sz="9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8430323" y="2060954"/>
            <a:ext cx="3445726" cy="9387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100" dirty="0"/>
              <a:t>Рабочая директория расположена в </a:t>
            </a:r>
            <a:r>
              <a:rPr lang="ru-RU" sz="1100" dirty="0" err="1">
                <a:hlinkClick r:id="rId4" tooltip="sys.path"/>
              </a:rPr>
              <a:t>sys.path</a:t>
            </a:r>
            <a:r>
              <a:rPr lang="ru-RU" sz="1100" dirty="0"/>
              <a:t> в начале списка, поэтому не следует называть собственные модули или пакеты аналогично встроенным (например, </a:t>
            </a:r>
            <a:r>
              <a:rPr lang="ru-RU" sz="1100" dirty="0" err="1">
                <a:hlinkClick r:id="rId5" tooltip="json"/>
              </a:rPr>
              <a:t>json</a:t>
            </a:r>
            <a:r>
              <a:rPr lang="ru-RU" sz="1100" dirty="0"/>
              <a:t>) - интерпретатор в первую очередь найдет пользовательский модуль/пакет</a:t>
            </a:r>
          </a:p>
        </p:txBody>
      </p:sp>
    </p:spTree>
    <p:extLst>
      <p:ext uri="{BB962C8B-B14F-4D97-AF65-F5344CB8AC3E}">
        <p14:creationId xmlns:p14="http://schemas.microsoft.com/office/powerpoint/2010/main" xmlns="" val="2615322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097279" y="168442"/>
            <a:ext cx="10068025" cy="8263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Специальные атрибуты модулей</a:t>
            </a:r>
            <a:endParaRPr lang="ru-RU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4005482216"/>
              </p:ext>
            </p:extLst>
          </p:nvPr>
        </p:nvGraphicFramePr>
        <p:xfrm>
          <a:off x="692483" y="2135382"/>
          <a:ext cx="10930021" cy="19812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02665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90336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__name__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Полное имя модуля. Пример: "</a:t>
                      </a:r>
                      <a:r>
                        <a:rPr lang="ru-RU" sz="2800" dirty="0" err="1" smtClean="0"/>
                        <a:t>math</a:t>
                      </a:r>
                      <a:r>
                        <a:rPr lang="ru-RU" sz="2800" dirty="0" smtClean="0"/>
                        <a:t>" или "</a:t>
                      </a:r>
                      <a:r>
                        <a:rPr lang="ru-RU" sz="2800" dirty="0" err="1" smtClean="0"/>
                        <a:t>os.path</a:t>
                      </a:r>
                      <a:r>
                        <a:rPr lang="ru-RU" sz="2800" dirty="0" smtClean="0"/>
                        <a:t>".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__doc__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Строка документации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__file__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Полный путь к файлу, из которого модуль был создан (загружен). Пример: C:\code\task_09_01_02\fibonacci.py.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2" name="Прямоугольник 1"/>
          <p:cNvSpPr/>
          <p:nvPr/>
        </p:nvSpPr>
        <p:spPr>
          <a:xfrm>
            <a:off x="692483" y="994801"/>
            <a:ext cx="1075720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>
                <a:solidFill>
                  <a:srgbClr val="404040"/>
                </a:solidFill>
                <a:latin typeface="Lato" panose="020F0502020204030203" pitchFamily="34" charset="0"/>
              </a:rPr>
              <a:t>Каждый модуль имеет специальные и дополнительные </a:t>
            </a:r>
            <a:r>
              <a:rPr lang="ru-RU" sz="1200" dirty="0" smtClean="0">
                <a:solidFill>
                  <a:srgbClr val="404040"/>
                </a:solidFill>
                <a:latin typeface="Lato" panose="020F0502020204030203" pitchFamily="34" charset="0"/>
              </a:rPr>
              <a:t>атрибуты</a:t>
            </a:r>
            <a:endParaRPr lang="ru-RU" sz="1200" dirty="0">
              <a:solidFill>
                <a:srgbClr val="404040"/>
              </a:solidFill>
              <a:latin typeface="Lato" panose="020F0502020204030203" pitchFamily="34" charset="0"/>
            </a:endParaRPr>
          </a:p>
          <a:p>
            <a:r>
              <a:rPr lang="ru-RU" sz="1200" dirty="0" smtClean="0"/>
              <a:t>Специальные </a:t>
            </a:r>
            <a:r>
              <a:rPr lang="ru-RU" sz="1200" dirty="0"/>
              <a:t>атрибуты содержат системную информацию о модуле (путь запуска, имя модуля и др.) и доступны всегда. Некоторые из них</a:t>
            </a:r>
            <a:r>
              <a:rPr lang="ru-RU" sz="1200" dirty="0" smtClean="0"/>
              <a:t>: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xmlns="" val="1431763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6569" y="168442"/>
            <a:ext cx="11670632" cy="9384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Дополнительные (необязательные) атрибуты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88232" y="1836870"/>
            <a:ext cx="11975431" cy="440120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2800" dirty="0">
                <a:solidFill>
                  <a:srgbClr val="404040"/>
                </a:solidFill>
                <a:latin typeface="+mn-lt"/>
              </a:rPr>
              <a:t>М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огут содержать справочную информацию об авторе, версии модуля и т.д. 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800" b="0" i="0" u="none" strike="noStrike" cap="none" normalizeH="0" baseline="0" dirty="0" smtClean="0">
              <a:ln>
                <a:noFill/>
              </a:ln>
              <a:solidFill>
                <a:srgbClr val="404040"/>
              </a:solidFill>
              <a:effectLst/>
              <a:latin typeface="+mn-lt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 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E74C3C"/>
                </a:solidFill>
                <a:effectLst/>
                <a:latin typeface="+mn-lt"/>
              </a:rPr>
              <a:t>__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rgbClr val="E74C3C"/>
                </a:solidFill>
                <a:effectLst/>
                <a:latin typeface="+mn-lt"/>
              </a:rPr>
              <a:t>author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E74C3C"/>
                </a:solidFill>
                <a:effectLst/>
                <a:latin typeface="+mn-lt"/>
              </a:rPr>
              <a:t>__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, 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E74C3C"/>
                </a:solidFill>
                <a:effectLst/>
                <a:latin typeface="+mn-lt"/>
              </a:rPr>
              <a:t>__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rgbClr val="E74C3C"/>
                </a:solidFill>
                <a:effectLst/>
                <a:latin typeface="+mn-lt"/>
              </a:rPr>
              <a:t>copyright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E74C3C"/>
                </a:solidFill>
                <a:effectLst/>
                <a:latin typeface="+mn-lt"/>
              </a:rPr>
              <a:t>__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, 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E74C3C"/>
                </a:solidFill>
                <a:effectLst/>
                <a:latin typeface="+mn-lt"/>
              </a:rPr>
              <a:t>__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rgbClr val="E74C3C"/>
                </a:solidFill>
                <a:effectLst/>
                <a:latin typeface="+mn-lt"/>
              </a:rPr>
              <a:t>credits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E74C3C"/>
                </a:solidFill>
                <a:effectLst/>
                <a:latin typeface="+mn-lt"/>
              </a:rPr>
              <a:t>__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, 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E74C3C"/>
                </a:solidFill>
                <a:effectLst/>
                <a:latin typeface="+mn-lt"/>
              </a:rPr>
              <a:t>__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rgbClr val="E74C3C"/>
                </a:solidFill>
                <a:effectLst/>
                <a:latin typeface="+mn-lt"/>
              </a:rPr>
              <a:t>license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E74C3C"/>
                </a:solidFill>
                <a:effectLst/>
                <a:latin typeface="+mn-lt"/>
              </a:rPr>
              <a:t>__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, 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E74C3C"/>
                </a:solidFill>
                <a:effectLst/>
                <a:latin typeface="+mn-lt"/>
              </a:rPr>
              <a:t>__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rgbClr val="E74C3C"/>
                </a:solidFill>
                <a:effectLst/>
                <a:latin typeface="+mn-lt"/>
              </a:rPr>
              <a:t>version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E74C3C"/>
                </a:solidFill>
                <a:effectLst/>
                <a:latin typeface="+mn-lt"/>
              </a:rPr>
              <a:t>__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, 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E74C3C"/>
                </a:solidFill>
                <a:effectLst/>
                <a:latin typeface="+mn-lt"/>
              </a:rPr>
              <a:t>__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rgbClr val="E74C3C"/>
                </a:solidFill>
                <a:effectLst/>
                <a:latin typeface="+mn-lt"/>
              </a:rPr>
              <a:t>maintainer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E74C3C"/>
                </a:solidFill>
                <a:effectLst/>
                <a:latin typeface="+mn-lt"/>
              </a:rPr>
              <a:t>__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, 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E74C3C"/>
                </a:solidFill>
                <a:effectLst/>
                <a:latin typeface="+mn-lt"/>
              </a:rPr>
              <a:t>__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rgbClr val="E74C3C"/>
                </a:solidFill>
                <a:effectLst/>
                <a:latin typeface="+mn-lt"/>
              </a:rPr>
              <a:t>email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E74C3C"/>
                </a:solidFill>
                <a:effectLst/>
                <a:latin typeface="+mn-lt"/>
              </a:rPr>
              <a:t>__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, 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E74C3C"/>
                </a:solidFill>
                <a:effectLst/>
                <a:latin typeface="+mn-lt"/>
              </a:rPr>
              <a:t>__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rgbClr val="E74C3C"/>
                </a:solidFill>
                <a:effectLst/>
                <a:latin typeface="+mn-lt"/>
              </a:rPr>
              <a:t>status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E74C3C"/>
                </a:solidFill>
                <a:effectLst/>
                <a:latin typeface="+mn-lt"/>
              </a:rPr>
              <a:t>__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xmlns="" val="3775359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26785"/>
            <a:ext cx="11670632" cy="712504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Кэширование (</a:t>
            </a:r>
            <a:r>
              <a:rPr lang="en-US" dirty="0" smtClean="0"/>
              <a:t>“</a:t>
            </a:r>
            <a:r>
              <a:rPr lang="ru-RU" dirty="0" smtClean="0"/>
              <a:t>компиляция</a:t>
            </a:r>
            <a:r>
              <a:rPr lang="en-US" dirty="0" smtClean="0"/>
              <a:t>”</a:t>
            </a:r>
            <a:r>
              <a:rPr lang="ru-RU" dirty="0" smtClean="0"/>
              <a:t>) модулей</a:t>
            </a:r>
            <a:endParaRPr lang="ru-RU" dirty="0"/>
          </a:p>
        </p:txBody>
      </p:sp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068773"/>
            <a:ext cx="10782689" cy="4142896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0" y="6211669"/>
            <a:ext cx="1209224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при запуске программы происходит компиляция в промежуточный байт-код (бинарный файл с расширением </a:t>
            </a:r>
            <a:r>
              <a:rPr lang="ru-RU" sz="1200" dirty="0"/>
              <a:t>*.</a:t>
            </a:r>
            <a:r>
              <a:rPr lang="ru-RU" sz="1200" dirty="0" err="1"/>
              <a:t>pyc</a:t>
            </a:r>
            <a:r>
              <a:rPr lang="ru-RU" dirty="0"/>
              <a:t>) всех импортированных модулей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0218234" y="736410"/>
            <a:ext cx="1973766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00" dirty="0"/>
              <a:t>Python считается интерпретируемым языком, однако имеет </a:t>
            </a:r>
            <a:r>
              <a:rPr lang="ru-RU" sz="1000" dirty="0">
                <a:hlinkClick r:id="rId4"/>
              </a:rPr>
              <a:t>гибридную составляющую</a:t>
            </a:r>
            <a:r>
              <a:rPr lang="ru-RU" sz="1000" dirty="0"/>
              <a:t>: при запуске программы происходит компиляция в промежуточный байт-код (бинарный файл с расширением *.</a:t>
            </a:r>
            <a:r>
              <a:rPr lang="ru-RU" sz="1000" dirty="0" err="1"/>
              <a:t>pyc</a:t>
            </a:r>
            <a:r>
              <a:rPr lang="ru-RU" sz="1000" dirty="0"/>
              <a:t>) всех импортированных модулей, после чего код выполняется виртуальной машиной.</a:t>
            </a:r>
          </a:p>
          <a:p>
            <a:endParaRPr lang="ru-RU" sz="1000" dirty="0"/>
          </a:p>
          <a:p>
            <a:r>
              <a:rPr lang="ru-RU" sz="1000" dirty="0"/>
              <a:t>Файл *.</a:t>
            </a:r>
            <a:r>
              <a:rPr lang="ru-RU" sz="1000" dirty="0" err="1"/>
              <a:t>pyc</a:t>
            </a:r>
            <a:r>
              <a:rPr lang="ru-RU" sz="1000" dirty="0"/>
              <a:t> создается заново только в случае, если исходный код был изменен (проверяется дата изменения), иначе используется уже найденная «скомпилированная» версия. При этом компилируются только импортируемые модули (так, текущий запускаемый модуль скомпилирован не будет).</a:t>
            </a:r>
          </a:p>
        </p:txBody>
      </p:sp>
    </p:spTree>
    <p:extLst>
      <p:ext uri="{BB962C8B-B14F-4D97-AF65-F5344CB8AC3E}">
        <p14:creationId xmlns:p14="http://schemas.microsoft.com/office/powerpoint/2010/main" xmlns="" val="921906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6569" y="168442"/>
            <a:ext cx="11670632" cy="9384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altLang="ru-RU" dirty="0">
                <a:solidFill>
                  <a:srgbClr val="404040"/>
                </a:solidFill>
              </a:rPr>
              <a:t>Особенности </a:t>
            </a:r>
            <a:r>
              <a:rPr lang="ru-RU" altLang="ru-RU" dirty="0">
                <a:solidFill>
                  <a:srgbClr val="E74C3C"/>
                </a:solidFill>
              </a:rPr>
              <a:t>*.</a:t>
            </a:r>
            <a:r>
              <a:rPr lang="ru-RU" altLang="ru-RU" dirty="0" err="1">
                <a:solidFill>
                  <a:srgbClr val="E74C3C"/>
                </a:solidFill>
              </a:rPr>
              <a:t>pyc</a:t>
            </a:r>
            <a:r>
              <a:rPr lang="ru-RU" altLang="ru-RU" dirty="0">
                <a:solidFill>
                  <a:srgbClr val="404040"/>
                </a:solidFill>
              </a:rPr>
              <a:t>-файлов</a:t>
            </a:r>
            <a:endParaRPr lang="ru-RU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216569" y="2116240"/>
            <a:ext cx="11540625" cy="317485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157113" numCol="1" anchor="ctr" anchorCtr="0" compatLnSpc="1">
            <a:prstTxWarp prst="textNoShape">
              <a:avLst/>
            </a:prstTxWarp>
            <a:spAutoFit/>
          </a:bodyPr>
          <a:lstStyle/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</a:rPr>
              <a:t>имеют бинарный формат;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</a:rPr>
              <a:t>загружаются быстрее, чем исходные 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E74C3C"/>
                </a:solidFill>
                <a:effectLst/>
              </a:rPr>
              <a:t>*.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rgbClr val="E74C3C"/>
                </a:solidFill>
                <a:effectLst/>
              </a:rPr>
              <a:t>py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</a:rPr>
              <a:t>-файлы; при этом скорость выполнения одинакова в обоих случаях;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</a:rPr>
              <a:t>создаются в папке 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E74C3C"/>
                </a:solidFill>
                <a:effectLst/>
              </a:rPr>
              <a:t>__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rgbClr val="E74C3C"/>
                </a:solidFill>
                <a:effectLst/>
              </a:rPr>
              <a:t>pycache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E74C3C"/>
                </a:solidFill>
                <a:effectLst/>
              </a:rPr>
              <a:t>__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</a:rPr>
              <a:t> и имеют имя 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E74C3C"/>
                </a:solidFill>
                <a:effectLst/>
              </a:rPr>
              <a:t>имя_модуля.cpython-35.pyc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</a:rPr>
              <a:t> (для реализации 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</a:rPr>
              <a:t>CPython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</a:rPr>
              <a:t>), где 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E74C3C"/>
                </a:solidFill>
                <a:effectLst/>
              </a:rPr>
              <a:t>35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</a:rPr>
              <a:t> - версия Python;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</a:rPr>
              <a:t>«привязаны» к версии интерпретатора (обязательно в пределах основной версии) и платформе компиляции.</a:t>
            </a:r>
            <a:endParaRPr kumimoji="0" lang="ru-RU" altLang="ru-RU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216569" y="5491820"/>
            <a:ext cx="11192106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100" dirty="0"/>
              <a:t>«Скомпилированные» файлы могут также предоставляться вместо исходных, например, когда нужно скрыть код реализации.</a:t>
            </a:r>
          </a:p>
          <a:p>
            <a:r>
              <a:rPr lang="ru-RU" sz="1100" dirty="0"/>
              <a:t>В то же время, применяется это не часто, т.к. в отличие от языков программирования, компилируемых непосредственно в машинный код (например, Си), для языков, использующих байт-код (</a:t>
            </a:r>
            <a:r>
              <a:rPr lang="ru-RU" sz="1100" dirty="0" err="1"/>
              <a:t>Java</a:t>
            </a:r>
            <a:r>
              <a:rPr lang="ru-RU" sz="1100" dirty="0"/>
              <a:t>, C#, Python и др.), высока вероятность полной </a:t>
            </a:r>
            <a:r>
              <a:rPr lang="ru-RU" sz="1100" dirty="0">
                <a:hlinkClick r:id="rId3"/>
              </a:rPr>
              <a:t>декомпиляции</a:t>
            </a:r>
            <a:r>
              <a:rPr lang="ru-RU" sz="1100" dirty="0"/>
              <a:t> (воссоздания исходного кода) скомпилированной программы.</a:t>
            </a:r>
          </a:p>
        </p:txBody>
      </p:sp>
    </p:spTree>
    <p:extLst>
      <p:ext uri="{BB962C8B-B14F-4D97-AF65-F5344CB8AC3E}">
        <p14:creationId xmlns:p14="http://schemas.microsoft.com/office/powerpoint/2010/main" xmlns="" val="557507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21613" y="252649"/>
            <a:ext cx="4427622" cy="1227221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altLang="ru-RU" dirty="0" smtClean="0">
                <a:solidFill>
                  <a:srgbClr val="404040"/>
                </a:solidFill>
              </a:rPr>
              <a:t>Собственные модули</a:t>
            </a:r>
            <a:endParaRPr lang="ru-RU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2190871"/>
            <a:ext cx="3777916" cy="10204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157113" numCol="1" anchor="ctr" anchorCtr="0" compatLnSpc="1">
            <a:prstTxWarp prst="textNoShape">
              <a:avLst/>
            </a:prstTxWarp>
            <a:spAutoFit/>
          </a:bodyPr>
          <a:lstStyle/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800" dirty="0" smtClean="0">
                <a:solidFill>
                  <a:srgbClr val="404040"/>
                </a:solidFill>
              </a:rPr>
              <a:t>Пример - 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</a:rPr>
              <a:t>Файл </a:t>
            </a:r>
            <a:r>
              <a:rPr kumimoji="0" lang="en-US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</a:rPr>
              <a:t>Fibonacci.py</a:t>
            </a:r>
            <a:endParaRPr kumimoji="0" lang="ru-RU" altLang="ru-RU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7" name="Рисунок 6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649235" y="0"/>
            <a:ext cx="7526725" cy="6858000"/>
          </a:xfrm>
          <a:prstGeom prst="rect">
            <a:avLst/>
          </a:prstGeom>
        </p:spPr>
      </p:pic>
      <p:sp>
        <p:nvSpPr>
          <p:cNvPr id="2" name="Прямоугольник 1"/>
          <p:cNvSpPr/>
          <p:nvPr/>
        </p:nvSpPr>
        <p:spPr>
          <a:xfrm>
            <a:off x="95470" y="3445660"/>
            <a:ext cx="3586976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100" dirty="0"/>
              <a:t>PEP8.</a:t>
            </a:r>
          </a:p>
          <a:p>
            <a:r>
              <a:rPr lang="ru-RU" sz="1100" dirty="0"/>
              <a:t>Соглашение рекомендует использовать:</a:t>
            </a:r>
          </a:p>
          <a:p>
            <a:r>
              <a:rPr lang="ru-RU" sz="1100" dirty="0" err="1">
                <a:hlinkClick r:id="rId4"/>
              </a:rPr>
              <a:t>змеиный_регистр</a:t>
            </a:r>
            <a:r>
              <a:rPr lang="ru-RU" sz="1100" dirty="0"/>
              <a:t> (</a:t>
            </a:r>
            <a:r>
              <a:rPr lang="ru-RU" sz="1100" i="1" dirty="0"/>
              <a:t>англ.</a:t>
            </a:r>
            <a:r>
              <a:rPr lang="ru-RU" sz="1100" dirty="0"/>
              <a:t> </a:t>
            </a:r>
            <a:r>
              <a:rPr lang="ru-RU" sz="1100" dirty="0" err="1"/>
              <a:t>snake_case</a:t>
            </a:r>
            <a:r>
              <a:rPr lang="ru-RU" sz="1100" dirty="0"/>
              <a:t>) для наименования модулей: </a:t>
            </a:r>
            <a:r>
              <a:rPr lang="ru-RU" sz="1100" dirty="0" err="1"/>
              <a:t>my_module</a:t>
            </a:r>
            <a:r>
              <a:rPr lang="ru-RU" sz="1100" dirty="0"/>
              <a:t>;</a:t>
            </a:r>
          </a:p>
          <a:p>
            <a:r>
              <a:rPr lang="ru-RU" sz="1100" dirty="0">
                <a:hlinkClick r:id="rId5"/>
              </a:rPr>
              <a:t>строки документации</a:t>
            </a:r>
            <a:r>
              <a:rPr lang="ru-RU" sz="1100" dirty="0"/>
              <a:t>.</a:t>
            </a:r>
          </a:p>
          <a:p>
            <a:r>
              <a:rPr lang="ru-RU" sz="1100" dirty="0"/>
              <a:t>Любой файл с расширением *.</a:t>
            </a:r>
            <a:r>
              <a:rPr lang="ru-RU" sz="1100" dirty="0" err="1"/>
              <a:t>py</a:t>
            </a:r>
            <a:r>
              <a:rPr lang="ru-RU" sz="1100" dirty="0"/>
              <a:t> является модулем</a:t>
            </a:r>
            <a:endParaRPr lang="en-US" sz="1100" dirty="0"/>
          </a:p>
          <a:p>
            <a:r>
              <a:rPr lang="ru-RU" sz="1100" dirty="0"/>
              <a:t>Основной модуль программы, как правило, удобно называть main.py</a:t>
            </a:r>
          </a:p>
        </p:txBody>
      </p:sp>
    </p:spTree>
    <p:extLst>
      <p:ext uri="{BB962C8B-B14F-4D97-AF65-F5344CB8AC3E}">
        <p14:creationId xmlns:p14="http://schemas.microsoft.com/office/powerpoint/2010/main" xmlns="" val="2917380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21612" y="252650"/>
            <a:ext cx="8007987" cy="80613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altLang="ru-RU" dirty="0" smtClean="0">
                <a:solidFill>
                  <a:srgbClr val="404040"/>
                </a:solidFill>
              </a:rPr>
              <a:t>Собственные модули</a:t>
            </a:r>
            <a:endParaRPr lang="ru-RU" dirty="0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76200" y="1836911"/>
            <a:ext cx="11970388" cy="4467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157113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Любой модуль в Python может быть: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запущен автономно (как скрипт, например, в командной строке или через IDE);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импортирован (через </a:t>
            </a:r>
            <a:r>
              <a:rPr kumimoji="0" lang="ru-RU" altLang="ru-RU" sz="2800" b="1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SFMono-Regular"/>
                <a:hlinkClick r:id="rId3" tooltip="import"/>
              </a:rPr>
              <a:t>import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ru-RU" sz="2800" b="0" i="0" u="none" strike="noStrike" cap="none" normalizeH="0" baseline="0" dirty="0" smtClean="0">
              <a:ln>
                <a:noFill/>
              </a:ln>
              <a:solidFill>
                <a:srgbClr val="404040"/>
              </a:solidFill>
              <a:effectLst/>
              <a:latin typeface="Lato" panose="020F0502020204030203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ru-RU" sz="2800" dirty="0">
              <a:solidFill>
                <a:srgbClr val="404040"/>
              </a:solidFill>
              <a:latin typeface="Lato" panose="020F0502020204030203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При написании собственного модуля необходимо предполагать, будет он запускаться автономно или использоваться для импорта. При этом следует избегать обособленного кода, который выполнялся бы в обоих вариантах</a:t>
            </a:r>
            <a:endParaRPr kumimoji="0" lang="ru-RU" altLang="ru-RU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xmlns="" val="810421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21613" y="252649"/>
            <a:ext cx="8946450" cy="83019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altLang="ru-RU" dirty="0" smtClean="0">
                <a:solidFill>
                  <a:srgbClr val="404040"/>
                </a:solidFill>
              </a:rPr>
              <a:t>Собственные модули</a:t>
            </a:r>
            <a:endParaRPr lang="ru-RU" dirty="0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221613" y="1082842"/>
            <a:ext cx="11617461" cy="274397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157113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just"/>
            <a:r>
              <a:rPr lang="ru-RU" altLang="ru-RU" sz="2800" dirty="0">
                <a:solidFill>
                  <a:srgbClr val="404040"/>
                </a:solidFill>
                <a:latin typeface="Lato" panose="020F0502020204030203" pitchFamily="34" charset="0"/>
              </a:rPr>
              <a:t>Чтобы выполнить различный код в зависимости от того, запущен модуль или импортирован, достаточно использовать специальный идентификатор __</a:t>
            </a:r>
            <a:r>
              <a:rPr lang="ru-RU" altLang="ru-RU" sz="2800" dirty="0" err="1">
                <a:solidFill>
                  <a:srgbClr val="404040"/>
                </a:solidFill>
                <a:latin typeface="Lato" panose="020F0502020204030203" pitchFamily="34" charset="0"/>
              </a:rPr>
              <a:t>name</a:t>
            </a:r>
            <a:r>
              <a:rPr lang="ru-RU" altLang="ru-RU" sz="2800" dirty="0">
                <a:solidFill>
                  <a:srgbClr val="404040"/>
                </a:solidFill>
                <a:latin typeface="Lato" panose="020F0502020204030203" pitchFamily="34" charset="0"/>
              </a:rPr>
              <a:t>__, который содержит:</a:t>
            </a:r>
          </a:p>
          <a:p>
            <a:pPr lvl="0" algn="just"/>
            <a:endParaRPr lang="ru-RU" altLang="ru-RU" sz="2800" dirty="0">
              <a:solidFill>
                <a:srgbClr val="404040"/>
              </a:solidFill>
              <a:latin typeface="Lato" panose="020F0502020204030203" pitchFamily="34" charset="0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ru-RU" altLang="ru-RU" sz="2800" dirty="0">
                <a:solidFill>
                  <a:srgbClr val="404040"/>
                </a:solidFill>
                <a:latin typeface="Lato" panose="020F0502020204030203" pitchFamily="34" charset="0"/>
              </a:rPr>
              <a:t>имя модуля, если он </a:t>
            </a:r>
            <a:r>
              <a:rPr lang="ru-RU" altLang="ru-RU" sz="2800" dirty="0" smtClean="0">
                <a:solidFill>
                  <a:srgbClr val="404040"/>
                </a:solidFill>
                <a:latin typeface="Lato" panose="020F0502020204030203" pitchFamily="34" charset="0"/>
              </a:rPr>
              <a:t>импортирован </a:t>
            </a:r>
            <a:r>
              <a:rPr lang="ru-RU" altLang="ru-RU" sz="2800" dirty="0">
                <a:solidFill>
                  <a:srgbClr val="404040"/>
                </a:solidFill>
                <a:latin typeface="Lato" panose="020F0502020204030203" pitchFamily="34" charset="0"/>
              </a:rPr>
              <a:t>(например, "</a:t>
            </a:r>
            <a:r>
              <a:rPr lang="ru-RU" altLang="ru-RU" sz="2800" dirty="0" err="1">
                <a:solidFill>
                  <a:srgbClr val="404040"/>
                </a:solidFill>
                <a:latin typeface="Lato" panose="020F0502020204030203" pitchFamily="34" charset="0"/>
              </a:rPr>
              <a:t>fibonacci</a:t>
            </a:r>
            <a:r>
              <a:rPr lang="ru-RU" altLang="ru-RU" sz="2800" dirty="0">
                <a:solidFill>
                  <a:srgbClr val="404040"/>
                </a:solidFill>
                <a:latin typeface="Lato" panose="020F0502020204030203" pitchFamily="34" charset="0"/>
              </a:rPr>
              <a:t>" или "</a:t>
            </a:r>
            <a:r>
              <a:rPr lang="ru-RU" altLang="ru-RU" sz="2800" dirty="0" err="1">
                <a:solidFill>
                  <a:srgbClr val="404040"/>
                </a:solidFill>
                <a:latin typeface="Lato" panose="020F0502020204030203" pitchFamily="34" charset="0"/>
              </a:rPr>
              <a:t>math</a:t>
            </a:r>
            <a:r>
              <a:rPr lang="ru-RU" altLang="ru-RU" sz="2800" dirty="0">
                <a:solidFill>
                  <a:srgbClr val="404040"/>
                </a:solidFill>
                <a:latin typeface="Lato" panose="020F0502020204030203" pitchFamily="34" charset="0"/>
              </a:rPr>
              <a:t>");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ru-RU" altLang="ru-RU" sz="2800" dirty="0" smtClean="0">
                <a:solidFill>
                  <a:srgbClr val="404040"/>
                </a:solidFill>
                <a:latin typeface="Lato" panose="020F0502020204030203" pitchFamily="34" charset="0"/>
              </a:rPr>
              <a:t>специальное </a:t>
            </a:r>
            <a:r>
              <a:rPr lang="ru-RU" altLang="ru-RU" sz="2800" dirty="0">
                <a:solidFill>
                  <a:srgbClr val="404040"/>
                </a:solidFill>
                <a:latin typeface="Lato" panose="020F0502020204030203" pitchFamily="34" charset="0"/>
              </a:rPr>
              <a:t>наименование "__</a:t>
            </a:r>
            <a:r>
              <a:rPr lang="ru-RU" altLang="ru-RU" sz="2800" dirty="0" err="1">
                <a:solidFill>
                  <a:srgbClr val="404040"/>
                </a:solidFill>
                <a:latin typeface="Lato" panose="020F0502020204030203" pitchFamily="34" charset="0"/>
              </a:rPr>
              <a:t>main</a:t>
            </a:r>
            <a:r>
              <a:rPr lang="ru-RU" altLang="ru-RU" sz="2800" dirty="0">
                <a:solidFill>
                  <a:srgbClr val="404040"/>
                </a:solidFill>
                <a:latin typeface="Lato" panose="020F0502020204030203" pitchFamily="34" charset="0"/>
              </a:rPr>
              <a:t>__", если модуль </a:t>
            </a:r>
            <a:r>
              <a:rPr lang="ru-RU" altLang="ru-RU" sz="2800" dirty="0" smtClean="0">
                <a:solidFill>
                  <a:srgbClr val="404040"/>
                </a:solidFill>
                <a:latin typeface="Lato" panose="020F0502020204030203" pitchFamily="34" charset="0"/>
              </a:rPr>
              <a:t>запущен </a:t>
            </a:r>
            <a:r>
              <a:rPr lang="ru-RU" altLang="ru-RU" sz="2800" dirty="0">
                <a:solidFill>
                  <a:srgbClr val="404040"/>
                </a:solidFill>
                <a:latin typeface="Lato" panose="020F0502020204030203" pitchFamily="34" charset="0"/>
              </a:rPr>
              <a:t>автономно</a:t>
            </a:r>
            <a:endParaRPr kumimoji="0" lang="ru-RU" altLang="ru-RU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453103" y="3965311"/>
            <a:ext cx="986098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В модуль </a:t>
            </a:r>
            <a:r>
              <a:rPr lang="ru-RU" dirty="0"/>
              <a:t>вычисления чисел Фибоначчи </a:t>
            </a:r>
            <a:r>
              <a:rPr lang="ru-RU" dirty="0" smtClean="0"/>
              <a:t>добавить проверку </a:t>
            </a:r>
            <a:r>
              <a:rPr lang="ru-RU" dirty="0"/>
              <a:t>__</a:t>
            </a:r>
            <a:r>
              <a:rPr lang="ru-RU" dirty="0" err="1"/>
              <a:t>name</a:t>
            </a:r>
            <a:r>
              <a:rPr lang="ru-RU" dirty="0"/>
              <a:t>__ </a:t>
            </a:r>
            <a:r>
              <a:rPr lang="ru-RU" dirty="0" smtClean="0"/>
              <a:t>:</a:t>
            </a:r>
            <a:endParaRPr lang="ru-RU" dirty="0"/>
          </a:p>
        </p:txBody>
      </p:sp>
      <p:pic>
        <p:nvPicPr>
          <p:cNvPr id="8" name="Рисунок 7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53103" y="4473143"/>
            <a:ext cx="9618030" cy="166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026751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02952" y="0"/>
            <a:ext cx="5955252" cy="690465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altLang="ru-RU" dirty="0" smtClean="0">
                <a:solidFill>
                  <a:srgbClr val="404040"/>
                </a:solidFill>
              </a:rPr>
              <a:t>Собственные модули</a:t>
            </a:r>
            <a:endParaRPr lang="ru-RU" dirty="0"/>
          </a:p>
        </p:txBody>
      </p:sp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-26472" y="927093"/>
            <a:ext cx="12175977" cy="3663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152662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02952" y="0"/>
            <a:ext cx="5955252" cy="690465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altLang="ru-RU" dirty="0" smtClean="0">
                <a:solidFill>
                  <a:srgbClr val="404040"/>
                </a:solidFill>
              </a:rPr>
              <a:t>Собственные модули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6363478" y="1007906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/>
              <a:t>Как правило, проверка __</a:t>
            </a:r>
            <a:r>
              <a:rPr lang="ru-RU" sz="1200" dirty="0" err="1"/>
              <a:t>name</a:t>
            </a:r>
            <a:r>
              <a:rPr lang="ru-RU" sz="1200" dirty="0"/>
              <a:t>__ используется в основном файле программы, а вспомогательные модули избавляются от кода вне функций и/или классов</a:t>
            </a:r>
          </a:p>
        </p:txBody>
      </p:sp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868050"/>
            <a:ext cx="12031640" cy="324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920330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21612" y="252649"/>
            <a:ext cx="11617461" cy="78206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math</a:t>
            </a:r>
            <a:endParaRPr lang="ru-RU" dirty="0"/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788250095"/>
              </p:ext>
            </p:extLst>
          </p:nvPr>
        </p:nvGraphicFramePr>
        <p:xfrm>
          <a:off x="457201" y="2115329"/>
          <a:ext cx="11381872" cy="25908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58816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79370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pi</a:t>
                      </a:r>
                      <a:endParaRPr lang="ru-RU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Константа </a:t>
                      </a:r>
                      <a:r>
                        <a:rPr lang="ru-RU" sz="2800" b="0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π=3.141592...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с доступной точностью</a:t>
                      </a:r>
                      <a:endParaRPr lang="ru-RU" sz="28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25473">
                <a:tc>
                  <a:txBody>
                    <a:bodyPr/>
                    <a:lstStyle/>
                    <a:p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endParaRPr lang="ru-RU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Константа </a:t>
                      </a:r>
                      <a:r>
                        <a:rPr lang="ru-RU" sz="2800" b="0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e=2.718281...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с доступной точностью</a:t>
                      </a:r>
                      <a:endParaRPr lang="ru-RU" sz="28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0" dirty="0" smtClean="0"/>
                        <a:t>ceil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28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ru-RU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Наименьшее целое, большее или равное вещественному </a:t>
                      </a:r>
                      <a:r>
                        <a:rPr lang="ru-RU" sz="2800" b="0" dirty="0" smtClean="0">
                          <a:effectLst/>
                        </a:rPr>
                        <a:t>x</a:t>
                      </a:r>
                      <a:endParaRPr lang="ru-RU" sz="28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0" dirty="0" smtClean="0"/>
                        <a:t>floor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28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ru-RU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наибольшее целое, меньшее или равное вещественного </a:t>
                      </a:r>
                      <a:r>
                        <a:rPr lang="ru-RU" sz="2800" b="0" dirty="0" smtClean="0">
                          <a:effectLst/>
                        </a:rPr>
                        <a:t>x</a:t>
                      </a:r>
                      <a:endParaRPr lang="ru-RU" sz="28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0" dirty="0" err="1" smtClean="0"/>
                        <a:t>trunc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28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ru-RU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целую часть </a:t>
                      </a:r>
                      <a:r>
                        <a:rPr lang="ru-RU" sz="2800" b="0" dirty="0" smtClean="0">
                          <a:effectLst/>
                        </a:rPr>
                        <a:t>x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в виде целого числа</a:t>
                      </a:r>
                      <a:endParaRPr lang="ru-RU" sz="28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3" name="Прямоугольник 2"/>
          <p:cNvSpPr/>
          <p:nvPr/>
        </p:nvSpPr>
        <p:spPr>
          <a:xfrm>
            <a:off x="457201" y="1034716"/>
            <a:ext cx="1081729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Модуль </a:t>
            </a:r>
            <a:r>
              <a:rPr lang="ru-RU" dirty="0" err="1"/>
              <a:t>math</a:t>
            </a:r>
            <a:r>
              <a:rPr lang="ru-RU" dirty="0"/>
              <a:t> предоставляет доступ к математическим функциям, определяемым стандартом языка Си. Как правило, все функции модуля </a:t>
            </a:r>
            <a:r>
              <a:rPr lang="ru-RU" dirty="0" err="1"/>
              <a:t>math</a:t>
            </a:r>
            <a:r>
              <a:rPr lang="ru-RU" dirty="0"/>
              <a:t> возвращают значения вещественного типа.</a:t>
            </a:r>
          </a:p>
        </p:txBody>
      </p:sp>
    </p:spTree>
    <p:extLst>
      <p:ext uri="{BB962C8B-B14F-4D97-AF65-F5344CB8AC3E}">
        <p14:creationId xmlns:p14="http://schemas.microsoft.com/office/powerpoint/2010/main" xmlns="" val="267865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21613" y="13000"/>
            <a:ext cx="11617461" cy="78206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math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221613" y="795067"/>
            <a:ext cx="11970387" cy="54014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sz="2800" b="1" dirty="0" err="1"/>
              <a:t>math.isclose</a:t>
            </a:r>
            <a:r>
              <a:rPr lang="ru-RU" sz="2800" b="1" dirty="0"/>
              <a:t>(a, b, *, </a:t>
            </a:r>
            <a:r>
              <a:rPr lang="ru-RU" sz="2800" b="1" dirty="0" err="1"/>
              <a:t>rel_tol</a:t>
            </a:r>
            <a:r>
              <a:rPr lang="ru-RU" sz="2800" b="1" dirty="0"/>
              <a:t>=1e-09, </a:t>
            </a:r>
            <a:r>
              <a:rPr lang="ru-RU" sz="2800" b="1" dirty="0" err="1"/>
              <a:t>abs_tol</a:t>
            </a:r>
            <a:r>
              <a:rPr lang="ru-RU" sz="2800" b="1" dirty="0"/>
              <a:t>=0.0)</a:t>
            </a:r>
          </a:p>
          <a:p>
            <a:r>
              <a:rPr lang="ru-RU" dirty="0"/>
              <a:t>Возвращает </a:t>
            </a:r>
            <a:r>
              <a:rPr lang="ru-RU" dirty="0" err="1"/>
              <a:t>True</a:t>
            </a:r>
            <a:r>
              <a:rPr lang="ru-RU" dirty="0"/>
              <a:t> если значения a и b равны с заданной точностью.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 err="1" smtClean="0"/>
              <a:t>rel_tol</a:t>
            </a:r>
            <a:r>
              <a:rPr lang="ru-RU" sz="2800" dirty="0" smtClean="0"/>
              <a:t> </a:t>
            </a:r>
            <a:r>
              <a:rPr lang="ru-RU" sz="2800" dirty="0"/>
              <a:t>– относительная погрешность: максимально допустимая разница между a и b относительно максимального значения их модулей; задается в процентах, например, для погрешности в 5% </a:t>
            </a:r>
            <a:r>
              <a:rPr lang="ru-RU" sz="2800" dirty="0" err="1"/>
              <a:t>rel_tol</a:t>
            </a:r>
            <a:r>
              <a:rPr lang="ru-RU" sz="2800" dirty="0"/>
              <a:t>=0.05;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 err="1" smtClean="0"/>
              <a:t>abs_tol</a:t>
            </a:r>
            <a:r>
              <a:rPr lang="ru-RU" sz="2800" dirty="0" smtClean="0"/>
              <a:t> </a:t>
            </a:r>
            <a:r>
              <a:rPr lang="ru-RU" sz="2800" dirty="0"/>
              <a:t>– абсолютная погрешность: минимально допустимая разница между a и b; как правило, используется для сравнения с нулевым значением.</a:t>
            </a:r>
          </a:p>
          <a:p>
            <a:r>
              <a:rPr lang="ru-RU" sz="2400" dirty="0" smtClean="0"/>
              <a:t>Результат </a:t>
            </a:r>
            <a:r>
              <a:rPr lang="ru-RU" sz="2400" dirty="0"/>
              <a:t>функции </a:t>
            </a:r>
            <a:r>
              <a:rPr lang="ru-RU" sz="2400" dirty="0" smtClean="0"/>
              <a:t>эквивалентен:</a:t>
            </a:r>
          </a:p>
          <a:p>
            <a:r>
              <a:rPr lang="ru-RU" sz="2800" dirty="0" err="1" smtClean="0"/>
              <a:t>abs</a:t>
            </a:r>
            <a:r>
              <a:rPr lang="ru-RU" sz="2800" dirty="0" smtClean="0"/>
              <a:t>(a-b) &lt;= </a:t>
            </a:r>
            <a:r>
              <a:rPr lang="ru-RU" sz="2800" dirty="0" err="1" smtClean="0"/>
              <a:t>max</a:t>
            </a:r>
            <a:r>
              <a:rPr lang="ru-RU" sz="2800" dirty="0" smtClean="0"/>
              <a:t>(</a:t>
            </a:r>
            <a:r>
              <a:rPr lang="ru-RU" sz="2800" dirty="0" err="1" smtClean="0"/>
              <a:t>rel_tol</a:t>
            </a:r>
            <a:r>
              <a:rPr lang="ru-RU" sz="2800" dirty="0" smtClean="0"/>
              <a:t> * </a:t>
            </a:r>
            <a:r>
              <a:rPr lang="ru-RU" sz="2800" dirty="0" err="1" smtClean="0"/>
              <a:t>max</a:t>
            </a:r>
            <a:r>
              <a:rPr lang="ru-RU" sz="2800" dirty="0" smtClean="0"/>
              <a:t>(</a:t>
            </a:r>
            <a:r>
              <a:rPr lang="ru-RU" sz="2800" dirty="0" err="1" smtClean="0"/>
              <a:t>abs</a:t>
            </a:r>
            <a:r>
              <a:rPr lang="ru-RU" sz="2800" dirty="0" smtClean="0"/>
              <a:t>(a), </a:t>
            </a:r>
            <a:r>
              <a:rPr lang="ru-RU" sz="2800" dirty="0" err="1" smtClean="0"/>
              <a:t>abs</a:t>
            </a:r>
            <a:r>
              <a:rPr lang="ru-RU" sz="2800" dirty="0" smtClean="0"/>
              <a:t>(b)), </a:t>
            </a:r>
            <a:r>
              <a:rPr lang="ru-RU" sz="2800" dirty="0" err="1" smtClean="0"/>
              <a:t>abs_tol</a:t>
            </a:r>
            <a:r>
              <a:rPr lang="ru-RU" sz="2800" dirty="0" smtClean="0"/>
              <a:t>)</a:t>
            </a:r>
          </a:p>
          <a:p>
            <a:r>
              <a:rPr lang="ru-RU" dirty="0" smtClean="0"/>
              <a:t>Пример:</a:t>
            </a:r>
          </a:p>
          <a:p>
            <a:r>
              <a:rPr lang="ru-RU" sz="2800" dirty="0" err="1" smtClean="0"/>
              <a:t>math.isclose</a:t>
            </a:r>
            <a:r>
              <a:rPr lang="ru-RU" sz="2800" dirty="0" smtClean="0"/>
              <a:t>(5.0012</a:t>
            </a:r>
            <a:r>
              <a:rPr lang="ru-RU" sz="2800" dirty="0"/>
              <a:t>, 5.001, </a:t>
            </a:r>
            <a:r>
              <a:rPr lang="ru-RU" sz="2800" dirty="0" err="1"/>
              <a:t>rel_tol</a:t>
            </a:r>
            <a:r>
              <a:rPr lang="ru-RU" sz="2800" dirty="0"/>
              <a:t>=0.001)  </a:t>
            </a:r>
            <a:r>
              <a:rPr lang="ru-RU" sz="2000" dirty="0" smtClean="0"/>
              <a:t># </a:t>
            </a:r>
            <a:r>
              <a:rPr lang="ru-RU" sz="2000" dirty="0"/>
              <a:t>0.0002 &lt; 0.0050012, до 3-х знаков</a:t>
            </a:r>
          </a:p>
          <a:p>
            <a:r>
              <a:rPr lang="ru-RU" sz="2800" dirty="0" err="1"/>
              <a:t>True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xmlns="" val="1076331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21612" y="252649"/>
            <a:ext cx="11617461" cy="78206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math</a:t>
            </a:r>
            <a:endParaRPr lang="ru-RU" dirty="0"/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691007196"/>
              </p:ext>
            </p:extLst>
          </p:nvPr>
        </p:nvGraphicFramePr>
        <p:xfrm>
          <a:off x="104274" y="1297181"/>
          <a:ext cx="11734799" cy="49987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35314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38165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b="0" dirty="0" err="1" smtClean="0"/>
                        <a:t>exp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28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ru-RU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0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en-US" sz="2800" b="0" i="0" u="none" strike="noStrike" kern="1200" baseline="300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lang="ru-RU" sz="2800" b="0" baseline="30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25473">
                <a:tc>
                  <a:txBody>
                    <a:bodyPr/>
                    <a:lstStyle/>
                    <a:p>
                      <a:r>
                        <a:rPr lang="en-US" sz="2800" b="0" dirty="0" smtClean="0"/>
                        <a:t>factorial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28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ru-RU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Факториал </a:t>
                      </a:r>
                      <a:r>
                        <a:rPr lang="en-US" sz="2800" b="0" dirty="0" smtClean="0">
                          <a:effectLst/>
                        </a:rPr>
                        <a:t>x</a:t>
                      </a:r>
                      <a:endParaRPr lang="ru-RU" sz="28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0" dirty="0" smtClean="0"/>
                        <a:t>log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28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[, </a:t>
                      </a:r>
                      <a:r>
                        <a:rPr lang="en-US" sz="28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base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])</a:t>
                      </a:r>
                      <a:endParaRPr lang="ru-RU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Логарифм числа </a:t>
                      </a:r>
                      <a:r>
                        <a:rPr lang="ru-RU" sz="2800" b="0" dirty="0" smtClean="0">
                          <a:effectLst/>
                        </a:rPr>
                        <a:t>x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по основанию </a:t>
                      </a:r>
                      <a:r>
                        <a:rPr lang="ru-RU" sz="2800" b="0" dirty="0" err="1" smtClean="0">
                          <a:effectLst/>
                        </a:rPr>
                        <a:t>base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(</a:t>
                      </a:r>
                      <a:r>
                        <a:rPr lang="ru-RU" sz="2800" b="0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по умолчанию)</a:t>
                      </a:r>
                      <a:endParaRPr lang="ru-RU" sz="28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0" dirty="0" smtClean="0"/>
                        <a:t>log2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28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ru-RU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Логарифм числа </a:t>
                      </a:r>
                      <a:r>
                        <a:rPr lang="ru-RU" sz="2800" b="0" dirty="0" smtClean="0">
                          <a:effectLst/>
                        </a:rPr>
                        <a:t>x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по основанию 2</a:t>
                      </a:r>
                      <a:endParaRPr lang="ru-RU" sz="28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0" dirty="0" smtClean="0"/>
                        <a:t>pow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28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US" sz="28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ru-RU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i="0" u="none" strike="noStrike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ru-RU" sz="2800" b="0" i="0" u="none" strike="noStrike" kern="1200" baseline="300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 Эквивалентно x**y, но принудительно конвертирует аргументы в тип </a:t>
                      </a:r>
                      <a:r>
                        <a:rPr lang="ru-RU" sz="2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float</a:t>
                      </a:r>
                      <a:endParaRPr lang="ru-RU" sz="2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0" dirty="0" err="1" smtClean="0"/>
                        <a:t>sqrt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28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ru-RU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Квадратный корень из </a:t>
                      </a:r>
                      <a:r>
                        <a:rPr lang="en-US" sz="2800" b="0" dirty="0" smtClean="0">
                          <a:effectLst/>
                        </a:rPr>
                        <a:t>x</a:t>
                      </a:r>
                      <a:endParaRPr lang="ru-RU" sz="2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0" dirty="0" err="1" smtClean="0"/>
                        <a:t>fabs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28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ru-RU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dirty="0" smtClean="0">
                          <a:effectLst/>
                        </a:rPr>
                        <a:t>|x|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В отличие от </a:t>
                      </a:r>
                      <a:r>
                        <a:rPr lang="ru-RU" sz="2800" b="0" dirty="0" err="1" smtClean="0">
                          <a:effectLst/>
                        </a:rPr>
                        <a:t>abs</a:t>
                      </a:r>
                      <a:r>
                        <a:rPr lang="ru-RU" sz="2800" b="0" dirty="0" smtClean="0">
                          <a:effectLst/>
                        </a:rPr>
                        <a:t>()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принудительно переводит аргумент в тип </a:t>
                      </a:r>
                      <a:r>
                        <a:rPr lang="ru-RU" sz="2800" b="0" dirty="0" err="1" smtClean="0">
                          <a:effectLst/>
                        </a:rPr>
                        <a:t>float</a:t>
                      </a:r>
                      <a:endParaRPr lang="ru-RU" sz="2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0" dirty="0" err="1" smtClean="0"/>
                        <a:t>copysign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28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US" sz="28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ru-RU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0" dirty="0" smtClean="0">
                          <a:effectLst/>
                        </a:rPr>
                        <a:t>x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со знаком </a:t>
                      </a:r>
                      <a:r>
                        <a:rPr lang="en-US" sz="2800" b="0" dirty="0" smtClean="0">
                          <a:effectLst/>
                        </a:rPr>
                        <a:t>y</a:t>
                      </a:r>
                      <a:endParaRPr lang="ru-RU" sz="2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4072435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21612" y="252649"/>
            <a:ext cx="11617461" cy="78206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math</a:t>
            </a:r>
            <a:endParaRPr lang="ru-RU" dirty="0"/>
          </a:p>
        </p:txBody>
      </p:sp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27538" y="1322572"/>
            <a:ext cx="10814716" cy="4837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186525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21612" y="252649"/>
            <a:ext cx="11617461" cy="78206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math</a:t>
            </a:r>
            <a:endParaRPr lang="ru-RU" dirty="0"/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631414914"/>
              </p:ext>
            </p:extLst>
          </p:nvPr>
        </p:nvGraphicFramePr>
        <p:xfrm>
          <a:off x="162942" y="1540042"/>
          <a:ext cx="11734799" cy="47244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35314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38165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b="0" dirty="0" smtClean="0"/>
                        <a:t>sin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28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ru-RU" sz="2800" b="0" i="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r>
                        <a:rPr lang="en-US" sz="2800" b="0" dirty="0" smtClean="0"/>
                        <a:t>cos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28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</a:p>
                    <a:p>
                      <a:r>
                        <a:rPr lang="en-US" sz="2800" b="0" dirty="0" smtClean="0"/>
                        <a:t>tan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28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ru-RU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Значение тригонометрических функций (синус, косинус, тангенс)</a:t>
                      </a:r>
                    </a:p>
                    <a:p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 – 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угол в радианах</a:t>
                      </a:r>
                      <a:endParaRPr lang="ru-RU" sz="2800" b="0" baseline="30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25473">
                <a:tc>
                  <a:txBody>
                    <a:bodyPr/>
                    <a:lstStyle/>
                    <a:p>
                      <a:r>
                        <a:rPr lang="en-US" sz="2800" b="0" dirty="0" err="1" smtClean="0"/>
                        <a:t>asin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28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2800" b="0" dirty="0" err="1" smtClean="0"/>
                        <a:t>acos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28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</a:p>
                    <a:p>
                      <a:r>
                        <a:rPr lang="en-US" sz="2800" b="0" dirty="0" err="1" smtClean="0"/>
                        <a:t>atan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28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ru-RU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Значение обратных тригонометрических функций (арксинус, арккосинус, арктангенс).</a:t>
                      </a:r>
                    </a:p>
                    <a:p>
                      <a:r>
                        <a:rPr lang="ru-RU" sz="2800" b="0" dirty="0" smtClean="0">
                          <a:effectLst/>
                        </a:rPr>
                        <a:t>x – значение соответствующей функции.</a:t>
                      </a:r>
                    </a:p>
                    <a:p>
                      <a:r>
                        <a:rPr lang="ru-RU" sz="2800" b="0" dirty="0" smtClean="0"/>
                        <a:t>Результат - </a:t>
                      </a:r>
                      <a:r>
                        <a:rPr lang="ru-RU" sz="2800" b="0" dirty="0" smtClean="0">
                          <a:effectLst/>
                        </a:rPr>
                        <a:t>угол в радианах</a:t>
                      </a:r>
                      <a:endParaRPr lang="ru-RU" sz="2800" b="0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0" dirty="0" err="1" smtClean="0"/>
                        <a:t>hypot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28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US" sz="28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ru-RU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«Гипотенуза», эквивалентно </a:t>
                      </a:r>
                      <a:r>
                        <a:rPr lang="en-US" sz="2800" b="0" dirty="0" err="1" smtClean="0">
                          <a:effectLst/>
                        </a:rPr>
                        <a:t>sqrt</a:t>
                      </a:r>
                      <a:r>
                        <a:rPr lang="en-US" sz="2800" b="0" dirty="0" smtClean="0">
                          <a:effectLst/>
                        </a:rPr>
                        <a:t>(x*x</a:t>
                      </a:r>
                      <a:r>
                        <a:rPr lang="en-US" sz="2800" b="0" dirty="0" smtClean="0"/>
                        <a:t> </a:t>
                      </a:r>
                      <a:r>
                        <a:rPr lang="en-US" sz="2800" b="0" dirty="0" smtClean="0">
                          <a:effectLst/>
                        </a:rPr>
                        <a:t>+</a:t>
                      </a:r>
                      <a:r>
                        <a:rPr lang="en-US" sz="2800" b="0" dirty="0" smtClean="0"/>
                        <a:t> </a:t>
                      </a:r>
                      <a:r>
                        <a:rPr lang="en-US" sz="2800" b="0" dirty="0" smtClean="0">
                          <a:effectLst/>
                        </a:rPr>
                        <a:t>y*y)</a:t>
                      </a:r>
                      <a:endParaRPr lang="ru-RU" sz="28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0" dirty="0" smtClean="0"/>
                        <a:t>degrees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28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ru-RU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Значение </a:t>
                      </a:r>
                      <a:r>
                        <a:rPr lang="ru-RU" sz="2800" b="0" dirty="0" smtClean="0">
                          <a:effectLst/>
                        </a:rPr>
                        <a:t>x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радиан в градусах</a:t>
                      </a:r>
                      <a:endParaRPr lang="ru-RU" sz="28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0" dirty="0" smtClean="0"/>
                        <a:t>radians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28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ru-RU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Значение </a:t>
                      </a:r>
                      <a:r>
                        <a:rPr lang="ru-RU" sz="2800" b="0" dirty="0" smtClean="0">
                          <a:effectLst/>
                        </a:rPr>
                        <a:t>x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градусов в радианах</a:t>
                      </a:r>
                      <a:endParaRPr lang="ru-RU" sz="2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566128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21612" y="252649"/>
            <a:ext cx="11617461" cy="78206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math</a:t>
            </a:r>
            <a:endParaRPr lang="ru-RU" dirty="0"/>
          </a:p>
        </p:txBody>
      </p:sp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73614" y="1246360"/>
            <a:ext cx="10713456" cy="508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543294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574539" y="12509"/>
            <a:ext cx="11617461" cy="78206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en-US" dirty="0"/>
              <a:t> random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87650" y="794576"/>
            <a:ext cx="1161746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/>
              <a:t>Практически все функции модуля основаны на функции </a:t>
            </a:r>
            <a:r>
              <a:rPr lang="ru-RU" dirty="0" err="1"/>
              <a:t>random</a:t>
            </a:r>
            <a:r>
              <a:rPr lang="ru-RU" dirty="0"/>
              <a:t>(). </a:t>
            </a:r>
            <a:endParaRPr lang="ru-RU" dirty="0" smtClean="0"/>
          </a:p>
        </p:txBody>
      </p:sp>
      <p:sp>
        <p:nvSpPr>
          <p:cNvPr id="6" name="Прямоугольник 5"/>
          <p:cNvSpPr/>
          <p:nvPr/>
        </p:nvSpPr>
        <p:spPr>
          <a:xfrm>
            <a:off x="243158" y="1328138"/>
            <a:ext cx="11306443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Для инициализации ГПСЧ </a:t>
            </a:r>
            <a:r>
              <a:rPr lang="ru-RU" sz="2400" dirty="0" smtClean="0"/>
              <a:t> требуется целое число, </a:t>
            </a:r>
            <a:r>
              <a:rPr lang="ru-RU" sz="2400" dirty="0"/>
              <a:t>определяющее будущую генерируемую последовательность. </a:t>
            </a:r>
            <a:endParaRPr lang="ru-RU" sz="2400" dirty="0" smtClean="0"/>
          </a:p>
          <a:p>
            <a:r>
              <a:rPr lang="ru-RU" sz="2400" dirty="0" smtClean="0"/>
              <a:t>Нет </a:t>
            </a:r>
            <a:r>
              <a:rPr lang="ru-RU" sz="2400" dirty="0"/>
              <a:t>возможности узнать зависимость между этим числом и получаемой последовательностью.</a:t>
            </a:r>
          </a:p>
          <a:p>
            <a:endParaRPr lang="ru-RU" sz="2400" dirty="0"/>
          </a:p>
          <a:p>
            <a:r>
              <a:rPr lang="ru-RU" sz="2400" dirty="0" smtClean="0"/>
              <a:t>Используется </a:t>
            </a:r>
            <a:r>
              <a:rPr lang="ru-RU" sz="2400" dirty="0"/>
              <a:t>алгоритм «Вихрь </a:t>
            </a:r>
            <a:r>
              <a:rPr lang="ru-RU" sz="2400" dirty="0" err="1"/>
              <a:t>Мерсенна</a:t>
            </a:r>
            <a:r>
              <a:rPr lang="ru-RU" sz="2400" dirty="0"/>
              <a:t>», который лишен многих недостатков, присущих другим алгоритмам генерации (малый период, предсказуемость, легко выявляемая статистическая зависимость и др.). </a:t>
            </a:r>
            <a:endParaRPr lang="ru-RU" sz="2400" dirty="0" smtClean="0"/>
          </a:p>
          <a:p>
            <a:endParaRPr lang="ru-RU" sz="2400" dirty="0" smtClean="0"/>
          </a:p>
          <a:p>
            <a:r>
              <a:rPr lang="ru-RU" sz="2400" dirty="0" smtClean="0"/>
              <a:t>Данный </a:t>
            </a:r>
            <a:r>
              <a:rPr lang="ru-RU" sz="2400" dirty="0"/>
              <a:t>алгоритм не является </a:t>
            </a:r>
            <a:r>
              <a:rPr lang="ru-RU" sz="2400" dirty="0" err="1"/>
              <a:t>криптостойким</a:t>
            </a:r>
            <a:r>
              <a:rPr lang="ru-RU" sz="2400" dirty="0"/>
              <a:t> </a:t>
            </a:r>
            <a:r>
              <a:rPr lang="ru-RU" sz="2400" dirty="0" smtClean="0"/>
              <a:t>(теоретически </a:t>
            </a:r>
            <a:r>
              <a:rPr lang="ru-RU" sz="2400" dirty="0"/>
              <a:t>возможно «предсказать» их генерацию), поэтому не должен использоваться для задач, связанных с информационной безопасностью (например, для криптографии, шифрования и т.д</a:t>
            </a:r>
            <a:r>
              <a:rPr lang="ru-RU" sz="2400" dirty="0" smtClean="0"/>
              <a:t>.).</a:t>
            </a:r>
            <a:r>
              <a:rPr lang="ru-RU" sz="2400" dirty="0"/>
              <a:t> требует определенное целое число </a:t>
            </a:r>
          </a:p>
        </p:txBody>
      </p:sp>
    </p:spTree>
    <p:extLst>
      <p:ext uri="{BB962C8B-B14F-4D97-AF65-F5344CB8AC3E}">
        <p14:creationId xmlns:p14="http://schemas.microsoft.com/office/powerpoint/2010/main" xmlns="" val="662816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574539" y="180459"/>
            <a:ext cx="11617461" cy="78206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en-US" dirty="0"/>
              <a:t> random</a:t>
            </a:r>
            <a:endParaRPr lang="ru-RU" dirty="0"/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104807015"/>
              </p:ext>
            </p:extLst>
          </p:nvPr>
        </p:nvGraphicFramePr>
        <p:xfrm>
          <a:off x="0" y="962526"/>
          <a:ext cx="12192000" cy="39319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82604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36595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b="0" dirty="0" err="1" smtClean="0"/>
                        <a:t>random.seed</a:t>
                      </a:r>
                      <a:r>
                        <a:rPr lang="en-US" sz="2800" b="0" dirty="0" smtClean="0"/>
                        <a:t>(a=None, version=2)</a:t>
                      </a:r>
                      <a:endParaRPr lang="ru-RU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Инициализирует генератор. Если аргумент a передан, используется в качестве инициализатора, в противном случае используется системное время</a:t>
                      </a:r>
                      <a:endParaRPr lang="ru-RU" sz="2400" b="0" baseline="30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25473">
                <a:tc>
                  <a:txBody>
                    <a:bodyPr/>
                    <a:lstStyle/>
                    <a:p>
                      <a:r>
                        <a:rPr lang="en-US" sz="2800" b="0" dirty="0" err="1" smtClean="0"/>
                        <a:t>random.getrandbits</a:t>
                      </a:r>
                      <a:r>
                        <a:rPr lang="en-US" sz="2800" b="0" dirty="0" smtClean="0"/>
                        <a:t>(k)</a:t>
                      </a:r>
                      <a:endParaRPr lang="ru-RU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целое число из k случайных бит. Если k = 4, сгенерируется случайное двоичное число от 0000</a:t>
                      </a:r>
                      <a:r>
                        <a:rPr lang="ru-RU" sz="2400" b="0" i="0" kern="1200" baseline="-250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 </a:t>
                      </a:r>
                      <a:r>
                        <a:rPr lang="ru-RU" sz="2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до 1111</a:t>
                      </a:r>
                      <a:r>
                        <a:rPr lang="ru-RU" sz="2400" b="0" i="0" kern="1200" baseline="-250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ru-RU" sz="2400" b="0" baseline="-25000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0" dirty="0" err="1" smtClean="0"/>
                        <a:t>random.randrange</a:t>
                      </a:r>
                      <a:r>
                        <a:rPr lang="en-US" sz="2800" b="0" dirty="0" smtClean="0"/>
                        <a:t>(stop)</a:t>
                      </a:r>
                    </a:p>
                    <a:p>
                      <a:r>
                        <a:rPr lang="en-US" sz="2800" b="0" dirty="0" err="1" smtClean="0"/>
                        <a:t>random.randrange</a:t>
                      </a:r>
                      <a:r>
                        <a:rPr lang="en-US" sz="2800" b="0" dirty="0" smtClean="0"/>
                        <a:t>(start, stop[, step])</a:t>
                      </a:r>
                      <a:endParaRPr lang="ru-RU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случайное число из полуинтервала [</a:t>
                      </a:r>
                      <a:r>
                        <a:rPr lang="ru-RU" sz="24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start</a:t>
                      </a:r>
                      <a:r>
                        <a:rPr lang="ru-RU" sz="2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 </a:t>
                      </a:r>
                      <a:r>
                        <a:rPr lang="ru-RU" sz="24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stop</a:t>
                      </a:r>
                      <a:r>
                        <a:rPr lang="ru-RU" sz="2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с шагом </a:t>
                      </a:r>
                      <a:r>
                        <a:rPr lang="ru-RU" sz="24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step</a:t>
                      </a:r>
                      <a:r>
                        <a:rPr lang="ru-RU" sz="2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r>
                        <a:rPr lang="ru-RU" sz="24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start</a:t>
                      </a:r>
                      <a:r>
                        <a:rPr lang="ru-RU" sz="2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(int) – начальное значение (по умолчанию 0);</a:t>
                      </a:r>
                    </a:p>
                    <a:p>
                      <a:r>
                        <a:rPr lang="ru-RU" sz="24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stop</a:t>
                      </a:r>
                      <a:r>
                        <a:rPr lang="ru-RU" sz="2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(int) – конечное значение (не включается в результат);</a:t>
                      </a:r>
                    </a:p>
                    <a:p>
                      <a:r>
                        <a:rPr lang="ru-RU" sz="24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step</a:t>
                      </a:r>
                      <a:r>
                        <a:rPr lang="ru-RU" sz="2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(int) – шаг изменения (по умолчанию 1, может быть отрицательным).</a:t>
                      </a:r>
                      <a:endParaRPr lang="ru-RU" sz="2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3" name="Прямоугольник 2"/>
          <p:cNvSpPr/>
          <p:nvPr/>
        </p:nvSpPr>
        <p:spPr>
          <a:xfrm>
            <a:off x="0" y="4937849"/>
            <a:ext cx="1161746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/>
              <a:t>математически невозможно сгенерировать по-настоящему случайные числа, используя компьютер, </a:t>
            </a:r>
            <a:r>
              <a:rPr lang="ru-RU" dirty="0" smtClean="0"/>
              <a:t>можно только псевдослучайные.</a:t>
            </a:r>
          </a:p>
          <a:p>
            <a:pPr algn="just"/>
            <a:r>
              <a:rPr lang="ru-RU" dirty="0" smtClean="0">
                <a:solidFill>
                  <a:srgbClr val="404040"/>
                </a:solidFill>
                <a:latin typeface="Lato" panose="020F0502020204030203" pitchFamily="34" charset="0"/>
              </a:rPr>
              <a:t>Псевдослучайные </a:t>
            </a:r>
            <a:r>
              <a:rPr lang="ru-RU" dirty="0">
                <a:solidFill>
                  <a:srgbClr val="404040"/>
                </a:solidFill>
                <a:latin typeface="Lato" panose="020F0502020204030203" pitchFamily="34" charset="0"/>
              </a:rPr>
              <a:t>числа обладают определенными характеристиками: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404040"/>
                </a:solidFill>
                <a:latin typeface="Lato" panose="020F0502020204030203" pitchFamily="34" charset="0"/>
              </a:rPr>
              <a:t>сгенерированная последовательность не должна повторяться;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404040"/>
                </a:solidFill>
                <a:latin typeface="Lato" panose="020F0502020204030203" pitchFamily="34" charset="0"/>
              </a:rPr>
              <a:t>числа в последовательности должны быть равномерно распределены на определенном промежутке.</a:t>
            </a:r>
            <a:endParaRPr lang="ru-RU" b="0" i="0" dirty="0">
              <a:solidFill>
                <a:srgbClr val="404040"/>
              </a:solidFill>
              <a:effectLst/>
              <a:latin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771397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574539" y="180459"/>
            <a:ext cx="11617461" cy="78206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en-US" dirty="0"/>
              <a:t> random</a:t>
            </a:r>
            <a:endParaRPr lang="ru-RU" dirty="0"/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646424622"/>
              </p:ext>
            </p:extLst>
          </p:nvPr>
        </p:nvGraphicFramePr>
        <p:xfrm>
          <a:off x="1253409" y="1293680"/>
          <a:ext cx="10873272" cy="42976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45232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42094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b="0" dirty="0" err="1" smtClean="0"/>
                        <a:t>randint</a:t>
                      </a:r>
                      <a:r>
                        <a:rPr lang="en-US" sz="2800" b="0" dirty="0" smtClean="0"/>
                        <a:t>(a, b)</a:t>
                      </a:r>
                      <a:endParaRPr lang="ru-RU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случайное число на отрезке [</a:t>
                      </a:r>
                      <a:r>
                        <a:rPr lang="ru-RU" sz="2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a;b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]. </a:t>
                      </a:r>
                    </a:p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Эквивалентно </a:t>
                      </a:r>
                      <a:r>
                        <a:rPr lang="en-US" sz="2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randrange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(a, b + 1)</a:t>
                      </a:r>
                      <a:endParaRPr lang="ru-RU" sz="28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25473">
                <a:tc>
                  <a:txBody>
                    <a:bodyPr/>
                    <a:lstStyle/>
                    <a:p>
                      <a:r>
                        <a:rPr lang="en-US" sz="2800" b="0" dirty="0" smtClean="0"/>
                        <a:t>random()</a:t>
                      </a:r>
                      <a:endParaRPr lang="ru-RU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случайное число из полуинтервала [0.0;1.0)</a:t>
                      </a:r>
                      <a:endParaRPr lang="ru-RU" sz="2800" b="0" baseline="-25000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0" dirty="0" smtClean="0"/>
                        <a:t>uniform(a, b)</a:t>
                      </a:r>
                      <a:endParaRPr lang="ru-RU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dirty="0" smtClean="0"/>
                        <a:t>случайное число на отрезке [</a:t>
                      </a:r>
                      <a:r>
                        <a:rPr lang="ru-RU" sz="2800" b="0" dirty="0" err="1" smtClean="0"/>
                        <a:t>a;b</a:t>
                      </a:r>
                      <a:r>
                        <a:rPr lang="ru-RU" sz="2800" b="0" dirty="0" smtClean="0"/>
                        <a:t>]</a:t>
                      </a:r>
                    </a:p>
                    <a:p>
                      <a:r>
                        <a:rPr lang="ru-RU" sz="2800" b="0" dirty="0" smtClean="0"/>
                        <a:t>Эквивалентно </a:t>
                      </a:r>
                      <a:r>
                        <a:rPr lang="en-US" sz="2800" b="0" dirty="0" smtClean="0"/>
                        <a:t>a + (b-a) * random()</a:t>
                      </a:r>
                      <a:endParaRPr lang="ru-RU" sz="28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0" dirty="0" smtClean="0"/>
                        <a:t>choice(</a:t>
                      </a:r>
                      <a:r>
                        <a:rPr lang="en-US" sz="2800" b="0" dirty="0" err="1" smtClean="0"/>
                        <a:t>seq</a:t>
                      </a:r>
                      <a:r>
                        <a:rPr lang="en-US" sz="2800" b="0" dirty="0" smtClean="0"/>
                        <a:t>)</a:t>
                      </a:r>
                      <a:endParaRPr lang="ru-RU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dirty="0" smtClean="0"/>
                        <a:t>случайный элемент из последовательности </a:t>
                      </a:r>
                      <a:r>
                        <a:rPr lang="ru-RU" sz="2800" b="0" dirty="0" err="1" smtClean="0"/>
                        <a:t>seq</a:t>
                      </a:r>
                      <a:endParaRPr lang="ru-RU" sz="2800" b="0" dirty="0" smtClean="0"/>
                    </a:p>
                    <a:p>
                      <a:r>
                        <a:rPr lang="ru-RU" sz="2800" b="0" dirty="0" smtClean="0"/>
                        <a:t>Если в </a:t>
                      </a:r>
                      <a:r>
                        <a:rPr lang="ru-RU" sz="2800" b="0" dirty="0" err="1" smtClean="0"/>
                        <a:t>seq</a:t>
                      </a:r>
                      <a:r>
                        <a:rPr lang="ru-RU" sz="2800" b="0" dirty="0" smtClean="0"/>
                        <a:t> нет элементов, возбуждается исключение </a:t>
                      </a:r>
                      <a:r>
                        <a:rPr lang="ru-RU" sz="2800" b="0" dirty="0" err="1" smtClean="0"/>
                        <a:t>IndexError</a:t>
                      </a:r>
                      <a:endParaRPr lang="ru-RU" sz="28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0" dirty="0" smtClean="0"/>
                        <a:t>shuffle(x[, random])</a:t>
                      </a:r>
                      <a:endParaRPr lang="ru-RU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dirty="0" smtClean="0"/>
                        <a:t>Перемешивает последовательность </a:t>
                      </a:r>
                      <a:r>
                        <a:rPr lang="en-US" sz="2800" b="0" dirty="0" smtClean="0"/>
                        <a:t>x</a:t>
                      </a:r>
                      <a:endParaRPr lang="ru-RU" sz="28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3" name="Прямоугольник 2"/>
          <p:cNvSpPr/>
          <p:nvPr/>
        </p:nvSpPr>
        <p:spPr>
          <a:xfrm>
            <a:off x="193" y="1293680"/>
            <a:ext cx="154073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random.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xmlns="" val="1573835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574539" y="180459"/>
            <a:ext cx="11617461" cy="78206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en-US" dirty="0"/>
              <a:t> random</a:t>
            </a:r>
            <a:endParaRPr lang="ru-RU" dirty="0"/>
          </a:p>
        </p:txBody>
      </p:sp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6541" y="928660"/>
            <a:ext cx="7587692" cy="5895474"/>
          </a:xfrm>
          <a:prstGeom prst="rect">
            <a:avLst/>
          </a:prstGeom>
        </p:spPr>
      </p:pic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066128" y="1160939"/>
            <a:ext cx="3629645" cy="1429861"/>
          </a:xfrm>
          <a:prstGeom prst="rect">
            <a:avLst/>
          </a:prstGeom>
        </p:spPr>
      </p:pic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066128" y="2927336"/>
            <a:ext cx="1595487" cy="425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33943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574539" y="180459"/>
            <a:ext cx="11617461" cy="78206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en-US" dirty="0"/>
              <a:t> random</a:t>
            </a:r>
            <a:endParaRPr lang="ru-RU" dirty="0"/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256072341"/>
              </p:ext>
            </p:extLst>
          </p:nvPr>
        </p:nvGraphicFramePr>
        <p:xfrm>
          <a:off x="1268962" y="1421022"/>
          <a:ext cx="10705323" cy="543697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87129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8340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178210">
                <a:tc>
                  <a:txBody>
                    <a:bodyPr/>
                    <a:lstStyle/>
                    <a:p>
                      <a:r>
                        <a:rPr lang="en-US" sz="2800" b="0" dirty="0" smtClean="0">
                          <a:latin typeface="+mn-lt"/>
                        </a:rPr>
                        <a:t>sample(population, k)</a:t>
                      </a:r>
                      <a:endParaRPr lang="ru-RU" sz="2800" b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dirty="0" smtClean="0">
                          <a:latin typeface="+mn-lt"/>
                        </a:rPr>
                        <a:t>список неповторяющихся элементов длины k, выбранных из последовательности </a:t>
                      </a:r>
                      <a:r>
                        <a:rPr lang="ru-RU" sz="2800" b="0" dirty="0" err="1" smtClean="0">
                          <a:latin typeface="+mn-lt"/>
                        </a:rPr>
                        <a:t>population</a:t>
                      </a:r>
                      <a:r>
                        <a:rPr lang="ru-RU" sz="2800" b="0" dirty="0" smtClean="0">
                          <a:latin typeface="+mn-lt"/>
                        </a:rPr>
                        <a:t> («случайная выборка без возврата»). Если k &gt; </a:t>
                      </a:r>
                      <a:r>
                        <a:rPr lang="ru-RU" sz="2800" b="0" dirty="0" err="1" smtClean="0">
                          <a:latin typeface="+mn-lt"/>
                        </a:rPr>
                        <a:t>len</a:t>
                      </a:r>
                      <a:r>
                        <a:rPr lang="ru-RU" sz="2800" b="0" dirty="0" smtClean="0">
                          <a:latin typeface="+mn-lt"/>
                        </a:rPr>
                        <a:t>(</a:t>
                      </a:r>
                      <a:r>
                        <a:rPr lang="ru-RU" sz="2800" b="0" dirty="0" err="1" smtClean="0">
                          <a:latin typeface="+mn-lt"/>
                        </a:rPr>
                        <a:t>population</a:t>
                      </a:r>
                      <a:r>
                        <a:rPr lang="ru-RU" sz="2800" b="0" dirty="0" smtClean="0">
                          <a:latin typeface="+mn-lt"/>
                        </a:rPr>
                        <a:t>), возбуждается исключение </a:t>
                      </a:r>
                      <a:r>
                        <a:rPr lang="ru-RU" sz="2800" b="0" dirty="0" err="1" smtClean="0">
                          <a:latin typeface="+mn-lt"/>
                        </a:rPr>
                        <a:t>ValueError</a:t>
                      </a:r>
                      <a:endParaRPr lang="ru-RU" sz="2800" b="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211938">
                <a:tc>
                  <a:txBody>
                    <a:bodyPr/>
                    <a:lstStyle/>
                    <a:p>
                      <a:r>
                        <a:rPr lang="en-US" sz="2800" b="0" dirty="0" err="1" smtClean="0">
                          <a:latin typeface="+mn-lt"/>
                        </a:rPr>
                        <a:t>random.gauss</a:t>
                      </a:r>
                      <a:r>
                        <a:rPr lang="en-US" sz="2800" b="0" dirty="0" smtClean="0">
                          <a:latin typeface="+mn-lt"/>
                        </a:rPr>
                        <a:t>(mu, sigma)</a:t>
                      </a:r>
                    </a:p>
                    <a:p>
                      <a:r>
                        <a:rPr lang="en-US" sz="2800" b="0" dirty="0" err="1" smtClean="0">
                          <a:latin typeface="+mn-lt"/>
                        </a:rPr>
                        <a:t>random.normalvariate</a:t>
                      </a:r>
                      <a:r>
                        <a:rPr lang="en-US" sz="2800" b="0" dirty="0" smtClean="0">
                          <a:latin typeface="+mn-lt"/>
                        </a:rPr>
                        <a:t>(mu, sigma)</a:t>
                      </a:r>
                      <a:endParaRPr lang="ru-RU" sz="2800" b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baseline="-25000" dirty="0" smtClean="0">
                          <a:effectLst/>
                          <a:latin typeface="+mn-lt"/>
                        </a:rPr>
                        <a:t>Возвращает число, полученное по закону нормального распределения (распределение Гаусса).</a:t>
                      </a:r>
                    </a:p>
                    <a:p>
                      <a:endParaRPr lang="ru-RU" sz="2800" b="0" baseline="-25000" dirty="0" smtClean="0">
                        <a:effectLst/>
                        <a:latin typeface="+mn-lt"/>
                      </a:endParaRPr>
                    </a:p>
                    <a:p>
                      <a:r>
                        <a:rPr lang="ru-RU" sz="2800" b="0" baseline="-25000" dirty="0" smtClean="0">
                          <a:effectLst/>
                          <a:latin typeface="+mn-lt"/>
                        </a:rPr>
                        <a:t>Параметры</a:t>
                      </a:r>
                    </a:p>
                    <a:p>
                      <a:r>
                        <a:rPr lang="ru-RU" sz="2800" b="0" baseline="-25000" dirty="0" err="1" smtClean="0">
                          <a:effectLst/>
                          <a:latin typeface="+mn-lt"/>
                        </a:rPr>
                        <a:t>mu</a:t>
                      </a:r>
                      <a:r>
                        <a:rPr lang="ru-RU" sz="2800" b="0" baseline="-25000" dirty="0" smtClean="0">
                          <a:effectLst/>
                          <a:latin typeface="+mn-lt"/>
                        </a:rPr>
                        <a:t> – среднее значение;</a:t>
                      </a:r>
                    </a:p>
                    <a:p>
                      <a:endParaRPr lang="ru-RU" sz="2800" b="0" baseline="-25000" dirty="0" smtClean="0">
                        <a:effectLst/>
                        <a:latin typeface="+mn-lt"/>
                      </a:endParaRPr>
                    </a:p>
                    <a:p>
                      <a:r>
                        <a:rPr lang="ru-RU" sz="2800" b="0" baseline="-25000" dirty="0" err="1" smtClean="0">
                          <a:effectLst/>
                          <a:latin typeface="+mn-lt"/>
                        </a:rPr>
                        <a:t>sigma</a:t>
                      </a:r>
                      <a:r>
                        <a:rPr lang="ru-RU" sz="2800" b="0" baseline="-25000" dirty="0" smtClean="0">
                          <a:effectLst/>
                          <a:latin typeface="+mn-lt"/>
                        </a:rPr>
                        <a:t> – стандартное отклонение.</a:t>
                      </a:r>
                    </a:p>
                    <a:p>
                      <a:endParaRPr lang="ru-RU" sz="2800" b="0" baseline="-25000" dirty="0" smtClean="0">
                        <a:effectLst/>
                        <a:latin typeface="+mn-lt"/>
                      </a:endParaRPr>
                    </a:p>
                    <a:p>
                      <a:r>
                        <a:rPr lang="ru-RU" sz="2800" b="0" baseline="-25000" dirty="0" smtClean="0">
                          <a:effectLst/>
                          <a:latin typeface="+mn-lt"/>
                        </a:rPr>
                        <a:t>Первая функция не </a:t>
                      </a:r>
                      <a:r>
                        <a:rPr lang="ru-RU" sz="2800" b="0" baseline="-25000" dirty="0" err="1" smtClean="0">
                          <a:effectLst/>
                          <a:latin typeface="+mn-lt"/>
                        </a:rPr>
                        <a:t>потокобезопасна</a:t>
                      </a:r>
                      <a:r>
                        <a:rPr lang="ru-RU" sz="2800" b="0" baseline="-25000" dirty="0" smtClean="0">
                          <a:effectLst/>
                          <a:latin typeface="+mn-lt"/>
                        </a:rPr>
                        <a:t>, но работает несколько быстрее.</a:t>
                      </a:r>
                      <a:endParaRPr lang="ru-RU" sz="2800" b="0" baseline="-25000" dirty="0">
                        <a:effectLst/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4" name="Прямоугольник 3"/>
          <p:cNvSpPr/>
          <p:nvPr/>
        </p:nvSpPr>
        <p:spPr>
          <a:xfrm>
            <a:off x="0" y="1419644"/>
            <a:ext cx="141961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random.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xmlns="" val="1387627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574539" y="180459"/>
            <a:ext cx="11617461" cy="78206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en-US" dirty="0"/>
              <a:t> random</a:t>
            </a:r>
            <a:endParaRPr lang="ru-RU" dirty="0"/>
          </a:p>
        </p:txBody>
      </p:sp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74538" y="1391210"/>
            <a:ext cx="11087723" cy="4029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859670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574539" y="180459"/>
            <a:ext cx="11007861" cy="78206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en-US" dirty="0"/>
              <a:t> </a:t>
            </a:r>
            <a:r>
              <a:rPr lang="en-US" dirty="0" smtClean="0"/>
              <a:t>statistics</a:t>
            </a: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958075033"/>
              </p:ext>
            </p:extLst>
          </p:nvPr>
        </p:nvGraphicFramePr>
        <p:xfrm>
          <a:off x="398541" y="1576709"/>
          <a:ext cx="11403988" cy="3961941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6717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23681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493547">
                <a:tc>
                  <a:txBody>
                    <a:bodyPr/>
                    <a:lstStyle/>
                    <a:p>
                      <a:r>
                        <a:rPr lang="en-US" sz="2800" b="0" dirty="0" smtClean="0"/>
                        <a:t>mean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28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ru-RU" sz="2800" b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среднее арифметическое элементов </a:t>
                      </a:r>
                      <a:r>
                        <a:rPr lang="ru-RU" sz="2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(последовательности или итерируемого объекта).</a:t>
                      </a:r>
                    </a:p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Если </a:t>
                      </a:r>
                      <a:r>
                        <a:rPr lang="ru-RU" sz="2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len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ru-RU" sz="2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 == 0, возбуждается исключение </a:t>
                      </a:r>
                      <a:r>
                        <a:rPr lang="ru-RU" sz="2800" b="0" i="0" u="none" strike="noStrike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StatisticsError</a:t>
                      </a:r>
                      <a:endParaRPr lang="ru-RU" sz="2800" b="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847115">
                <a:tc>
                  <a:txBody>
                    <a:bodyPr/>
                    <a:lstStyle/>
                    <a:p>
                      <a:r>
                        <a:rPr lang="en-US" sz="2800" b="0" dirty="0" smtClean="0"/>
                        <a:t>median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28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ru-RU" sz="2800" b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медиан</a:t>
                      </a:r>
                      <a:r>
                        <a:rPr lang="ru-RU" sz="2800" b="0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последовательности </a:t>
                      </a:r>
                      <a:r>
                        <a:rPr lang="ru-RU" sz="2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Если </a:t>
                      </a:r>
                      <a:r>
                        <a:rPr lang="ru-RU" sz="2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len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ru-RU" sz="2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 == 0, возбуждается исключение </a:t>
                      </a:r>
                      <a:r>
                        <a:rPr lang="ru-RU" sz="2800" b="0" i="0" u="none" strike="noStrike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StatisticsError</a:t>
                      </a:r>
                      <a:endParaRPr lang="ru-RU" sz="2800" b="0" baseline="-25000" dirty="0">
                        <a:effectLst/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645461">
                <a:tc>
                  <a:txBody>
                    <a:bodyPr/>
                    <a:lstStyle/>
                    <a:p>
                      <a:r>
                        <a:rPr lang="en-US" sz="2800" b="0" dirty="0" smtClean="0"/>
                        <a:t>mode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28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ru-RU" sz="2800" b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ru-RU" sz="2800" b="0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мода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последовательности </a:t>
                      </a:r>
                      <a:r>
                        <a:rPr lang="ru-RU" sz="2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ru-RU" sz="2800" b="0" i="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Если </a:t>
                      </a:r>
                      <a:r>
                        <a:rPr lang="ru-RU" sz="2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len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ru-RU" sz="2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 == 0 или все элементы </a:t>
                      </a:r>
                      <a:r>
                        <a:rPr lang="ru-RU" sz="2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уникальны, возбуждается исключение </a:t>
                      </a:r>
                      <a:r>
                        <a:rPr lang="ru-RU" sz="2800" b="0" i="0" u="none" strike="noStrike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StatisticsError</a:t>
                      </a:r>
                      <a:endParaRPr lang="ru-RU" sz="2800" b="0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415052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574539" y="180459"/>
            <a:ext cx="11007861" cy="78206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en-US" dirty="0"/>
              <a:t> </a:t>
            </a:r>
            <a:r>
              <a:rPr lang="en-US" dirty="0" smtClean="0"/>
              <a:t>statistics</a:t>
            </a: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123993298"/>
              </p:ext>
            </p:extLst>
          </p:nvPr>
        </p:nvGraphicFramePr>
        <p:xfrm>
          <a:off x="174172" y="967110"/>
          <a:ext cx="11800114" cy="52425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46017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33994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847115">
                <a:tc>
                  <a:txBody>
                    <a:bodyPr/>
                    <a:lstStyle/>
                    <a:p>
                      <a:r>
                        <a:rPr lang="en-US" sz="2800" b="0" dirty="0" smtClean="0"/>
                        <a:t>variance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28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endParaRPr lang="ru-RU" sz="2800" b="0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2800" b="0" i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xbar</a:t>
                      </a:r>
                      <a:r>
                        <a:rPr lang="en-US" sz="28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=None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ru-RU" sz="2800" b="0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ru-RU" sz="2800" b="0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2800" b="0" dirty="0" err="1" smtClean="0"/>
                        <a:t>pvariance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28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US" sz="28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mu=None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ru-RU" sz="2800" b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ru-RU" sz="2800" b="0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дисперси</a:t>
                      </a:r>
                      <a:r>
                        <a:rPr lang="ru-RU" sz="2800" b="0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я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для </a:t>
                      </a:r>
                      <a:r>
                        <a:rPr lang="ru-RU" sz="2800" b="0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/>
                        </a:rPr>
                        <a:t>выборки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или </a:t>
                      </a:r>
                      <a:r>
                        <a:rPr lang="ru-RU" sz="2800" b="0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5"/>
                        </a:rPr>
                        <a:t>генеральной совокупности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соответственно.</a:t>
                      </a:r>
                    </a:p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Последовательность </a:t>
                      </a:r>
                      <a:r>
                        <a:rPr lang="ru-RU" sz="2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должна содержать по крайней мере 2 значения, иначе возбуждается </a:t>
                      </a:r>
                      <a:r>
                        <a:rPr lang="ru-RU" sz="20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исключение </a:t>
                      </a:r>
                      <a:r>
                        <a:rPr lang="ru-RU" sz="20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StatisticsError</a:t>
                      </a:r>
                      <a:r>
                        <a:rPr lang="ru-RU" sz="20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 </a:t>
                      </a:r>
                      <a:r>
                        <a:rPr lang="ru-RU" sz="20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xbar</a:t>
                      </a:r>
                      <a:r>
                        <a:rPr lang="ru-RU" sz="20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и </a:t>
                      </a:r>
                      <a:r>
                        <a:rPr lang="ru-RU" sz="20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</a:t>
                      </a:r>
                      <a:r>
                        <a:rPr lang="ru-RU" sz="20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- средние значения, если равны </a:t>
                      </a:r>
                      <a:r>
                        <a:rPr lang="ru-RU" sz="20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None</a:t>
                      </a:r>
                      <a:r>
                        <a:rPr lang="ru-RU" sz="20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вычисляются автоматически</a:t>
                      </a:r>
                      <a:endParaRPr lang="ru-RU" sz="2000" b="0" baseline="-25000" dirty="0">
                        <a:effectLst/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847115">
                <a:tc>
                  <a:txBody>
                    <a:bodyPr/>
                    <a:lstStyle/>
                    <a:p>
                      <a:r>
                        <a:rPr lang="en-US" sz="2800" b="0" dirty="0" err="1" smtClean="0"/>
                        <a:t>stdev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28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endParaRPr lang="ru-RU" sz="2800" b="0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2800" b="0" i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xbar</a:t>
                      </a:r>
                      <a:r>
                        <a:rPr lang="en-US" sz="28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=None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ru-RU" sz="2800" b="0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ru-RU" sz="2800" b="0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2800" b="0" dirty="0" err="1" smtClean="0"/>
                        <a:t>pstdev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28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endParaRPr lang="ru-RU" sz="2800" b="0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28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mu=None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ru-RU" sz="2800" b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ru-RU" sz="2800" b="0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6"/>
                        </a:rPr>
                        <a:t>стандартное отклонение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(квадратный корень из дисперсии) для </a:t>
                      </a:r>
                      <a:r>
                        <a:rPr lang="ru-RU" sz="2800" b="0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/>
                        </a:rPr>
                        <a:t>выборки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или </a:t>
                      </a:r>
                      <a:r>
                        <a:rPr lang="ru-RU" sz="2800" b="0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5"/>
                        </a:rPr>
                        <a:t>генеральной совокупности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соответственно.</a:t>
                      </a:r>
                    </a:p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Последовательность </a:t>
                      </a:r>
                      <a:r>
                        <a:rPr lang="ru-RU" sz="2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должна содержать по крайней мере 2 значения, иначе возбуждается </a:t>
                      </a:r>
                      <a:r>
                        <a:rPr lang="ru-RU" sz="20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исключение </a:t>
                      </a:r>
                      <a:r>
                        <a:rPr lang="ru-RU" sz="20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StatisticsError</a:t>
                      </a:r>
                      <a:r>
                        <a:rPr lang="ru-RU" sz="20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 </a:t>
                      </a:r>
                      <a:r>
                        <a:rPr lang="ru-RU" sz="20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xbar</a:t>
                      </a:r>
                      <a:r>
                        <a:rPr lang="ru-RU" sz="20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и </a:t>
                      </a:r>
                      <a:r>
                        <a:rPr lang="ru-RU" sz="20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</a:t>
                      </a:r>
                      <a:r>
                        <a:rPr lang="ru-RU" sz="20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- средние значения, если равны </a:t>
                      </a:r>
                      <a:r>
                        <a:rPr lang="ru-RU" sz="20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None</a:t>
                      </a:r>
                      <a:r>
                        <a:rPr lang="ru-RU" sz="20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вычисляются автоматически</a:t>
                      </a:r>
                      <a:endParaRPr lang="ru-RU" sz="20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729456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574539" y="180459"/>
            <a:ext cx="11007861" cy="78206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en-US" dirty="0"/>
              <a:t> </a:t>
            </a:r>
            <a:r>
              <a:rPr lang="en-US" dirty="0" smtClean="0"/>
              <a:t>statistics</a:t>
            </a:r>
            <a:endParaRPr lang="ru-RU" dirty="0"/>
          </a:p>
        </p:txBody>
      </p:sp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11404" y="1954569"/>
            <a:ext cx="9725967" cy="3422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886458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574539" y="180459"/>
            <a:ext cx="11007861" cy="78206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en-US" dirty="0"/>
              <a:t> </a:t>
            </a:r>
            <a:r>
              <a:rPr lang="ru-RU" dirty="0" smtClean="0"/>
              <a:t>дата/время</a:t>
            </a:r>
            <a:endParaRPr lang="ru-RU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656546622"/>
              </p:ext>
            </p:extLst>
          </p:nvPr>
        </p:nvGraphicFramePr>
        <p:xfrm>
          <a:off x="824297" y="1164426"/>
          <a:ext cx="10508344" cy="33223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4811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36022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2800" u="none" strike="noStrike" dirty="0" err="1">
                          <a:solidFill>
                            <a:srgbClr val="1B7A41"/>
                          </a:solidFill>
                          <a:effectLst/>
                          <a:hlinkClick r:id="rId3"/>
                        </a:rPr>
                        <a:t>datetime</a:t>
                      </a:r>
                      <a:endParaRPr lang="en-US" sz="2800" dirty="0">
                        <a:effectLst/>
                      </a:endParaRPr>
                    </a:p>
                  </a:txBody>
                  <a:tcPr marL="152400" marR="152400" marT="76200" marB="7620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ru-RU" sz="2800" dirty="0">
                          <a:effectLst/>
                        </a:rPr>
                        <a:t>Классы для работы с датой/временем</a:t>
                      </a:r>
                    </a:p>
                  </a:txBody>
                  <a:tcPr marL="152400" marR="152400" marT="76200" marB="76200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2800" u="none" strike="noStrike">
                          <a:solidFill>
                            <a:srgbClr val="1B7A41"/>
                          </a:solidFill>
                          <a:effectLst/>
                          <a:hlinkClick r:id="rId4"/>
                        </a:rPr>
                        <a:t>time</a:t>
                      </a:r>
                      <a:endParaRPr lang="en-US" sz="2800">
                        <a:effectLst/>
                      </a:endParaRPr>
                    </a:p>
                  </a:txBody>
                  <a:tcPr marL="152400" marR="152400" marT="76200" marB="7620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ru-RU" sz="2800">
                          <a:effectLst/>
                        </a:rPr>
                        <a:t>Функции для работы с временем</a:t>
                      </a:r>
                    </a:p>
                  </a:txBody>
                  <a:tcPr marL="152400" marR="152400" marT="76200" marB="76200"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2800" u="none" strike="noStrike">
                          <a:solidFill>
                            <a:srgbClr val="1B7A41"/>
                          </a:solidFill>
                          <a:effectLst/>
                          <a:hlinkClick r:id="rId5"/>
                        </a:rPr>
                        <a:t>calendar</a:t>
                      </a:r>
                      <a:endParaRPr lang="en-US" sz="2800">
                        <a:effectLst/>
                      </a:endParaRPr>
                    </a:p>
                  </a:txBody>
                  <a:tcPr marL="152400" marR="152400" marT="76200" marB="7620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ru-RU" sz="2800">
                          <a:effectLst/>
                        </a:rPr>
                        <a:t>Классы для работы с календарем</a:t>
                      </a:r>
                    </a:p>
                  </a:txBody>
                  <a:tcPr marL="152400" marR="152400" marT="76200" marB="76200"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2800" u="none" strike="noStrike">
                          <a:solidFill>
                            <a:srgbClr val="1B7A41"/>
                          </a:solidFill>
                          <a:effectLst/>
                          <a:hlinkClick r:id="rId6"/>
                        </a:rPr>
                        <a:t>pytz</a:t>
                      </a:r>
                      <a:endParaRPr lang="en-US" sz="2800">
                        <a:effectLst/>
                      </a:endParaRPr>
                    </a:p>
                  </a:txBody>
                  <a:tcPr marL="152400" marR="152400" marT="76200" marB="7620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ru-RU" sz="2800" dirty="0">
                          <a:effectLst/>
                        </a:rPr>
                        <a:t>Данные о всех временных зонах согласно </a:t>
                      </a:r>
                      <a:r>
                        <a:rPr lang="ru-RU" sz="2800" u="none" strike="noStrike" dirty="0">
                          <a:solidFill>
                            <a:srgbClr val="1B7A41"/>
                          </a:solidFill>
                          <a:effectLst/>
                          <a:hlinkClick r:id="rId7"/>
                        </a:rPr>
                        <a:t>базе данных часовых поясов</a:t>
                      </a:r>
                      <a:endParaRPr lang="ru-RU" sz="2800" dirty="0">
                        <a:effectLst/>
                      </a:endParaRPr>
                    </a:p>
                  </a:txBody>
                  <a:tcPr marL="152400" marR="152400" marT="76200" marB="76200"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2800" b="0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8"/>
                        </a:rPr>
                        <a:t>locale</a:t>
                      </a:r>
                      <a:endParaRPr lang="en-US" sz="2800" dirty="0">
                        <a:effectLst/>
                      </a:endParaRPr>
                    </a:p>
                  </a:txBody>
                  <a:tcPr marL="152400" marR="152400" marT="76200" marB="7620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Доступ к набору </a:t>
                      </a:r>
                      <a:r>
                        <a:rPr lang="ru-RU" sz="2800" b="0" i="0" u="none" strike="noStrike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9"/>
                        </a:rPr>
                        <a:t>локалей</a:t>
                      </a:r>
                      <a:endParaRPr lang="ru-RU" sz="2800" dirty="0">
                        <a:effectLst/>
                      </a:endParaRPr>
                    </a:p>
                  </a:txBody>
                  <a:tcPr marL="152400" marR="152400" marT="76200" marB="76200" anchor="ctr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2" name="Прямоугольник 1"/>
          <p:cNvSpPr/>
          <p:nvPr/>
        </p:nvSpPr>
        <p:spPr>
          <a:xfrm>
            <a:off x="248817" y="4893920"/>
            <a:ext cx="1133358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/>
              <a:t>лока́ль</a:t>
            </a:r>
            <a:r>
              <a:rPr lang="ru-RU" dirty="0"/>
              <a:t> </a:t>
            </a:r>
            <a:r>
              <a:rPr lang="ru-RU" dirty="0" smtClean="0"/>
              <a:t>— </a:t>
            </a:r>
            <a:r>
              <a:rPr lang="ru-RU" dirty="0"/>
              <a:t>набор параметров, определяющий региональные настройки пользовательского интерфейса, такие как язык, страна, часовой пояс, набор символов, формат вывода даты, времени, используемая денежная единица и пр.</a:t>
            </a:r>
          </a:p>
          <a:p>
            <a:r>
              <a:rPr lang="ru-RU" dirty="0"/>
              <a:t>Установка региональных параметров является частью большого процесса локализации. </a:t>
            </a:r>
          </a:p>
        </p:txBody>
      </p:sp>
    </p:spTree>
    <p:extLst>
      <p:ext uri="{BB962C8B-B14F-4D97-AF65-F5344CB8AC3E}">
        <p14:creationId xmlns:p14="http://schemas.microsoft.com/office/powerpoint/2010/main" xmlns="" val="240954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" y="0"/>
            <a:ext cx="12192000" cy="69691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en-US" dirty="0" smtClean="0"/>
              <a:t>- </a:t>
            </a:r>
            <a:r>
              <a:rPr lang="en-US" dirty="0"/>
              <a:t> </a:t>
            </a:r>
            <a:r>
              <a:rPr lang="ru-RU" dirty="0" smtClean="0"/>
              <a:t>классы модуля </a:t>
            </a:r>
            <a:r>
              <a:rPr lang="en-US" dirty="0" err="1" smtClean="0"/>
              <a:t>datetime</a:t>
            </a:r>
            <a:endParaRPr lang="ru-RU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114517124"/>
              </p:ext>
            </p:extLst>
          </p:nvPr>
        </p:nvGraphicFramePr>
        <p:xfrm>
          <a:off x="236468" y="696917"/>
          <a:ext cx="11684001" cy="56083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5271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73128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2800" u="none" strike="noStrike" dirty="0">
                          <a:solidFill>
                            <a:srgbClr val="1B7A41"/>
                          </a:solidFill>
                          <a:effectLst/>
                          <a:hlinkClick r:id="rId3"/>
                        </a:rPr>
                        <a:t>time</a:t>
                      </a:r>
                      <a:endParaRPr lang="en-US" sz="2800" dirty="0">
                        <a:effectLst/>
                      </a:endParaRPr>
                    </a:p>
                  </a:txBody>
                  <a:tcPr marL="152400" marR="152400" marT="76200" marB="7620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ru-RU" sz="2800" dirty="0">
                          <a:effectLst/>
                        </a:rPr>
                        <a:t>Время, не привязанное к конкретному дню (считает, что каждый день содержит 24*60*60 секунд)</a:t>
                      </a:r>
                    </a:p>
                  </a:txBody>
                  <a:tcPr marL="152400" marR="152400" marT="76200" marB="76200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2800" u="none" strike="noStrike">
                          <a:solidFill>
                            <a:srgbClr val="1B7A41"/>
                          </a:solidFill>
                          <a:effectLst/>
                          <a:hlinkClick r:id="rId3"/>
                        </a:rPr>
                        <a:t>date</a:t>
                      </a:r>
                      <a:endParaRPr lang="en-US" sz="2800">
                        <a:effectLst/>
                      </a:endParaRPr>
                    </a:p>
                  </a:txBody>
                  <a:tcPr marL="152400" marR="152400" marT="76200" marB="7620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ru-RU" sz="2800" dirty="0">
                          <a:effectLst/>
                        </a:rPr>
                        <a:t>Дата по </a:t>
                      </a:r>
                      <a:r>
                        <a:rPr lang="ru-RU" sz="2800" u="none" strike="noStrike" dirty="0">
                          <a:solidFill>
                            <a:srgbClr val="1B7A41"/>
                          </a:solidFill>
                          <a:effectLst/>
                          <a:hlinkClick r:id="rId4"/>
                        </a:rPr>
                        <a:t>Григорианскому календарю</a:t>
                      </a:r>
                      <a:endParaRPr lang="ru-RU" sz="2800" dirty="0">
                        <a:effectLst/>
                      </a:endParaRPr>
                    </a:p>
                  </a:txBody>
                  <a:tcPr marL="152400" marR="152400" marT="76200" marB="76200"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13280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2800" u="none" strike="noStrike">
                          <a:solidFill>
                            <a:srgbClr val="1B7A41"/>
                          </a:solidFill>
                          <a:effectLst/>
                          <a:hlinkClick r:id="rId3"/>
                        </a:rPr>
                        <a:t>datetime</a:t>
                      </a:r>
                      <a:endParaRPr lang="en-US" sz="2800">
                        <a:effectLst/>
                      </a:endParaRPr>
                    </a:p>
                  </a:txBody>
                  <a:tcPr marL="152400" marR="152400" marT="76200" marB="7620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ru-RU" sz="2800" dirty="0">
                          <a:effectLst/>
                        </a:rPr>
                        <a:t>Комбинация </a:t>
                      </a:r>
                      <a:r>
                        <a:rPr lang="en-US" sz="2800" dirty="0">
                          <a:effectLst/>
                        </a:rPr>
                        <a:t>date </a:t>
                      </a:r>
                      <a:r>
                        <a:rPr lang="ru-RU" sz="2800" dirty="0">
                          <a:effectLst/>
                        </a:rPr>
                        <a:t>и </a:t>
                      </a:r>
                      <a:r>
                        <a:rPr lang="en-US" sz="2800" dirty="0">
                          <a:effectLst/>
                        </a:rPr>
                        <a:t>time</a:t>
                      </a:r>
                    </a:p>
                  </a:txBody>
                  <a:tcPr marL="152400" marR="152400" marT="76200" marB="76200"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2800" u="none" strike="noStrike">
                          <a:solidFill>
                            <a:srgbClr val="1B7A41"/>
                          </a:solidFill>
                          <a:effectLst/>
                          <a:hlinkClick r:id="rId3"/>
                        </a:rPr>
                        <a:t>timedelta</a:t>
                      </a:r>
                      <a:endParaRPr lang="en-US" sz="2800">
                        <a:effectLst/>
                      </a:endParaRPr>
                    </a:p>
                  </a:txBody>
                  <a:tcPr marL="152400" marR="152400" marT="76200" marB="7620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ru-RU" sz="2800">
                          <a:effectLst/>
                        </a:rPr>
                        <a:t>Интервал между двумя date, time или datetime в микросекундах</a:t>
                      </a:r>
                    </a:p>
                  </a:txBody>
                  <a:tcPr marL="152400" marR="152400" marT="76200" marB="76200"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2800" u="none" strike="noStrike">
                          <a:solidFill>
                            <a:srgbClr val="1B7A41"/>
                          </a:solidFill>
                          <a:effectLst/>
                          <a:hlinkClick r:id="rId3"/>
                        </a:rPr>
                        <a:t>tzinfo</a:t>
                      </a:r>
                      <a:endParaRPr lang="en-US" sz="2800">
                        <a:effectLst/>
                      </a:endParaRPr>
                    </a:p>
                  </a:txBody>
                  <a:tcPr marL="152400" marR="152400" marT="76200" marB="7620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ru-RU" sz="2800">
                          <a:effectLst/>
                        </a:rPr>
                        <a:t>Абстрактный класс-информация о временной зоне. Используется классами time и datetime для хранения информации о часовом поясе или летнем/зимнем времени)</a:t>
                      </a:r>
                    </a:p>
                  </a:txBody>
                  <a:tcPr marL="152400" marR="152400" marT="76200" marB="76200" anchor="ctr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2800" u="none" strike="noStrike" dirty="0" err="1">
                          <a:solidFill>
                            <a:srgbClr val="1B7A41"/>
                          </a:solidFill>
                          <a:effectLst/>
                          <a:hlinkClick r:id="rId3"/>
                        </a:rPr>
                        <a:t>timezone</a:t>
                      </a:r>
                      <a:endParaRPr lang="en-US" sz="2800" dirty="0">
                        <a:effectLst/>
                      </a:endParaRPr>
                    </a:p>
                  </a:txBody>
                  <a:tcPr marL="152400" marR="152400" marT="76200" marB="7620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ru-RU" sz="2800" dirty="0">
                          <a:effectLst/>
                        </a:rPr>
                        <a:t>Класс-потомок </a:t>
                      </a:r>
                      <a:r>
                        <a:rPr lang="ru-RU" sz="2800" dirty="0" err="1">
                          <a:effectLst/>
                        </a:rPr>
                        <a:t>tzinfo</a:t>
                      </a:r>
                      <a:r>
                        <a:rPr lang="ru-RU" sz="2800" dirty="0">
                          <a:effectLst/>
                        </a:rPr>
                        <a:t>, реализующий отклонение от UTC (</a:t>
                      </a:r>
                      <a:r>
                        <a:rPr lang="ru-RU" sz="2800" u="none" strike="noStrike" dirty="0">
                          <a:solidFill>
                            <a:srgbClr val="1B7A41"/>
                          </a:solidFill>
                          <a:effectLst/>
                          <a:hlinkClick r:id="rId5"/>
                        </a:rPr>
                        <a:t>Всемирное координированное время</a:t>
                      </a:r>
                      <a:r>
                        <a:rPr lang="ru-RU" sz="2800" dirty="0">
                          <a:effectLst/>
                        </a:rPr>
                        <a:t>)</a:t>
                      </a:r>
                    </a:p>
                  </a:txBody>
                  <a:tcPr marL="152400" marR="152400" marT="76200" marB="76200" anchor="ctr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252447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" y="0"/>
            <a:ext cx="12192000" cy="15443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en-US" dirty="0" smtClean="0"/>
              <a:t>- </a:t>
            </a:r>
            <a:r>
              <a:rPr lang="en-US" dirty="0"/>
              <a:t> </a:t>
            </a:r>
            <a:r>
              <a:rPr lang="ru-RU" dirty="0" smtClean="0"/>
              <a:t>константы модуля </a:t>
            </a:r>
            <a:r>
              <a:rPr lang="en-US" dirty="0" err="1" smtClean="0"/>
              <a:t>datetime</a:t>
            </a:r>
            <a:endParaRPr lang="ru-RU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253861900"/>
              </p:ext>
            </p:extLst>
          </p:nvPr>
        </p:nvGraphicFramePr>
        <p:xfrm>
          <a:off x="254000" y="1895797"/>
          <a:ext cx="11684001" cy="2777803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2072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46328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497643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2800" dirty="0" err="1" smtClean="0"/>
                        <a:t>datetime.MAXYEAR</a:t>
                      </a:r>
                      <a:endParaRPr lang="en-US" sz="2800" dirty="0">
                        <a:effectLst/>
                      </a:endParaRPr>
                    </a:p>
                  </a:txBody>
                  <a:tcPr marL="152400" marR="152400" marT="76200" marB="7620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Наименьший год, который может быть задан для объектов класса </a:t>
                      </a:r>
                      <a:r>
                        <a:rPr lang="ru-RU" sz="2800" dirty="0" err="1" smtClean="0">
                          <a:effectLst/>
                        </a:rPr>
                        <a:t>date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или </a:t>
                      </a:r>
                      <a:r>
                        <a:rPr lang="ru-RU" sz="2800" dirty="0" err="1" smtClean="0">
                          <a:effectLst/>
                        </a:rPr>
                        <a:t>datetime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 </a:t>
                      </a:r>
                      <a:r>
                        <a:rPr lang="ru-RU" sz="2800" dirty="0" smtClean="0">
                          <a:effectLst/>
                        </a:rPr>
                        <a:t>MINYEAR</a:t>
                      </a:r>
                      <a:r>
                        <a:rPr lang="ru-RU" sz="2800" dirty="0" smtClean="0"/>
                        <a:t> </a:t>
                      </a:r>
                      <a:r>
                        <a:rPr lang="ru-RU" sz="2800" dirty="0" smtClean="0">
                          <a:effectLst/>
                        </a:rPr>
                        <a:t>=</a:t>
                      </a:r>
                      <a:r>
                        <a:rPr lang="ru-RU" sz="2800" dirty="0" smtClean="0"/>
                        <a:t> </a:t>
                      </a:r>
                      <a:r>
                        <a:rPr lang="ru-RU" sz="2800" dirty="0" smtClean="0">
                          <a:effectLst/>
                        </a:rPr>
                        <a:t>1</a:t>
                      </a:r>
                      <a:endParaRPr lang="ru-RU" sz="2800" dirty="0">
                        <a:effectLst/>
                      </a:endParaRPr>
                    </a:p>
                  </a:txBody>
                  <a:tcPr marL="152400" marR="152400" marT="76200" marB="76200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280160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2800" dirty="0" err="1" smtClean="0"/>
                        <a:t>datetime.MAXYEAR</a:t>
                      </a:r>
                      <a:endParaRPr lang="en-US" sz="2800" dirty="0">
                        <a:effectLst/>
                      </a:endParaRPr>
                    </a:p>
                  </a:txBody>
                  <a:tcPr marL="152400" marR="152400" marT="76200" marB="7620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Наибольший год, который может быть задан для объектов класса </a:t>
                      </a:r>
                      <a:r>
                        <a:rPr lang="ru-RU" sz="2800" dirty="0" err="1" smtClean="0">
                          <a:effectLst/>
                        </a:rPr>
                        <a:t>date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или </a:t>
                      </a:r>
                      <a:r>
                        <a:rPr lang="ru-RU" sz="2800" dirty="0" err="1" smtClean="0">
                          <a:effectLst/>
                        </a:rPr>
                        <a:t>datetime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 </a:t>
                      </a:r>
                      <a:r>
                        <a:rPr lang="ru-RU" sz="2800" dirty="0" smtClean="0">
                          <a:effectLst/>
                        </a:rPr>
                        <a:t>MAXYEAR</a:t>
                      </a:r>
                      <a:r>
                        <a:rPr lang="ru-RU" sz="2800" dirty="0" smtClean="0"/>
                        <a:t> </a:t>
                      </a:r>
                      <a:r>
                        <a:rPr lang="ru-RU" sz="2800" dirty="0" smtClean="0">
                          <a:effectLst/>
                        </a:rPr>
                        <a:t>=</a:t>
                      </a:r>
                      <a:r>
                        <a:rPr lang="ru-RU" sz="2800" dirty="0" smtClean="0"/>
                        <a:t> </a:t>
                      </a:r>
                      <a:r>
                        <a:rPr lang="ru-RU" sz="2800" dirty="0" smtClean="0">
                          <a:effectLst/>
                        </a:rPr>
                        <a:t>9999</a:t>
                      </a:r>
                      <a:endParaRPr lang="ru-RU" sz="2800" dirty="0">
                        <a:effectLst/>
                      </a:endParaRPr>
                    </a:p>
                  </a:txBody>
                  <a:tcPr marL="152400" marR="152400" marT="76200" marB="76200"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4021471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" y="0"/>
            <a:ext cx="12192000" cy="142121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en-US" dirty="0" smtClean="0"/>
              <a:t>- </a:t>
            </a:r>
            <a:r>
              <a:rPr lang="en-US" dirty="0"/>
              <a:t> </a:t>
            </a:r>
            <a:r>
              <a:rPr lang="ru-RU" dirty="0" smtClean="0"/>
              <a:t>модуль </a:t>
            </a:r>
            <a:r>
              <a:rPr lang="en-US" dirty="0" err="1" smtClean="0"/>
              <a:t>datetime</a:t>
            </a:r>
            <a:r>
              <a:rPr lang="ru-RU" dirty="0" smtClean="0"/>
              <a:t> – класс </a:t>
            </a:r>
            <a:r>
              <a:rPr lang="en-US" dirty="0" err="1" smtClean="0"/>
              <a:t>timedelta</a:t>
            </a:r>
            <a:endParaRPr lang="ru-RU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83696" y="1461992"/>
            <a:ext cx="11439593" cy="2246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effectLst/>
              </a:rPr>
              <a:t>Объект </a:t>
            </a:r>
            <a:r>
              <a:rPr kumimoji="0" lang="ru-RU" altLang="ru-RU" sz="2400" b="0" i="0" u="none" strike="noStrike" cap="none" normalizeH="0" baseline="0" dirty="0" err="1" smtClean="0">
                <a:ln>
                  <a:noFill/>
                </a:ln>
                <a:effectLst/>
              </a:rPr>
              <a:t>timedelta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effectLst/>
              </a:rPr>
              <a:t> </a:t>
            </a:r>
            <a:r>
              <a:rPr lang="en-US" altLang="ru-RU" sz="2400" dirty="0" smtClean="0"/>
              <a:t>:</a:t>
            </a:r>
            <a:endParaRPr lang="ru-RU" altLang="ru-RU" sz="2400" dirty="0" smtClean="0"/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altLang="ru-RU" sz="2800" dirty="0" smtClean="0"/>
              <a:t>интервал </a:t>
            </a:r>
            <a:r>
              <a:rPr lang="ru-RU" altLang="ru-RU" sz="2800" dirty="0"/>
              <a:t>между двумя датами (</a:t>
            </a:r>
            <a:r>
              <a:rPr lang="ru-RU" altLang="ru-RU" sz="2800" dirty="0" err="1"/>
              <a:t>date</a:t>
            </a:r>
            <a:r>
              <a:rPr lang="ru-RU" altLang="ru-RU" sz="2800" dirty="0"/>
              <a:t>) или значениями времени (</a:t>
            </a:r>
            <a:r>
              <a:rPr lang="ru-RU" altLang="ru-RU" sz="2800" dirty="0" err="1"/>
              <a:t>time</a:t>
            </a:r>
            <a:r>
              <a:rPr lang="ru-RU" altLang="ru-RU" sz="2800" dirty="0" smtClean="0"/>
              <a:t>)</a:t>
            </a: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altLang="ru-RU" sz="2800" dirty="0" smtClean="0"/>
              <a:t>обычно являются результатами разностных операций прочих классов</a:t>
            </a:r>
            <a:endParaRPr lang="en-US" altLang="ru-RU" sz="2800" dirty="0" smtClean="0"/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altLang="ru-RU" sz="2800" dirty="0" err="1"/>
              <a:t>хешируемый</a:t>
            </a:r>
            <a:r>
              <a:rPr lang="ru-RU" altLang="ru-RU" sz="2800" dirty="0"/>
              <a:t> </a:t>
            </a: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altLang="ru-RU" sz="2800" dirty="0"/>
              <a:t>может </a:t>
            </a:r>
            <a:r>
              <a:rPr lang="ru-RU" altLang="ru-RU" sz="2800" dirty="0" err="1"/>
              <a:t>сериализоваться</a:t>
            </a:r>
            <a:r>
              <a:rPr lang="ru-RU" altLang="ru-RU" sz="2800" dirty="0"/>
              <a:t> через </a:t>
            </a:r>
            <a:r>
              <a:rPr lang="ru-RU" altLang="ru-RU" sz="2800" dirty="0" err="1"/>
              <a:t>pickle</a:t>
            </a:r>
            <a:endParaRPr kumimoji="0" lang="ru-RU" altLang="ru-RU" sz="2800" b="0" i="0" u="none" strike="noStrike" cap="none" normalizeH="0" baseline="0" dirty="0" smtClean="0">
              <a:ln>
                <a:noFill/>
              </a:ln>
              <a:effectLst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2439857" y="3749543"/>
            <a:ext cx="8779408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datetime.timedelta</a:t>
            </a: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1B7A41"/>
                </a:solidFill>
                <a:effectLst/>
                <a:latin typeface="+mn-lt"/>
              </a:rPr>
              <a:t>(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days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=</a:t>
            </a:r>
            <a:r>
              <a:rPr kumimoji="0" lang="ru-RU" altLang="ru-RU" sz="2800" b="1" i="1" u="none" strike="noStrike" cap="none" normalizeH="0" baseline="0" dirty="0" smtClean="0">
                <a:ln>
                  <a:noFill/>
                </a:ln>
                <a:solidFill>
                  <a:srgbClr val="1B7A41"/>
                </a:solidFill>
                <a:effectLst/>
                <a:latin typeface="+mn-lt"/>
              </a:rPr>
              <a:t>0</a:t>
            </a: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1B7A41"/>
                </a:solidFill>
                <a:effectLst/>
                <a:latin typeface="+mn-lt"/>
              </a:rPr>
              <a:t>, 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seconds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=</a:t>
            </a:r>
            <a:r>
              <a:rPr kumimoji="0" lang="ru-RU" altLang="ru-RU" sz="2800" b="1" i="1" u="none" strike="noStrike" cap="none" normalizeH="0" baseline="0" dirty="0" smtClean="0">
                <a:ln>
                  <a:noFill/>
                </a:ln>
                <a:solidFill>
                  <a:srgbClr val="1B7A41"/>
                </a:solidFill>
                <a:effectLst/>
                <a:latin typeface="+mn-lt"/>
              </a:rPr>
              <a:t>0</a:t>
            </a: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1B7A41"/>
                </a:solidFill>
                <a:effectLst/>
                <a:latin typeface="+mn-lt"/>
              </a:rPr>
              <a:t>, 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microseconds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=</a:t>
            </a:r>
            <a:r>
              <a:rPr kumimoji="0" lang="ru-RU" altLang="ru-RU" sz="2800" b="1" i="1" u="none" strike="noStrike" cap="none" normalizeH="0" baseline="0" dirty="0" smtClean="0">
                <a:ln>
                  <a:noFill/>
                </a:ln>
                <a:solidFill>
                  <a:srgbClr val="1B7A41"/>
                </a:solidFill>
                <a:effectLst/>
                <a:latin typeface="+mn-lt"/>
              </a:rPr>
              <a:t>0</a:t>
            </a: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1B7A41"/>
                </a:solidFill>
                <a:effectLst/>
                <a:latin typeface="+mn-lt"/>
              </a:rPr>
              <a:t>, 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milliseconds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=</a:t>
            </a:r>
            <a:r>
              <a:rPr kumimoji="0" lang="ru-RU" altLang="ru-RU" sz="2800" b="1" i="1" u="none" strike="noStrike" cap="none" normalizeH="0" baseline="0" dirty="0" smtClean="0">
                <a:ln>
                  <a:noFill/>
                </a:ln>
                <a:solidFill>
                  <a:srgbClr val="1B7A41"/>
                </a:solidFill>
                <a:effectLst/>
                <a:latin typeface="+mn-lt"/>
              </a:rPr>
              <a:t>0</a:t>
            </a: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1B7A41"/>
                </a:solidFill>
                <a:effectLst/>
                <a:latin typeface="+mn-lt"/>
              </a:rPr>
              <a:t>, 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minutes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=</a:t>
            </a:r>
            <a:r>
              <a:rPr kumimoji="0" lang="ru-RU" altLang="ru-RU" sz="2800" b="1" i="1" u="none" strike="noStrike" cap="none" normalizeH="0" baseline="0" dirty="0" smtClean="0">
                <a:ln>
                  <a:noFill/>
                </a:ln>
                <a:solidFill>
                  <a:srgbClr val="1B7A41"/>
                </a:solidFill>
                <a:effectLst/>
                <a:latin typeface="+mn-lt"/>
              </a:rPr>
              <a:t>0</a:t>
            </a: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1B7A41"/>
                </a:solidFill>
                <a:effectLst/>
                <a:latin typeface="+mn-lt"/>
              </a:rPr>
              <a:t>, 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hours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=</a:t>
            </a:r>
            <a:r>
              <a:rPr kumimoji="0" lang="ru-RU" altLang="ru-RU" sz="2800" b="1" i="1" u="none" strike="noStrike" cap="none" normalizeH="0" baseline="0" dirty="0" smtClean="0">
                <a:ln>
                  <a:noFill/>
                </a:ln>
                <a:solidFill>
                  <a:srgbClr val="1B7A41"/>
                </a:solidFill>
                <a:effectLst/>
                <a:latin typeface="+mn-lt"/>
              </a:rPr>
              <a:t>0</a:t>
            </a: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1B7A41"/>
                </a:solidFill>
                <a:effectLst/>
                <a:latin typeface="+mn-lt"/>
              </a:rPr>
              <a:t>, 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weeks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=</a:t>
            </a:r>
            <a:r>
              <a:rPr kumimoji="0" lang="ru-RU" altLang="ru-RU" sz="2800" b="1" i="1" u="none" strike="noStrike" cap="none" normalizeH="0" baseline="0" dirty="0" smtClean="0">
                <a:ln>
                  <a:noFill/>
                </a:ln>
                <a:solidFill>
                  <a:srgbClr val="1B7A41"/>
                </a:solidFill>
                <a:effectLst/>
                <a:latin typeface="+mn-lt"/>
              </a:rPr>
              <a:t>0</a:t>
            </a: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1B7A41"/>
                </a:solidFill>
                <a:effectLst/>
                <a:latin typeface="+mn-lt"/>
              </a:rPr>
              <a:t>)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183696" y="5130249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2400" dirty="0" err="1"/>
              <a:t>days</a:t>
            </a:r>
            <a:r>
              <a:rPr lang="ru-RU" sz="2400" dirty="0"/>
              <a:t>, -999999999 &lt;= </a:t>
            </a:r>
            <a:r>
              <a:rPr lang="ru-RU" sz="2400" dirty="0" err="1"/>
              <a:t>days</a:t>
            </a:r>
            <a:r>
              <a:rPr lang="ru-RU" sz="2400" dirty="0"/>
              <a:t> &lt;= 999999999;</a:t>
            </a:r>
          </a:p>
          <a:p>
            <a:r>
              <a:rPr lang="ru-RU" sz="2400" dirty="0" err="1"/>
              <a:t>seconds</a:t>
            </a:r>
            <a:r>
              <a:rPr lang="ru-RU" sz="2400" dirty="0"/>
              <a:t>, 0 &lt;= </a:t>
            </a:r>
            <a:r>
              <a:rPr lang="ru-RU" sz="2400" dirty="0" err="1"/>
              <a:t>seconds</a:t>
            </a:r>
            <a:r>
              <a:rPr lang="ru-RU" sz="2400" dirty="0"/>
              <a:t> &lt; 3600*24;</a:t>
            </a:r>
          </a:p>
          <a:p>
            <a:r>
              <a:rPr lang="ru-RU" sz="2400" dirty="0" err="1"/>
              <a:t>microseconds</a:t>
            </a:r>
            <a:r>
              <a:rPr lang="ru-RU" sz="2400" dirty="0"/>
              <a:t>, 0 &lt;= </a:t>
            </a:r>
            <a:r>
              <a:rPr lang="ru-RU" sz="2400" dirty="0" err="1"/>
              <a:t>microseconds</a:t>
            </a:r>
            <a:r>
              <a:rPr lang="ru-RU" sz="2400" dirty="0"/>
              <a:t> &lt; 1000000;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83696" y="4936648"/>
            <a:ext cx="683563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 err="1">
                <a:solidFill>
                  <a:srgbClr val="404040"/>
                </a:solidFill>
                <a:latin typeface="Lato" panose="020F0502020204030203" pitchFamily="34" charset="0"/>
              </a:rPr>
              <a:t>OverflowError</a:t>
            </a:r>
            <a:r>
              <a:rPr lang="ru-RU" sz="1600" dirty="0">
                <a:solidFill>
                  <a:srgbClr val="404040"/>
                </a:solidFill>
                <a:latin typeface="Lato" panose="020F0502020204030203" pitchFamily="34" charset="0"/>
              </a:rPr>
              <a:t> – в случае нарушения допустимых границ значений</a:t>
            </a:r>
            <a:endParaRPr lang="ru-RU" sz="160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670670" y="3939593"/>
            <a:ext cx="14018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Конструктор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9245599" y="5121314"/>
            <a:ext cx="262466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Все параметры являются необязательными и могут быть </a:t>
            </a:r>
            <a:r>
              <a:rPr lang="ru-RU" sz="1400" dirty="0" smtClean="0"/>
              <a:t>целыми </a:t>
            </a:r>
            <a:r>
              <a:rPr lang="ru-RU" sz="1400" dirty="0"/>
              <a:t>или вещественными числами.</a:t>
            </a:r>
          </a:p>
        </p:txBody>
      </p:sp>
    </p:spTree>
    <p:extLst>
      <p:ext uri="{BB962C8B-B14F-4D97-AF65-F5344CB8AC3E}">
        <p14:creationId xmlns:p14="http://schemas.microsoft.com/office/powerpoint/2010/main" xmlns="" val="1118895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" y="0"/>
            <a:ext cx="12192000" cy="15443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en-US" dirty="0" smtClean="0"/>
              <a:t>- </a:t>
            </a:r>
            <a:r>
              <a:rPr lang="en-US" dirty="0"/>
              <a:t> </a:t>
            </a:r>
            <a:r>
              <a:rPr lang="ru-RU" dirty="0" smtClean="0"/>
              <a:t>модуль </a:t>
            </a:r>
            <a:r>
              <a:rPr lang="en-US" dirty="0" err="1" smtClean="0"/>
              <a:t>datetime</a:t>
            </a:r>
            <a:r>
              <a:rPr lang="ru-RU" dirty="0" smtClean="0"/>
              <a:t> – класс </a:t>
            </a:r>
            <a:r>
              <a:rPr lang="en-US" dirty="0" err="1" smtClean="0"/>
              <a:t>timedelta</a:t>
            </a:r>
            <a:r>
              <a:rPr lang="ru-RU" dirty="0" smtClean="0"/>
              <a:t> - операции</a:t>
            </a:r>
            <a:endParaRPr lang="ru-RU" dirty="0"/>
          </a:p>
        </p:txBody>
      </p:sp>
      <p:pic>
        <p:nvPicPr>
          <p:cNvPr id="9" name="Рисунок 8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68195" y="1662940"/>
            <a:ext cx="10855612" cy="4061204"/>
          </a:xfrm>
          <a:prstGeom prst="rect">
            <a:avLst/>
          </a:prstGeom>
        </p:spPr>
      </p:pic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668195" y="5781250"/>
            <a:ext cx="960923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Метод </a:t>
            </a:r>
            <a:r>
              <a:rPr kumimoji="0" lang="ru-RU" altLang="ru-RU" sz="280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total_seconds</a:t>
            </a:r>
            <a:r>
              <a:rPr kumimoji="0" lang="ru-RU" altLang="ru-RU" sz="2800" i="0" u="none" strike="noStrike" cap="none" normalizeH="0" baseline="0" dirty="0" smtClean="0">
                <a:ln>
                  <a:noFill/>
                </a:ln>
                <a:solidFill>
                  <a:srgbClr val="555555"/>
                </a:solidFill>
                <a:effectLst/>
                <a:latin typeface="+mn-lt"/>
              </a:rPr>
              <a:t>()</a:t>
            </a:r>
            <a:r>
              <a:rPr kumimoji="0" lang="ru-RU" altLang="ru-RU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- возвращает общее количество секунд</a:t>
            </a:r>
          </a:p>
        </p:txBody>
      </p:sp>
    </p:spTree>
    <p:extLst>
      <p:ext uri="{BB962C8B-B14F-4D97-AF65-F5344CB8AC3E}">
        <p14:creationId xmlns:p14="http://schemas.microsoft.com/office/powerpoint/2010/main" xmlns="" val="822725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" y="0"/>
            <a:ext cx="12192000" cy="13906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en-US" dirty="0" smtClean="0"/>
              <a:t>- </a:t>
            </a:r>
            <a:r>
              <a:rPr lang="en-US" dirty="0"/>
              <a:t> </a:t>
            </a:r>
            <a:r>
              <a:rPr lang="ru-RU" dirty="0" smtClean="0"/>
              <a:t>модуль </a:t>
            </a:r>
            <a:r>
              <a:rPr lang="en-US" dirty="0" err="1" smtClean="0"/>
              <a:t>datetime</a:t>
            </a:r>
            <a:r>
              <a:rPr lang="ru-RU" dirty="0" smtClean="0"/>
              <a:t> – класс </a:t>
            </a:r>
            <a:r>
              <a:rPr lang="en-US" dirty="0" err="1" smtClean="0"/>
              <a:t>timedelta</a:t>
            </a:r>
            <a:r>
              <a:rPr lang="ru-RU" dirty="0" smtClean="0"/>
              <a:t> - поля</a:t>
            </a:r>
            <a:endParaRPr lang="ru-RU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308827830"/>
              </p:ext>
            </p:extLst>
          </p:nvPr>
        </p:nvGraphicFramePr>
        <p:xfrm>
          <a:off x="2" y="1390650"/>
          <a:ext cx="12191999" cy="5161297"/>
        </p:xfrm>
        <a:graphic>
          <a:graphicData uri="http://schemas.openxmlformats.org/drawingml/2006/table">
            <a:tbl>
              <a:tblPr firstCol="1" bandRow="1">
                <a:tableStyleId>{0E3FDE45-AF77-4B5C-9715-49D594BDF05E}</a:tableStyleId>
              </a:tblPr>
              <a:tblGrid>
                <a:gridCol w="21717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02029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just" defTabSz="914400" rtl="0" eaLnBrk="1" fontAlgn="ctr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kern="1200" dirty="0" err="1">
                          <a:effectLst/>
                        </a:rPr>
                        <a:t>min</a:t>
                      </a:r>
                      <a:endParaRPr lang="ru-RU" sz="2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just" defTabSz="914400" rtl="0" eaLnBrk="1" fontAlgn="ctr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kern="1200" dirty="0">
                          <a:effectLst/>
                        </a:rPr>
                        <a:t> Минимально допустимая разница, </a:t>
                      </a:r>
                      <a:r>
                        <a:rPr lang="ru-RU" sz="2800" kern="1200" dirty="0" err="1">
                          <a:effectLst/>
                        </a:rPr>
                        <a:t>timedelta</a:t>
                      </a:r>
                      <a:r>
                        <a:rPr lang="ru-RU" sz="2800" kern="1200" dirty="0">
                          <a:effectLst/>
                        </a:rPr>
                        <a:t>(-999999999).</a:t>
                      </a:r>
                      <a:endParaRPr lang="ru-RU" sz="2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just" defTabSz="914400" rtl="0" eaLnBrk="1" fontAlgn="ctr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800" kern="1200" dirty="0">
                          <a:effectLst/>
                        </a:rPr>
                        <a:t>max</a:t>
                      </a:r>
                      <a:endParaRPr lang="ru-RU" sz="2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just" defTabSz="914400" rtl="0" eaLnBrk="1" fontAlgn="ctr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800" kern="1200" dirty="0">
                          <a:effectLst/>
                        </a:rPr>
                        <a:t> </a:t>
                      </a:r>
                      <a:r>
                        <a:rPr lang="ru-RU" sz="2800" kern="1200" dirty="0">
                          <a:effectLst/>
                        </a:rPr>
                        <a:t>Максимально допустимая разница</a:t>
                      </a:r>
                      <a:r>
                        <a:rPr lang="en-US" sz="2800" kern="1200" dirty="0">
                          <a:effectLst/>
                        </a:rPr>
                        <a:t>, </a:t>
                      </a:r>
                      <a:r>
                        <a:rPr lang="en-US" sz="2800" kern="1200" dirty="0" err="1">
                          <a:effectLst/>
                        </a:rPr>
                        <a:t>timedelta</a:t>
                      </a:r>
                      <a:r>
                        <a:rPr lang="en-US" sz="2800" kern="1200" dirty="0">
                          <a:effectLst/>
                        </a:rPr>
                        <a:t>(days=999999999, hours=23, minutes=59, seconds=59, microseconds=999999).</a:t>
                      </a:r>
                      <a:endParaRPr lang="ru-RU" sz="2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052212">
                <a:tc>
                  <a:txBody>
                    <a:bodyPr/>
                    <a:lstStyle/>
                    <a:p>
                      <a:pPr marL="0" algn="just" defTabSz="914400" rtl="0" eaLnBrk="1" fontAlgn="ctr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kern="1200">
                          <a:effectLst/>
                        </a:rPr>
                        <a:t>resolution</a:t>
                      </a:r>
                      <a:endParaRPr lang="ru-RU" sz="28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just" defTabSz="914400" rtl="0" eaLnBrk="1" fontAlgn="ctr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kern="1200" dirty="0">
                          <a:effectLst/>
                        </a:rPr>
                        <a:t> Наименьшая возможная разница между двумя различными </a:t>
                      </a:r>
                      <a:r>
                        <a:rPr lang="ru-RU" sz="2800" kern="1200" dirty="0" err="1">
                          <a:effectLst/>
                        </a:rPr>
                        <a:t>timedelta</a:t>
                      </a:r>
                      <a:r>
                        <a:rPr lang="ru-RU" sz="2800" kern="1200" dirty="0">
                          <a:effectLst/>
                        </a:rPr>
                        <a:t>-объектами (1 </a:t>
                      </a:r>
                      <a:r>
                        <a:rPr lang="ru-RU" sz="2800" kern="1200" dirty="0" err="1">
                          <a:effectLst/>
                        </a:rPr>
                        <a:t>мкс</a:t>
                      </a:r>
                      <a:r>
                        <a:rPr lang="ru-RU" sz="2800" kern="1200" dirty="0">
                          <a:effectLst/>
                        </a:rPr>
                        <a:t>.).</a:t>
                      </a:r>
                      <a:endParaRPr lang="ru-RU" sz="2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just" defTabSz="914400" rtl="0" eaLnBrk="1" fontAlgn="ctr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kern="1200">
                          <a:effectLst/>
                        </a:rPr>
                        <a:t>days</a:t>
                      </a:r>
                      <a:endParaRPr lang="ru-RU" sz="28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just" defTabSz="914400" rtl="0" eaLnBrk="1" fontAlgn="ctr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kern="1200" dirty="0">
                          <a:effectLst/>
                        </a:rPr>
                        <a:t> Количество дней - значение из диапазона [-999999999; 999999999]. Только для чтения.</a:t>
                      </a:r>
                      <a:endParaRPr lang="ru-RU" sz="2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just" defTabSz="914400" rtl="0" eaLnBrk="1" fontAlgn="ctr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kern="1200">
                          <a:effectLst/>
                        </a:rPr>
                        <a:t>seconds</a:t>
                      </a:r>
                      <a:endParaRPr lang="ru-RU" sz="28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just" defTabSz="914400" rtl="0" eaLnBrk="1" fontAlgn="ctr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kern="1200" dirty="0">
                          <a:effectLst/>
                        </a:rPr>
                        <a:t> Количество секунд - значение из диапазона [0; 86399]. Только для чтения.</a:t>
                      </a:r>
                      <a:endParaRPr lang="ru-RU" sz="2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just" defTabSz="914400" rtl="0" eaLnBrk="1" fontAlgn="ctr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kern="1200">
                          <a:effectLst/>
                        </a:rPr>
                        <a:t>microseconds</a:t>
                      </a:r>
                      <a:endParaRPr lang="ru-RU" sz="28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just" defTabSz="914400" rtl="0" eaLnBrk="1" fontAlgn="ctr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kern="1200" dirty="0">
                          <a:effectLst/>
                        </a:rPr>
                        <a:t> Количество микросекунд - значение из диапазона [0; 999999]. Только для чтения.</a:t>
                      </a:r>
                      <a:endParaRPr lang="ru-RU" sz="2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4129898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" y="0"/>
            <a:ext cx="12192000" cy="13906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en-US" dirty="0" smtClean="0"/>
              <a:t>- </a:t>
            </a:r>
            <a:r>
              <a:rPr lang="en-US" dirty="0"/>
              <a:t> </a:t>
            </a:r>
            <a:r>
              <a:rPr lang="ru-RU" dirty="0" smtClean="0"/>
              <a:t>модуль </a:t>
            </a:r>
            <a:r>
              <a:rPr lang="en-US" dirty="0" err="1" smtClean="0"/>
              <a:t>datetime</a:t>
            </a:r>
            <a:r>
              <a:rPr lang="ru-RU" dirty="0" smtClean="0"/>
              <a:t> – класс </a:t>
            </a:r>
            <a:r>
              <a:rPr lang="en-US" dirty="0" err="1" smtClean="0"/>
              <a:t>timedelta</a:t>
            </a:r>
            <a:endParaRPr lang="ru-RU" dirty="0"/>
          </a:p>
        </p:txBody>
      </p:sp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56782" y="2323974"/>
            <a:ext cx="11777952" cy="3752975"/>
          </a:xfrm>
          <a:prstGeom prst="rect">
            <a:avLst/>
          </a:prstGeom>
        </p:spPr>
      </p:pic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56782" y="5267312"/>
            <a:ext cx="2214651" cy="295287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256782" y="1672646"/>
            <a:ext cx="339887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 smtClean="0"/>
              <a:t>Определение периодов: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xmlns="" val="3449132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" y="0"/>
            <a:ext cx="12192000" cy="13906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en-US" dirty="0" smtClean="0"/>
              <a:t>- </a:t>
            </a:r>
            <a:r>
              <a:rPr lang="en-US" dirty="0"/>
              <a:t> </a:t>
            </a:r>
            <a:r>
              <a:rPr lang="ru-RU" dirty="0" smtClean="0"/>
              <a:t>модуль </a:t>
            </a:r>
            <a:r>
              <a:rPr lang="en-US" dirty="0" err="1" smtClean="0"/>
              <a:t>datetime</a:t>
            </a:r>
            <a:r>
              <a:rPr lang="ru-RU" dirty="0" smtClean="0"/>
              <a:t> – класс </a:t>
            </a:r>
            <a:r>
              <a:rPr lang="en-US" dirty="0" err="1" smtClean="0"/>
              <a:t>timedelta</a:t>
            </a:r>
            <a:endParaRPr lang="ru-RU" dirty="0"/>
          </a:p>
        </p:txBody>
      </p:sp>
      <p:pic>
        <p:nvPicPr>
          <p:cNvPr id="11" name="Рисунок 10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66484" y="1519141"/>
            <a:ext cx="7353516" cy="3290926"/>
          </a:xfrm>
          <a:prstGeom prst="rect">
            <a:avLst/>
          </a:prstGeom>
        </p:spPr>
      </p:pic>
      <p:pic>
        <p:nvPicPr>
          <p:cNvPr id="12" name="Рисунок 11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66484" y="4919508"/>
            <a:ext cx="4508878" cy="1405092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9201874" y="5724467"/>
            <a:ext cx="28818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800" dirty="0"/>
              <a:t>Используя </a:t>
            </a:r>
            <a:r>
              <a:rPr lang="ru-RU" sz="800" dirty="0" err="1"/>
              <a:t>timedelta</a:t>
            </a:r>
            <a:r>
              <a:rPr lang="ru-RU" sz="800" dirty="0"/>
              <a:t>, мы можем складывать или вычитать даты. Например, получим дату, которая будет через два дня</a:t>
            </a:r>
            <a:endParaRPr lang="en-US" sz="800" dirty="0"/>
          </a:p>
          <a:p>
            <a:r>
              <a:rPr lang="ru-RU" sz="800" dirty="0"/>
              <a:t>Также определим количество секунд в двух днях</a:t>
            </a:r>
          </a:p>
        </p:txBody>
      </p:sp>
    </p:spTree>
    <p:extLst>
      <p:ext uri="{BB962C8B-B14F-4D97-AF65-F5344CB8AC3E}">
        <p14:creationId xmlns:p14="http://schemas.microsoft.com/office/powerpoint/2010/main" xmlns="" val="1916126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" y="0"/>
            <a:ext cx="12192000" cy="13906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en-US" dirty="0" smtClean="0"/>
              <a:t>- </a:t>
            </a:r>
            <a:r>
              <a:rPr lang="en-US" dirty="0"/>
              <a:t> </a:t>
            </a:r>
            <a:r>
              <a:rPr lang="ru-RU" dirty="0" smtClean="0"/>
              <a:t>модуль </a:t>
            </a:r>
            <a:r>
              <a:rPr lang="en-US" dirty="0" err="1" smtClean="0"/>
              <a:t>datetime</a:t>
            </a:r>
            <a:r>
              <a:rPr lang="ru-RU" dirty="0" smtClean="0"/>
              <a:t> – класс </a:t>
            </a:r>
            <a:r>
              <a:rPr lang="en-US" dirty="0" err="1" smtClean="0"/>
              <a:t>timedelta</a:t>
            </a:r>
            <a:endParaRPr lang="ru-RU" dirty="0"/>
          </a:p>
        </p:txBody>
      </p:sp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19099" y="1909704"/>
            <a:ext cx="11291001" cy="1747896"/>
          </a:xfrm>
          <a:prstGeom prst="rect">
            <a:avLst/>
          </a:prstGeom>
        </p:spPr>
      </p:pic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19100" y="4312374"/>
            <a:ext cx="3969586" cy="602526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8831484" y="5738825"/>
            <a:ext cx="3038782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900" dirty="0"/>
              <a:t>узнаем, сколько было времени 10 часов 15 минут назад, то есть фактически нам надо вычесть из текущего времени 10 часов и 15 минут</a:t>
            </a:r>
          </a:p>
        </p:txBody>
      </p:sp>
    </p:spTree>
    <p:extLst>
      <p:ext uri="{BB962C8B-B14F-4D97-AF65-F5344CB8AC3E}">
        <p14:creationId xmlns:p14="http://schemas.microsoft.com/office/powerpoint/2010/main" xmlns="" val="3351210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" y="0"/>
            <a:ext cx="12192000" cy="13906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en-US" dirty="0" smtClean="0"/>
              <a:t>- </a:t>
            </a:r>
            <a:r>
              <a:rPr lang="en-US" dirty="0"/>
              <a:t> </a:t>
            </a:r>
            <a:r>
              <a:rPr lang="ru-RU" dirty="0" smtClean="0"/>
              <a:t>модуль </a:t>
            </a:r>
            <a:r>
              <a:rPr lang="en-US" dirty="0" err="1" smtClean="0"/>
              <a:t>datetime</a:t>
            </a:r>
            <a:r>
              <a:rPr lang="ru-RU" dirty="0" smtClean="0"/>
              <a:t> – класс </a:t>
            </a:r>
            <a:r>
              <a:rPr lang="en-US" dirty="0" smtClean="0"/>
              <a:t>time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209550" y="1390650"/>
            <a:ext cx="116205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rgbClr val="404040"/>
                </a:solidFill>
              </a:rPr>
              <a:t>представляет собой время, не привязанное к конкретному дню. Поддерживает временные зоны и переход на летнее/зимнее время</a:t>
            </a:r>
            <a:endParaRPr lang="ru-RU" sz="2800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209550" y="2519690"/>
            <a:ext cx="1119005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datetime.time</a:t>
            </a: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1B7A41"/>
                </a:solidFill>
                <a:effectLst/>
                <a:latin typeface="+mn-lt"/>
              </a:rPr>
              <a:t>(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hour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=</a:t>
            </a:r>
            <a:r>
              <a:rPr kumimoji="0" lang="ru-RU" altLang="ru-RU" sz="2800" b="1" i="1" u="none" strike="noStrike" cap="none" normalizeH="0" baseline="0" dirty="0" smtClean="0">
                <a:ln>
                  <a:noFill/>
                </a:ln>
                <a:solidFill>
                  <a:srgbClr val="1B7A41"/>
                </a:solidFill>
                <a:effectLst/>
                <a:latin typeface="+mn-lt"/>
              </a:rPr>
              <a:t>0</a:t>
            </a: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1B7A41"/>
                </a:solidFill>
                <a:effectLst/>
                <a:latin typeface="+mn-lt"/>
              </a:rPr>
              <a:t>, 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minute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=</a:t>
            </a:r>
            <a:r>
              <a:rPr kumimoji="0" lang="ru-RU" altLang="ru-RU" sz="2800" b="1" i="1" u="none" strike="noStrike" cap="none" normalizeH="0" baseline="0" dirty="0" smtClean="0">
                <a:ln>
                  <a:noFill/>
                </a:ln>
                <a:solidFill>
                  <a:srgbClr val="1B7A41"/>
                </a:solidFill>
                <a:effectLst/>
                <a:latin typeface="+mn-lt"/>
              </a:rPr>
              <a:t>0</a:t>
            </a: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1B7A41"/>
                </a:solidFill>
                <a:effectLst/>
                <a:latin typeface="+mn-lt"/>
              </a:rPr>
              <a:t>, 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second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=</a:t>
            </a:r>
            <a:r>
              <a:rPr kumimoji="0" lang="ru-RU" altLang="ru-RU" sz="2800" b="1" i="1" u="none" strike="noStrike" cap="none" normalizeH="0" baseline="0" dirty="0" smtClean="0">
                <a:ln>
                  <a:noFill/>
                </a:ln>
                <a:solidFill>
                  <a:srgbClr val="1B7A41"/>
                </a:solidFill>
                <a:effectLst/>
                <a:latin typeface="+mn-lt"/>
              </a:rPr>
              <a:t>0</a:t>
            </a: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1B7A41"/>
                </a:solidFill>
                <a:effectLst/>
                <a:latin typeface="+mn-lt"/>
              </a:rPr>
              <a:t>, 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microsecond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=</a:t>
            </a:r>
            <a:r>
              <a:rPr kumimoji="0" lang="ru-RU" altLang="ru-RU" sz="2800" b="1" i="1" u="none" strike="noStrike" cap="none" normalizeH="0" baseline="0" dirty="0" smtClean="0">
                <a:ln>
                  <a:noFill/>
                </a:ln>
                <a:solidFill>
                  <a:srgbClr val="1B7A41"/>
                </a:solidFill>
                <a:effectLst/>
                <a:latin typeface="+mn-lt"/>
              </a:rPr>
              <a:t>0</a:t>
            </a: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1B7A41"/>
                </a:solidFill>
                <a:effectLst/>
                <a:latin typeface="+mn-lt"/>
              </a:rPr>
              <a:t>, 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tzinfo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=</a:t>
            </a:r>
            <a:r>
              <a:rPr kumimoji="0" lang="ru-RU" altLang="ru-RU" sz="2800" b="1" i="1" u="none" strike="noStrike" cap="none" normalizeH="0" baseline="0" dirty="0" err="1" smtClean="0">
                <a:ln>
                  <a:noFill/>
                </a:ln>
                <a:solidFill>
                  <a:srgbClr val="1B7A41"/>
                </a:solidFill>
                <a:effectLst/>
                <a:latin typeface="+mn-lt"/>
              </a:rPr>
              <a:t>None</a:t>
            </a: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1B7A41"/>
                </a:solidFill>
                <a:effectLst/>
                <a:latin typeface="+mn-lt"/>
              </a:rPr>
              <a:t>)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171450" y="3351193"/>
            <a:ext cx="1184910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smtClean="0"/>
              <a:t>(</a:t>
            </a:r>
            <a:r>
              <a:rPr lang="ru-RU" sz="2800" dirty="0"/>
              <a:t>int), 0 &lt;= </a:t>
            </a:r>
            <a:r>
              <a:rPr lang="ru-RU" sz="2800" dirty="0" err="1"/>
              <a:t>hour</a:t>
            </a:r>
            <a:r>
              <a:rPr lang="ru-RU" sz="2800" dirty="0"/>
              <a:t> &lt; 24;</a:t>
            </a:r>
          </a:p>
          <a:p>
            <a:r>
              <a:rPr lang="ru-RU" sz="2800" dirty="0" smtClean="0"/>
              <a:t>(</a:t>
            </a:r>
            <a:r>
              <a:rPr lang="ru-RU" sz="2800" dirty="0"/>
              <a:t>int), 0 &lt;= </a:t>
            </a:r>
            <a:r>
              <a:rPr lang="ru-RU" sz="2800" dirty="0" err="1"/>
              <a:t>minute</a:t>
            </a:r>
            <a:r>
              <a:rPr lang="ru-RU" sz="2800" dirty="0"/>
              <a:t> &lt; 60;</a:t>
            </a:r>
          </a:p>
          <a:p>
            <a:r>
              <a:rPr lang="ru-RU" sz="2800" dirty="0" smtClean="0"/>
              <a:t>(</a:t>
            </a:r>
            <a:r>
              <a:rPr lang="ru-RU" sz="2800" dirty="0"/>
              <a:t>int), 0 &lt;= </a:t>
            </a:r>
            <a:r>
              <a:rPr lang="ru-RU" sz="2800" dirty="0" err="1"/>
              <a:t>second</a:t>
            </a:r>
            <a:r>
              <a:rPr lang="ru-RU" sz="2800" dirty="0"/>
              <a:t> &lt; 60;</a:t>
            </a:r>
          </a:p>
          <a:p>
            <a:r>
              <a:rPr lang="ru-RU" sz="2800" dirty="0" smtClean="0"/>
              <a:t>(</a:t>
            </a:r>
            <a:r>
              <a:rPr lang="ru-RU" sz="2800" dirty="0"/>
              <a:t>int), 0 &lt;= </a:t>
            </a:r>
            <a:r>
              <a:rPr lang="ru-RU" sz="2800" dirty="0" err="1"/>
              <a:t>microsecond</a:t>
            </a:r>
            <a:r>
              <a:rPr lang="ru-RU" sz="2800" dirty="0"/>
              <a:t> &lt; 1000000;</a:t>
            </a:r>
          </a:p>
          <a:p>
            <a:r>
              <a:rPr lang="ru-RU" sz="2800" dirty="0" err="1"/>
              <a:t>tzinfo</a:t>
            </a:r>
            <a:r>
              <a:rPr lang="ru-RU" sz="2800" dirty="0"/>
              <a:t> (</a:t>
            </a:r>
            <a:r>
              <a:rPr lang="ru-RU" sz="2800" dirty="0" err="1"/>
              <a:t>datetime.tzinfo</a:t>
            </a:r>
            <a:r>
              <a:rPr lang="ru-RU" sz="2800" dirty="0"/>
              <a:t>) – объект - временная зона, летнее/зимнее время;</a:t>
            </a:r>
          </a:p>
          <a:p>
            <a:endParaRPr lang="ru-RU" sz="2800" dirty="0"/>
          </a:p>
          <a:p>
            <a:r>
              <a:rPr lang="ru-RU" sz="2800" dirty="0"/>
              <a:t>Исключение - </a:t>
            </a:r>
            <a:r>
              <a:rPr lang="ru-RU" sz="2800" dirty="0" err="1"/>
              <a:t>ValueError</a:t>
            </a:r>
            <a:r>
              <a:rPr lang="ru-RU" sz="2800" dirty="0"/>
              <a:t> – в случае нарушения допустимых границ значений</a:t>
            </a:r>
          </a:p>
        </p:txBody>
      </p:sp>
    </p:spTree>
    <p:extLst>
      <p:ext uri="{BB962C8B-B14F-4D97-AF65-F5344CB8AC3E}">
        <p14:creationId xmlns:p14="http://schemas.microsoft.com/office/powerpoint/2010/main" xmlns="" val="3546005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" y="0"/>
            <a:ext cx="12192000" cy="13906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en-US" dirty="0" smtClean="0"/>
              <a:t>- </a:t>
            </a:r>
            <a:r>
              <a:rPr lang="en-US" dirty="0"/>
              <a:t> </a:t>
            </a:r>
            <a:r>
              <a:rPr lang="ru-RU" dirty="0" smtClean="0"/>
              <a:t>модуль </a:t>
            </a:r>
            <a:r>
              <a:rPr lang="en-US" dirty="0" err="1" smtClean="0"/>
              <a:t>datetime</a:t>
            </a:r>
            <a:r>
              <a:rPr lang="ru-RU" dirty="0" smtClean="0"/>
              <a:t> – класс </a:t>
            </a:r>
            <a:r>
              <a:rPr lang="en-US" dirty="0" smtClean="0"/>
              <a:t>time - </a:t>
            </a:r>
            <a:r>
              <a:rPr lang="ru-RU" dirty="0" smtClean="0"/>
              <a:t>операции</a:t>
            </a:r>
            <a:endParaRPr lang="ru-RU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495300" y="1765372"/>
            <a:ext cx="10595874" cy="317485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157113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800" b="0" i="0" u="none" strike="noStrike" cap="none" normalizeH="0" baseline="0" smtClean="0">
                <a:ln>
                  <a:noFill/>
                </a:ln>
                <a:solidFill>
                  <a:srgbClr val="404040"/>
                </a:solidFill>
                <a:effectLst/>
              </a:rPr>
              <a:t>взаимное сравнение (naive- и aware-варианты сравнивать нельзя - приводит к </a:t>
            </a:r>
            <a:r>
              <a:rPr kumimoji="0" lang="ru-RU" altLang="ru-RU" sz="2800" b="0" i="0" u="none" strike="noStrike" cap="none" normalizeH="0" baseline="0" smtClean="0">
                <a:ln>
                  <a:noFill/>
                </a:ln>
                <a:solidFill>
                  <a:srgbClr val="E74C3C"/>
                </a:solidFill>
                <a:effectLst/>
              </a:rPr>
              <a:t>TypeError</a:t>
            </a:r>
            <a:r>
              <a:rPr kumimoji="0" lang="ru-RU" altLang="ru-RU" sz="2800" b="0" i="0" u="none" strike="noStrike" cap="none" normalizeH="0" baseline="0" smtClean="0">
                <a:ln>
                  <a:noFill/>
                </a:ln>
                <a:solidFill>
                  <a:srgbClr val="404040"/>
                </a:solidFill>
                <a:effectLst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800" b="0" i="0" u="none" strike="noStrike" cap="none" normalizeH="0" baseline="0" smtClean="0">
                <a:ln>
                  <a:noFill/>
                </a:ln>
                <a:solidFill>
                  <a:srgbClr val="404040"/>
                </a:solidFill>
                <a:effectLst/>
              </a:rPr>
              <a:t>хеширование (можно использовать в качестве ключа в словаре);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800" b="0" i="0" u="none" strike="noStrike" cap="none" normalizeH="0" baseline="0" smtClean="0">
                <a:ln>
                  <a:noFill/>
                </a:ln>
                <a:solidFill>
                  <a:srgbClr val="404040"/>
                </a:solidFill>
                <a:effectLst/>
              </a:rPr>
              <a:t>преобразование в </a:t>
            </a:r>
            <a:r>
              <a:rPr kumimoji="0" lang="ru-RU" altLang="ru-RU" sz="2800" b="0" i="0" u="none" strike="noStrike" cap="none" normalizeH="0" baseline="0" smtClean="0">
                <a:ln>
                  <a:noFill/>
                </a:ln>
                <a:solidFill>
                  <a:srgbClr val="E74C3C"/>
                </a:solidFill>
                <a:effectLst/>
              </a:rPr>
              <a:t>bool</a:t>
            </a:r>
            <a:r>
              <a:rPr kumimoji="0" lang="ru-RU" altLang="ru-RU" sz="2800" b="0" i="0" u="none" strike="noStrike" cap="none" normalizeH="0" baseline="0" smtClean="0">
                <a:ln>
                  <a:noFill/>
                </a:ln>
                <a:solidFill>
                  <a:srgbClr val="404040"/>
                </a:solidFill>
                <a:effectLst/>
              </a:rPr>
              <a:t>: </a:t>
            </a:r>
            <a:r>
              <a:rPr kumimoji="0" lang="ru-RU" altLang="ru-RU" sz="2800" b="0" i="0" u="none" strike="noStrike" cap="none" normalizeH="0" baseline="0" smtClean="0">
                <a:ln>
                  <a:noFill/>
                </a:ln>
                <a:solidFill>
                  <a:srgbClr val="E74C3C"/>
                </a:solidFill>
                <a:effectLst/>
              </a:rPr>
              <a:t>time</a:t>
            </a:r>
            <a:r>
              <a:rPr kumimoji="0" lang="ru-RU" altLang="ru-RU" sz="2800" b="0" i="0" u="none" strike="noStrike" cap="none" normalizeH="0" baseline="0" smtClean="0">
                <a:ln>
                  <a:noFill/>
                </a:ln>
                <a:solidFill>
                  <a:srgbClr val="404040"/>
                </a:solidFill>
                <a:effectLst/>
              </a:rPr>
              <a:t> считается </a:t>
            </a:r>
            <a:r>
              <a:rPr kumimoji="0" lang="ru-RU" altLang="ru-RU" sz="2800" b="0" i="0" u="none" strike="noStrike" cap="none" normalizeH="0" baseline="0" smtClean="0">
                <a:ln>
                  <a:noFill/>
                </a:ln>
                <a:solidFill>
                  <a:srgbClr val="E74C3C"/>
                </a:solidFill>
                <a:effectLst/>
              </a:rPr>
              <a:t>True</a:t>
            </a:r>
            <a:r>
              <a:rPr kumimoji="0" lang="ru-RU" altLang="ru-RU" sz="2800" b="0" i="0" u="none" strike="noStrike" cap="none" normalizeH="0" baseline="0" smtClean="0">
                <a:ln>
                  <a:noFill/>
                </a:ln>
                <a:solidFill>
                  <a:srgbClr val="404040"/>
                </a:solidFill>
                <a:effectLst/>
              </a:rPr>
              <a:t> только в случае, если время, выраженное в минутах за вычетом </a:t>
            </a:r>
            <a:r>
              <a:rPr kumimoji="0" lang="ru-RU" altLang="ru-RU" sz="2800" b="0" i="0" u="none" strike="noStrike" cap="none" normalizeH="0" baseline="0" smtClean="0">
                <a:ln>
                  <a:noFill/>
                </a:ln>
                <a:solidFill>
                  <a:srgbClr val="E74C3C"/>
                </a:solidFill>
                <a:effectLst/>
              </a:rPr>
              <a:t>utcoffset()</a:t>
            </a:r>
            <a:r>
              <a:rPr kumimoji="0" lang="ru-RU" altLang="ru-RU" sz="2800" b="0" i="0" u="none" strike="noStrike" cap="none" normalizeH="0" baseline="0" smtClean="0">
                <a:ln>
                  <a:noFill/>
                </a:ln>
                <a:solidFill>
                  <a:srgbClr val="404040"/>
                </a:solidFill>
                <a:effectLst/>
              </a:rPr>
              <a:t>, не равно 0.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184026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" y="0"/>
            <a:ext cx="12192000" cy="13906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en-US" dirty="0" smtClean="0"/>
              <a:t>- </a:t>
            </a:r>
            <a:r>
              <a:rPr lang="en-US" dirty="0"/>
              <a:t> </a:t>
            </a:r>
            <a:r>
              <a:rPr lang="ru-RU" dirty="0" smtClean="0"/>
              <a:t>модуль </a:t>
            </a:r>
            <a:r>
              <a:rPr lang="en-US" dirty="0" err="1" smtClean="0"/>
              <a:t>datetime</a:t>
            </a:r>
            <a:r>
              <a:rPr lang="ru-RU" dirty="0" smtClean="0"/>
              <a:t> – класс </a:t>
            </a:r>
            <a:r>
              <a:rPr lang="en-US" dirty="0" smtClean="0"/>
              <a:t>time - </a:t>
            </a:r>
            <a:r>
              <a:rPr lang="ru-RU" dirty="0" smtClean="0"/>
              <a:t>поля</a:t>
            </a:r>
            <a:endParaRPr lang="ru-RU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756380964"/>
              </p:ext>
            </p:extLst>
          </p:nvPr>
        </p:nvGraphicFramePr>
        <p:xfrm>
          <a:off x="190501" y="1283970"/>
          <a:ext cx="11810999" cy="54787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04846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76253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min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Минимально допустимое время, time(0, 0, 0, 0).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max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Максимально допустимое время, time(23, 59, 59, 999999).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resolution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Наименьшая возможная разница между двумя различными time- объектами (1 мкс.)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hour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Значение из диапазона range(24).Только для чтения.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minute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Значение из диапазона range(60).Только для чтения.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second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Значение из диапазона range(60).Только для чтения.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microsecond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Значение из диапазона range(1000000).Только для чтения.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tzinfo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Объект класса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tzinfo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(временная зона). Возвращает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None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если не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установлен.Объект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является «осведомленным», если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tzinfo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не является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None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и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tzinfo.utcoffset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None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 не возвращает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None.Только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для чтения.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479754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" y="0"/>
            <a:ext cx="12192000" cy="13906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en-US" dirty="0" smtClean="0"/>
              <a:t>- </a:t>
            </a:r>
            <a:r>
              <a:rPr lang="en-US" dirty="0"/>
              <a:t> </a:t>
            </a:r>
            <a:r>
              <a:rPr lang="ru-RU" dirty="0" smtClean="0"/>
              <a:t>модуль </a:t>
            </a:r>
            <a:r>
              <a:rPr lang="en-US" dirty="0" err="1" smtClean="0"/>
              <a:t>datetime</a:t>
            </a:r>
            <a:r>
              <a:rPr lang="ru-RU" dirty="0" smtClean="0"/>
              <a:t> – класс </a:t>
            </a:r>
            <a:r>
              <a:rPr lang="en-US" dirty="0" smtClean="0"/>
              <a:t>time - </a:t>
            </a:r>
            <a:r>
              <a:rPr lang="ru-RU" dirty="0" smtClean="0"/>
              <a:t>методы</a:t>
            </a:r>
            <a:endParaRPr lang="ru-RU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520666597"/>
              </p:ext>
            </p:extLst>
          </p:nvPr>
        </p:nvGraphicFramePr>
        <p:xfrm>
          <a:off x="1" y="1607820"/>
          <a:ext cx="11810999" cy="378294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76224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04875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replace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([hour[, minute[, second[, microsecond[, </a:t>
                      </a: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tzinfo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]]]]]) 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Возвращает исходное время с измененными значениями указанных атрибутов.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isoformat(), __str__()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Возвращает строковое представление времени в стандарте ISO 8601 ('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HH:MM:SS.mmmmmm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' или 'HH:MM:SS'). Если имеется сдвиг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utcoffset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(), строка дополняется 6-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ти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символьным значением сдвига относительно UTC ('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HH:MM:SS.mmmmmm+HH:MM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' или 'HH:MM:SS+HH:MM').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914798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" y="0"/>
            <a:ext cx="12192000" cy="13906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en-US" dirty="0" smtClean="0"/>
              <a:t>- </a:t>
            </a:r>
            <a:r>
              <a:rPr lang="en-US" dirty="0"/>
              <a:t> </a:t>
            </a:r>
            <a:r>
              <a:rPr lang="ru-RU" dirty="0" smtClean="0"/>
              <a:t>модуль </a:t>
            </a:r>
            <a:r>
              <a:rPr lang="en-US" dirty="0" err="1" smtClean="0"/>
              <a:t>datetime</a:t>
            </a:r>
            <a:r>
              <a:rPr lang="ru-RU" dirty="0" smtClean="0"/>
              <a:t> – класс </a:t>
            </a:r>
            <a:r>
              <a:rPr lang="en-US" dirty="0" smtClean="0"/>
              <a:t>time - </a:t>
            </a:r>
            <a:r>
              <a:rPr lang="ru-RU" dirty="0" smtClean="0"/>
              <a:t>методы</a:t>
            </a:r>
            <a:endParaRPr lang="ru-RU" dirty="0"/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295505872"/>
              </p:ext>
            </p:extLst>
          </p:nvPr>
        </p:nvGraphicFramePr>
        <p:xfrm>
          <a:off x="190501" y="1617663"/>
          <a:ext cx="11810999" cy="521792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08609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7249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strftime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format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), __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format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__(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format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Возвращает строковое представление времени в заданном формате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format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(см. Функции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strftime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() и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strptime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()).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utcoffset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2800" dirty="0" smtClean="0">
                          <a:latin typeface="+mn-lt"/>
                        </a:rPr>
                        <a:t>Возвращает отклонение местного времени от UTC (в минутах), с учетом как часового пояса, так и летнего/зимнего времени. </a:t>
                      </a:r>
                      <a:r>
                        <a:rPr lang="ru-RU" sz="2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Если </a:t>
                      </a:r>
                      <a:r>
                        <a:rPr lang="ru-RU" sz="20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tzinfo</a:t>
                      </a:r>
                      <a:r>
                        <a:rPr lang="ru-RU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не задано, возвращает </a:t>
                      </a:r>
                      <a:r>
                        <a:rPr lang="ru-RU" sz="20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None</a:t>
                      </a:r>
                      <a:r>
                        <a:rPr lang="ru-RU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иначе </a:t>
                      </a:r>
                      <a:r>
                        <a:rPr lang="ru-RU" sz="20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self.tzinfo.utcoffset</a:t>
                      </a:r>
                      <a:r>
                        <a:rPr lang="ru-RU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ru-RU" sz="20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None</a:t>
                      </a:r>
                      <a:r>
                        <a:rPr lang="ru-RU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dst()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Возвращает отклонение для летнего/зимнего времени</a:t>
                      </a:r>
                      <a:r>
                        <a:rPr lang="en-US" sz="280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ru-RU" sz="280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2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Если </a:t>
                      </a:r>
                      <a:r>
                        <a:rPr lang="ru-RU" sz="20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tzinfo</a:t>
                      </a:r>
                      <a:r>
                        <a:rPr lang="ru-RU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не задано, возвращает </a:t>
                      </a:r>
                      <a:r>
                        <a:rPr lang="ru-RU" sz="20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None</a:t>
                      </a:r>
                      <a:r>
                        <a:rPr lang="ru-RU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иначе </a:t>
                      </a:r>
                      <a:r>
                        <a:rPr lang="ru-RU" sz="20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self.tzinfo.dst</a:t>
                      </a:r>
                      <a:r>
                        <a:rPr lang="ru-RU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ru-RU" sz="20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None</a:t>
                      </a:r>
                      <a:r>
                        <a:rPr lang="ru-RU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tzname()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Возвращает наименование (строку) временной зоны (например, '</a:t>
                      </a:r>
                      <a:r>
                        <a:rPr lang="en-US" sz="280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GMT</a:t>
                      </a:r>
                      <a:r>
                        <a:rPr lang="ru-RU" sz="280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', '</a:t>
                      </a:r>
                      <a:r>
                        <a:rPr lang="en-US" sz="280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UTC</a:t>
                      </a:r>
                      <a:r>
                        <a:rPr lang="ru-RU" sz="280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', '</a:t>
                      </a:r>
                      <a:r>
                        <a:rPr lang="en-US" sz="280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EDT</a:t>
                      </a:r>
                      <a:r>
                        <a:rPr lang="ru-RU" sz="280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', '</a:t>
                      </a:r>
                      <a:r>
                        <a:rPr lang="en-US" sz="280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MSK</a:t>
                      </a:r>
                      <a:r>
                        <a:rPr lang="ru-RU" sz="280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'); </a:t>
                      </a:r>
                      <a:r>
                        <a:rPr lang="ru-RU" sz="28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Если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tzinfo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не задано, возвращает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None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иначе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self.tzinfo.tzname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None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493933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" y="0"/>
            <a:ext cx="12192000" cy="13906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en-US" dirty="0" smtClean="0"/>
              <a:t>- </a:t>
            </a:r>
            <a:r>
              <a:rPr lang="en-US" dirty="0"/>
              <a:t> </a:t>
            </a:r>
            <a:r>
              <a:rPr lang="ru-RU" dirty="0" smtClean="0"/>
              <a:t>модуль </a:t>
            </a:r>
            <a:r>
              <a:rPr lang="en-US" dirty="0" err="1" smtClean="0"/>
              <a:t>datetime</a:t>
            </a:r>
            <a:r>
              <a:rPr lang="ru-RU" dirty="0" smtClean="0"/>
              <a:t> – класс </a:t>
            </a:r>
            <a:r>
              <a:rPr lang="en-US" dirty="0" smtClean="0"/>
              <a:t>time </a:t>
            </a:r>
            <a:r>
              <a:rPr lang="ru-RU" dirty="0" smtClean="0"/>
              <a:t> </a:t>
            </a:r>
            <a:endParaRPr lang="ru-RU" dirty="0"/>
          </a:p>
        </p:txBody>
      </p:sp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23679" y="1571488"/>
            <a:ext cx="5836558" cy="4372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04579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" y="0"/>
            <a:ext cx="12192000" cy="13906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en-US" dirty="0" smtClean="0"/>
              <a:t>- </a:t>
            </a:r>
            <a:r>
              <a:rPr lang="en-US" dirty="0"/>
              <a:t> </a:t>
            </a:r>
            <a:r>
              <a:rPr lang="ru-RU" dirty="0" smtClean="0"/>
              <a:t>модуль </a:t>
            </a:r>
            <a:r>
              <a:rPr lang="en-US" dirty="0" err="1" smtClean="0"/>
              <a:t>datetime</a:t>
            </a:r>
            <a:r>
              <a:rPr lang="ru-RU" dirty="0" smtClean="0"/>
              <a:t> – класс </a:t>
            </a:r>
            <a:r>
              <a:rPr lang="en-US" dirty="0" smtClean="0"/>
              <a:t>date </a:t>
            </a:r>
            <a:r>
              <a:rPr lang="ru-RU" dirty="0" smtClean="0"/>
              <a:t> </a:t>
            </a:r>
            <a:endParaRPr lang="ru-RU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71450" y="1650087"/>
            <a:ext cx="11315700" cy="9541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представляет собой дату (год, месяц, день) по «идеализированному» Григорианскому календарю, где первый день обозначен как 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E74C3C"/>
                </a:solidFill>
                <a:effectLst/>
                <a:latin typeface="+mn-lt"/>
              </a:rPr>
              <a:t>1.1.1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 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171450" y="2863631"/>
            <a:ext cx="113157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err="1"/>
              <a:t>datetime.date</a:t>
            </a:r>
            <a:r>
              <a:rPr lang="ru-RU" sz="2400" dirty="0"/>
              <a:t>(</a:t>
            </a:r>
            <a:r>
              <a:rPr lang="ru-RU" sz="2400" dirty="0" err="1"/>
              <a:t>year</a:t>
            </a:r>
            <a:r>
              <a:rPr lang="ru-RU" sz="2400" dirty="0"/>
              <a:t>, </a:t>
            </a:r>
            <a:r>
              <a:rPr lang="ru-RU" sz="2400" dirty="0" err="1"/>
              <a:t>month</a:t>
            </a:r>
            <a:r>
              <a:rPr lang="ru-RU" sz="2400" dirty="0"/>
              <a:t>, </a:t>
            </a:r>
            <a:r>
              <a:rPr lang="ru-RU" sz="2400" dirty="0" err="1"/>
              <a:t>day</a:t>
            </a:r>
            <a:r>
              <a:rPr lang="ru-RU" sz="2400" dirty="0"/>
              <a:t>)</a:t>
            </a:r>
          </a:p>
          <a:p>
            <a:r>
              <a:rPr lang="ru-RU" sz="2400" dirty="0"/>
              <a:t>Все параметры являются обязательными.</a:t>
            </a:r>
          </a:p>
          <a:p>
            <a:endParaRPr lang="ru-RU" sz="2400" dirty="0"/>
          </a:p>
          <a:p>
            <a:r>
              <a:rPr lang="ru-RU" sz="2400" dirty="0" smtClean="0"/>
              <a:t>(</a:t>
            </a:r>
            <a:r>
              <a:rPr lang="ru-RU" sz="2400" dirty="0"/>
              <a:t>int), MINYEAR &lt;= </a:t>
            </a:r>
            <a:r>
              <a:rPr lang="ru-RU" sz="2400" dirty="0" err="1"/>
              <a:t>year</a:t>
            </a:r>
            <a:r>
              <a:rPr lang="ru-RU" sz="2400" dirty="0"/>
              <a:t> &lt;= MAXYEAR;</a:t>
            </a:r>
          </a:p>
          <a:p>
            <a:r>
              <a:rPr lang="ru-RU" sz="2400" dirty="0" smtClean="0"/>
              <a:t>(</a:t>
            </a:r>
            <a:r>
              <a:rPr lang="ru-RU" sz="2400" dirty="0"/>
              <a:t>int), 1 &lt;= </a:t>
            </a:r>
            <a:r>
              <a:rPr lang="ru-RU" sz="2400" dirty="0" err="1"/>
              <a:t>month</a:t>
            </a:r>
            <a:r>
              <a:rPr lang="ru-RU" sz="2400" dirty="0"/>
              <a:t> &lt;= 12;</a:t>
            </a:r>
          </a:p>
          <a:p>
            <a:r>
              <a:rPr lang="ru-RU" sz="2400" dirty="0" smtClean="0"/>
              <a:t>(</a:t>
            </a:r>
            <a:r>
              <a:rPr lang="ru-RU" sz="2400" dirty="0"/>
              <a:t>int) – 1 &lt;= </a:t>
            </a:r>
            <a:r>
              <a:rPr lang="ru-RU" sz="2400" dirty="0" err="1"/>
              <a:t>day</a:t>
            </a:r>
            <a:r>
              <a:rPr lang="ru-RU" sz="2400" dirty="0"/>
              <a:t> &lt;= кол-во дней в месяце </a:t>
            </a:r>
            <a:r>
              <a:rPr lang="ru-RU" sz="2400" dirty="0" err="1"/>
              <a:t>month</a:t>
            </a:r>
            <a:r>
              <a:rPr lang="ru-RU" sz="2400" dirty="0"/>
              <a:t>;</a:t>
            </a:r>
          </a:p>
          <a:p>
            <a:r>
              <a:rPr lang="ru-RU" sz="2400" dirty="0"/>
              <a:t>Исключение - </a:t>
            </a:r>
            <a:r>
              <a:rPr lang="ru-RU" sz="2400" dirty="0" err="1"/>
              <a:t>ValueError</a:t>
            </a:r>
            <a:r>
              <a:rPr lang="ru-RU" sz="2400" dirty="0"/>
              <a:t> – в случае нарушения допустимых границ значений</a:t>
            </a:r>
            <a:r>
              <a:rPr lang="ru-RU" sz="2400" dirty="0" smtClean="0"/>
              <a:t>.</a:t>
            </a:r>
            <a:endParaRPr lang="en-US" sz="2400" dirty="0" smtClean="0"/>
          </a:p>
          <a:p>
            <a:endParaRPr lang="en-US" sz="2400" dirty="0"/>
          </a:p>
          <a:p>
            <a:r>
              <a:rPr lang="en-US" sz="2400" dirty="0"/>
              <a:t>today() - </a:t>
            </a:r>
            <a:r>
              <a:rPr lang="ru-RU" sz="2400" dirty="0"/>
              <a:t>Возвращает текущую дату</a:t>
            </a:r>
          </a:p>
        </p:txBody>
      </p:sp>
    </p:spTree>
    <p:extLst>
      <p:ext uri="{BB962C8B-B14F-4D97-AF65-F5344CB8AC3E}">
        <p14:creationId xmlns:p14="http://schemas.microsoft.com/office/powerpoint/2010/main" xmlns="" val="829565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" y="0"/>
            <a:ext cx="12192000" cy="13906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en-US" dirty="0" smtClean="0"/>
              <a:t>- </a:t>
            </a:r>
            <a:r>
              <a:rPr lang="en-US" dirty="0"/>
              <a:t> </a:t>
            </a:r>
            <a:r>
              <a:rPr lang="ru-RU" dirty="0" smtClean="0"/>
              <a:t>модуль </a:t>
            </a:r>
            <a:r>
              <a:rPr lang="en-US" dirty="0" err="1" smtClean="0"/>
              <a:t>datetime</a:t>
            </a:r>
            <a:r>
              <a:rPr lang="ru-RU" dirty="0" smtClean="0"/>
              <a:t> – класс </a:t>
            </a:r>
            <a:r>
              <a:rPr lang="en-US" dirty="0" smtClean="0"/>
              <a:t>date </a:t>
            </a:r>
            <a:r>
              <a:rPr lang="ru-RU" dirty="0" smtClean="0"/>
              <a:t> </a:t>
            </a:r>
            <a:r>
              <a:rPr lang="en-US" dirty="0" smtClean="0"/>
              <a:t>- </a:t>
            </a:r>
            <a:r>
              <a:rPr lang="ru-RU" dirty="0" smtClean="0"/>
              <a:t>операции</a:t>
            </a:r>
            <a:endParaRPr lang="ru-RU" dirty="0"/>
          </a:p>
        </p:txBody>
      </p:sp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-57123" y="1981101"/>
            <a:ext cx="12249123" cy="2476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809670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" y="0"/>
            <a:ext cx="12192000" cy="13906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en-US" dirty="0" smtClean="0"/>
              <a:t>- </a:t>
            </a:r>
            <a:r>
              <a:rPr lang="en-US" dirty="0"/>
              <a:t> </a:t>
            </a:r>
            <a:r>
              <a:rPr lang="ru-RU" dirty="0" smtClean="0"/>
              <a:t>модуль </a:t>
            </a:r>
            <a:r>
              <a:rPr lang="en-US" dirty="0" err="1" smtClean="0"/>
              <a:t>datetime</a:t>
            </a:r>
            <a:r>
              <a:rPr lang="ru-RU" dirty="0" smtClean="0"/>
              <a:t> – класс </a:t>
            </a:r>
            <a:r>
              <a:rPr lang="en-US" dirty="0" smtClean="0"/>
              <a:t>date </a:t>
            </a:r>
            <a:r>
              <a:rPr lang="ru-RU" dirty="0" smtClean="0"/>
              <a:t> </a:t>
            </a:r>
            <a:r>
              <a:rPr lang="en-US" dirty="0" smtClean="0"/>
              <a:t>- </a:t>
            </a:r>
            <a:r>
              <a:rPr lang="ru-RU" dirty="0" smtClean="0"/>
              <a:t>поля</a:t>
            </a:r>
            <a:endParaRPr lang="ru-RU" dirty="0"/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88205183"/>
              </p:ext>
            </p:extLst>
          </p:nvPr>
        </p:nvGraphicFramePr>
        <p:xfrm>
          <a:off x="260350" y="1714500"/>
          <a:ext cx="11322050" cy="410908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83515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4869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min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Минимально допустимая дата, date(MINYEAR, 1, 1).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max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Максимально допустимая дата, date(MAXYEAR, 12, 31).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resolution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Наименьшая возможная разница между двумя различными date объектами (1 день).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year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Год. Значение из диапазона [MINYEAR; MAXYEAR]. Только для чтения.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month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Месяц. Значение из диапазона [1; 12]. Только для чтения.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day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День. Значение из диапазона [1; кол дней в месяце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month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].Только для чтения.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335994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12192000" cy="111829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en-US" dirty="0" smtClean="0"/>
              <a:t>- </a:t>
            </a:r>
            <a:r>
              <a:rPr lang="en-US" dirty="0"/>
              <a:t> </a:t>
            </a:r>
            <a:r>
              <a:rPr lang="ru-RU" dirty="0" smtClean="0"/>
              <a:t>модуль </a:t>
            </a:r>
            <a:r>
              <a:rPr lang="en-US" dirty="0" err="1" smtClean="0"/>
              <a:t>datetime</a:t>
            </a:r>
            <a:r>
              <a:rPr lang="ru-RU" dirty="0" smtClean="0"/>
              <a:t> – класс </a:t>
            </a:r>
            <a:r>
              <a:rPr lang="en-US" dirty="0" smtClean="0"/>
              <a:t>date </a:t>
            </a:r>
            <a:r>
              <a:rPr lang="ru-RU" dirty="0" smtClean="0"/>
              <a:t> </a:t>
            </a:r>
            <a:r>
              <a:rPr lang="en-US" dirty="0" smtClean="0"/>
              <a:t>- </a:t>
            </a:r>
            <a:r>
              <a:rPr lang="ru-RU" dirty="0" smtClean="0"/>
              <a:t>методы</a:t>
            </a:r>
            <a:r>
              <a:rPr lang="en-US" dirty="0" smtClean="0"/>
              <a:t> </a:t>
            </a:r>
            <a:r>
              <a:rPr lang="en-US" sz="2800" dirty="0" smtClean="0"/>
              <a:t>(</a:t>
            </a:r>
            <a:r>
              <a:rPr lang="ru-RU" sz="2800" dirty="0" smtClean="0"/>
              <a:t>возвращают</a:t>
            </a:r>
            <a:r>
              <a:rPr lang="en-US" sz="2800" dirty="0" smtClean="0"/>
              <a:t>)</a:t>
            </a:r>
            <a:endParaRPr lang="ru-RU" sz="2800" dirty="0"/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4279458654"/>
              </p:ext>
            </p:extLst>
          </p:nvPr>
        </p:nvGraphicFramePr>
        <p:xfrm>
          <a:off x="0" y="1118298"/>
          <a:ext cx="12192002" cy="573970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93369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25830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replace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year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month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day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исходную </a:t>
                      </a:r>
                      <a:r>
                        <a:rPr lang="ru-RU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дату с измененными значениями указанных атрибутов.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toordinal()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количество </a:t>
                      </a:r>
                      <a:r>
                        <a:rPr lang="ru-RU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дней в дате по </a:t>
                      </a:r>
                      <a:r>
                        <a:rPr lang="ru-RU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пролептическому</a:t>
                      </a:r>
                      <a:r>
                        <a:rPr lang="ru-RU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(расширенному до момента введения) григорианскому календарю, например, </a:t>
                      </a:r>
                      <a:r>
                        <a:rPr lang="ru-RU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date</a:t>
                      </a:r>
                      <a:r>
                        <a:rPr lang="ru-RU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(2, 1, 1).</a:t>
                      </a:r>
                      <a:r>
                        <a:rPr lang="ru-RU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toordinal</a:t>
                      </a:r>
                      <a:r>
                        <a:rPr lang="ru-RU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() == 366.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weekday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номер </a:t>
                      </a:r>
                      <a:r>
                        <a:rPr lang="ru-RU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дня недели (Понедельник - 0, Воскресенье - 6).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isoweekday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номер </a:t>
                      </a:r>
                      <a:r>
                        <a:rPr lang="ru-RU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дня недели (Понедельник - 1, Воскресенье - 7).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isocalendar()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ISO-календарь- </a:t>
                      </a:r>
                      <a:r>
                        <a:rPr lang="ru-RU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кортеж, (ISO год, ISO номер недели, ISO день недели).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isoformat</a:t>
                      </a:r>
                      <a:r>
                        <a:rPr lang="ru-RU" sz="28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(),</a:t>
                      </a:r>
                      <a:endParaRPr lang="en-US" sz="280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__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str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__()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строковое </a:t>
                      </a:r>
                      <a:r>
                        <a:rPr lang="ru-RU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представление даты в формате ISO 8601 ('YYYY-MM-DD'), например: '2002-12-04'.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ctime()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строковое </a:t>
                      </a:r>
                      <a:r>
                        <a:rPr lang="ru-RU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представление даты, например: '</a:t>
                      </a:r>
                      <a:r>
                        <a:rPr lang="ru-RU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Wed</a:t>
                      </a:r>
                      <a:r>
                        <a:rPr lang="ru-RU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Dec</a:t>
                      </a:r>
                      <a:r>
                        <a:rPr lang="ru-RU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4 00:00:00 2002'.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strftime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format</a:t>
                      </a:r>
                      <a:r>
                        <a:rPr lang="ru-RU" sz="28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),__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format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__(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format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строковое </a:t>
                      </a:r>
                      <a:r>
                        <a:rPr lang="ru-RU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представление даты в заданном формате </a:t>
                      </a:r>
                      <a:r>
                        <a:rPr lang="ru-RU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format</a:t>
                      </a:r>
                      <a:r>
                        <a:rPr lang="ru-RU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(см. Функции </a:t>
                      </a:r>
                      <a:r>
                        <a:rPr lang="ru-RU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strftime</a:t>
                      </a:r>
                      <a:r>
                        <a:rPr lang="ru-RU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() и </a:t>
                      </a:r>
                      <a:r>
                        <a:rPr lang="ru-RU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strptime</a:t>
                      </a:r>
                      <a:r>
                        <a:rPr lang="ru-RU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()).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225476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12192000" cy="111829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en-US" dirty="0" smtClean="0"/>
              <a:t>- </a:t>
            </a:r>
            <a:r>
              <a:rPr lang="en-US" dirty="0"/>
              <a:t> </a:t>
            </a:r>
            <a:r>
              <a:rPr lang="ru-RU" dirty="0" smtClean="0"/>
              <a:t>модуль </a:t>
            </a:r>
            <a:r>
              <a:rPr lang="en-US" dirty="0" err="1" smtClean="0"/>
              <a:t>datetime</a:t>
            </a:r>
            <a:r>
              <a:rPr lang="ru-RU" dirty="0" smtClean="0"/>
              <a:t> – класс </a:t>
            </a:r>
            <a:r>
              <a:rPr lang="en-US" dirty="0" smtClean="0"/>
              <a:t>date</a:t>
            </a:r>
            <a:endParaRPr lang="ru-RU" sz="2800" dirty="0"/>
          </a:p>
        </p:txBody>
      </p:sp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80787" y="1118298"/>
            <a:ext cx="5392026" cy="1529652"/>
          </a:xfrm>
          <a:prstGeom prst="rect">
            <a:avLst/>
          </a:prstGeom>
        </p:spPr>
      </p:pic>
      <p:pic>
        <p:nvPicPr>
          <p:cNvPr id="6" name="Рисунок 5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80786" y="3285168"/>
            <a:ext cx="10210927" cy="214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375200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12192000" cy="111829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en-US" dirty="0" smtClean="0"/>
              <a:t>- </a:t>
            </a:r>
            <a:r>
              <a:rPr lang="en-US" dirty="0"/>
              <a:t> </a:t>
            </a:r>
            <a:r>
              <a:rPr lang="ru-RU" dirty="0" smtClean="0"/>
              <a:t>модуль </a:t>
            </a:r>
            <a:r>
              <a:rPr lang="en-US" dirty="0" err="1" smtClean="0"/>
              <a:t>datetime</a:t>
            </a:r>
            <a:r>
              <a:rPr lang="ru-RU" dirty="0" smtClean="0"/>
              <a:t> – класс </a:t>
            </a:r>
            <a:r>
              <a:rPr lang="en-US" dirty="0" err="1"/>
              <a:t>datetime</a:t>
            </a:r>
            <a:endParaRPr lang="ru-RU" sz="2800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1333741"/>
            <a:ext cx="11982450" cy="181588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0" i="0" u="none" strike="noStrike" cap="none" normalizeH="0" baseline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единый тип, хранящий информацию как о дате, так и о времени, сочетающий характеристики классов </a:t>
            </a:r>
            <a:r>
              <a:rPr kumimoji="0" lang="ru-RU" altLang="ru-RU" sz="2800" b="0" i="0" u="none" strike="noStrike" cap="none" normalizeH="0" baseline="0" smtClean="0">
                <a:ln>
                  <a:noFill/>
                </a:ln>
                <a:solidFill>
                  <a:srgbClr val="E74C3C"/>
                </a:solidFill>
                <a:effectLst/>
                <a:latin typeface="+mn-lt"/>
              </a:rPr>
              <a:t>date</a:t>
            </a:r>
            <a:r>
              <a:rPr kumimoji="0" lang="ru-RU" altLang="ru-RU" sz="2800" b="0" i="0" u="none" strike="noStrike" cap="none" normalizeH="0" baseline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 и </a:t>
            </a:r>
            <a:r>
              <a:rPr kumimoji="0" lang="ru-RU" altLang="ru-RU" sz="2800" b="0" i="0" u="none" strike="noStrike" cap="none" normalizeH="0" baseline="0" smtClean="0">
                <a:ln>
                  <a:noFill/>
                </a:ln>
                <a:solidFill>
                  <a:srgbClr val="E74C3C"/>
                </a:solidFill>
                <a:effectLst/>
                <a:latin typeface="+mn-lt"/>
              </a:rPr>
              <a:t>time</a:t>
            </a:r>
            <a:r>
              <a:rPr kumimoji="0" lang="ru-RU" altLang="ru-RU" sz="2800" b="0" i="0" u="none" strike="noStrike" cap="none" normalizeH="0" baseline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.</a:t>
            </a:r>
            <a:endParaRPr kumimoji="0" lang="ru-RU" altLang="ru-RU" sz="2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0" i="0" u="none" strike="noStrike" cap="none" normalizeH="0" baseline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Практически все атрибуты совпадают с аналогичными атрибутами классов </a:t>
            </a:r>
            <a:r>
              <a:rPr kumimoji="0" lang="ru-RU" altLang="ru-RU" sz="2800" b="0" i="0" u="none" strike="noStrike" cap="none" normalizeH="0" baseline="0" smtClean="0">
                <a:ln>
                  <a:noFill/>
                </a:ln>
                <a:solidFill>
                  <a:srgbClr val="E74C3C"/>
                </a:solidFill>
                <a:effectLst/>
                <a:latin typeface="+mn-lt"/>
              </a:rPr>
              <a:t>date</a:t>
            </a:r>
            <a:r>
              <a:rPr kumimoji="0" lang="ru-RU" altLang="ru-RU" sz="2800" b="0" i="0" u="none" strike="noStrike" cap="none" normalizeH="0" baseline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 и </a:t>
            </a:r>
            <a:r>
              <a:rPr kumimoji="0" lang="ru-RU" altLang="ru-RU" sz="2800" b="0" i="0" u="none" strike="noStrike" cap="none" normalizeH="0" baseline="0" smtClean="0">
                <a:ln>
                  <a:noFill/>
                </a:ln>
                <a:solidFill>
                  <a:srgbClr val="E74C3C"/>
                </a:solidFill>
                <a:effectLst/>
                <a:latin typeface="+mn-lt"/>
              </a:rPr>
              <a:t>time</a:t>
            </a:r>
            <a:r>
              <a:rPr kumimoji="0" lang="ru-RU" altLang="ru-RU" sz="2800" b="0" i="0" u="none" strike="noStrike" cap="none" normalizeH="0" baseline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.</a:t>
            </a:r>
            <a:endParaRPr kumimoji="0" lang="ru-RU" altLang="ru-RU" sz="2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638175" y="4030972"/>
            <a:ext cx="107061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 err="1"/>
              <a:t>datetime.datetime</a:t>
            </a:r>
            <a:r>
              <a:rPr lang="ru-RU" sz="2800" b="1" dirty="0"/>
              <a:t>(</a:t>
            </a:r>
            <a:r>
              <a:rPr lang="ru-RU" sz="2800" b="1" dirty="0" err="1"/>
              <a:t>year</a:t>
            </a:r>
            <a:r>
              <a:rPr lang="ru-RU" sz="2800" b="1" dirty="0"/>
              <a:t>, </a:t>
            </a:r>
            <a:r>
              <a:rPr lang="ru-RU" sz="2800" b="1" dirty="0" err="1"/>
              <a:t>month</a:t>
            </a:r>
            <a:r>
              <a:rPr lang="ru-RU" sz="2800" b="1" dirty="0"/>
              <a:t>, </a:t>
            </a:r>
            <a:r>
              <a:rPr lang="ru-RU" sz="2800" b="1" dirty="0" err="1"/>
              <a:t>day</a:t>
            </a:r>
            <a:r>
              <a:rPr lang="ru-RU" sz="2800" b="1" dirty="0"/>
              <a:t>, </a:t>
            </a:r>
            <a:r>
              <a:rPr lang="ru-RU" sz="2800" b="1" dirty="0" err="1"/>
              <a:t>hour</a:t>
            </a:r>
            <a:r>
              <a:rPr lang="ru-RU" sz="2800" b="1" dirty="0"/>
              <a:t>=0, </a:t>
            </a:r>
            <a:r>
              <a:rPr lang="ru-RU" sz="2800" b="1" dirty="0" err="1"/>
              <a:t>minute</a:t>
            </a:r>
            <a:r>
              <a:rPr lang="ru-RU" sz="2800" b="1" dirty="0"/>
              <a:t>=0, </a:t>
            </a:r>
            <a:r>
              <a:rPr lang="ru-RU" sz="2800" b="1" dirty="0" err="1"/>
              <a:t>second</a:t>
            </a:r>
            <a:r>
              <a:rPr lang="ru-RU" sz="2800" b="1" dirty="0"/>
              <a:t>=0, </a:t>
            </a:r>
            <a:r>
              <a:rPr lang="ru-RU" sz="2800" b="1" dirty="0" err="1"/>
              <a:t>microsecond</a:t>
            </a:r>
            <a:r>
              <a:rPr lang="ru-RU" sz="2800" b="1" dirty="0"/>
              <a:t>=0, </a:t>
            </a:r>
            <a:r>
              <a:rPr lang="ru-RU" sz="2800" b="1" dirty="0" err="1"/>
              <a:t>tzinfo</a:t>
            </a:r>
            <a:r>
              <a:rPr lang="ru-RU" sz="2800" b="1" dirty="0"/>
              <a:t>=</a:t>
            </a:r>
            <a:r>
              <a:rPr lang="ru-RU" sz="2800" b="1" dirty="0" err="1"/>
              <a:t>None</a:t>
            </a:r>
            <a:r>
              <a:rPr lang="ru-RU" sz="2800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xmlns="" val="1711349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12192000" cy="111829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en-US" dirty="0" smtClean="0"/>
              <a:t>- </a:t>
            </a:r>
            <a:r>
              <a:rPr lang="en-US" dirty="0"/>
              <a:t> </a:t>
            </a:r>
            <a:r>
              <a:rPr lang="ru-RU" dirty="0" smtClean="0"/>
              <a:t>модуль </a:t>
            </a:r>
            <a:r>
              <a:rPr lang="en-US" dirty="0" err="1" smtClean="0"/>
              <a:t>datetime</a:t>
            </a:r>
            <a:r>
              <a:rPr lang="ru-RU" dirty="0" smtClean="0"/>
              <a:t> – класс </a:t>
            </a:r>
            <a:r>
              <a:rPr lang="en-US" dirty="0" err="1" smtClean="0"/>
              <a:t>datetime</a:t>
            </a:r>
            <a:r>
              <a:rPr lang="en-US" dirty="0" smtClean="0"/>
              <a:t> - </a:t>
            </a:r>
            <a:r>
              <a:rPr lang="en-US" sz="2400" b="1" i="1" dirty="0" err="1"/>
              <a:t>classmethod</a:t>
            </a:r>
            <a:endParaRPr lang="ru-RU" sz="2800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730713789"/>
              </p:ext>
            </p:extLst>
          </p:nvPr>
        </p:nvGraphicFramePr>
        <p:xfrm>
          <a:off x="257175" y="1466175"/>
          <a:ext cx="11677650" cy="456565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45944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21821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83186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today()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Возвращает текущую дату/время без учета временной зоны (tzinfo == None), например: 2015-09-16 16:52:57.484589.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25089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now(tz=None)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Возвращает текущую дату/время аналогично datetime.datetime.today(), но может быть точнее.Если задана временная зона tz, дата/время будет преобразовано учитывая ее.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97154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utcnow()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Возвращает текущую UTC дату и время,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tzinfo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=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None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 Аналогично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datetime.datetime.now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(), но возвращает «неосведомленный» объект.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764947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12192000" cy="111829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en-US" dirty="0" smtClean="0"/>
              <a:t>- </a:t>
            </a:r>
            <a:r>
              <a:rPr lang="en-US" dirty="0"/>
              <a:t> </a:t>
            </a:r>
            <a:r>
              <a:rPr lang="ru-RU" dirty="0" smtClean="0"/>
              <a:t>модуль </a:t>
            </a:r>
            <a:r>
              <a:rPr lang="en-US" dirty="0" err="1" smtClean="0"/>
              <a:t>datetime</a:t>
            </a:r>
            <a:r>
              <a:rPr lang="ru-RU" dirty="0" smtClean="0"/>
              <a:t> – класс </a:t>
            </a:r>
            <a:r>
              <a:rPr lang="en-US" dirty="0" err="1"/>
              <a:t>datetime</a:t>
            </a:r>
            <a:endParaRPr lang="ru-RU" sz="2800" dirty="0"/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379367896"/>
              </p:ext>
            </p:extLst>
          </p:nvPr>
        </p:nvGraphicFramePr>
        <p:xfrm>
          <a:off x="171450" y="1118298"/>
          <a:ext cx="11849100" cy="521434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6487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58086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fromordinal</a:t>
                      </a:r>
                      <a:r>
                        <a:rPr lang="ru-RU" sz="28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ru-RU" sz="28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ordinal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Возвращает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текущу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дату и время, соответствующую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ordinal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значению дней в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пролептическом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григорианском календаре; например: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datetime.fromordinal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(366) # 0002-01-01 00:00:00; время и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tzinfo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не устанавливаются.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16378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combine</a:t>
                      </a:r>
                      <a:r>
                        <a:rPr lang="ru-RU" sz="28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ru-RU" sz="28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date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time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Возвращает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datetime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-объект, составленный из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date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и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time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46969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strptime(date_string, format)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Возвращает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datetime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-объект, составленный из строки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date_string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по формату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format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(см. Функции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strftime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() и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strptime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()).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312974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12192000" cy="111829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en-US" dirty="0" smtClean="0"/>
              <a:t>- </a:t>
            </a:r>
            <a:r>
              <a:rPr lang="en-US" dirty="0"/>
              <a:t> </a:t>
            </a:r>
            <a:r>
              <a:rPr lang="ru-RU" dirty="0" smtClean="0"/>
              <a:t>модуль </a:t>
            </a:r>
            <a:r>
              <a:rPr lang="en-US" dirty="0" err="1" smtClean="0"/>
              <a:t>datetime</a:t>
            </a:r>
            <a:r>
              <a:rPr lang="ru-RU" dirty="0" smtClean="0"/>
              <a:t> – класс </a:t>
            </a:r>
            <a:r>
              <a:rPr lang="en-US" dirty="0" err="1" smtClean="0"/>
              <a:t>datetime</a:t>
            </a:r>
            <a:r>
              <a:rPr lang="ru-RU" dirty="0" smtClean="0"/>
              <a:t> - операции</a:t>
            </a:r>
            <a:endParaRPr lang="ru-RU" sz="2800" dirty="0"/>
          </a:p>
        </p:txBody>
      </p:sp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15536" y="1257027"/>
            <a:ext cx="10931090" cy="5411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687065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12192000" cy="111829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en-US" dirty="0" smtClean="0"/>
              <a:t>- </a:t>
            </a:r>
            <a:r>
              <a:rPr lang="en-US" dirty="0"/>
              <a:t> </a:t>
            </a:r>
            <a:r>
              <a:rPr lang="ru-RU" dirty="0" smtClean="0"/>
              <a:t>модуль </a:t>
            </a:r>
            <a:r>
              <a:rPr lang="en-US" dirty="0" err="1" smtClean="0"/>
              <a:t>datetime</a:t>
            </a:r>
            <a:r>
              <a:rPr lang="ru-RU" dirty="0" smtClean="0"/>
              <a:t> – класс </a:t>
            </a:r>
            <a:r>
              <a:rPr lang="en-US" dirty="0" err="1" smtClean="0"/>
              <a:t>datetime</a:t>
            </a:r>
            <a:r>
              <a:rPr lang="ru-RU" dirty="0" smtClean="0"/>
              <a:t> - методы</a:t>
            </a:r>
            <a:endParaRPr lang="ru-RU" sz="2800" dirty="0"/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160739300"/>
              </p:ext>
            </p:extLst>
          </p:nvPr>
        </p:nvGraphicFramePr>
        <p:xfrm>
          <a:off x="311150" y="1118298"/>
          <a:ext cx="11569700" cy="502221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6703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899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date()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Возвращает только дату (date) из datetime.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time</a:t>
                      </a:r>
                      <a:r>
                        <a:rPr lang="ru-RU" sz="28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()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timetz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Возвращает только время (time) из datetime. timetz() в отличие от time() возвращает «осведомленный» объект.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replace([year[, month[, day[, hour[, minute[, second[, microsecond[, tzinfo]]]]]]]])</a:t>
                      </a:r>
                      <a:endParaRPr lang="ru-RU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Возвращает исходные дату/время с измененными значениями указанных атрибутов.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astimezone(tz=None)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Возвращает исходные дату/время в соответствии с временной зоной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tz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; если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tz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==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None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используются системные настройки.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3" name="Прямоугольник 2"/>
          <p:cNvSpPr/>
          <p:nvPr/>
        </p:nvSpPr>
        <p:spPr>
          <a:xfrm>
            <a:off x="415507" y="6286789"/>
            <a:ext cx="690028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остальные методы как у классов </a:t>
            </a:r>
            <a:r>
              <a:rPr lang="en-US" sz="2800" dirty="0">
                <a:solidFill>
                  <a:schemeClr val="bg1"/>
                </a:solidFill>
              </a:rPr>
              <a:t>date</a:t>
            </a:r>
            <a:r>
              <a:rPr lang="ru-RU" sz="2800" dirty="0">
                <a:solidFill>
                  <a:schemeClr val="bg1"/>
                </a:solidFill>
              </a:rPr>
              <a:t> и </a:t>
            </a:r>
            <a:r>
              <a:rPr lang="en-US" sz="2800" dirty="0">
                <a:solidFill>
                  <a:schemeClr val="bg1"/>
                </a:solidFill>
              </a:rPr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xmlns="" val="3581449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12192000" cy="111829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en-US" dirty="0" smtClean="0"/>
              <a:t>- </a:t>
            </a:r>
            <a:r>
              <a:rPr lang="en-US" dirty="0"/>
              <a:t> </a:t>
            </a:r>
            <a:r>
              <a:rPr lang="ru-RU" dirty="0" smtClean="0"/>
              <a:t>модуль </a:t>
            </a:r>
            <a:r>
              <a:rPr lang="en-US" dirty="0" err="1" smtClean="0"/>
              <a:t>datetime</a:t>
            </a:r>
            <a:r>
              <a:rPr lang="ru-RU" dirty="0" smtClean="0"/>
              <a:t> – класс </a:t>
            </a:r>
            <a:r>
              <a:rPr lang="en-US" dirty="0" err="1" smtClean="0"/>
              <a:t>datetime</a:t>
            </a:r>
            <a:r>
              <a:rPr lang="ru-RU" dirty="0" smtClean="0"/>
              <a:t> - методы</a:t>
            </a:r>
            <a:endParaRPr lang="ru-RU" sz="2800" dirty="0"/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965180046"/>
              </p:ext>
            </p:extLst>
          </p:nvPr>
        </p:nvGraphicFramePr>
        <p:xfrm>
          <a:off x="128270" y="1733439"/>
          <a:ext cx="11569700" cy="344360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6703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899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16522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800" dirty="0" err="1" smtClean="0"/>
                        <a:t>isoformat</a:t>
                      </a:r>
                      <a:r>
                        <a:rPr lang="en-US" sz="2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2800" b="1" i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sep</a:t>
                      </a:r>
                      <a:r>
                        <a:rPr lang="en-US" sz="2800" b="1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='T'</a:t>
                      </a:r>
                      <a:r>
                        <a:rPr lang="en-US" sz="2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ru-RU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Возвращает строковое представление даты в формате </a:t>
                      </a:r>
                      <a:r>
                        <a:rPr lang="ru-RU" sz="2800" b="0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ISO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'</a:t>
                      </a:r>
                      <a:r>
                        <a:rPr lang="ru-RU" sz="2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YYYY-MM-DDTHH:MM:SS.mmmmmm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 или 'YYYY-MM-DDTHH:MM:SS', например, '2015-10-16T17:49:04.594177'.</a:t>
                      </a:r>
                    </a:p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Параметр </a:t>
                      </a:r>
                      <a:r>
                        <a:rPr lang="ru-RU" sz="2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sep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разделяет дату и время в выходной строке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3" name="Прямоугольник 2"/>
          <p:cNvSpPr/>
          <p:nvPr/>
        </p:nvSpPr>
        <p:spPr>
          <a:xfrm>
            <a:off x="415507" y="6286789"/>
            <a:ext cx="690028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остальные методы как у классов </a:t>
            </a:r>
            <a:r>
              <a:rPr lang="en-US" sz="2800" dirty="0">
                <a:solidFill>
                  <a:schemeClr val="bg1"/>
                </a:solidFill>
              </a:rPr>
              <a:t>date</a:t>
            </a:r>
            <a:r>
              <a:rPr lang="ru-RU" sz="2800" dirty="0">
                <a:solidFill>
                  <a:schemeClr val="bg1"/>
                </a:solidFill>
              </a:rPr>
              <a:t> и </a:t>
            </a:r>
            <a:r>
              <a:rPr lang="en-US" sz="2800" dirty="0">
                <a:solidFill>
                  <a:schemeClr val="bg1"/>
                </a:solidFill>
              </a:rPr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xmlns="" val="26828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12192000" cy="111829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en-US" dirty="0" smtClean="0"/>
              <a:t>- </a:t>
            </a:r>
            <a:r>
              <a:rPr lang="en-US" dirty="0"/>
              <a:t> </a:t>
            </a:r>
            <a:r>
              <a:rPr lang="ru-RU" dirty="0" smtClean="0"/>
              <a:t>модуль </a:t>
            </a:r>
            <a:r>
              <a:rPr lang="en-US" dirty="0" err="1" smtClean="0"/>
              <a:t>datetime</a:t>
            </a:r>
            <a:r>
              <a:rPr lang="ru-RU" dirty="0" smtClean="0"/>
              <a:t> – класс </a:t>
            </a:r>
            <a:r>
              <a:rPr lang="en-US" dirty="0" err="1"/>
              <a:t>datetime</a:t>
            </a:r>
            <a:endParaRPr lang="ru-RU" sz="2800" dirty="0"/>
          </a:p>
        </p:txBody>
      </p:sp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99803" y="1118298"/>
            <a:ext cx="6334347" cy="2105128"/>
          </a:xfrm>
          <a:prstGeom prst="rect">
            <a:avLst/>
          </a:prstGeom>
        </p:spPr>
      </p:pic>
      <p:pic>
        <p:nvPicPr>
          <p:cNvPr id="6" name="Рисунок 5" descr="Вырезка экрана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19119"/>
          <a:stretch/>
        </p:blipFill>
        <p:spPr>
          <a:xfrm>
            <a:off x="199803" y="3857104"/>
            <a:ext cx="11901133" cy="1806633"/>
          </a:xfrm>
          <a:prstGeom prst="rect">
            <a:avLst/>
          </a:prstGeom>
        </p:spPr>
      </p:pic>
      <p:pic>
        <p:nvPicPr>
          <p:cNvPr id="7" name="Рисунок 6" descr="Вырезка экрана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892879" y="5319668"/>
            <a:ext cx="3915345" cy="1214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570849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12192000" cy="111829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en-US" dirty="0" smtClean="0"/>
              <a:t>- </a:t>
            </a:r>
            <a:r>
              <a:rPr lang="en-US" dirty="0"/>
              <a:t> </a:t>
            </a:r>
            <a:r>
              <a:rPr lang="ru-RU" dirty="0" smtClean="0"/>
              <a:t>модуль </a:t>
            </a:r>
            <a:r>
              <a:rPr lang="en-US" dirty="0" err="1" smtClean="0"/>
              <a:t>datetime</a:t>
            </a:r>
            <a:r>
              <a:rPr lang="ru-RU" dirty="0" smtClean="0"/>
              <a:t> – класс </a:t>
            </a:r>
            <a:r>
              <a:rPr lang="en-US" dirty="0" err="1" smtClean="0"/>
              <a:t>datetime</a:t>
            </a:r>
            <a:r>
              <a:rPr lang="ru-RU" dirty="0" smtClean="0"/>
              <a:t> – форматирование дат и времени </a:t>
            </a:r>
            <a:endParaRPr lang="ru-RU" sz="28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0" y="1118298"/>
            <a:ext cx="878205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%a: аббревиатура дня недели. Например, </a:t>
            </a:r>
            <a:r>
              <a:rPr lang="ru-RU" sz="2400" dirty="0" err="1"/>
              <a:t>Wed</a:t>
            </a:r>
            <a:r>
              <a:rPr lang="ru-RU" sz="2400" dirty="0"/>
              <a:t>  </a:t>
            </a:r>
          </a:p>
          <a:p>
            <a:r>
              <a:rPr lang="ru-RU" sz="2400" dirty="0"/>
              <a:t>%A: день недели полностью, например, </a:t>
            </a:r>
            <a:r>
              <a:rPr lang="ru-RU" sz="2400" dirty="0" err="1"/>
              <a:t>Wednesday</a:t>
            </a:r>
            <a:endParaRPr lang="ru-RU" sz="2400" dirty="0"/>
          </a:p>
          <a:p>
            <a:r>
              <a:rPr lang="ru-RU" sz="2400" dirty="0"/>
              <a:t>%b: аббревиатура названия месяца. Например, </a:t>
            </a:r>
            <a:r>
              <a:rPr lang="ru-RU" sz="2400" dirty="0" err="1"/>
              <a:t>Oct</a:t>
            </a:r>
            <a:r>
              <a:rPr lang="ru-RU" sz="2400" dirty="0"/>
              <a:t>  </a:t>
            </a:r>
          </a:p>
          <a:p>
            <a:r>
              <a:rPr lang="ru-RU" sz="2400" dirty="0"/>
              <a:t>%B: название месяца полностью, например, </a:t>
            </a:r>
            <a:r>
              <a:rPr lang="ru-RU" sz="2400" dirty="0" err="1"/>
              <a:t>October</a:t>
            </a:r>
            <a:endParaRPr lang="ru-RU" sz="2400" dirty="0"/>
          </a:p>
          <a:p>
            <a:r>
              <a:rPr lang="ru-RU" sz="2400" dirty="0"/>
              <a:t>%d: день месяца, дополненный нулем, например, 01</a:t>
            </a:r>
          </a:p>
          <a:p>
            <a:r>
              <a:rPr lang="ru-RU" sz="2400" dirty="0"/>
              <a:t>%m: номер месяца, дополненный нулем, например, 05</a:t>
            </a:r>
          </a:p>
          <a:p>
            <a:r>
              <a:rPr lang="ru-RU" sz="2400" dirty="0"/>
              <a:t>%y: год в виде 2-х чисел</a:t>
            </a:r>
          </a:p>
          <a:p>
            <a:r>
              <a:rPr lang="ru-RU" sz="2400" dirty="0"/>
              <a:t>%Y: год в виде 4-х чисел</a:t>
            </a:r>
          </a:p>
          <a:p>
            <a:r>
              <a:rPr lang="ru-RU" sz="2400" dirty="0"/>
              <a:t>%H: час в 24-х часовом формате, например, 13</a:t>
            </a:r>
          </a:p>
          <a:p>
            <a:r>
              <a:rPr lang="ru-RU" sz="2400" dirty="0"/>
              <a:t>%I: час в 12-ти часовом формате, например, 01</a:t>
            </a:r>
          </a:p>
          <a:p>
            <a:r>
              <a:rPr lang="ru-RU" sz="2400" dirty="0"/>
              <a:t>%M: минута</a:t>
            </a:r>
          </a:p>
          <a:p>
            <a:r>
              <a:rPr lang="ru-RU" sz="2400" dirty="0"/>
              <a:t>%S: секунда</a:t>
            </a:r>
          </a:p>
          <a:p>
            <a:r>
              <a:rPr lang="ru-RU" sz="2400" dirty="0"/>
              <a:t>%f: микросекунда</a:t>
            </a:r>
          </a:p>
          <a:p>
            <a:r>
              <a:rPr lang="ru-RU" sz="2400" dirty="0"/>
              <a:t>%p: указатель </a:t>
            </a:r>
            <a:r>
              <a:rPr lang="ru-RU" sz="2400" dirty="0" smtClean="0"/>
              <a:t>AM/PM</a:t>
            </a:r>
            <a:endParaRPr lang="ru-RU" sz="24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4248150" y="5180948"/>
            <a:ext cx="794385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%c: дата и время, отформатированные под текущую </a:t>
            </a:r>
            <a:r>
              <a:rPr lang="ru-RU" sz="2400" dirty="0" err="1"/>
              <a:t>локаль</a:t>
            </a:r>
            <a:endParaRPr lang="ru-RU" sz="2400" dirty="0"/>
          </a:p>
          <a:p>
            <a:r>
              <a:rPr lang="ru-RU" sz="2400" dirty="0"/>
              <a:t>%x: дата, отформатированная под текущую </a:t>
            </a:r>
            <a:r>
              <a:rPr lang="ru-RU" sz="2400" dirty="0" err="1"/>
              <a:t>локаль</a:t>
            </a:r>
            <a:endParaRPr lang="ru-RU" sz="2400" dirty="0"/>
          </a:p>
          <a:p>
            <a:r>
              <a:rPr lang="ru-RU" sz="2400" dirty="0"/>
              <a:t>%X: время, форматированное под текущую </a:t>
            </a:r>
            <a:r>
              <a:rPr lang="ru-RU" sz="2400" dirty="0" err="1"/>
              <a:t>локаль</a:t>
            </a:r>
            <a:endParaRPr lang="ru-RU" sz="240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7561459" y="1282489"/>
            <a:ext cx="4650760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err="1"/>
              <a:t>strftime</a:t>
            </a:r>
            <a:r>
              <a:rPr lang="en-US" sz="2800" b="1" dirty="0"/>
              <a:t>(format</a:t>
            </a:r>
            <a:r>
              <a:rPr lang="en-US" sz="2800" b="1" dirty="0" smtClean="0"/>
              <a:t>)</a:t>
            </a:r>
            <a:endParaRPr lang="ru-RU" sz="2800" b="1" dirty="0" smtClean="0"/>
          </a:p>
          <a:p>
            <a:r>
              <a:rPr lang="ru-RU" sz="2800" b="1" dirty="0" err="1"/>
              <a:t>strptime</a:t>
            </a:r>
            <a:r>
              <a:rPr lang="ru-RU" sz="2800" b="1" dirty="0"/>
              <a:t>(</a:t>
            </a:r>
            <a:r>
              <a:rPr lang="ru-RU" sz="2800" b="1" dirty="0" err="1"/>
              <a:t>date_string</a:t>
            </a:r>
            <a:r>
              <a:rPr lang="ru-RU" sz="2800" b="1" dirty="0"/>
              <a:t>, </a:t>
            </a:r>
            <a:r>
              <a:rPr lang="ru-RU" sz="2800" b="1" dirty="0" err="1"/>
              <a:t>format</a:t>
            </a:r>
            <a:r>
              <a:rPr lang="ru-RU" sz="2800" b="1" dirty="0"/>
              <a:t>) 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xmlns="" val="3523230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12192000" cy="111829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en-US" dirty="0" smtClean="0"/>
              <a:t>- </a:t>
            </a:r>
            <a:r>
              <a:rPr lang="en-US" dirty="0"/>
              <a:t> </a:t>
            </a:r>
            <a:r>
              <a:rPr lang="ru-RU" dirty="0" smtClean="0"/>
              <a:t>модуль </a:t>
            </a:r>
            <a:r>
              <a:rPr lang="en-US" dirty="0" err="1" smtClean="0"/>
              <a:t>datetime</a:t>
            </a:r>
            <a:r>
              <a:rPr lang="ru-RU" dirty="0" smtClean="0"/>
              <a:t> – класс </a:t>
            </a:r>
            <a:r>
              <a:rPr lang="en-US" dirty="0" err="1"/>
              <a:t>datetime</a:t>
            </a:r>
            <a:endParaRPr lang="ru-RU" sz="2800" dirty="0"/>
          </a:p>
        </p:txBody>
      </p:sp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4300" y="1118298"/>
            <a:ext cx="8612361" cy="3180990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7492539" y="3797959"/>
            <a:ext cx="44958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%d: день месяца в виде числа</a:t>
            </a:r>
          </a:p>
          <a:p>
            <a:r>
              <a:rPr lang="ru-RU" sz="2400" dirty="0"/>
              <a:t>%m: порядковый номер месяца</a:t>
            </a:r>
          </a:p>
          <a:p>
            <a:r>
              <a:rPr lang="ru-RU" sz="2400" dirty="0"/>
              <a:t>%y: год в виде 2-х чисел</a:t>
            </a:r>
          </a:p>
          <a:p>
            <a:r>
              <a:rPr lang="ru-RU" sz="2400" dirty="0"/>
              <a:t>%Y: год в виде 4-х чисел</a:t>
            </a:r>
          </a:p>
          <a:p>
            <a:r>
              <a:rPr lang="ru-RU" sz="2400" dirty="0"/>
              <a:t>%H: час в 24-х часовом формате</a:t>
            </a:r>
          </a:p>
          <a:p>
            <a:r>
              <a:rPr lang="ru-RU" sz="2400" dirty="0"/>
              <a:t>%M: минута</a:t>
            </a:r>
          </a:p>
          <a:p>
            <a:r>
              <a:rPr lang="ru-RU" sz="2400" dirty="0"/>
              <a:t>%S: секунда</a:t>
            </a:r>
          </a:p>
        </p:txBody>
      </p:sp>
    </p:spTree>
    <p:extLst>
      <p:ext uri="{BB962C8B-B14F-4D97-AF65-F5344CB8AC3E}">
        <p14:creationId xmlns:p14="http://schemas.microsoft.com/office/powerpoint/2010/main" xmlns="" val="3224275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12192000" cy="111829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en-US" dirty="0" smtClean="0"/>
              <a:t>- </a:t>
            </a:r>
            <a:r>
              <a:rPr lang="en-US" dirty="0"/>
              <a:t> </a:t>
            </a:r>
            <a:r>
              <a:rPr lang="ru-RU" dirty="0" smtClean="0"/>
              <a:t>модуль </a:t>
            </a:r>
            <a:r>
              <a:rPr lang="en-US" dirty="0" err="1" smtClean="0"/>
              <a:t>datetime</a:t>
            </a:r>
            <a:r>
              <a:rPr lang="ru-RU" dirty="0" smtClean="0"/>
              <a:t> – класс </a:t>
            </a:r>
            <a:r>
              <a:rPr lang="en-US" dirty="0" err="1"/>
              <a:t>datetime</a:t>
            </a:r>
            <a:endParaRPr lang="ru-RU" sz="2800" dirty="0"/>
          </a:p>
        </p:txBody>
      </p:sp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48223" y="1287055"/>
            <a:ext cx="5867511" cy="2893289"/>
          </a:xfrm>
          <a:prstGeom prst="rect">
            <a:avLst/>
          </a:prstGeom>
        </p:spPr>
      </p:pic>
      <p:pic>
        <p:nvPicPr>
          <p:cNvPr id="6" name="Рисунок 5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788548" y="2019993"/>
            <a:ext cx="4806784" cy="2160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919317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12192000" cy="111829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**</a:t>
            </a:r>
            <a:r>
              <a:rPr lang="ru-RU" dirty="0" smtClean="0"/>
              <a:t>Стандартная </a:t>
            </a:r>
            <a:r>
              <a:rPr lang="ru-RU" dirty="0"/>
              <a:t>библиотека </a:t>
            </a:r>
            <a:r>
              <a:rPr lang="en-US" dirty="0" smtClean="0"/>
              <a:t>- </a:t>
            </a:r>
            <a:r>
              <a:rPr lang="en-US" dirty="0"/>
              <a:t> </a:t>
            </a:r>
            <a:r>
              <a:rPr lang="ru-RU" dirty="0" smtClean="0"/>
              <a:t>модуль </a:t>
            </a:r>
            <a:r>
              <a:rPr lang="en-US" dirty="0" err="1" smtClean="0"/>
              <a:t>datetime</a:t>
            </a:r>
            <a:r>
              <a:rPr lang="ru-RU" dirty="0" smtClean="0"/>
              <a:t> – класс </a:t>
            </a:r>
            <a:r>
              <a:rPr lang="en-US" dirty="0" err="1"/>
              <a:t>tzinfo</a:t>
            </a:r>
            <a:endParaRPr lang="ru-RU" sz="2800" dirty="0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746759" y="1386419"/>
            <a:ext cx="10698482" cy="4816679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76176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абстрактный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класс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,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предназначенный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для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хранения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информации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временной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зоне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 и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летнем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/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зимнем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времени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 в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пределах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одного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класса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.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В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модуле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 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E74C3C"/>
                </a:solidFill>
                <a:effectLst/>
                <a:latin typeface="+mn-lt"/>
              </a:rPr>
              <a:t>datetime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 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уже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существует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класс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 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E74C3C"/>
                </a:solidFill>
                <a:effectLst/>
                <a:latin typeface="+mn-lt"/>
              </a:rPr>
              <a:t>timezone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,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который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можно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использовать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для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представления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временных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зон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 с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фиксированным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отклонением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,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например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: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UTC;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1B7A41"/>
                </a:solidFill>
                <a:effectLst/>
                <a:latin typeface="+mn-lt"/>
                <a:hlinkClick r:id="rId3"/>
              </a:rPr>
              <a:t>MSK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 (</a:t>
            </a:r>
            <a:r>
              <a:rPr kumimoji="0" lang="en-US" altLang="en-US" sz="2800" b="0" i="1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англ</a:t>
            </a:r>
            <a:r>
              <a:rPr kumimoji="0" lang="en-US" altLang="en-US" sz="2800" b="0" i="1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.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 Moscow Time,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Московское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время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1B7A41"/>
                </a:solidFill>
                <a:effectLst/>
                <a:latin typeface="+mn-lt"/>
                <a:hlinkClick r:id="rId4"/>
              </a:rPr>
              <a:t>EST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 (</a:t>
            </a:r>
            <a:r>
              <a:rPr kumimoji="0" lang="en-US" altLang="en-US" sz="2800" b="0" i="1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англ</a:t>
            </a:r>
            <a:r>
              <a:rPr kumimoji="0" lang="en-US" altLang="en-US" sz="2800" b="0" i="1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.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 Eastern Standard Time,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Североамериканское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восточное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время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и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др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.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297280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12192000" cy="111829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en-US" dirty="0" smtClean="0"/>
              <a:t>- </a:t>
            </a:r>
            <a:r>
              <a:rPr lang="en-US" dirty="0"/>
              <a:t> </a:t>
            </a:r>
            <a:r>
              <a:rPr lang="ru-RU" dirty="0" smtClean="0"/>
              <a:t>модуль </a:t>
            </a:r>
            <a:r>
              <a:rPr lang="en-US" dirty="0" err="1" smtClean="0"/>
              <a:t>datetime</a:t>
            </a:r>
            <a:r>
              <a:rPr lang="ru-RU" dirty="0" smtClean="0"/>
              <a:t> – класс </a:t>
            </a:r>
            <a:r>
              <a:rPr lang="en-US" dirty="0" err="1"/>
              <a:t>tzinfo</a:t>
            </a:r>
            <a:endParaRPr lang="ru-RU" sz="2800" dirty="0"/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425898208"/>
              </p:ext>
            </p:extLst>
          </p:nvPr>
        </p:nvGraphicFramePr>
        <p:xfrm>
          <a:off x="99749" y="1018926"/>
          <a:ext cx="12011891" cy="582218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98341">
                  <a:extLst>
                    <a:ext uri="{9D8B030D-6E8A-4147-A177-3AD203B41FA5}">
                      <a16:colId xmlns:a16="http://schemas.microsoft.com/office/drawing/2014/main" xmlns="" val="1367188931"/>
                    </a:ext>
                  </a:extLst>
                </a:gridCol>
                <a:gridCol w="10013550">
                  <a:extLst>
                    <a:ext uri="{9D8B030D-6E8A-4147-A177-3AD203B41FA5}">
                      <a16:colId xmlns:a16="http://schemas.microsoft.com/office/drawing/2014/main" xmlns="" val="29902974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dst</a:t>
                      </a:r>
                      <a:r>
                        <a:rPr lang="ru-RU" sz="28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8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dt</a:t>
                      </a:r>
                      <a:r>
                        <a:rPr lang="ru-RU" sz="28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28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Возвращает отклонение для летнего/зимнего времени (англ. </a:t>
                      </a:r>
                      <a:r>
                        <a:rPr lang="en-US" sz="2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Daylight Saving Time</a:t>
                      </a:r>
                      <a:r>
                        <a:rPr lang="ru-RU" sz="2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 от </a:t>
                      </a:r>
                      <a:r>
                        <a:rPr lang="en-US" sz="2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UTC</a:t>
                      </a:r>
                      <a:r>
                        <a:rPr lang="ru-RU" sz="2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(в минутах); если отклонение не известно, должен возвращать </a:t>
                      </a:r>
                      <a:r>
                        <a:rPr lang="en-US" sz="2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None</a:t>
                      </a:r>
                      <a:r>
                        <a:rPr lang="ru-RU" sz="2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2682368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tzname</a:t>
                      </a:r>
                      <a:r>
                        <a:rPr lang="ru-RU" sz="28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8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dt</a:t>
                      </a:r>
                      <a:r>
                        <a:rPr lang="ru-RU" sz="28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28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Возвращает наименование (строку) временной зоны для </a:t>
                      </a:r>
                      <a:r>
                        <a:rPr lang="en-US" sz="24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datetime</a:t>
                      </a:r>
                      <a:r>
                        <a:rPr lang="ru-RU" sz="24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-объекта </a:t>
                      </a:r>
                      <a:r>
                        <a:rPr lang="en-US" sz="24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dt</a:t>
                      </a:r>
                      <a:r>
                        <a:rPr lang="ru-RU" sz="24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(например, '</a:t>
                      </a:r>
                      <a:r>
                        <a:rPr lang="en-US" sz="24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GMT</a:t>
                      </a:r>
                      <a:r>
                        <a:rPr lang="ru-RU" sz="24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', '</a:t>
                      </a:r>
                      <a:r>
                        <a:rPr lang="en-US" sz="24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UTC</a:t>
                      </a:r>
                      <a:r>
                        <a:rPr lang="ru-RU" sz="24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', '</a:t>
                      </a:r>
                      <a:r>
                        <a:rPr lang="en-US" sz="24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EDT</a:t>
                      </a:r>
                      <a:r>
                        <a:rPr lang="ru-RU" sz="24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', '</a:t>
                      </a:r>
                      <a:r>
                        <a:rPr lang="en-US" sz="24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MSK</a:t>
                      </a:r>
                      <a:r>
                        <a:rPr lang="ru-RU" sz="24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'); если наименование не известно, должен возвращать </a:t>
                      </a:r>
                      <a:r>
                        <a:rPr lang="en-US" sz="24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None</a:t>
                      </a:r>
                      <a:r>
                        <a:rPr lang="ru-RU" sz="24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2079304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fromutc(dt)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Возвращает дату/время </a:t>
                      </a:r>
                      <a:r>
                        <a:rPr lang="en-US" sz="2400" dirty="0" err="1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dt</a:t>
                      </a:r>
                      <a:r>
                        <a:rPr lang="ru-RU" sz="2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относительно </a:t>
                      </a:r>
                      <a:r>
                        <a:rPr lang="en-US" sz="2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UTC</a:t>
                      </a:r>
                      <a:r>
                        <a:rPr lang="ru-RU" sz="2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2816786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 err="1" smtClean="0">
                          <a:latin typeface="+mn-lt"/>
                        </a:rPr>
                        <a:t>utcoffset</a:t>
                      </a:r>
                      <a:r>
                        <a:rPr lang="en-US" sz="2800" dirty="0" smtClean="0">
                          <a:latin typeface="+mn-lt"/>
                        </a:rPr>
                        <a:t>(</a:t>
                      </a:r>
                      <a:r>
                        <a:rPr lang="en-US" sz="2800" dirty="0" err="1" smtClean="0">
                          <a:latin typeface="+mn-lt"/>
                        </a:rPr>
                        <a:t>dt</a:t>
                      </a:r>
                      <a:r>
                        <a:rPr lang="en-US" sz="2800" dirty="0" smtClean="0">
                          <a:latin typeface="+mn-lt"/>
                        </a:rPr>
                        <a:t>)</a:t>
                      </a:r>
                      <a:endParaRPr lang="en-US" sz="2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>
                          <a:latin typeface="+mn-lt"/>
                        </a:rPr>
                        <a:t>Возвращает отклонение местного времени от UTC (в минутах), с учетом как часового пояса, так и летнего/зимнего времени. Если отклонение не известно, должен возвращать </a:t>
                      </a:r>
                      <a:r>
                        <a:rPr lang="ru-RU" sz="2400" dirty="0" err="1" smtClean="0">
                          <a:latin typeface="+mn-lt"/>
                        </a:rPr>
                        <a:t>None</a:t>
                      </a:r>
                      <a:r>
                        <a:rPr lang="ru-RU" sz="2400" dirty="0" smtClean="0">
                          <a:latin typeface="+mn-lt"/>
                        </a:rPr>
                        <a:t>.</a:t>
                      </a:r>
                    </a:p>
                    <a:p>
                      <a:r>
                        <a:rPr lang="ru-RU" sz="2400" dirty="0" smtClean="0">
                          <a:latin typeface="+mn-lt"/>
                        </a:rPr>
                        <a:t>Большинство реализаций содержит два варианта:</a:t>
                      </a:r>
                    </a:p>
                    <a:p>
                      <a:r>
                        <a:rPr lang="ru-RU" sz="2400" dirty="0" err="1" smtClean="0">
                          <a:latin typeface="+mn-lt"/>
                        </a:rPr>
                        <a:t>return</a:t>
                      </a:r>
                      <a:r>
                        <a:rPr lang="ru-RU" sz="2400" dirty="0" smtClean="0">
                          <a:latin typeface="+mn-lt"/>
                        </a:rPr>
                        <a:t> CONSTANT  # фиксированное отклонение</a:t>
                      </a:r>
                    </a:p>
                    <a:p>
                      <a:r>
                        <a:rPr lang="ru-RU" sz="2400" dirty="0" smtClean="0">
                          <a:latin typeface="+mn-lt"/>
                        </a:rPr>
                        <a:t># или</a:t>
                      </a:r>
                    </a:p>
                    <a:p>
                      <a:r>
                        <a:rPr lang="ru-RU" sz="2400" dirty="0" err="1" smtClean="0">
                          <a:latin typeface="+mn-lt"/>
                        </a:rPr>
                        <a:t>return</a:t>
                      </a:r>
                      <a:r>
                        <a:rPr lang="ru-RU" sz="2400" dirty="0" smtClean="0">
                          <a:latin typeface="+mn-lt"/>
                        </a:rPr>
                        <a:t> CONSTANT + </a:t>
                      </a:r>
                      <a:r>
                        <a:rPr lang="ru-RU" sz="2400" dirty="0" err="1" smtClean="0">
                          <a:latin typeface="+mn-lt"/>
                        </a:rPr>
                        <a:t>self.dst</a:t>
                      </a:r>
                      <a:r>
                        <a:rPr lang="ru-RU" sz="2400" dirty="0" smtClean="0">
                          <a:latin typeface="+mn-lt"/>
                        </a:rPr>
                        <a:t>(</a:t>
                      </a:r>
                      <a:r>
                        <a:rPr lang="ru-RU" sz="2400" dirty="0" err="1" smtClean="0">
                          <a:latin typeface="+mn-lt"/>
                        </a:rPr>
                        <a:t>dt</a:t>
                      </a:r>
                      <a:r>
                        <a:rPr lang="ru-RU" sz="2400" dirty="0" smtClean="0">
                          <a:latin typeface="+mn-lt"/>
                        </a:rPr>
                        <a:t>)  # фиксированное отклонение + летнее/зимнее время.</a:t>
                      </a:r>
                      <a:endParaRPr lang="en-US" sz="24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2055548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4084252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12192000" cy="111829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en-US" dirty="0" smtClean="0"/>
              <a:t>- </a:t>
            </a:r>
            <a:r>
              <a:rPr lang="en-US" dirty="0"/>
              <a:t> </a:t>
            </a:r>
            <a:r>
              <a:rPr lang="ru-RU" dirty="0" smtClean="0"/>
              <a:t>модуль </a:t>
            </a:r>
            <a:r>
              <a:rPr lang="en-US" dirty="0" err="1" smtClean="0"/>
              <a:t>datetime</a:t>
            </a:r>
            <a:r>
              <a:rPr lang="ru-RU" dirty="0" smtClean="0"/>
              <a:t> – класс </a:t>
            </a:r>
            <a:r>
              <a:rPr lang="en-US" dirty="0" err="1"/>
              <a:t>timezone</a:t>
            </a:r>
            <a:endParaRPr lang="ru-RU" sz="2800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254924" y="1001398"/>
            <a:ext cx="10083339" cy="9541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класс-потомок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 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E74C3C"/>
                </a:solidFill>
                <a:effectLst/>
                <a:latin typeface="+mn-lt"/>
              </a:rPr>
              <a:t>tzinfo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,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реализующий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фиксированное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отклонение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времени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от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 UTC (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не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учитывает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летнее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/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зимнее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время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).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972590" y="1955505"/>
            <a:ext cx="617358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datetime.timezone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rgbClr val="1B7A41"/>
                </a:solidFill>
                <a:effectLst/>
                <a:latin typeface="+mn-lt"/>
              </a:rPr>
              <a:t>(</a:t>
            </a:r>
            <a:r>
              <a:rPr kumimoji="0" lang="en-US" altLang="en-US" sz="2800" b="1" i="1" u="none" strike="noStrike" cap="none" normalizeH="0" baseline="0" dirty="0" smtClean="0">
                <a:ln>
                  <a:noFill/>
                </a:ln>
                <a:solidFill>
                  <a:srgbClr val="1B7A41"/>
                </a:solidFill>
                <a:effectLst/>
                <a:latin typeface="+mn-lt"/>
              </a:rPr>
              <a:t>offset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[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rgbClr val="1B7A41"/>
                </a:solidFill>
                <a:effectLst/>
                <a:latin typeface="+mn-lt"/>
              </a:rPr>
              <a:t>, </a:t>
            </a:r>
            <a:r>
              <a:rPr kumimoji="0" lang="en-US" altLang="en-US" sz="2800" b="1" i="1" u="none" strike="noStrike" cap="none" normalizeH="0" baseline="0" dirty="0" smtClean="0">
                <a:ln>
                  <a:noFill/>
                </a:ln>
                <a:solidFill>
                  <a:srgbClr val="1B7A41"/>
                </a:solidFill>
                <a:effectLst/>
                <a:latin typeface="+mn-lt"/>
              </a:rPr>
              <a:t>name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]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rgbClr val="1B7A41"/>
                </a:solidFill>
                <a:effectLst/>
                <a:latin typeface="+mn-lt"/>
              </a:rPr>
              <a:t>)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254924" y="2593400"/>
            <a:ext cx="11865032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offset (</a:t>
            </a:r>
            <a:r>
              <a:rPr lang="en-US" sz="2800" b="1" dirty="0" err="1"/>
              <a:t>timedelta</a:t>
            </a:r>
            <a:r>
              <a:rPr lang="en-US" sz="2800" b="1" dirty="0"/>
              <a:t>) </a:t>
            </a:r>
            <a:r>
              <a:rPr lang="en-US" sz="2800" dirty="0"/>
              <a:t>– </a:t>
            </a:r>
            <a:r>
              <a:rPr lang="en-US" sz="2800" dirty="0" err="1"/>
              <a:t>объект</a:t>
            </a:r>
            <a:r>
              <a:rPr lang="en-US" sz="2800" dirty="0"/>
              <a:t>, </a:t>
            </a:r>
            <a:r>
              <a:rPr lang="en-US" sz="2800" dirty="0" err="1"/>
              <a:t>хранящий</a:t>
            </a:r>
            <a:r>
              <a:rPr lang="en-US" sz="2800" dirty="0"/>
              <a:t> </a:t>
            </a:r>
            <a:r>
              <a:rPr lang="en-US" sz="2800" dirty="0" err="1"/>
              <a:t>разницу</a:t>
            </a:r>
            <a:r>
              <a:rPr lang="en-US" sz="2800" dirty="0"/>
              <a:t> </a:t>
            </a:r>
            <a:r>
              <a:rPr lang="en-US" sz="2800" dirty="0" err="1"/>
              <a:t>между</a:t>
            </a:r>
            <a:r>
              <a:rPr lang="en-US" sz="2800" dirty="0"/>
              <a:t> </a:t>
            </a:r>
            <a:r>
              <a:rPr lang="en-US" sz="2800" dirty="0" err="1"/>
              <a:t>местным</a:t>
            </a:r>
            <a:r>
              <a:rPr lang="en-US" sz="2800" dirty="0"/>
              <a:t> </a:t>
            </a:r>
            <a:r>
              <a:rPr lang="en-US" sz="2800" dirty="0" err="1"/>
              <a:t>временем</a:t>
            </a:r>
            <a:r>
              <a:rPr lang="en-US" sz="2800" dirty="0"/>
              <a:t> и UTC; </a:t>
            </a:r>
            <a:r>
              <a:rPr lang="en-US" sz="2800" dirty="0" err="1"/>
              <a:t>диапазон</a:t>
            </a:r>
            <a:r>
              <a:rPr lang="en-US" sz="2800" dirty="0"/>
              <a:t> </a:t>
            </a:r>
            <a:r>
              <a:rPr lang="en-US" sz="2800" dirty="0" err="1"/>
              <a:t>значений</a:t>
            </a:r>
            <a:r>
              <a:rPr lang="en-US" sz="2800" dirty="0"/>
              <a:t>: [-</a:t>
            </a:r>
            <a:r>
              <a:rPr lang="en-US" sz="2800" dirty="0" err="1"/>
              <a:t>timedelta</a:t>
            </a:r>
            <a:r>
              <a:rPr lang="en-US" sz="2800" dirty="0"/>
              <a:t>(hours=24); </a:t>
            </a:r>
            <a:r>
              <a:rPr lang="en-US" sz="2800" dirty="0" err="1"/>
              <a:t>timedelta</a:t>
            </a:r>
            <a:r>
              <a:rPr lang="en-US" sz="2800" dirty="0"/>
              <a:t>(hours=24)];</a:t>
            </a:r>
          </a:p>
          <a:p>
            <a:endParaRPr lang="en-US" sz="2800" dirty="0"/>
          </a:p>
          <a:p>
            <a:r>
              <a:rPr lang="en-US" sz="2800" b="1" dirty="0"/>
              <a:t>name (</a:t>
            </a:r>
            <a:r>
              <a:rPr lang="en-US" sz="2800" b="1" dirty="0" err="1"/>
              <a:t>str</a:t>
            </a:r>
            <a:r>
              <a:rPr lang="en-US" sz="2800" b="1" dirty="0"/>
              <a:t>) </a:t>
            </a:r>
            <a:r>
              <a:rPr lang="en-US" sz="2800" dirty="0"/>
              <a:t>– </a:t>
            </a:r>
            <a:r>
              <a:rPr lang="en-US" sz="2800" dirty="0" err="1"/>
              <a:t>наименование</a:t>
            </a:r>
            <a:r>
              <a:rPr lang="en-US" sz="2800" dirty="0"/>
              <a:t> </a:t>
            </a:r>
            <a:r>
              <a:rPr lang="en-US" sz="2800" dirty="0" err="1"/>
              <a:t>временной</a:t>
            </a:r>
            <a:r>
              <a:rPr lang="en-US" sz="2800" dirty="0"/>
              <a:t> </a:t>
            </a:r>
            <a:r>
              <a:rPr lang="en-US" sz="2800" dirty="0" err="1"/>
              <a:t>зоны</a:t>
            </a:r>
            <a:r>
              <a:rPr lang="en-US" sz="2800" dirty="0"/>
              <a:t> (</a:t>
            </a:r>
            <a:r>
              <a:rPr lang="en-US" sz="2800" dirty="0" err="1"/>
              <a:t>необязательный</a:t>
            </a:r>
            <a:r>
              <a:rPr lang="en-US" sz="2800" dirty="0"/>
              <a:t> </a:t>
            </a:r>
            <a:r>
              <a:rPr lang="en-US" sz="2800" dirty="0" err="1"/>
              <a:t>аргумент</a:t>
            </a:r>
            <a:r>
              <a:rPr lang="en-US" sz="2800" dirty="0"/>
              <a:t>); </a:t>
            </a:r>
            <a:r>
              <a:rPr lang="en-US" sz="2800" dirty="0" err="1"/>
              <a:t>по</a:t>
            </a:r>
            <a:r>
              <a:rPr lang="en-US" sz="2800" dirty="0"/>
              <a:t> </a:t>
            </a:r>
            <a:r>
              <a:rPr lang="en-US" sz="2800" dirty="0" err="1"/>
              <a:t>умолчанию</a:t>
            </a:r>
            <a:r>
              <a:rPr lang="en-US" sz="2800" dirty="0"/>
              <a:t> - ‘</a:t>
            </a:r>
            <a:r>
              <a:rPr lang="en-US" sz="2800" dirty="0" err="1"/>
              <a:t>UTCsHH:MM</a:t>
            </a:r>
            <a:r>
              <a:rPr lang="en-US" sz="2800" dirty="0"/>
              <a:t>’.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254924" y="4954844"/>
            <a:ext cx="1161565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err="1"/>
              <a:t>Поле</a:t>
            </a:r>
            <a:r>
              <a:rPr lang="en-US" sz="2800" dirty="0"/>
              <a:t> </a:t>
            </a:r>
            <a:r>
              <a:rPr lang="en-US" sz="2800" b="1" dirty="0" err="1"/>
              <a:t>utc</a:t>
            </a:r>
            <a:r>
              <a:rPr lang="en-US" sz="2800" dirty="0"/>
              <a:t> - </a:t>
            </a:r>
            <a:r>
              <a:rPr lang="en-US" sz="2800" dirty="0" err="1"/>
              <a:t>Возвращает</a:t>
            </a:r>
            <a:r>
              <a:rPr lang="en-US" sz="2800" dirty="0"/>
              <a:t> </a:t>
            </a:r>
            <a:r>
              <a:rPr lang="en-US" sz="2800" dirty="0" err="1"/>
              <a:t>отклонение</a:t>
            </a:r>
            <a:r>
              <a:rPr lang="en-US" sz="2800" dirty="0"/>
              <a:t> </a:t>
            </a:r>
            <a:r>
              <a:rPr lang="en-US" sz="2800" dirty="0" err="1"/>
              <a:t>местного</a:t>
            </a:r>
            <a:r>
              <a:rPr lang="en-US" sz="2800" dirty="0"/>
              <a:t> </a:t>
            </a:r>
            <a:r>
              <a:rPr lang="en-US" sz="2800" dirty="0" err="1"/>
              <a:t>времени</a:t>
            </a:r>
            <a:r>
              <a:rPr lang="en-US" sz="2800" dirty="0"/>
              <a:t> </a:t>
            </a:r>
            <a:r>
              <a:rPr lang="en-US" sz="2800" dirty="0" err="1"/>
              <a:t>от</a:t>
            </a:r>
            <a:r>
              <a:rPr lang="en-US" sz="2800" dirty="0"/>
              <a:t> UTC (в </a:t>
            </a:r>
            <a:r>
              <a:rPr lang="en-US" sz="2800" dirty="0" err="1"/>
              <a:t>минутах</a:t>
            </a:r>
            <a:r>
              <a:rPr lang="en-US" sz="2800" dirty="0"/>
              <a:t>), с </a:t>
            </a:r>
            <a:r>
              <a:rPr lang="en-US" sz="2800" dirty="0" err="1"/>
              <a:t>учетом</a:t>
            </a:r>
            <a:r>
              <a:rPr lang="en-US" sz="2800" dirty="0"/>
              <a:t> </a:t>
            </a:r>
            <a:r>
              <a:rPr lang="en-US" sz="2800" dirty="0" err="1"/>
              <a:t>как</a:t>
            </a:r>
            <a:r>
              <a:rPr lang="en-US" sz="2800" dirty="0"/>
              <a:t> </a:t>
            </a:r>
            <a:r>
              <a:rPr lang="en-US" sz="2800" dirty="0" err="1"/>
              <a:t>часового</a:t>
            </a:r>
            <a:r>
              <a:rPr lang="en-US" sz="2800" dirty="0"/>
              <a:t> </a:t>
            </a:r>
            <a:r>
              <a:rPr lang="en-US" sz="2800" dirty="0" err="1"/>
              <a:t>пояса</a:t>
            </a:r>
            <a:r>
              <a:rPr lang="en-US" sz="2800" dirty="0"/>
              <a:t>, </a:t>
            </a:r>
            <a:r>
              <a:rPr lang="en-US" sz="2800" dirty="0" err="1"/>
              <a:t>так</a:t>
            </a:r>
            <a:r>
              <a:rPr lang="en-US" sz="2800" dirty="0"/>
              <a:t> и </a:t>
            </a:r>
            <a:r>
              <a:rPr lang="en-US" sz="2800" dirty="0" err="1"/>
              <a:t>летнего</a:t>
            </a:r>
            <a:r>
              <a:rPr lang="en-US" sz="2800" dirty="0"/>
              <a:t>/</a:t>
            </a:r>
            <a:r>
              <a:rPr lang="en-US" sz="2800" dirty="0" err="1"/>
              <a:t>зимнего</a:t>
            </a:r>
            <a:r>
              <a:rPr lang="en-US" sz="2800" dirty="0"/>
              <a:t> </a:t>
            </a:r>
            <a:r>
              <a:rPr lang="en-US" sz="2800" dirty="0" err="1"/>
              <a:t>времени</a:t>
            </a:r>
            <a:r>
              <a:rPr lang="en-US" sz="2800" dirty="0"/>
              <a:t>. </a:t>
            </a:r>
            <a:r>
              <a:rPr lang="en-US" sz="2800" dirty="0" err="1"/>
              <a:t>Если</a:t>
            </a:r>
            <a:r>
              <a:rPr lang="en-US" sz="2800" dirty="0"/>
              <a:t> </a:t>
            </a:r>
            <a:r>
              <a:rPr lang="en-US" sz="2800" dirty="0" err="1"/>
              <a:t>отклонение</a:t>
            </a:r>
            <a:r>
              <a:rPr lang="en-US" sz="2800" dirty="0"/>
              <a:t> </a:t>
            </a:r>
            <a:r>
              <a:rPr lang="en-US" sz="2800" dirty="0" err="1"/>
              <a:t>не</a:t>
            </a:r>
            <a:r>
              <a:rPr lang="en-US" sz="2800" dirty="0"/>
              <a:t> </a:t>
            </a:r>
            <a:r>
              <a:rPr lang="en-US" sz="2800" dirty="0" err="1"/>
              <a:t>известно</a:t>
            </a:r>
            <a:r>
              <a:rPr lang="en-US" sz="2800" dirty="0"/>
              <a:t>, </a:t>
            </a:r>
            <a:r>
              <a:rPr lang="en-US" sz="2800" dirty="0" err="1"/>
              <a:t>должен</a:t>
            </a:r>
            <a:r>
              <a:rPr lang="en-US" sz="2800" dirty="0"/>
              <a:t> </a:t>
            </a:r>
            <a:r>
              <a:rPr lang="en-US" sz="2800" dirty="0" err="1"/>
              <a:t>возвращать</a:t>
            </a:r>
            <a:r>
              <a:rPr lang="en-US" sz="2800" dirty="0"/>
              <a:t> None.</a:t>
            </a:r>
          </a:p>
        </p:txBody>
      </p:sp>
    </p:spTree>
    <p:extLst>
      <p:ext uri="{BB962C8B-B14F-4D97-AF65-F5344CB8AC3E}">
        <p14:creationId xmlns:p14="http://schemas.microsoft.com/office/powerpoint/2010/main" xmlns="" val="3327493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12192000" cy="111829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en-US" dirty="0" smtClean="0"/>
              <a:t>- </a:t>
            </a:r>
            <a:r>
              <a:rPr lang="en-US" dirty="0"/>
              <a:t> </a:t>
            </a:r>
            <a:r>
              <a:rPr lang="ru-RU" dirty="0" smtClean="0"/>
              <a:t>модуль </a:t>
            </a:r>
            <a:r>
              <a:rPr lang="en-US" dirty="0" err="1" smtClean="0"/>
              <a:t>datetime</a:t>
            </a:r>
            <a:r>
              <a:rPr lang="ru-RU" dirty="0" smtClean="0"/>
              <a:t> – класс </a:t>
            </a:r>
            <a:r>
              <a:rPr lang="en-US" dirty="0" err="1" smtClean="0"/>
              <a:t>timezone</a:t>
            </a:r>
            <a:r>
              <a:rPr lang="ru-RU" dirty="0" smtClean="0"/>
              <a:t> - методы</a:t>
            </a:r>
            <a:endParaRPr lang="ru-RU" sz="2800" dirty="0"/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591975511"/>
              </p:ext>
            </p:extLst>
          </p:nvPr>
        </p:nvGraphicFramePr>
        <p:xfrm>
          <a:off x="485832" y="1788313"/>
          <a:ext cx="10254212" cy="319595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585694">
                  <a:extLst>
                    <a:ext uri="{9D8B030D-6E8A-4147-A177-3AD203B41FA5}">
                      <a16:colId xmlns:a16="http://schemas.microsoft.com/office/drawing/2014/main" xmlns="" val="3797984411"/>
                    </a:ext>
                  </a:extLst>
                </a:gridCol>
                <a:gridCol w="7668518">
                  <a:extLst>
                    <a:ext uri="{9D8B030D-6E8A-4147-A177-3AD203B41FA5}">
                      <a16:colId xmlns:a16="http://schemas.microsoft.com/office/drawing/2014/main" xmlns="" val="40935846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dst(dt)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Возвращает None.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9376781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tzname(dt)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Возвращает наименование временной зоны или строку ‘UTCsHH:MM’, если наименование не было задано.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832897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fromutc(dt)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Возвращает дату/время со сдвигом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offset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; аргумент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dt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должен быть «осведомленным»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datetime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-объектом.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42899699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26949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12192000" cy="111829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en-US" dirty="0" smtClean="0"/>
              <a:t>- </a:t>
            </a:r>
            <a:r>
              <a:rPr lang="en-US" dirty="0"/>
              <a:t> </a:t>
            </a:r>
            <a:r>
              <a:rPr lang="ru-RU" dirty="0" smtClean="0"/>
              <a:t>модуль </a:t>
            </a:r>
            <a:r>
              <a:rPr lang="en-US" dirty="0" smtClean="0"/>
              <a:t>locale</a:t>
            </a:r>
            <a:endParaRPr lang="ru-RU" sz="2800" dirty="0"/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835092013"/>
              </p:ext>
            </p:extLst>
          </p:nvPr>
        </p:nvGraphicFramePr>
        <p:xfrm>
          <a:off x="108066" y="2453331"/>
          <a:ext cx="11962014" cy="410908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700907">
                  <a:extLst>
                    <a:ext uri="{9D8B030D-6E8A-4147-A177-3AD203B41FA5}">
                      <a16:colId xmlns:a16="http://schemas.microsoft.com/office/drawing/2014/main" xmlns="" val="3797984411"/>
                    </a:ext>
                  </a:extLst>
                </a:gridCol>
                <a:gridCol w="8261107">
                  <a:extLst>
                    <a:ext uri="{9D8B030D-6E8A-4147-A177-3AD203B41FA5}">
                      <a16:colId xmlns:a16="http://schemas.microsoft.com/office/drawing/2014/main" xmlns="" val="40935846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800" b="0" dirty="0" err="1" smtClean="0">
                          <a:latin typeface="+mn-lt"/>
                        </a:rPr>
                        <a:t>locale.setlocale</a:t>
                      </a:r>
                      <a:r>
                        <a:rPr lang="ru-RU" sz="2800" b="0" dirty="0" smtClean="0">
                          <a:latin typeface="+mn-lt"/>
                        </a:rPr>
                        <a:t> 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28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category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US" sz="28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locale=None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sz="2800" b="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Устанавливает </a:t>
                      </a:r>
                      <a:r>
                        <a:rPr lang="ru-RU" sz="2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локаль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для категории </a:t>
                      </a:r>
                      <a:r>
                        <a:rPr lang="ru-RU" sz="2800" b="0" dirty="0" err="1" smtClean="0">
                          <a:effectLst/>
                          <a:latin typeface="+mn-lt"/>
                        </a:rPr>
                        <a:t>category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в значение </a:t>
                      </a:r>
                      <a:r>
                        <a:rPr lang="ru-RU" sz="2800" b="0" dirty="0" err="1" smtClean="0">
                          <a:effectLst/>
                          <a:latin typeface="+mn-lt"/>
                        </a:rPr>
                        <a:t>locale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если оно не равно </a:t>
                      </a:r>
                      <a:r>
                        <a:rPr lang="ru-RU" sz="2800" b="0" dirty="0" err="1" smtClean="0">
                          <a:effectLst/>
                          <a:latin typeface="+mn-lt"/>
                        </a:rPr>
                        <a:t>None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В качестве категории может использоваться любое предопределенное значение, например </a:t>
                      </a:r>
                      <a:r>
                        <a:rPr lang="ru-RU" sz="2800" b="0" dirty="0" err="1" smtClean="0">
                          <a:effectLst/>
                          <a:latin typeface="+mn-lt"/>
                        </a:rPr>
                        <a:t>locale.LC_ALL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(все настройки), </a:t>
                      </a:r>
                      <a:r>
                        <a:rPr lang="ru-RU" sz="2800" b="0" dirty="0" err="1" smtClean="0">
                          <a:effectLst/>
                          <a:latin typeface="+mn-lt"/>
                        </a:rPr>
                        <a:t>locale.LC_TIME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(настройки отображения времени) и т.д.</a:t>
                      </a:r>
                      <a:endParaRPr lang="en-US" sz="2800" b="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9376781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800" b="0" dirty="0" err="1" smtClean="0">
                          <a:latin typeface="+mn-lt"/>
                        </a:rPr>
                        <a:t>locale.getlocale</a:t>
                      </a:r>
                      <a:r>
                        <a:rPr lang="ru-RU" sz="2800" b="0" dirty="0" smtClean="0">
                          <a:latin typeface="+mn-lt"/>
                        </a:rPr>
                        <a:t> 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28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category=LC_CTYPE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sz="2800" b="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Возвращает текущую </a:t>
                      </a:r>
                      <a:r>
                        <a:rPr lang="ru-RU" sz="2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локаль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для заданной категории.</a:t>
                      </a:r>
                      <a:endParaRPr lang="en-US" sz="2800" b="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832897384"/>
                  </a:ext>
                </a:extLst>
              </a:tr>
            </a:tbl>
          </a:graphicData>
        </a:graphic>
      </p:graphicFrame>
      <p:sp>
        <p:nvSpPr>
          <p:cNvPr id="2" name="Прямоугольник 1"/>
          <p:cNvSpPr/>
          <p:nvPr/>
        </p:nvSpPr>
        <p:spPr>
          <a:xfrm>
            <a:off x="108066" y="1118298"/>
            <a:ext cx="1183732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предоставляет доступ к набору </a:t>
            </a:r>
            <a:r>
              <a:rPr lang="ru-RU" sz="2800" dirty="0" err="1"/>
              <a:t>локалей</a:t>
            </a:r>
            <a:r>
              <a:rPr lang="ru-RU" sz="2800" dirty="0"/>
              <a:t> и </a:t>
            </a:r>
            <a:r>
              <a:rPr lang="ru-RU" sz="2800" dirty="0" smtClean="0"/>
              <a:t>позволяет </a:t>
            </a:r>
            <a:r>
              <a:rPr lang="ru-RU" sz="2800" dirty="0"/>
              <a:t>взаимодействовать с национальными особенностями системы (языковыми, культурными и т.д.).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xmlns="" val="3136129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12192000" cy="111829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en-US" dirty="0" smtClean="0"/>
              <a:t>- </a:t>
            </a:r>
            <a:r>
              <a:rPr lang="en-US" dirty="0"/>
              <a:t> </a:t>
            </a:r>
            <a:r>
              <a:rPr lang="ru-RU" dirty="0" smtClean="0"/>
              <a:t>модуль </a:t>
            </a:r>
            <a:r>
              <a:rPr lang="en-US" dirty="0" smtClean="0"/>
              <a:t>locale</a:t>
            </a:r>
            <a:endParaRPr lang="ru-RU" sz="2800" dirty="0"/>
          </a:p>
        </p:txBody>
      </p:sp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73309" y="1278926"/>
            <a:ext cx="2452729" cy="1106827"/>
          </a:xfrm>
          <a:prstGeom prst="rect">
            <a:avLst/>
          </a:prstGeom>
        </p:spPr>
      </p:pic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49112" y="3013307"/>
            <a:ext cx="6633332" cy="3053150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7273161" y="4466305"/>
            <a:ext cx="23174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 # ru_RU.utf8 </a:t>
            </a:r>
            <a:r>
              <a:rPr lang="ru-RU" dirty="0"/>
              <a:t>для </a:t>
            </a:r>
            <a:r>
              <a:rPr lang="en-US" dirty="0"/>
              <a:t>Unix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7332119" y="5272640"/>
            <a:ext cx="19667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# C.UTF-8 </a:t>
            </a:r>
            <a:r>
              <a:rPr lang="ru-RU" dirty="0"/>
              <a:t>для </a:t>
            </a:r>
            <a:r>
              <a:rPr lang="en-US" dirty="0"/>
              <a:t>Unix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3765778" y="1176036"/>
            <a:ext cx="787969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/>
              <a:t># Доступные </a:t>
            </a:r>
            <a:r>
              <a:rPr lang="ru-RU" sz="2000" dirty="0" err="1"/>
              <a:t>локали</a:t>
            </a:r>
            <a:r>
              <a:rPr lang="ru-RU" sz="2000" dirty="0"/>
              <a:t>: </a:t>
            </a:r>
            <a:endParaRPr lang="ru-RU" sz="2000" dirty="0" smtClean="0"/>
          </a:p>
          <a:p>
            <a:r>
              <a:rPr lang="ru-RU" sz="2000" dirty="0" smtClean="0"/>
              <a:t># </a:t>
            </a:r>
            <a:r>
              <a:rPr lang="ru-RU" sz="2000" dirty="0"/>
              <a:t>- </a:t>
            </a:r>
            <a:r>
              <a:rPr lang="ru-RU" sz="2000" dirty="0" err="1"/>
              <a:t>Windows</a:t>
            </a:r>
            <a:r>
              <a:rPr lang="ru-RU" sz="2000" dirty="0"/>
              <a:t>: https://msdn.microsoft.com/en-us/goglobal/bb895996.aspx </a:t>
            </a:r>
          </a:p>
          <a:p>
            <a:r>
              <a:rPr lang="ru-RU" sz="2000" dirty="0"/>
              <a:t># - </a:t>
            </a:r>
            <a:r>
              <a:rPr lang="ru-RU" sz="2000" dirty="0" err="1"/>
              <a:t>Unix</a:t>
            </a:r>
            <a:r>
              <a:rPr lang="ru-RU" sz="2000" dirty="0"/>
              <a:t>: команда $</a:t>
            </a:r>
            <a:r>
              <a:rPr lang="ru-RU" sz="2000" dirty="0" err="1"/>
              <a:t>locale</a:t>
            </a:r>
            <a:r>
              <a:rPr lang="ru-RU" sz="2000" dirty="0"/>
              <a:t> -a</a:t>
            </a:r>
          </a:p>
        </p:txBody>
      </p:sp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661920" y="2508412"/>
            <a:ext cx="4784589" cy="994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276877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12192000" cy="111829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en-US" dirty="0" smtClean="0"/>
              <a:t>- </a:t>
            </a:r>
            <a:r>
              <a:rPr lang="en-US" dirty="0"/>
              <a:t> </a:t>
            </a:r>
            <a:r>
              <a:rPr lang="ru-RU" dirty="0" smtClean="0"/>
              <a:t>модуль </a:t>
            </a:r>
            <a:r>
              <a:rPr lang="en-US" dirty="0"/>
              <a:t>calendar</a:t>
            </a:r>
            <a:endParaRPr lang="ru-RU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376883" y="1118298"/>
            <a:ext cx="691253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/>
              <a:t>содержит классы для работы с </a:t>
            </a:r>
            <a:r>
              <a:rPr lang="ru-RU" sz="2800" dirty="0" smtClean="0"/>
              <a:t>календарем:</a:t>
            </a:r>
            <a:endParaRPr lang="en-US" sz="2800" dirty="0"/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645855592"/>
              </p:ext>
            </p:extLst>
          </p:nvPr>
        </p:nvGraphicFramePr>
        <p:xfrm>
          <a:off x="434931" y="1872061"/>
          <a:ext cx="10813441" cy="41452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104108">
                  <a:extLst>
                    <a:ext uri="{9D8B030D-6E8A-4147-A177-3AD203B41FA5}">
                      <a16:colId xmlns:a16="http://schemas.microsoft.com/office/drawing/2014/main" xmlns="" val="2016721585"/>
                    </a:ext>
                  </a:extLst>
                </a:gridCol>
                <a:gridCol w="6709333">
                  <a:extLst>
                    <a:ext uri="{9D8B030D-6E8A-4147-A177-3AD203B41FA5}">
                      <a16:colId xmlns:a16="http://schemas.microsoft.com/office/drawing/2014/main" xmlns="" val="16415170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2800" dirty="0">
                          <a:effectLst/>
                        </a:rPr>
                        <a:t>Calendar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ru-RU" sz="2800">
                          <a:effectLst/>
                        </a:rPr>
                        <a:t>Базовый класс для создания календарей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xmlns="" val="847613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2800">
                          <a:effectLst/>
                        </a:rPr>
                        <a:t>TextCalendar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ru-RU" sz="2800">
                          <a:effectLst/>
                        </a:rPr>
                        <a:t>Класс для создания календарей в текстовом виде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xmlns="" val="21509135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2800" dirty="0" err="1">
                          <a:effectLst/>
                        </a:rPr>
                        <a:t>LocaleTextCalendar</a:t>
                      </a:r>
                      <a:endParaRPr lang="en-US" sz="2800" dirty="0">
                        <a:effectLst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ru-RU" sz="2800">
                          <a:effectLst/>
                        </a:rPr>
                        <a:t>Класс для создания календарей в текстовом виде с учетом </a:t>
                      </a:r>
                      <a:r>
                        <a:rPr lang="ru-RU" sz="2800" u="none" strike="noStrike">
                          <a:solidFill>
                            <a:srgbClr val="1B7A41"/>
                          </a:solidFill>
                          <a:effectLst/>
                          <a:hlinkClick r:id="rId3"/>
                        </a:rPr>
                        <a:t>локали</a:t>
                      </a:r>
                      <a:endParaRPr lang="ru-RU" sz="2800">
                        <a:effectLst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xmlns="" val="1708085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2800" dirty="0" err="1">
                          <a:effectLst/>
                        </a:rPr>
                        <a:t>HTMLCalendar</a:t>
                      </a:r>
                      <a:endParaRPr lang="en-US" sz="2800" dirty="0">
                        <a:effectLst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ru-RU" sz="2800">
                          <a:effectLst/>
                        </a:rPr>
                        <a:t>Класс для создания календарей в HTML-формате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xmlns="" val="1880847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2800">
                          <a:effectLst/>
                        </a:rPr>
                        <a:t>LocaleHTMLCalendar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ru-RU" sz="2800" dirty="0">
                          <a:effectLst/>
                        </a:rPr>
                        <a:t>Класс для создания календарей в HTML-формате с учетом </a:t>
                      </a:r>
                      <a:r>
                        <a:rPr lang="ru-RU" sz="2800" u="none" strike="noStrike" dirty="0" err="1">
                          <a:solidFill>
                            <a:srgbClr val="1B7A41"/>
                          </a:solidFill>
                          <a:effectLst/>
                          <a:hlinkClick r:id="rId3"/>
                        </a:rPr>
                        <a:t>локали</a:t>
                      </a:r>
                      <a:endParaRPr lang="ru-RU" sz="2800" dirty="0">
                        <a:effectLst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xmlns="" val="36276134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950776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12192000" cy="111829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en-US" dirty="0" smtClean="0"/>
              <a:t>- </a:t>
            </a:r>
            <a:r>
              <a:rPr lang="en-US" dirty="0"/>
              <a:t> </a:t>
            </a:r>
            <a:r>
              <a:rPr lang="ru-RU" dirty="0" smtClean="0"/>
              <a:t>модуль </a:t>
            </a:r>
            <a:r>
              <a:rPr lang="en-US" dirty="0"/>
              <a:t>calendar</a:t>
            </a:r>
            <a:endParaRPr lang="ru-RU" sz="2800" dirty="0"/>
          </a:p>
        </p:txBody>
      </p:sp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73690" y="1255674"/>
            <a:ext cx="5693465" cy="3416079"/>
          </a:xfrm>
          <a:prstGeom prst="rect">
            <a:avLst/>
          </a:prstGeom>
        </p:spPr>
      </p:pic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737231" y="1720482"/>
            <a:ext cx="3473220" cy="304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016860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12192000" cy="111829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en-US" dirty="0" smtClean="0"/>
              <a:t>- </a:t>
            </a:r>
            <a:r>
              <a:rPr lang="en-US" dirty="0"/>
              <a:t> </a:t>
            </a:r>
            <a:r>
              <a:rPr lang="ru-RU" dirty="0" smtClean="0"/>
              <a:t>модуль </a:t>
            </a:r>
            <a:r>
              <a:rPr lang="en-US" dirty="0" smtClean="0"/>
              <a:t>time</a:t>
            </a:r>
            <a:endParaRPr lang="ru-RU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263236" y="1118298"/>
            <a:ext cx="10584874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rgbClr val="404040"/>
                </a:solidFill>
              </a:rPr>
              <a:t>содержит функции для работы с временем. Большинство функций является аналогом соответствующих функция языка Си (синтаксис и возможности могут различаться в зависимости от используемой платформы).</a:t>
            </a:r>
            <a:endParaRPr lang="en-US" sz="2800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490729197"/>
              </p:ext>
            </p:extLst>
          </p:nvPr>
        </p:nvGraphicFramePr>
        <p:xfrm>
          <a:off x="128385" y="2934180"/>
          <a:ext cx="11401367" cy="36525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304771">
                  <a:extLst>
                    <a:ext uri="{9D8B030D-6E8A-4147-A177-3AD203B41FA5}">
                      <a16:colId xmlns:a16="http://schemas.microsoft.com/office/drawing/2014/main" xmlns="" val="1753675580"/>
                    </a:ext>
                  </a:extLst>
                </a:gridCol>
                <a:gridCol w="8096596">
                  <a:extLst>
                    <a:ext uri="{9D8B030D-6E8A-4147-A177-3AD203B41FA5}">
                      <a16:colId xmlns:a16="http://schemas.microsoft.com/office/drawing/2014/main" xmlns="" val="13301128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time.ctime([seconds])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Возвращает строку, содержащую время по истечении seconds секунд с момента начала эпохи.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3909507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time.perf_counter()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Возвращает доли секунды с момента начала работы ОС. Может использоваться для измерения достаточно малого промежутка времени.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238230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time.sleep(seconds)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Приостанавливает поток выполнения программы на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seconds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секунд (аргумент может быть вещественным - долей секунды).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3347502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064131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12192000" cy="111829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en-US" dirty="0" smtClean="0"/>
              <a:t>- </a:t>
            </a:r>
            <a:r>
              <a:rPr lang="en-US" dirty="0"/>
              <a:t> </a:t>
            </a:r>
            <a:r>
              <a:rPr lang="ru-RU" dirty="0" smtClean="0"/>
              <a:t>модуль </a:t>
            </a:r>
            <a:r>
              <a:rPr lang="en-US" dirty="0" smtClean="0"/>
              <a:t>time</a:t>
            </a:r>
            <a:endParaRPr lang="ru-RU" sz="2800" dirty="0"/>
          </a:p>
        </p:txBody>
      </p:sp>
      <p:pic>
        <p:nvPicPr>
          <p:cNvPr id="6" name="Рисунок 5" descr="Вырезка экрана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6627" y="1047287"/>
            <a:ext cx="11528977" cy="5062567"/>
          </a:xfrm>
          <a:prstGeom prst="rect">
            <a:avLst/>
          </a:prstGeom>
        </p:spPr>
      </p:pic>
      <p:pic>
        <p:nvPicPr>
          <p:cNvPr id="7" name="Рисунок 6" descr="Вырезка экрана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354730" y="3480345"/>
            <a:ext cx="5668574" cy="3286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657205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108066"/>
            <a:ext cx="9809018" cy="681643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en-US" dirty="0" smtClean="0"/>
              <a:t>- </a:t>
            </a:r>
            <a:r>
              <a:rPr lang="en-US" dirty="0"/>
              <a:t> </a:t>
            </a:r>
            <a:r>
              <a:rPr lang="ru-RU" dirty="0" smtClean="0"/>
              <a:t>пакет </a:t>
            </a:r>
            <a:r>
              <a:rPr lang="en-US" dirty="0" err="1" smtClean="0"/>
              <a:t>pytz</a:t>
            </a:r>
            <a:endParaRPr lang="ru-RU" sz="280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296487" y="2390385"/>
            <a:ext cx="11208327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# Список идентификаторов находится в </a:t>
            </a:r>
            <a:r>
              <a:rPr lang="en-US" sz="2400" dirty="0" err="1"/>
              <a:t>pytz.all_timezones</a:t>
            </a:r>
            <a:r>
              <a:rPr lang="en-US" sz="2400" dirty="0"/>
              <a:t> </a:t>
            </a:r>
            <a:r>
              <a:rPr lang="ru-RU" sz="2400" dirty="0"/>
              <a:t>или </a:t>
            </a:r>
            <a:r>
              <a:rPr lang="en-US" sz="2400" dirty="0" err="1"/>
              <a:t>common_timezones</a:t>
            </a:r>
            <a:endParaRPr lang="en-US" sz="2400" dirty="0"/>
          </a:p>
          <a:p>
            <a:r>
              <a:rPr lang="en-US" sz="2400" dirty="0" smtClean="0"/>
              <a:t>   </a:t>
            </a:r>
            <a:r>
              <a:rPr lang="en-US" sz="2400" dirty="0"/>
              <a:t>for </a:t>
            </a:r>
            <a:r>
              <a:rPr lang="en-US" sz="2400" dirty="0" err="1"/>
              <a:t>tz</a:t>
            </a:r>
            <a:r>
              <a:rPr lang="en-US" sz="2400" dirty="0"/>
              <a:t> in </a:t>
            </a:r>
            <a:r>
              <a:rPr lang="en-US" sz="2400" dirty="0" err="1"/>
              <a:t>pytz.all_timezones</a:t>
            </a:r>
            <a:r>
              <a:rPr lang="en-US" sz="2400" dirty="0"/>
              <a:t>:</a:t>
            </a:r>
          </a:p>
          <a:p>
            <a:r>
              <a:rPr lang="en-US" sz="2400" dirty="0" smtClean="0"/>
              <a:t>         </a:t>
            </a:r>
            <a:r>
              <a:rPr lang="en-US" sz="2400" dirty="0"/>
              <a:t>print(</a:t>
            </a:r>
            <a:r>
              <a:rPr lang="en-US" sz="2400" dirty="0" err="1"/>
              <a:t>tz</a:t>
            </a:r>
            <a:r>
              <a:rPr lang="en-US" sz="2400" dirty="0"/>
              <a:t>)</a:t>
            </a:r>
          </a:p>
          <a:p>
            <a:r>
              <a:rPr lang="en-US" sz="2400" dirty="0" smtClean="0"/>
              <a:t>   </a:t>
            </a:r>
            <a:r>
              <a:rPr lang="en-US" sz="2400" dirty="0"/>
              <a:t>print(</a:t>
            </a:r>
            <a:r>
              <a:rPr lang="en-US" sz="2400" dirty="0" err="1"/>
              <a:t>pytz.common_timezones</a:t>
            </a:r>
            <a:r>
              <a:rPr lang="en-US" sz="2400" dirty="0"/>
              <a:t>)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296487" y="1052590"/>
            <a:ext cx="1120832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rgbClr val="404040"/>
                </a:solidFill>
                <a:latin typeface="Lato" panose="020F0502020204030203" pitchFamily="34" charset="0"/>
              </a:rPr>
              <a:t>содержит данные о всех временных зонах согласно </a:t>
            </a:r>
            <a:r>
              <a:rPr lang="ru-RU" sz="2800" dirty="0">
                <a:solidFill>
                  <a:srgbClr val="067A34"/>
                </a:solidFill>
                <a:latin typeface="Lato" panose="020F0502020204030203" pitchFamily="34" charset="0"/>
                <a:hlinkClick r:id="rId3"/>
              </a:rPr>
              <a:t>базе данных часовых поясов</a:t>
            </a:r>
            <a:endParaRPr lang="en-US" sz="2800" dirty="0"/>
          </a:p>
        </p:txBody>
      </p:sp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55430" y="4205800"/>
            <a:ext cx="2370996" cy="2123281"/>
          </a:xfrm>
          <a:prstGeom prst="rect">
            <a:avLst/>
          </a:prstGeom>
        </p:spPr>
      </p:pic>
      <p:pic>
        <p:nvPicPr>
          <p:cNvPr id="6" name="Рисунок 5" descr="Вырезка экрана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807104" y="4343733"/>
            <a:ext cx="7901808" cy="1847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261713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108066"/>
            <a:ext cx="9809018" cy="681643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en-US" dirty="0" smtClean="0"/>
              <a:t>- </a:t>
            </a:r>
            <a:r>
              <a:rPr lang="en-US" dirty="0"/>
              <a:t> </a:t>
            </a:r>
            <a:r>
              <a:rPr lang="ru-RU" dirty="0" smtClean="0"/>
              <a:t>пакет </a:t>
            </a:r>
            <a:r>
              <a:rPr lang="en-US" dirty="0" err="1" smtClean="0"/>
              <a:t>pytz</a:t>
            </a:r>
            <a:endParaRPr lang="ru-RU" sz="2800" dirty="0"/>
          </a:p>
        </p:txBody>
      </p:sp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32753" y="689957"/>
            <a:ext cx="11987804" cy="6001788"/>
          </a:xfrm>
          <a:prstGeom prst="rect">
            <a:avLst/>
          </a:prstGeom>
        </p:spPr>
      </p:pic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322261" y="930146"/>
            <a:ext cx="5798296" cy="1911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141316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108066"/>
            <a:ext cx="10986868" cy="681643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en-US" dirty="0" smtClean="0"/>
              <a:t>- </a:t>
            </a:r>
            <a:r>
              <a:rPr lang="en-US" dirty="0"/>
              <a:t> </a:t>
            </a:r>
            <a:r>
              <a:rPr lang="ru-RU" dirty="0" smtClean="0"/>
              <a:t>пакет </a:t>
            </a:r>
            <a:r>
              <a:rPr lang="en-US" dirty="0" err="1">
                <a:solidFill>
                  <a:schemeClr val="tx1"/>
                </a:solidFill>
              </a:rPr>
              <a:t>zoneinfo</a:t>
            </a:r>
            <a:endParaRPr lang="ru-RU" sz="2800" dirty="0"/>
          </a:p>
        </p:txBody>
      </p:sp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81745" y="978759"/>
            <a:ext cx="11757603" cy="4732724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0" y="5849035"/>
            <a:ext cx="1076178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/>
              <a:t>Datetime</a:t>
            </a:r>
            <a:r>
              <a:rPr lang="en-US" sz="2400" dirty="0"/>
              <a:t>: 2022-06-04 00:00:00-04:00, </a:t>
            </a:r>
            <a:r>
              <a:rPr lang="en-US" sz="2400" dirty="0" err="1"/>
              <a:t>Timezone</a:t>
            </a:r>
            <a:r>
              <a:rPr lang="en-US" sz="2400" dirty="0"/>
              <a:t>: EDT, TZ Info: America/</a:t>
            </a:r>
            <a:r>
              <a:rPr lang="en-US" sz="2400" dirty="0" err="1"/>
              <a:t>New_York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xmlns="" val="1140162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108066"/>
            <a:ext cx="10986868" cy="681643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en-US" dirty="0" smtClean="0"/>
              <a:t>- </a:t>
            </a:r>
            <a:r>
              <a:rPr lang="en-US" dirty="0"/>
              <a:t> </a:t>
            </a:r>
            <a:r>
              <a:rPr lang="ru-RU" dirty="0" smtClean="0"/>
              <a:t>пакет </a:t>
            </a:r>
            <a:r>
              <a:rPr lang="en-US" dirty="0" err="1" smtClean="0"/>
              <a:t>tzlocal</a:t>
            </a:r>
            <a:endParaRPr lang="en-US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12541" y="1043953"/>
            <a:ext cx="1076178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/>
              <a:t>Узнать текущую </a:t>
            </a:r>
            <a:r>
              <a:rPr lang="ru-RU" sz="2400" dirty="0" err="1" smtClean="0"/>
              <a:t>таймзону</a:t>
            </a:r>
            <a:endParaRPr lang="ru-RU" sz="2400" dirty="0"/>
          </a:p>
        </p:txBody>
      </p:sp>
      <p:pic>
        <p:nvPicPr>
          <p:cNvPr id="6" name="Рисунок 5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24089" y="5238620"/>
            <a:ext cx="2138309" cy="462933"/>
          </a:xfrm>
          <a:prstGeom prst="rect">
            <a:avLst/>
          </a:prstGeom>
        </p:spPr>
      </p:pic>
      <p:pic>
        <p:nvPicPr>
          <p:cNvPr id="7" name="Рисунок 6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2541" y="1759861"/>
            <a:ext cx="9473644" cy="2184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773306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-1"/>
            <a:ext cx="12055151" cy="1306287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 smtClean="0"/>
              <a:t>регулярные выражения</a:t>
            </a:r>
            <a:endParaRPr lang="ru-RU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217828" y="2044622"/>
            <a:ext cx="11737571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Регулярные выражения (англ. </a:t>
            </a:r>
            <a:r>
              <a:rPr lang="ru-RU" sz="2800" dirty="0" err="1"/>
              <a:t>Regular</a:t>
            </a:r>
            <a:r>
              <a:rPr lang="ru-RU" sz="2800" dirty="0"/>
              <a:t> </a:t>
            </a:r>
            <a:r>
              <a:rPr lang="ru-RU" sz="2800" dirty="0" err="1"/>
              <a:t>Expressions</a:t>
            </a:r>
            <a:r>
              <a:rPr lang="ru-RU" sz="2800" dirty="0"/>
              <a:t>) - это компактная форма записи (шаблон, маска или паттерн) представления о коллекции строк</a:t>
            </a:r>
            <a:r>
              <a:rPr lang="ru-RU" sz="2800" dirty="0" smtClean="0"/>
              <a:t>.</a:t>
            </a:r>
            <a:endParaRPr lang="en-US" sz="2800" dirty="0" smtClean="0"/>
          </a:p>
          <a:p>
            <a:endParaRPr lang="en-US" sz="2800" dirty="0"/>
          </a:p>
          <a:p>
            <a:r>
              <a:rPr lang="ru-RU" sz="2800" dirty="0" smtClean="0"/>
              <a:t>Используются для</a:t>
            </a:r>
            <a:r>
              <a:rPr lang="en-US" sz="2800" dirty="0" smtClean="0"/>
              <a:t> 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 smtClean="0"/>
              <a:t>проверки соответствия текста критериям, </a:t>
            </a:r>
            <a:endParaRPr lang="en-US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 smtClean="0"/>
              <a:t>поиска подстрок, </a:t>
            </a:r>
            <a:endParaRPr lang="en-US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 smtClean="0"/>
              <a:t>замены по шаблону</a:t>
            </a:r>
            <a:r>
              <a:rPr lang="en-US" sz="2800" dirty="0" smtClean="0"/>
              <a:t> </a:t>
            </a:r>
            <a:r>
              <a:rPr lang="ru-RU" sz="2800" dirty="0"/>
              <a:t>на указанную строку</a:t>
            </a:r>
            <a:r>
              <a:rPr lang="ru-RU" sz="2800" dirty="0" smtClean="0"/>
              <a:t>, </a:t>
            </a:r>
            <a:endParaRPr lang="en-US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 smtClean="0"/>
              <a:t>разбиения строк по точкам совпадения с шаблоном.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xmlns="" val="502448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-1"/>
            <a:ext cx="12055151" cy="1306287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 smtClean="0"/>
              <a:t>регулярные выражения</a:t>
            </a:r>
            <a:endParaRPr lang="ru-RU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217829" y="2044622"/>
            <a:ext cx="10272834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800" dirty="0">
                <a:solidFill>
                  <a:srgbClr val="404040"/>
                </a:solidFill>
              </a:rPr>
              <a:t>Регулярные выражения являются строкой-шаблоном для поиска, определяются с помощью мини-языка и могут содержать</a:t>
            </a:r>
            <a:r>
              <a:rPr lang="ru-RU" sz="2800" dirty="0" smtClean="0">
                <a:solidFill>
                  <a:srgbClr val="404040"/>
                </a:solidFill>
              </a:rPr>
              <a:t>:</a:t>
            </a:r>
          </a:p>
          <a:p>
            <a:pPr algn="just"/>
            <a:endParaRPr lang="ru-RU" sz="2800" dirty="0">
              <a:solidFill>
                <a:srgbClr val="404040"/>
              </a:solidFill>
            </a:endParaRPr>
          </a:p>
          <a:p>
            <a:pPr algn="just">
              <a:buFont typeface="+mj-lt"/>
              <a:buAutoNum type="arabicPeriod"/>
            </a:pPr>
            <a:r>
              <a:rPr lang="ru-RU" sz="2800" dirty="0">
                <a:solidFill>
                  <a:srgbClr val="404040"/>
                </a:solidFill>
              </a:rPr>
              <a:t>Флаги.</a:t>
            </a:r>
          </a:p>
          <a:p>
            <a:pPr algn="just">
              <a:buFont typeface="+mj-lt"/>
              <a:buAutoNum type="arabicPeriod"/>
            </a:pPr>
            <a:r>
              <a:rPr lang="ru-RU" sz="2800" dirty="0">
                <a:solidFill>
                  <a:srgbClr val="404040"/>
                </a:solidFill>
              </a:rPr>
              <a:t>Символы и классы символов.</a:t>
            </a:r>
          </a:p>
          <a:p>
            <a:pPr algn="just">
              <a:buFont typeface="+mj-lt"/>
              <a:buAutoNum type="arabicPeriod"/>
            </a:pPr>
            <a:r>
              <a:rPr lang="ru-RU" sz="2800" dirty="0">
                <a:solidFill>
                  <a:srgbClr val="404040"/>
                </a:solidFill>
              </a:rPr>
              <a:t>Квантификаторы.</a:t>
            </a:r>
          </a:p>
          <a:p>
            <a:pPr algn="just">
              <a:buFont typeface="+mj-lt"/>
              <a:buAutoNum type="arabicPeriod"/>
            </a:pPr>
            <a:r>
              <a:rPr lang="ru-RU" sz="2800" dirty="0">
                <a:solidFill>
                  <a:srgbClr val="404040"/>
                </a:solidFill>
              </a:rPr>
              <a:t>Группировка и выбор.</a:t>
            </a:r>
          </a:p>
          <a:p>
            <a:pPr algn="just">
              <a:buFont typeface="+mj-lt"/>
              <a:buAutoNum type="arabicPeriod"/>
            </a:pPr>
            <a:r>
              <a:rPr lang="ru-RU" sz="2800" dirty="0">
                <a:solidFill>
                  <a:srgbClr val="404040"/>
                </a:solidFill>
              </a:rPr>
              <a:t>Проверка границ (привязки).</a:t>
            </a:r>
            <a:endParaRPr lang="ru-RU" sz="2800" b="0" i="0" dirty="0">
              <a:solidFill>
                <a:srgbClr val="404040"/>
              </a:solidFill>
              <a:effectLst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17829" y="5851338"/>
            <a:ext cx="1183732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конструктор выражений (например, </a:t>
            </a:r>
            <a:r>
              <a:rPr lang="ru-RU" sz="2800" dirty="0" smtClean="0"/>
              <a:t>онлайн-сервис</a:t>
            </a:r>
            <a:r>
              <a:rPr lang="ru-RU" sz="2800" dirty="0"/>
              <a:t> </a:t>
            </a:r>
            <a:r>
              <a:rPr lang="ru-RU" sz="2800" dirty="0">
                <a:hlinkClick r:id="rId3"/>
              </a:rPr>
              <a:t>https://regex101.com</a:t>
            </a:r>
            <a:r>
              <a:rPr lang="ru-RU" sz="28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xmlns="" val="574278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-1"/>
            <a:ext cx="12055151" cy="1306287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 smtClean="0"/>
              <a:t>регулярные выражения - флаги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16376" y="1430033"/>
            <a:ext cx="12075623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Флаги не входят непосредственно в регулярное выражение, однако расширяют его функции. Типичные флаги </a:t>
            </a:r>
            <a:r>
              <a:rPr lang="ru-RU" sz="2800" dirty="0" smtClean="0"/>
              <a:t>:</a:t>
            </a:r>
            <a:endParaRPr lang="ru-RU" sz="2800" dirty="0"/>
          </a:p>
          <a:p>
            <a:endParaRPr lang="ru-RU" sz="2800" dirty="0"/>
          </a:p>
          <a:p>
            <a:r>
              <a:rPr lang="ru-RU" sz="2800" dirty="0"/>
              <a:t>'g' - глобальный поиск (обрабатываются все совпадения с шаблоном поиска);</a:t>
            </a:r>
          </a:p>
          <a:p>
            <a:r>
              <a:rPr lang="ru-RU" sz="2800" dirty="0" smtClean="0"/>
              <a:t>'i</a:t>
            </a:r>
            <a:r>
              <a:rPr lang="ru-RU" sz="2800" dirty="0"/>
              <a:t>' - регистр букв не имеет значения (по умолчанию любой поиск </a:t>
            </a:r>
            <a:r>
              <a:rPr lang="ru-RU" sz="2800" dirty="0" err="1"/>
              <a:t>регистрозависим</a:t>
            </a:r>
            <a:r>
              <a:rPr lang="ru-RU" sz="2800" dirty="0"/>
              <a:t>);</a:t>
            </a:r>
          </a:p>
          <a:p>
            <a:r>
              <a:rPr lang="ru-RU" sz="2800" dirty="0" smtClean="0"/>
              <a:t>'m</a:t>
            </a:r>
            <a:r>
              <a:rPr lang="ru-RU" sz="2800" dirty="0"/>
              <a:t>' - многострочный поиск;</a:t>
            </a:r>
          </a:p>
          <a:p>
            <a:r>
              <a:rPr lang="ru-RU" sz="2800" dirty="0" smtClean="0"/>
              <a:t>и </a:t>
            </a:r>
            <a:r>
              <a:rPr lang="ru-RU" sz="2800" dirty="0"/>
              <a:t>др.</a:t>
            </a:r>
          </a:p>
          <a:p>
            <a:endParaRPr lang="ru-RU" sz="2800" dirty="0"/>
          </a:p>
          <a:p>
            <a:r>
              <a:rPr lang="ru-RU" sz="2800" dirty="0"/>
              <a:t>Флаг указывается после паттерна, например: '/[0-9]/m'.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xmlns="" val="526851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-1"/>
            <a:ext cx="12055151" cy="1306287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 smtClean="0"/>
              <a:t>регулярные выражения - </a:t>
            </a:r>
            <a:r>
              <a:rPr lang="ru-RU" dirty="0" smtClean="0">
                <a:solidFill>
                  <a:srgbClr val="404040"/>
                </a:solidFill>
              </a:rPr>
              <a:t>символы </a:t>
            </a:r>
            <a:r>
              <a:rPr lang="ru-RU" dirty="0">
                <a:solidFill>
                  <a:srgbClr val="404040"/>
                </a:solidFill>
              </a:rPr>
              <a:t>и классы символов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241069" y="2413338"/>
            <a:ext cx="11405062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К специальным символам (также символам-джокерам или символам подстановки) относятся:</a:t>
            </a:r>
          </a:p>
          <a:p>
            <a:endParaRPr lang="ru-RU" sz="2800" dirty="0"/>
          </a:p>
          <a:p>
            <a:r>
              <a:rPr lang="ru-RU" sz="2800" dirty="0"/>
              <a:t>\ . ~ $ ? + * { } [ ] ( ) </a:t>
            </a:r>
            <a:r>
              <a:rPr lang="ru-RU" sz="2800" dirty="0" smtClean="0"/>
              <a:t>|</a:t>
            </a:r>
          </a:p>
          <a:p>
            <a:endParaRPr lang="ru-RU" sz="2800" dirty="0"/>
          </a:p>
          <a:p>
            <a:r>
              <a:rPr lang="ru-RU" sz="2800" dirty="0"/>
              <a:t>В пределах регулярных выражений можно также использовать большинство стандартных экранированных последовательностей языка </a:t>
            </a:r>
            <a:r>
              <a:rPr lang="ru-RU" sz="2800" dirty="0" err="1"/>
              <a:t>Python</a:t>
            </a:r>
            <a:r>
              <a:rPr lang="ru-RU" sz="2800" dirty="0"/>
              <a:t>, например, '\n', '\t' и др.</a:t>
            </a:r>
            <a:endParaRPr lang="en-US" sz="28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241069" y="1797919"/>
            <a:ext cx="396159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>
                <a:solidFill>
                  <a:srgbClr val="404040"/>
                </a:solidFill>
              </a:rPr>
              <a:t>Поиск символов и строк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xmlns="" val="2040949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-1"/>
            <a:ext cx="12055151" cy="1306287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 smtClean="0"/>
              <a:t>регулярные выражения - </a:t>
            </a:r>
            <a:r>
              <a:rPr lang="ru-RU" dirty="0" smtClean="0">
                <a:solidFill>
                  <a:srgbClr val="404040"/>
                </a:solidFill>
              </a:rPr>
              <a:t>символы </a:t>
            </a:r>
            <a:r>
              <a:rPr lang="ru-RU" dirty="0">
                <a:solidFill>
                  <a:srgbClr val="404040"/>
                </a:solidFill>
              </a:rPr>
              <a:t>и классы символов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24690" y="1800144"/>
            <a:ext cx="1140506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Для поиска не конкретной последовательности символов, а некоторого их множества предназначены классы символов</a:t>
            </a:r>
            <a:endParaRPr lang="en-US" sz="28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124690" y="1306286"/>
            <a:ext cx="540096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/>
              <a:t>Поиск </a:t>
            </a:r>
            <a:r>
              <a:rPr lang="ru-RU" sz="2800" b="1" dirty="0" smtClean="0"/>
              <a:t>символов </a:t>
            </a:r>
            <a:r>
              <a:rPr lang="ru-RU" sz="2800" b="1" dirty="0"/>
              <a:t>по соответствию</a:t>
            </a:r>
            <a:endParaRPr lang="en-US" sz="2800" dirty="0"/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865216542"/>
              </p:ext>
            </p:extLst>
          </p:nvPr>
        </p:nvGraphicFramePr>
        <p:xfrm>
          <a:off x="92287" y="2754251"/>
          <a:ext cx="11870575" cy="38404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731568">
                  <a:extLst>
                    <a:ext uri="{9D8B030D-6E8A-4147-A177-3AD203B41FA5}">
                      <a16:colId xmlns:a16="http://schemas.microsoft.com/office/drawing/2014/main" xmlns="" val="3800547308"/>
                    </a:ext>
                  </a:extLst>
                </a:gridCol>
                <a:gridCol w="8139007">
                  <a:extLst>
                    <a:ext uri="{9D8B030D-6E8A-4147-A177-3AD203B41FA5}">
                      <a16:colId xmlns:a16="http://schemas.microsoft.com/office/drawing/2014/main" xmlns="" val="24290239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</a:t>
                      </a:r>
                      <a:r>
                        <a:rPr lang="ru-RU" sz="2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ru-RU" sz="2800" b="1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группа_символов</a:t>
                      </a:r>
                      <a:r>
                        <a:rPr lang="ru-RU" sz="2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любому одиночному символу, входящему в </a:t>
                      </a:r>
                      <a:r>
                        <a:rPr lang="ru-RU" sz="2400" dirty="0" err="1" smtClean="0"/>
                        <a:t>группа_символов</a:t>
                      </a:r>
                      <a:r>
                        <a:rPr lang="ru-RU" sz="2400" dirty="0" smtClean="0"/>
                        <a:t>. По умолчанию при сопоставлении учитывается регистр.</a:t>
                      </a:r>
                    </a:p>
                    <a:p>
                      <a:r>
                        <a:rPr lang="ru-RU" sz="2400" b="1" dirty="0" smtClean="0"/>
                        <a:t>'[</a:t>
                      </a:r>
                      <a:r>
                        <a:rPr lang="ru-RU" sz="2400" b="1" dirty="0" err="1" smtClean="0"/>
                        <a:t>аеёиоуэюя</a:t>
                      </a:r>
                      <a:r>
                        <a:rPr lang="ru-RU" sz="2400" b="1" dirty="0" smtClean="0"/>
                        <a:t>]'   </a:t>
                      </a:r>
                      <a:r>
                        <a:rPr lang="ru-RU" sz="2400" dirty="0" smtClean="0"/>
                        <a:t>- найти все гласные буквы в строке;</a:t>
                      </a:r>
                    </a:p>
                    <a:p>
                      <a:r>
                        <a:rPr lang="ru-RU" sz="2400" b="1" dirty="0" smtClean="0"/>
                        <a:t>'п[</a:t>
                      </a:r>
                      <a:r>
                        <a:rPr lang="ru-RU" sz="2400" b="1" dirty="0" err="1" smtClean="0"/>
                        <a:t>ое</a:t>
                      </a:r>
                      <a:r>
                        <a:rPr lang="ru-RU" sz="2400" b="1" dirty="0" smtClean="0"/>
                        <a:t>]л'   </a:t>
                      </a:r>
                      <a:r>
                        <a:rPr lang="ru-RU" sz="2400" dirty="0" smtClean="0"/>
                        <a:t>- совпадение для слов 'пел' и 'пол', но не найдет слова 'поел' или 'пил'.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719269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</a:t>
                      </a:r>
                      <a:r>
                        <a:rPr lang="ru-RU" sz="2800" b="1" dirty="0" smtClean="0"/>
                        <a:t>[^</a:t>
                      </a:r>
                      <a:r>
                        <a:rPr lang="ru-RU" sz="2800" b="1" dirty="0" err="1" smtClean="0"/>
                        <a:t>группа_символов</a:t>
                      </a:r>
                      <a:r>
                        <a:rPr lang="ru-RU" sz="2800" b="1" dirty="0" smtClean="0"/>
                        <a:t>]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любому одиночному символу, НЕ входящему в </a:t>
                      </a:r>
                      <a:r>
                        <a:rPr lang="ru-RU" sz="2400" dirty="0" err="1" smtClean="0"/>
                        <a:t>группа_символов</a:t>
                      </a:r>
                      <a:r>
                        <a:rPr lang="ru-RU" sz="2400" dirty="0" smtClean="0"/>
                        <a:t>. По умолчанию при сопоставлении учитывается регистр.</a:t>
                      </a:r>
                    </a:p>
                    <a:p>
                      <a:r>
                        <a:rPr lang="ru-RU" sz="2400" b="1" dirty="0" smtClean="0"/>
                        <a:t>'[^</a:t>
                      </a:r>
                      <a:r>
                        <a:rPr lang="ru-RU" sz="2400" b="1" dirty="0" err="1" smtClean="0"/>
                        <a:t>аеёиоуэюя</a:t>
                      </a:r>
                      <a:r>
                        <a:rPr lang="ru-RU" sz="2400" b="1" dirty="0" smtClean="0"/>
                        <a:t>]' </a:t>
                      </a:r>
                      <a:r>
                        <a:rPr lang="ru-RU" sz="2400" dirty="0" smtClean="0"/>
                        <a:t>- все символы в тексте, кроме гласных букв.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5822939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954394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-1"/>
            <a:ext cx="12055151" cy="1306287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 smtClean="0"/>
              <a:t>регулярные выражения - </a:t>
            </a:r>
            <a:r>
              <a:rPr lang="ru-RU" dirty="0" smtClean="0">
                <a:solidFill>
                  <a:srgbClr val="404040"/>
                </a:solidFill>
              </a:rPr>
              <a:t>символы </a:t>
            </a:r>
            <a:r>
              <a:rPr lang="ru-RU" dirty="0">
                <a:solidFill>
                  <a:srgbClr val="404040"/>
                </a:solidFill>
              </a:rPr>
              <a:t>и классы символов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124690" y="1306286"/>
            <a:ext cx="540096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/>
              <a:t>Поиск </a:t>
            </a:r>
            <a:r>
              <a:rPr lang="ru-RU" sz="2800" b="1" dirty="0" smtClean="0"/>
              <a:t>символов по соответствию</a:t>
            </a:r>
            <a:endParaRPr lang="en-US" sz="2800" dirty="0"/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5126081"/>
              </p:ext>
            </p:extLst>
          </p:nvPr>
        </p:nvGraphicFramePr>
        <p:xfrm>
          <a:off x="92287" y="1989480"/>
          <a:ext cx="11870575" cy="27432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764818">
                  <a:extLst>
                    <a:ext uri="{9D8B030D-6E8A-4147-A177-3AD203B41FA5}">
                      <a16:colId xmlns:a16="http://schemas.microsoft.com/office/drawing/2014/main" xmlns="" val="3800547308"/>
                    </a:ext>
                  </a:extLst>
                </a:gridCol>
                <a:gridCol w="8105757">
                  <a:extLst>
                    <a:ext uri="{9D8B030D-6E8A-4147-A177-3AD203B41FA5}">
                      <a16:colId xmlns:a16="http://schemas.microsoft.com/office/drawing/2014/main" xmlns="" val="24290239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</a:t>
                      </a:r>
                      <a:r>
                        <a:rPr lang="ru-RU" sz="2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[первый-последний]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одному символу в диапазоне от первый до последний.</a:t>
                      </a:r>
                    </a:p>
                    <a:p>
                      <a:r>
                        <a:rPr lang="ru-RU" sz="2800" dirty="0" smtClean="0"/>
                        <a:t>'[0-9]' - все цифры тексте.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719269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</a:t>
                      </a:r>
                      <a:r>
                        <a:rPr lang="ru-RU" sz="2800" b="1" dirty="0" smtClean="0"/>
                        <a:t>.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</a:t>
                      </a:r>
                      <a:r>
                        <a:rPr lang="ru-RU" sz="2800" b="1" dirty="0" smtClean="0"/>
                        <a:t> (точка)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какому-либо одному знаку, кроме '\n'. Для поиска точки необходимо использовать экранирование: '\.'</a:t>
                      </a:r>
                    </a:p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'</a:t>
                      </a:r>
                      <a:r>
                        <a:rPr lang="ru-RU" sz="2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м.л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 найдет в тексте 'мел', 'мул' и т.д.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5822939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986101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-1"/>
            <a:ext cx="12055151" cy="1306287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 smtClean="0"/>
              <a:t>регулярные выражения - </a:t>
            </a:r>
            <a:r>
              <a:rPr lang="ru-RU" dirty="0" smtClean="0">
                <a:solidFill>
                  <a:srgbClr val="404040"/>
                </a:solidFill>
              </a:rPr>
              <a:t>символы </a:t>
            </a:r>
            <a:r>
              <a:rPr lang="ru-RU" dirty="0">
                <a:solidFill>
                  <a:srgbClr val="404040"/>
                </a:solidFill>
              </a:rPr>
              <a:t>и классы символов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124690" y="1306286"/>
            <a:ext cx="5208605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/>
              <a:t>Поиск </a:t>
            </a:r>
            <a:r>
              <a:rPr lang="ru-RU" sz="2800" b="1" dirty="0" smtClean="0"/>
              <a:t>символов </a:t>
            </a:r>
            <a:r>
              <a:rPr lang="ru-RU" sz="2800" b="1" dirty="0"/>
              <a:t>о соответствию</a:t>
            </a:r>
            <a:endParaRPr lang="en-US" sz="2800" dirty="0"/>
          </a:p>
          <a:p>
            <a:endParaRPr lang="en-US" sz="2800" dirty="0"/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983719188"/>
              </p:ext>
            </p:extLst>
          </p:nvPr>
        </p:nvGraphicFramePr>
        <p:xfrm>
          <a:off x="92287" y="1989480"/>
          <a:ext cx="11870575" cy="400122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21618">
                  <a:extLst>
                    <a:ext uri="{9D8B030D-6E8A-4147-A177-3AD203B41FA5}">
                      <a16:colId xmlns:a16="http://schemas.microsoft.com/office/drawing/2014/main" xmlns="" val="3800547308"/>
                    </a:ext>
                  </a:extLst>
                </a:gridCol>
                <a:gridCol w="10848957">
                  <a:extLst>
                    <a:ext uri="{9D8B030D-6E8A-4147-A177-3AD203B41FA5}">
                      <a16:colId xmlns:a16="http://schemas.microsoft.com/office/drawing/2014/main" xmlns="" val="24290239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</a:t>
                      </a:r>
                      <a:r>
                        <a:rPr lang="en-US" sz="2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\w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любому алфавитно-цифровому знаку.</a:t>
                      </a:r>
                    </a:p>
                    <a:p>
                      <a:r>
                        <a:rPr lang="ru-RU" sz="2800" dirty="0" smtClean="0"/>
                        <a:t>'\w1' найдет в тексте '11' или 'я1'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719269375"/>
                  </a:ext>
                </a:extLst>
              </a:tr>
              <a:tr h="5569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</a:t>
                      </a:r>
                      <a:r>
                        <a:rPr lang="ru-RU" sz="2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\W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любому символу, НЕ являющимся алфавитно-цифровым знаком.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5822939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</a:t>
                      </a:r>
                      <a:r>
                        <a:rPr lang="en-US" sz="2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\s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любому пробельному символу (пробел, табуляция и др.)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931160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</a:t>
                      </a:r>
                      <a:r>
                        <a:rPr lang="en-US" sz="2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\S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любому знаку, НЕ являющемуся пробельным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5354205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</a:t>
                      </a:r>
                      <a:r>
                        <a:rPr lang="en-US" sz="2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\d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любой десятичной цифре.</a:t>
                      </a:r>
                    </a:p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выражение '\d-й' найдет в тексте '1-й' или '2-й'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844081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</a:t>
                      </a:r>
                      <a:r>
                        <a:rPr lang="en-US" sz="2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\D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любому символу, НЕ являющемуся десятичной цифрой.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8310650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291513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-1"/>
            <a:ext cx="12055151" cy="1306287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 smtClean="0"/>
              <a:t>регулярные выражения - </a:t>
            </a:r>
            <a:r>
              <a:rPr lang="ru-RU" dirty="0"/>
              <a:t>квантификаторы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124690" y="1306286"/>
            <a:ext cx="8834534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/>
              <a:t>Поиск </a:t>
            </a:r>
            <a:r>
              <a:rPr lang="ru-RU" sz="2800" b="1" dirty="0" smtClean="0"/>
              <a:t>с указанием количества возможных повторений</a:t>
            </a:r>
            <a:endParaRPr lang="en-US" sz="2800" dirty="0"/>
          </a:p>
          <a:p>
            <a:endParaRPr lang="en-US" sz="2800" dirty="0"/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969660476"/>
              </p:ext>
            </p:extLst>
          </p:nvPr>
        </p:nvGraphicFramePr>
        <p:xfrm>
          <a:off x="124691" y="2845168"/>
          <a:ext cx="6798624" cy="330018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360481">
                  <a:extLst>
                    <a:ext uri="{9D8B030D-6E8A-4147-A177-3AD203B41FA5}">
                      <a16:colId xmlns:a16="http://schemas.microsoft.com/office/drawing/2014/main" xmlns="" val="3800547308"/>
                    </a:ext>
                  </a:extLst>
                </a:gridCol>
                <a:gridCol w="4438143">
                  <a:extLst>
                    <a:ext uri="{9D8B030D-6E8A-4147-A177-3AD203B41FA5}">
                      <a16:colId xmlns:a16="http://schemas.microsoft.com/office/drawing/2014/main" xmlns="" val="24290239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ru-RU" sz="2600" b="1" dirty="0">
                          <a:effectLst/>
                        </a:rPr>
                        <a:t>Квантификатор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2600" b="1" dirty="0">
                          <a:effectLst/>
                        </a:rPr>
                        <a:t>Описание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xmlns="" val="719269375"/>
                  </a:ext>
                </a:extLst>
              </a:tr>
              <a:tr h="556985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2600">
                          <a:effectLst/>
                        </a:rPr>
                        <a:t>'*'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ru-RU" sz="2600">
                          <a:effectLst/>
                        </a:rPr>
                        <a:t>Ноль или более совпадений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xmlns="" val="15822939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2600" dirty="0">
                          <a:effectLst/>
                        </a:rPr>
                        <a:t>'+'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ru-RU" sz="2600" dirty="0">
                          <a:effectLst/>
                        </a:rPr>
                        <a:t>Одно или больше совпадений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xmlns="" val="2931160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2600">
                          <a:effectLst/>
                        </a:rPr>
                        <a:t>'?'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ru-RU" sz="2600">
                          <a:effectLst/>
                        </a:rPr>
                        <a:t>Ноль или одно совпадение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xmlns="" val="15354205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2600">
                          <a:effectLst/>
                        </a:rPr>
                        <a:t>'{m}'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ru-RU" sz="2600">
                          <a:effectLst/>
                        </a:rPr>
                        <a:t>Совпадение ровно </a:t>
                      </a:r>
                      <a:r>
                        <a:rPr lang="en-US" sz="2600">
                          <a:effectLst/>
                        </a:rPr>
                        <a:t>m </a:t>
                      </a:r>
                      <a:r>
                        <a:rPr lang="ru-RU" sz="2600">
                          <a:effectLst/>
                        </a:rPr>
                        <a:t>раз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xmlns="" val="3844081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2600">
                          <a:effectLst/>
                        </a:rPr>
                        <a:t>'{m,}'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ru-RU" sz="2600">
                          <a:effectLst/>
                        </a:rPr>
                        <a:t>Совпадение m и более раз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xmlns="" val="2831065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2600">
                          <a:effectLst/>
                        </a:rPr>
                        <a:t>'{m, n}'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ru-RU" sz="2600" dirty="0">
                          <a:effectLst/>
                        </a:rPr>
                        <a:t>Совпадение от m до n раз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xmlns="" val="1415014720"/>
                  </a:ext>
                </a:extLst>
              </a:tr>
            </a:tbl>
          </a:graphicData>
        </a:graphic>
      </p:graphicFrame>
      <p:sp>
        <p:nvSpPr>
          <p:cNvPr id="3" name="Прямоугольник 2"/>
          <p:cNvSpPr/>
          <p:nvPr/>
        </p:nvSpPr>
        <p:spPr>
          <a:xfrm>
            <a:off x="124690" y="1891061"/>
            <a:ext cx="7674537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/>
              <a:t>записываются после </a:t>
            </a:r>
            <a:r>
              <a:rPr lang="ru-RU" sz="2800" dirty="0" smtClean="0"/>
              <a:t>символа/строки/множества</a:t>
            </a:r>
          </a:p>
          <a:p>
            <a:r>
              <a:rPr lang="ru-RU" sz="2800" dirty="0" smtClean="0"/>
              <a:t>? подключают «ленивый режим»</a:t>
            </a:r>
            <a:endParaRPr lang="en-US" sz="2800" dirty="0"/>
          </a:p>
        </p:txBody>
      </p:sp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815166" y="1306286"/>
            <a:ext cx="2356608" cy="1514962"/>
          </a:xfrm>
          <a:prstGeom prst="rect">
            <a:avLst/>
          </a:prstGeom>
        </p:spPr>
      </p:pic>
      <p:pic>
        <p:nvPicPr>
          <p:cNvPr id="7" name="Рисунок 6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922228" y="2845168"/>
            <a:ext cx="2629910" cy="1910283"/>
          </a:xfrm>
          <a:prstGeom prst="rect">
            <a:avLst/>
          </a:prstGeom>
        </p:spPr>
      </p:pic>
      <p:pic>
        <p:nvPicPr>
          <p:cNvPr id="10" name="Рисунок 9" descr="Вырезка экрана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720770" y="2845168"/>
            <a:ext cx="2334381" cy="1539959"/>
          </a:xfrm>
          <a:prstGeom prst="rect">
            <a:avLst/>
          </a:prstGeom>
        </p:spPr>
      </p:pic>
      <p:pic>
        <p:nvPicPr>
          <p:cNvPr id="11" name="Рисунок 10" descr="Вырезка экрана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922228" y="4931145"/>
            <a:ext cx="2250801" cy="1427055"/>
          </a:xfrm>
          <a:prstGeom prst="rect">
            <a:avLst/>
          </a:prstGeom>
        </p:spPr>
      </p:pic>
      <p:pic>
        <p:nvPicPr>
          <p:cNvPr id="12" name="Рисунок 11" descr="Вырезка экрана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720769" y="4846296"/>
            <a:ext cx="2334381" cy="1511904"/>
          </a:xfrm>
          <a:prstGeom prst="rect">
            <a:avLst/>
          </a:prstGeom>
        </p:spPr>
      </p:pic>
      <p:pic>
        <p:nvPicPr>
          <p:cNvPr id="14" name="Рисунок 13" descr="Вырезка экрана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091821" y="1084847"/>
            <a:ext cx="2266298" cy="1383749"/>
          </a:xfrm>
          <a:prstGeom prst="rect">
            <a:avLst/>
          </a:prstGeom>
        </p:spPr>
      </p:pic>
      <p:pic>
        <p:nvPicPr>
          <p:cNvPr id="8" name="Рисунок 7" descr="Вырезка экрана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763259" y="145165"/>
            <a:ext cx="2353003" cy="1438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223782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-1"/>
            <a:ext cx="12055151" cy="1306287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 smtClean="0"/>
              <a:t>регулярные выражения </a:t>
            </a:r>
            <a:r>
              <a:rPr lang="ru-RU" dirty="0"/>
              <a:t>– </a:t>
            </a:r>
            <a:r>
              <a:rPr lang="ru-RU" dirty="0" smtClean="0"/>
              <a:t>группировка </a:t>
            </a:r>
            <a:r>
              <a:rPr lang="ru-RU" dirty="0"/>
              <a:t>'( )' </a:t>
            </a:r>
            <a:r>
              <a:rPr lang="ru-RU" b="1" dirty="0" smtClean="0"/>
              <a:t> </a:t>
            </a:r>
            <a:endParaRPr lang="ru-RU" dirty="0"/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630715645"/>
              </p:ext>
            </p:extLst>
          </p:nvPr>
        </p:nvGraphicFramePr>
        <p:xfrm>
          <a:off x="0" y="4063966"/>
          <a:ext cx="12055151" cy="26212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xmlns="" val="3800547308"/>
                    </a:ext>
                  </a:extLst>
                </a:gridCol>
                <a:gridCol w="8549951">
                  <a:extLst>
                    <a:ext uri="{9D8B030D-6E8A-4147-A177-3AD203B41FA5}">
                      <a16:colId xmlns:a16="http://schemas.microsoft.com/office/drawing/2014/main" xmlns="" val="24290239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ru-RU" sz="2800" b="1" dirty="0" smtClean="0"/>
                        <a:t>'</a:t>
                      </a:r>
                      <a:r>
                        <a:rPr lang="ru-RU" sz="2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ru-RU" sz="2800" b="1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часть_выражения</a:t>
                      </a:r>
                      <a:r>
                        <a:rPr lang="ru-RU" sz="2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ru-RU" sz="2800" b="1" dirty="0" smtClean="0"/>
                        <a:t>'</a:t>
                      </a:r>
                      <a:endParaRPr lang="ru-RU" sz="2800" b="1" dirty="0">
                        <a:effectLst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2800" b="0" dirty="0" smtClean="0">
                          <a:effectLst/>
                        </a:rPr>
                        <a:t>Захватывает соответствующие выражения и присваиваем им нумерацию, начиная с 1.</a:t>
                      </a:r>
                    </a:p>
                    <a:p>
                      <a:pPr algn="just"/>
                      <a:r>
                        <a:rPr lang="ru-RU" sz="2800" b="0" dirty="0" smtClean="0">
                          <a:effectLst/>
                        </a:rPr>
                        <a:t>'</a:t>
                      </a:r>
                      <a:r>
                        <a:rPr lang="ru-RU" sz="2800" b="1" dirty="0" smtClean="0">
                          <a:effectLst/>
                        </a:rPr>
                        <a:t>(\w+)\s+\1' </a:t>
                      </a:r>
                      <a:r>
                        <a:rPr lang="ru-RU" sz="2800" b="0" dirty="0" smtClean="0">
                          <a:effectLst/>
                        </a:rPr>
                        <a:t>- поиск повторяющихся слов, разделенных пробельным символом (пример упрощен); </a:t>
                      </a:r>
                    </a:p>
                    <a:p>
                      <a:pPr algn="just"/>
                      <a:r>
                        <a:rPr lang="ru-RU" sz="2800" b="0" dirty="0" smtClean="0">
                          <a:effectLst/>
                        </a:rPr>
                        <a:t>при этом первое слово будет захвачено в отдельную группу под номером 1</a:t>
                      </a:r>
                      <a:endParaRPr lang="ru-RU" sz="2800" b="0" dirty="0">
                        <a:effectLst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xmlns="" val="719269375"/>
                  </a:ext>
                </a:extLst>
              </a:tr>
            </a:tbl>
          </a:graphicData>
        </a:graphic>
      </p:graphicFrame>
      <p:sp>
        <p:nvSpPr>
          <p:cNvPr id="4" name="Прямоугольник 3"/>
          <p:cNvSpPr/>
          <p:nvPr/>
        </p:nvSpPr>
        <p:spPr>
          <a:xfrm>
            <a:off x="0" y="1306286"/>
            <a:ext cx="12192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 smtClean="0"/>
              <a:t>сгруппировать </a:t>
            </a:r>
            <a:r>
              <a:rPr lang="ru-RU" sz="2800" dirty="0"/>
              <a:t>шаблон поиска (группировка) </a:t>
            </a:r>
            <a:endParaRPr lang="ru-RU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 smtClean="0"/>
              <a:t>использовать </a:t>
            </a:r>
            <a:r>
              <a:rPr lang="ru-RU" sz="2800" dirty="0"/>
              <a:t>его в дальнейшем (группировка с сохранением или захватом</a:t>
            </a:r>
            <a:r>
              <a:rPr lang="ru-RU" sz="2800" dirty="0" smtClean="0"/>
              <a:t>)</a:t>
            </a:r>
            <a:endParaRPr lang="ru-RU" sz="2800" dirty="0"/>
          </a:p>
          <a:p>
            <a:endParaRPr lang="ru-RU" sz="2800" dirty="0"/>
          </a:p>
          <a:p>
            <a:r>
              <a:rPr lang="ru-RU" sz="2800" dirty="0"/>
              <a:t>Обращение к захваченной группе возможно:</a:t>
            </a:r>
          </a:p>
          <a:p>
            <a:r>
              <a:rPr lang="ru-RU" sz="2800" dirty="0" smtClean="0"/>
              <a:t>по </a:t>
            </a:r>
            <a:r>
              <a:rPr lang="ru-RU" sz="2800" dirty="0"/>
              <a:t>индексу: </a:t>
            </a:r>
            <a:r>
              <a:rPr lang="ru-RU" sz="2800" b="1" dirty="0"/>
              <a:t>'\i'</a:t>
            </a:r>
            <a:r>
              <a:rPr lang="ru-RU" sz="2800" dirty="0"/>
              <a:t>, где i - это порядковый номер группы;</a:t>
            </a:r>
          </a:p>
          <a:p>
            <a:r>
              <a:rPr lang="ru-RU" sz="2800" dirty="0" smtClean="0"/>
              <a:t>по </a:t>
            </a:r>
            <a:r>
              <a:rPr lang="ru-RU" sz="2800" dirty="0"/>
              <a:t>имени: </a:t>
            </a:r>
            <a:r>
              <a:rPr lang="ru-RU" sz="2800" b="1" dirty="0"/>
              <a:t>'\k&lt;Название&gt;'</a:t>
            </a:r>
            <a:r>
              <a:rPr lang="ru-RU" sz="2800" dirty="0"/>
              <a:t>, если группа была </a:t>
            </a:r>
            <a:r>
              <a:rPr lang="ru-RU" sz="2800" dirty="0" err="1"/>
              <a:t>именованой</a:t>
            </a:r>
            <a:r>
              <a:rPr lang="ru-RU" sz="2800" dirty="0"/>
              <a:t>.</a:t>
            </a:r>
            <a:endParaRPr lang="en-US" sz="2800" dirty="0"/>
          </a:p>
        </p:txBody>
      </p:sp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770711" y="2166320"/>
            <a:ext cx="3284440" cy="1462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559993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-1"/>
            <a:ext cx="12055151" cy="1306287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 smtClean="0"/>
              <a:t>регулярные выражения </a:t>
            </a:r>
            <a:r>
              <a:rPr lang="ru-RU" dirty="0"/>
              <a:t>– </a:t>
            </a:r>
            <a:r>
              <a:rPr lang="ru-RU" dirty="0" smtClean="0"/>
              <a:t>группировка </a:t>
            </a:r>
            <a:r>
              <a:rPr lang="ru-RU" dirty="0"/>
              <a:t>'( )' </a:t>
            </a:r>
            <a:r>
              <a:rPr lang="ru-RU" b="1" dirty="0" smtClean="0"/>
              <a:t> </a:t>
            </a:r>
            <a:endParaRPr lang="ru-RU" dirty="0"/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365190169"/>
              </p:ext>
            </p:extLst>
          </p:nvPr>
        </p:nvGraphicFramePr>
        <p:xfrm>
          <a:off x="116114" y="1634032"/>
          <a:ext cx="11939037" cy="45110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518266">
                  <a:extLst>
                    <a:ext uri="{9D8B030D-6E8A-4147-A177-3AD203B41FA5}">
                      <a16:colId xmlns:a16="http://schemas.microsoft.com/office/drawing/2014/main" xmlns="" val="3800547308"/>
                    </a:ext>
                  </a:extLst>
                </a:gridCol>
                <a:gridCol w="7420771">
                  <a:extLst>
                    <a:ext uri="{9D8B030D-6E8A-4147-A177-3AD203B41FA5}">
                      <a16:colId xmlns:a16="http://schemas.microsoft.com/office/drawing/2014/main" xmlns="" val="24290239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ru-RU" sz="2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</a:t>
                      </a:r>
                      <a:r>
                        <a:rPr lang="ru-RU" sz="2800" b="1" i="0" dirty="0" smtClean="0">
                          <a:solidFill>
                            <a:srgbClr val="404040"/>
                          </a:solidFill>
                          <a:effectLst/>
                          <a:latin typeface="+mn-lt"/>
                        </a:rPr>
                        <a:t>(?&lt;имя&gt;</a:t>
                      </a:r>
                      <a:r>
                        <a:rPr lang="ru-RU" sz="2800" b="1" i="0" dirty="0" err="1" smtClean="0">
                          <a:solidFill>
                            <a:srgbClr val="404040"/>
                          </a:solidFill>
                          <a:effectLst/>
                          <a:latin typeface="+mn-lt"/>
                        </a:rPr>
                        <a:t>часть_выражения</a:t>
                      </a:r>
                      <a:r>
                        <a:rPr lang="ru-RU" sz="2800" b="1" i="0" dirty="0" smtClean="0">
                          <a:solidFill>
                            <a:srgbClr val="404040"/>
                          </a:solidFill>
                          <a:effectLst/>
                          <a:latin typeface="+mn-lt"/>
                        </a:rPr>
                        <a:t>)</a:t>
                      </a:r>
                      <a:r>
                        <a:rPr lang="ru-RU" sz="2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</a:t>
                      </a:r>
                      <a:endParaRPr lang="ru-RU" sz="2800" b="1" dirty="0">
                        <a:effectLst/>
                        <a:latin typeface="+mn-lt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r>
                        <a:rPr lang="ru-RU" sz="2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Выделяет соответствующую часть выражения в именованную группу. Именованные группы удобно использовать в длинных или сложных регулярных выражениях.</a:t>
                      </a:r>
                    </a:p>
                    <a:p>
                      <a:r>
                        <a:rPr lang="ru-RU" sz="2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ru-RU" sz="24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'(?&lt;</a:t>
                      </a:r>
                      <a:r>
                        <a:rPr lang="ru-RU" sz="2400" b="1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word</a:t>
                      </a:r>
                      <a:r>
                        <a:rPr lang="ru-RU" sz="24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&gt;\w+)\s+\k&lt;</a:t>
                      </a:r>
                      <a:r>
                        <a:rPr lang="ru-RU" sz="2400" b="1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word</a:t>
                      </a:r>
                      <a:r>
                        <a:rPr lang="ru-RU" sz="24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&gt;' </a:t>
                      </a:r>
                      <a:r>
                        <a:rPr lang="ru-RU" sz="2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ru-RU" sz="2400" b="0" i="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поиск повторяющихся слов, разделенных пробельным символом (паттерн очень упрощен); при этом первое слово будет захвачено в отдельную группу под именем </a:t>
                      </a:r>
                      <a:r>
                        <a:rPr lang="ru-RU" sz="24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word</a:t>
                      </a:r>
                      <a:endParaRPr lang="ru-RU" sz="2400" b="0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xmlns="" val="719269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ru-RU" sz="2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</a:t>
                      </a:r>
                      <a:r>
                        <a:rPr lang="ru-RU" sz="2800" b="1" i="0" dirty="0" smtClean="0">
                          <a:solidFill>
                            <a:srgbClr val="404040"/>
                          </a:solidFill>
                          <a:effectLst/>
                          <a:latin typeface="+mn-lt"/>
                        </a:rPr>
                        <a:t>(?:</a:t>
                      </a:r>
                      <a:r>
                        <a:rPr lang="ru-RU" sz="2800" b="1" i="0" dirty="0" err="1" smtClean="0">
                          <a:solidFill>
                            <a:srgbClr val="404040"/>
                          </a:solidFill>
                          <a:effectLst/>
                          <a:latin typeface="+mn-lt"/>
                        </a:rPr>
                        <a:t>часть_выражения</a:t>
                      </a:r>
                      <a:r>
                        <a:rPr lang="ru-RU" sz="2800" b="1" i="0" dirty="0" smtClean="0">
                          <a:solidFill>
                            <a:srgbClr val="404040"/>
                          </a:solidFill>
                          <a:effectLst/>
                          <a:latin typeface="+mn-lt"/>
                        </a:rPr>
                        <a:t>)</a:t>
                      </a:r>
                      <a:r>
                        <a:rPr lang="ru-RU" sz="2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</a:t>
                      </a:r>
                      <a:endParaRPr lang="ru-RU" sz="2800" b="1" dirty="0">
                        <a:effectLst/>
                        <a:latin typeface="+mn-lt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r>
                        <a:rPr lang="ru-RU" sz="2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Определяет </a:t>
                      </a:r>
                      <a:r>
                        <a:rPr lang="ru-RU" sz="24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невыделяемую</a:t>
                      </a:r>
                      <a:r>
                        <a:rPr lang="ru-RU" sz="2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группу (без захвата).</a:t>
                      </a:r>
                    </a:p>
                    <a:p>
                      <a:r>
                        <a:rPr lang="ru-RU" sz="24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'(?:\w+)\s'</a:t>
                      </a:r>
                      <a:r>
                        <a:rPr lang="ru-RU" sz="2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выполнит в тексте поиск слов, отделенных пробельным символом; при этом слово НЕ будет захвачено в отдельную группу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xmlns="" val="28528762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4273948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-1"/>
            <a:ext cx="12055151" cy="1306287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 smtClean="0"/>
              <a:t>регулярные выражения </a:t>
            </a:r>
            <a:r>
              <a:rPr lang="ru-RU" dirty="0"/>
              <a:t>– </a:t>
            </a:r>
            <a:r>
              <a:rPr lang="ru-RU" dirty="0" smtClean="0"/>
              <a:t>группировка </a:t>
            </a:r>
            <a:r>
              <a:rPr lang="ru-RU" dirty="0"/>
              <a:t>'( )' </a:t>
            </a:r>
            <a:r>
              <a:rPr lang="ru-RU" b="1" dirty="0" smtClean="0"/>
              <a:t> </a:t>
            </a:r>
            <a:endParaRPr lang="ru-RU" dirty="0"/>
          </a:p>
        </p:txBody>
      </p:sp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81117" y="1540280"/>
            <a:ext cx="5816617" cy="2473511"/>
          </a:xfrm>
          <a:prstGeom prst="rect">
            <a:avLst/>
          </a:prstGeom>
        </p:spPr>
      </p:pic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81117" y="4247785"/>
            <a:ext cx="5123490" cy="2119490"/>
          </a:xfrm>
          <a:prstGeom prst="rect">
            <a:avLst/>
          </a:prstGeom>
        </p:spPr>
      </p:pic>
      <p:pic>
        <p:nvPicPr>
          <p:cNvPr id="6" name="Рисунок 5" descr="Вырезка экрана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913449" y="4350808"/>
            <a:ext cx="3162043" cy="2359493"/>
          </a:xfrm>
          <a:prstGeom prst="rect">
            <a:avLst/>
          </a:prstGeom>
        </p:spPr>
      </p:pic>
      <p:pic>
        <p:nvPicPr>
          <p:cNvPr id="7" name="Рисунок 6" descr="Вырезка экрана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913449" y="1540280"/>
            <a:ext cx="3528255" cy="2304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260594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-1"/>
            <a:ext cx="12055151" cy="1306287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 smtClean="0"/>
              <a:t>регулярные выражения – </a:t>
            </a:r>
            <a:r>
              <a:rPr lang="ru-RU" dirty="0"/>
              <a:t>выбор '|'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91440" y="1306286"/>
            <a:ext cx="1169779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Операция выбора позволяет захватить одно из нескольких выражений в качестве результата поиска</a:t>
            </a:r>
            <a:endParaRPr lang="en-US" sz="2800" dirty="0"/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636256339"/>
              </p:ext>
            </p:extLst>
          </p:nvPr>
        </p:nvGraphicFramePr>
        <p:xfrm>
          <a:off x="0" y="2438367"/>
          <a:ext cx="12192000" cy="3048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xmlns="" val="3800547308"/>
                    </a:ext>
                  </a:extLst>
                </a:gridCol>
                <a:gridCol w="8991600">
                  <a:extLst>
                    <a:ext uri="{9D8B030D-6E8A-4147-A177-3AD203B41FA5}">
                      <a16:colId xmlns:a16="http://schemas.microsoft.com/office/drawing/2014/main" xmlns="" val="24290239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ru-RU" sz="2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'выражение1| выражение2| выражение3'</a:t>
                      </a:r>
                      <a:endParaRPr lang="ru-RU" sz="2800" b="1" dirty="0">
                        <a:effectLst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Соотв. любому элементу, разделенному вертикальной чертой '|'.</a:t>
                      </a:r>
                    </a:p>
                    <a:p>
                      <a:endParaRPr lang="ru-RU" sz="2800" b="0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ru-RU" sz="2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</a:t>
                      </a:r>
                      <a:r>
                        <a:rPr lang="ru-RU" sz="2800" b="1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красн</a:t>
                      </a:r>
                      <a:r>
                        <a:rPr lang="ru-RU" sz="2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(?:</a:t>
                      </a:r>
                      <a:r>
                        <a:rPr lang="ru-RU" sz="2800" b="1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ый|оватый|енький</a:t>
                      </a:r>
                      <a:r>
                        <a:rPr lang="ru-RU" sz="2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)'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найдет в тексте слова 'красный', 'красноватый', 'красненький'; </a:t>
                      </a:r>
                    </a:p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при этом окончание не будет захвачено в группу </a:t>
                      </a:r>
                    </a:p>
                    <a:p>
                      <a:pPr algn="just"/>
                      <a:endParaRPr lang="ru-RU" sz="2800" b="1" dirty="0">
                        <a:effectLst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xmlns="" val="719269375"/>
                  </a:ext>
                </a:extLst>
              </a:tr>
            </a:tbl>
          </a:graphicData>
        </a:graphic>
      </p:graphicFrame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955213" y="-144059"/>
            <a:ext cx="5770911" cy="2409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405030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-1"/>
            <a:ext cx="12055151" cy="173566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 smtClean="0"/>
              <a:t>регулярные выражения – проверка границ поиска текста(привязки)</a:t>
            </a:r>
            <a:endParaRPr lang="ru-RU" dirty="0"/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185106482"/>
              </p:ext>
            </p:extLst>
          </p:nvPr>
        </p:nvGraphicFramePr>
        <p:xfrm>
          <a:off x="113608" y="2143525"/>
          <a:ext cx="11827933" cy="46939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792325">
                  <a:extLst>
                    <a:ext uri="{9D8B030D-6E8A-4147-A177-3AD203B41FA5}">
                      <a16:colId xmlns:a16="http://schemas.microsoft.com/office/drawing/2014/main" xmlns="" val="3800547308"/>
                    </a:ext>
                  </a:extLst>
                </a:gridCol>
                <a:gridCol w="11035608">
                  <a:extLst>
                    <a:ext uri="{9D8B030D-6E8A-4147-A177-3AD203B41FA5}">
                      <a16:colId xmlns:a16="http://schemas.microsoft.com/office/drawing/2014/main" xmlns="" val="24290239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2800" b="1">
                          <a:effectLst/>
                        </a:rPr>
                        <a:t>'^'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ru-RU" sz="2800" dirty="0" smtClean="0">
                          <a:effectLst/>
                        </a:rPr>
                        <a:t>в </a:t>
                      </a:r>
                      <a:r>
                        <a:rPr lang="ru-RU" sz="2800" dirty="0">
                          <a:effectLst/>
                        </a:rPr>
                        <a:t>начале строки или после знака переноса (для каждой строки в многострочном режиме)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xmlns="" val="719269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2800" b="1">
                          <a:effectLst/>
                        </a:rPr>
                        <a:t>'$'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ru-RU" sz="2800" dirty="0" smtClean="0">
                          <a:effectLst/>
                        </a:rPr>
                        <a:t>в </a:t>
                      </a:r>
                      <a:r>
                        <a:rPr lang="ru-RU" sz="2800" dirty="0">
                          <a:effectLst/>
                        </a:rPr>
                        <a:t>конце строки или до символа '\n' в конце строки (для каждой строки в многострочном режиме)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xmlns="" val="26134281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2800" b="1">
                          <a:effectLst/>
                        </a:rPr>
                        <a:t>'\A'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ru-RU" sz="2800" dirty="0" smtClean="0">
                          <a:effectLst/>
                        </a:rPr>
                        <a:t>в </a:t>
                      </a:r>
                      <a:r>
                        <a:rPr lang="ru-RU" sz="2800" dirty="0">
                          <a:effectLst/>
                        </a:rPr>
                        <a:t>начале строки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xmlns="" val="3091909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2800" b="1">
                          <a:effectLst/>
                        </a:rPr>
                        <a:t>'\Z'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ru-RU" sz="2800" dirty="0" smtClean="0">
                          <a:effectLst/>
                        </a:rPr>
                        <a:t>в </a:t>
                      </a:r>
                      <a:r>
                        <a:rPr lang="ru-RU" sz="2800" dirty="0">
                          <a:effectLst/>
                        </a:rPr>
                        <a:t>конце строки или до символа '\n' в конце строки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xmlns="" val="31584798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2800" b="1">
                          <a:effectLst/>
                        </a:rPr>
                        <a:t>'\z'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ru-RU" sz="2800" dirty="0" smtClean="0">
                          <a:effectLst/>
                        </a:rPr>
                        <a:t>в </a:t>
                      </a:r>
                      <a:r>
                        <a:rPr lang="ru-RU" sz="2800" dirty="0">
                          <a:effectLst/>
                        </a:rPr>
                        <a:t>конце строки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xmlns="" val="3601025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2800" b="1">
                          <a:effectLst/>
                        </a:rPr>
                        <a:t>'\G'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ru-RU" sz="2800" dirty="0" smtClean="0">
                          <a:effectLst/>
                        </a:rPr>
                        <a:t>в </a:t>
                      </a:r>
                      <a:r>
                        <a:rPr lang="ru-RU" sz="2800" dirty="0">
                          <a:effectLst/>
                        </a:rPr>
                        <a:t>той точке, где заканчивается предыдущее соответствие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xmlns="" val="1070669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2800" b="1" dirty="0">
                          <a:effectLst/>
                        </a:rPr>
                        <a:t>'\b'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ru-RU" sz="2800" dirty="0" smtClean="0">
                          <a:effectLst/>
                        </a:rPr>
                        <a:t>на </a:t>
                      </a:r>
                      <a:r>
                        <a:rPr lang="ru-RU" sz="2800" dirty="0">
                          <a:effectLst/>
                        </a:rPr>
                        <a:t>границе между символом '\w' (алфавитно-цифровым) и символом '\W' (не алфавитно-цифровым)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xmlns="" val="271320551"/>
                  </a:ext>
                </a:extLst>
              </a:tr>
            </a:tbl>
          </a:graphicData>
        </a:graphic>
      </p:graphicFrame>
      <p:sp>
        <p:nvSpPr>
          <p:cNvPr id="3" name="Прямоугольник 2"/>
          <p:cNvSpPr/>
          <p:nvPr/>
        </p:nvSpPr>
        <p:spPr>
          <a:xfrm>
            <a:off x="160868" y="1667931"/>
            <a:ext cx="616508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/>
              <a:t>Соответствие должно </a:t>
            </a:r>
            <a:r>
              <a:rPr lang="ru-RU" sz="2800" dirty="0" smtClean="0"/>
              <a:t>обнаруживаться:</a:t>
            </a:r>
            <a:endParaRPr lang="en-US" sz="2800" dirty="0"/>
          </a:p>
        </p:txBody>
      </p:sp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596615" y="-271400"/>
            <a:ext cx="5105693" cy="2265440"/>
          </a:xfrm>
          <a:prstGeom prst="rect">
            <a:avLst/>
          </a:prstGeom>
        </p:spPr>
      </p:pic>
      <p:pic>
        <p:nvPicPr>
          <p:cNvPr id="6" name="Рисунок 5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794541" y="0"/>
            <a:ext cx="4515503" cy="1924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577298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-1"/>
            <a:ext cx="12055151" cy="173566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 smtClean="0"/>
              <a:t>регулярные выражения – проверка границ поиска текста(привязки)</a:t>
            </a:r>
            <a:endParaRPr lang="ru-RU" dirty="0"/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815240441"/>
              </p:ext>
            </p:extLst>
          </p:nvPr>
        </p:nvGraphicFramePr>
        <p:xfrm>
          <a:off x="113608" y="2783813"/>
          <a:ext cx="11827933" cy="9144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46325">
                  <a:extLst>
                    <a:ext uri="{9D8B030D-6E8A-4147-A177-3AD203B41FA5}">
                      <a16:colId xmlns:a16="http://schemas.microsoft.com/office/drawing/2014/main" xmlns="" val="3800547308"/>
                    </a:ext>
                  </a:extLst>
                </a:gridCol>
                <a:gridCol w="10781608">
                  <a:extLst>
                    <a:ext uri="{9D8B030D-6E8A-4147-A177-3AD203B41FA5}">
                      <a16:colId xmlns:a16="http://schemas.microsoft.com/office/drawing/2014/main" xmlns="" val="24290239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2800" b="1" dirty="0" smtClean="0">
                          <a:effectLst/>
                        </a:rPr>
                        <a:t>'\B'</a:t>
                      </a:r>
                      <a:endParaRPr lang="en-US" sz="2800" b="1" dirty="0">
                        <a:effectLst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на границе </a:t>
                      </a:r>
                      <a:r>
                        <a:rPr lang="ru-RU" sz="2800" dirty="0" smtClean="0">
                          <a:effectLst/>
                        </a:rPr>
                        <a:t>'\</a:t>
                      </a:r>
                      <a:r>
                        <a:rPr lang="en-US" sz="2800" dirty="0" smtClean="0">
                          <a:effectLst/>
                        </a:rPr>
                        <a:t>b‘</a:t>
                      </a:r>
                      <a:r>
                        <a:rPr lang="ru-RU" sz="2800" dirty="0" smtClean="0">
                          <a:effectLst/>
                        </a:rPr>
                        <a:t> - на </a:t>
                      </a:r>
                      <a:r>
                        <a:rPr lang="ru-RU" sz="2800" dirty="0">
                          <a:effectLst/>
                        </a:rPr>
                        <a:t>границе между символом '\w' (алфавитно-цифровым) и символом '\W' (не алфавитно-цифровым)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xmlns="" val="271320551"/>
                  </a:ext>
                </a:extLst>
              </a:tr>
            </a:tbl>
          </a:graphicData>
        </a:graphic>
      </p:graphicFrame>
      <p:sp>
        <p:nvSpPr>
          <p:cNvPr id="3" name="Прямоугольник 2"/>
          <p:cNvSpPr/>
          <p:nvPr/>
        </p:nvSpPr>
        <p:spPr>
          <a:xfrm>
            <a:off x="228601" y="1998130"/>
            <a:ext cx="661713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/>
              <a:t>Соответствие </a:t>
            </a:r>
            <a:r>
              <a:rPr lang="ru-RU" sz="2800" dirty="0" smtClean="0"/>
              <a:t>не должно обнаруживаться: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xmlns="" val="3267984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28601" y="0"/>
            <a:ext cx="11607800" cy="11853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/>
              <a:t>модуль </a:t>
            </a:r>
            <a:r>
              <a:rPr lang="en-US" dirty="0"/>
              <a:t>re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228601" y="1718730"/>
            <a:ext cx="11059701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smtClean="0"/>
              <a:t>Способы компиляции </a:t>
            </a:r>
            <a:r>
              <a:rPr lang="ru-RU" sz="2800" dirty="0"/>
              <a:t>регулярного выражения - </a:t>
            </a:r>
            <a:r>
              <a:rPr lang="ru-RU" sz="2800" dirty="0" smtClean="0"/>
              <a:t>перевода </a:t>
            </a:r>
            <a:r>
              <a:rPr lang="ru-RU" sz="2800" dirty="0"/>
              <a:t>заданного выражения во внутренний формат </a:t>
            </a:r>
            <a:r>
              <a:rPr lang="ru-RU" sz="2800" dirty="0" smtClean="0"/>
              <a:t>:</a:t>
            </a:r>
          </a:p>
          <a:p>
            <a:pPr marL="514350" indent="-514350">
              <a:buAutoNum type="arabicPeriod"/>
            </a:pPr>
            <a:r>
              <a:rPr lang="ru-RU" sz="2800" dirty="0" smtClean="0"/>
              <a:t>Для однократной проверки </a:t>
            </a:r>
            <a:r>
              <a:rPr lang="ru-RU" sz="2800" dirty="0"/>
              <a:t>- функции модуля </a:t>
            </a:r>
            <a:r>
              <a:rPr lang="ru-RU" sz="2800" dirty="0" err="1" smtClean="0"/>
              <a:t>re</a:t>
            </a:r>
            <a:r>
              <a:rPr lang="ru-RU" sz="2800" dirty="0" smtClean="0"/>
              <a:t>  - во </a:t>
            </a:r>
            <a:r>
              <a:rPr lang="ru-RU" sz="2800" dirty="0"/>
              <a:t>время вызова функции, произойдет компиляция регулярного выражения и дальнейший поиск соответствий</a:t>
            </a:r>
            <a:r>
              <a:rPr lang="ru-RU" sz="2800" dirty="0" smtClean="0"/>
              <a:t>.</a:t>
            </a:r>
          </a:p>
          <a:p>
            <a:pPr marL="514350" indent="-514350">
              <a:buAutoNum type="arabicPeriod"/>
            </a:pPr>
            <a:r>
              <a:rPr lang="ru-RU" sz="2800" dirty="0" smtClean="0"/>
              <a:t>Для многократной проверки </a:t>
            </a:r>
            <a:r>
              <a:rPr lang="ru-RU" sz="2800" dirty="0"/>
              <a:t>- один раз скомпилировать выражение (получив специальный объект класса </a:t>
            </a:r>
            <a:r>
              <a:rPr lang="ru-RU" sz="2800" dirty="0" err="1"/>
              <a:t>re.regex</a:t>
            </a:r>
            <a:r>
              <a:rPr lang="ru-RU" sz="2800" dirty="0"/>
              <a:t>), а затем использовать его методы.</a:t>
            </a:r>
            <a:endParaRPr lang="en-US" sz="28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448731" y="5452893"/>
            <a:ext cx="1097280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регулярные выражения обычно записываются в виде «сырых» строк </a:t>
            </a:r>
            <a:endParaRPr lang="ru-RU" sz="2800" dirty="0" smtClean="0"/>
          </a:p>
          <a:p>
            <a:r>
              <a:rPr lang="ru-RU" sz="2800" dirty="0" smtClean="0"/>
              <a:t>(</a:t>
            </a:r>
            <a:r>
              <a:rPr lang="ru-RU" sz="2800" dirty="0"/>
              <a:t>с префиксом r, подавляющих </a:t>
            </a:r>
            <a:r>
              <a:rPr lang="ru-RU" sz="2800" dirty="0" smtClean="0"/>
              <a:t>экранирование):   r</a:t>
            </a:r>
            <a:r>
              <a:rPr lang="ru-RU" sz="2800" dirty="0"/>
              <a:t>"\n" вместо "\\n"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xmlns="" val="256788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96334" y="-1"/>
            <a:ext cx="11607800" cy="14732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/>
              <a:t>модуль </a:t>
            </a:r>
            <a:r>
              <a:rPr lang="en-US" dirty="0" smtClean="0"/>
              <a:t>re</a:t>
            </a:r>
            <a:r>
              <a:rPr lang="ru-RU" dirty="0" smtClean="0"/>
              <a:t> - константы</a:t>
            </a:r>
            <a:endParaRPr lang="ru-RU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386544" y="1694934"/>
            <a:ext cx="795493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/>
              <a:t>устанавливаются при вызове функции </a:t>
            </a:r>
            <a:r>
              <a:rPr lang="ru-RU" sz="2800" dirty="0" err="1"/>
              <a:t>re.compile</a:t>
            </a:r>
            <a:r>
              <a:rPr lang="ru-RU" sz="2800" dirty="0" smtClean="0"/>
              <a:t>()</a:t>
            </a:r>
            <a:endParaRPr lang="en-US" sz="2800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345516117"/>
              </p:ext>
            </p:extLst>
          </p:nvPr>
        </p:nvGraphicFramePr>
        <p:xfrm>
          <a:off x="499533" y="2439888"/>
          <a:ext cx="11192934" cy="36525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446867">
                  <a:extLst>
                    <a:ext uri="{9D8B030D-6E8A-4147-A177-3AD203B41FA5}">
                      <a16:colId xmlns:a16="http://schemas.microsoft.com/office/drawing/2014/main" xmlns="" val="3680208947"/>
                    </a:ext>
                  </a:extLst>
                </a:gridCol>
                <a:gridCol w="8746067">
                  <a:extLst>
                    <a:ext uri="{9D8B030D-6E8A-4147-A177-3AD203B41FA5}">
                      <a16:colId xmlns:a16="http://schemas.microsoft.com/office/drawing/2014/main" xmlns="" val="10307245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re.IGNORECASE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Флаг проверки регулярного выражения без учета регистра. Не зависит от текущей локали.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2842545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re.MULTILINE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Флаг включения многострочного режима. При этом '^' определяет начало, а '$' - окончание каждой строки (без этого режима, определяется соответствие до первого символа переноса строки).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1847298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re.DOTALL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Флаг включает соответствие '.' любому символу, включая перенос строки.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37174560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140862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0"/>
            <a:ext cx="11607800" cy="1270001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/>
              <a:t>модуль </a:t>
            </a:r>
            <a:r>
              <a:rPr lang="en-US" dirty="0" smtClean="0"/>
              <a:t>re</a:t>
            </a:r>
            <a:r>
              <a:rPr lang="ru-RU" dirty="0" smtClean="0"/>
              <a:t> - функции</a:t>
            </a: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370757425"/>
              </p:ext>
            </p:extLst>
          </p:nvPr>
        </p:nvGraphicFramePr>
        <p:xfrm>
          <a:off x="101601" y="1270001"/>
          <a:ext cx="11963400" cy="551186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081866">
                  <a:extLst>
                    <a:ext uri="{9D8B030D-6E8A-4147-A177-3AD203B41FA5}">
                      <a16:colId xmlns:a16="http://schemas.microsoft.com/office/drawing/2014/main" xmlns="" val="3680208947"/>
                    </a:ext>
                  </a:extLst>
                </a:gridCol>
                <a:gridCol w="8881534">
                  <a:extLst>
                    <a:ext uri="{9D8B030D-6E8A-4147-A177-3AD203B41FA5}">
                      <a16:colId xmlns:a16="http://schemas.microsoft.com/office/drawing/2014/main" xmlns="" val="10307245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800" b="1" dirty="0" err="1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re.compile</a:t>
                      </a:r>
                      <a:r>
                        <a:rPr lang="en-US" sz="2800" b="1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(pattern, flags=0)</a:t>
                      </a:r>
                      <a:endParaRPr lang="en-US" sz="2800" b="1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Компилирует регулярное выражение </a:t>
                      </a:r>
                      <a:r>
                        <a:rPr lang="en-US" sz="2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pattern, </a:t>
                      </a:r>
                      <a:r>
                        <a:rPr lang="ru-RU" sz="2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используя флаги </a:t>
                      </a:r>
                      <a:r>
                        <a:rPr lang="en-US" sz="2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flags (</a:t>
                      </a:r>
                      <a:r>
                        <a:rPr lang="ru-RU" sz="2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например, </a:t>
                      </a:r>
                      <a:r>
                        <a:rPr lang="en-US" sz="26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re.MULTILINE</a:t>
                      </a:r>
                      <a:r>
                        <a:rPr lang="en-US" sz="2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lang="ru-RU" sz="2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и возвращая объект класса </a:t>
                      </a:r>
                      <a:r>
                        <a:rPr lang="en-US" sz="26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re.regex</a:t>
                      </a:r>
                      <a:r>
                        <a:rPr lang="en-US" sz="2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60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regex = </a:t>
                      </a:r>
                      <a:r>
                        <a:rPr lang="en-US" sz="2600" b="1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re.compile</a:t>
                      </a:r>
                      <a:r>
                        <a:rPr lang="en-US" sz="260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("^.+?(\d)")</a:t>
                      </a:r>
                      <a:endParaRPr lang="en-US" sz="2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2842545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800" b="1" dirty="0" err="1" smtClean="0">
                          <a:latin typeface="+mn-lt"/>
                        </a:rPr>
                        <a:t>re.search</a:t>
                      </a:r>
                      <a:r>
                        <a:rPr lang="en-US" sz="2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2800" b="1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pattern</a:t>
                      </a:r>
                      <a:r>
                        <a:rPr lang="en-US" sz="2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endParaRPr lang="ru-RU" sz="2800" b="1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800" b="1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string</a:t>
                      </a:r>
                      <a:r>
                        <a:rPr lang="en-US" sz="2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US" sz="2800" b="1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flags=0</a:t>
                      </a:r>
                      <a:r>
                        <a:rPr lang="en-US" sz="2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sz="2800" b="1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Сканирует строку </a:t>
                      </a:r>
                      <a:r>
                        <a:rPr lang="ru-RU" sz="26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string</a:t>
                      </a:r>
                      <a:r>
                        <a:rPr lang="ru-RU" sz="2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на первое вхождение регулярного выражения. Возвращает: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 объект класса </a:t>
                      </a:r>
                      <a:r>
                        <a:rPr lang="ru-RU" sz="2600" b="1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re.match</a:t>
                      </a:r>
                      <a:r>
                        <a:rPr lang="ru-RU" sz="2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- если вхождение найдено;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ru-RU" sz="2600" b="1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None</a:t>
                      </a:r>
                      <a:r>
                        <a:rPr lang="ru-RU" sz="2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- если вхождение не найдено.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Если результат функции - не </a:t>
                      </a:r>
                      <a:r>
                        <a:rPr lang="ru-RU" sz="26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None</a:t>
                      </a:r>
                      <a:r>
                        <a:rPr lang="ru-RU" sz="2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:</a:t>
                      </a:r>
                    </a:p>
                    <a:p>
                      <a:pPr marL="457200" indent="-4572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ru-RU" sz="2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если достаточно было найти первое вхождение, можно использовать имеющийся объект </a:t>
                      </a:r>
                      <a:r>
                        <a:rPr lang="ru-RU" sz="2600" b="1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re.match</a:t>
                      </a:r>
                      <a:r>
                        <a:rPr lang="ru-RU" sz="2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;</a:t>
                      </a:r>
                    </a:p>
                    <a:p>
                      <a:pPr marL="457200" indent="-4572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ru-RU" sz="2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если необходимо найти все вхождения, следует воспользоваться функциями </a:t>
                      </a:r>
                      <a:r>
                        <a:rPr lang="ru-RU" sz="2600" b="1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re.finditer</a:t>
                      </a:r>
                      <a:r>
                        <a:rPr lang="ru-RU" sz="260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() </a:t>
                      </a:r>
                      <a:r>
                        <a:rPr lang="ru-RU" sz="2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или </a:t>
                      </a:r>
                      <a:r>
                        <a:rPr lang="ru-RU" sz="2600" b="1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re.findall</a:t>
                      </a:r>
                      <a:r>
                        <a:rPr lang="ru-RU" sz="260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()</a:t>
                      </a:r>
                      <a:endParaRPr lang="en-US" sz="2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1847298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554662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0"/>
            <a:ext cx="11607800" cy="1270001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/>
              <a:t>модуль </a:t>
            </a:r>
            <a:r>
              <a:rPr lang="en-US" dirty="0" smtClean="0"/>
              <a:t>re</a:t>
            </a:r>
            <a:r>
              <a:rPr lang="ru-RU" dirty="0" smtClean="0"/>
              <a:t> – функции (возвращают)</a:t>
            </a: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097991945"/>
              </p:ext>
            </p:extLst>
          </p:nvPr>
        </p:nvGraphicFramePr>
        <p:xfrm>
          <a:off x="101601" y="1270001"/>
          <a:ext cx="11963400" cy="55473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692399">
                  <a:extLst>
                    <a:ext uri="{9D8B030D-6E8A-4147-A177-3AD203B41FA5}">
                      <a16:colId xmlns:a16="http://schemas.microsoft.com/office/drawing/2014/main" xmlns="" val="3680208947"/>
                    </a:ext>
                  </a:extLst>
                </a:gridCol>
                <a:gridCol w="9271001">
                  <a:extLst>
                    <a:ext uri="{9D8B030D-6E8A-4147-A177-3AD203B41FA5}">
                      <a16:colId xmlns:a16="http://schemas.microsoft.com/office/drawing/2014/main" xmlns="" val="10307245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600" b="1" dirty="0" err="1" smtClean="0"/>
                        <a:t>re.split</a:t>
                      </a:r>
                      <a:r>
                        <a:rPr lang="en-US" sz="26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2600" b="1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pattern</a:t>
                      </a:r>
                      <a:r>
                        <a:rPr lang="en-US" sz="26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endParaRPr lang="ru-RU" sz="2600" b="1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600" b="1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string</a:t>
                      </a:r>
                      <a:r>
                        <a:rPr lang="en-US" sz="26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US" sz="2600" b="1" i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maxsplit</a:t>
                      </a:r>
                      <a:r>
                        <a:rPr lang="en-US" sz="2600" b="1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=0</a:t>
                      </a:r>
                      <a:r>
                        <a:rPr lang="en-US" sz="26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US" sz="2600" b="1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flags=0</a:t>
                      </a:r>
                      <a:r>
                        <a:rPr lang="en-US" sz="26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sz="2600" b="1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2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список - результат разбиения строки </a:t>
                      </a:r>
                      <a:r>
                        <a:rPr lang="ru-RU" sz="2600" b="1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string</a:t>
                      </a:r>
                      <a:r>
                        <a:rPr lang="ru-RU" sz="2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по совпадениям шаблона </a:t>
                      </a:r>
                      <a:r>
                        <a:rPr lang="ru-RU" sz="2600" b="1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pattern</a:t>
                      </a:r>
                      <a:r>
                        <a:rPr lang="ru-RU" sz="2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r>
                        <a:rPr lang="ru-RU" sz="2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Последним элементом всегда идет «остаток» строки, </a:t>
                      </a:r>
                      <a:r>
                        <a:rPr lang="ru-RU" sz="2600" b="1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maxsplit</a:t>
                      </a:r>
                      <a:r>
                        <a:rPr lang="ru-RU" sz="2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- количество разбиений (0 - любое).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2842545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600" b="1" dirty="0" err="1" smtClean="0"/>
                        <a:t>re.findall</a:t>
                      </a:r>
                      <a:r>
                        <a:rPr lang="en-US" sz="26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2600" b="1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pattern</a:t>
                      </a:r>
                      <a:r>
                        <a:rPr lang="en-US" sz="26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endParaRPr lang="ru-RU" sz="2600" b="1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600" b="1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string</a:t>
                      </a:r>
                      <a:r>
                        <a:rPr lang="en-US" sz="26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US" sz="2600" b="1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flags=0</a:t>
                      </a:r>
                      <a:r>
                        <a:rPr lang="en-US" sz="26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sz="2600" b="1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2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список строк всех неперекрывающихся совпадений, просматривая текст для поиска слева направо. Если в регулярном выражении используется группировка, она возвращается в списке.</a:t>
                      </a:r>
                    </a:p>
                    <a:p>
                      <a:r>
                        <a:rPr lang="ru-RU" sz="2600" b="1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re.findall</a:t>
                      </a:r>
                      <a:r>
                        <a:rPr lang="ru-RU" sz="26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(r"\d+", "123aaa bb456b ccc789") </a:t>
                      </a:r>
                      <a:r>
                        <a:rPr lang="ru-RU" sz="26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# ['123', '456', '789']</a:t>
                      </a:r>
                      <a:endParaRPr lang="ru-RU" sz="2600" b="0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1847298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600" b="1" dirty="0" err="1" smtClean="0"/>
                        <a:t>re.finditer</a:t>
                      </a:r>
                      <a:r>
                        <a:rPr lang="en-US" sz="26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2600" b="1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pattern</a:t>
                      </a:r>
                      <a:r>
                        <a:rPr lang="en-US" sz="26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US" sz="2600" b="1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string</a:t>
                      </a:r>
                      <a:r>
                        <a:rPr lang="en-US" sz="26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US" sz="2600" b="1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flags=0</a:t>
                      </a:r>
                      <a:r>
                        <a:rPr lang="en-US" sz="26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sz="2600" b="1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2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итератор, возвращающий объект класса </a:t>
                      </a:r>
                      <a:r>
                        <a:rPr lang="ru-RU" sz="2600" b="0" i="0" u="none" strike="noStrike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 tooltip="re.match"/>
                        </a:rPr>
                        <a:t>re.match</a:t>
                      </a:r>
                      <a:r>
                        <a:rPr lang="ru-RU" sz="2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для каждого непересекающегося совпадения регулярного выражения в строке.</a:t>
                      </a:r>
                    </a:p>
                    <a:p>
                      <a:r>
                        <a:rPr lang="ru-RU" sz="2600" b="1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</a:t>
                      </a:r>
                      <a:r>
                        <a:rPr lang="ru-RU" sz="2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6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match</a:t>
                      </a:r>
                      <a:r>
                        <a:rPr lang="ru-RU" sz="2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600" b="1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</a:t>
                      </a:r>
                      <a:r>
                        <a:rPr lang="ru-RU" sz="2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600" b="1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re.finditer</a:t>
                      </a:r>
                      <a:r>
                        <a:rPr lang="ru-RU" sz="26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(r"\d+", "123aaa bb456b ccc789")</a:t>
                      </a:r>
                      <a:r>
                        <a:rPr lang="ru-RU" sz="2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ru-RU" sz="26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print</a:t>
                      </a:r>
                      <a:r>
                        <a:rPr lang="ru-RU" sz="2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ru-RU" sz="26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match</a:t>
                      </a:r>
                      <a:r>
                        <a:rPr lang="ru-RU" sz="2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604043232"/>
                  </a:ext>
                </a:extLst>
              </a:tr>
            </a:tbl>
          </a:graphicData>
        </a:graphic>
      </p:graphicFrame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938369" y="5718628"/>
            <a:ext cx="6881099" cy="907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79962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0"/>
            <a:ext cx="11607800" cy="1270001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/>
              <a:t>модуль </a:t>
            </a:r>
            <a:r>
              <a:rPr lang="en-US" dirty="0" smtClean="0"/>
              <a:t>re</a:t>
            </a:r>
            <a:r>
              <a:rPr lang="ru-RU" dirty="0" smtClean="0"/>
              <a:t> – функции </a:t>
            </a:r>
            <a:r>
              <a:rPr lang="ru-RU" dirty="0"/>
              <a:t>(возвращают</a:t>
            </a:r>
            <a:r>
              <a:rPr lang="ru-RU" dirty="0" smtClean="0"/>
              <a:t>)</a:t>
            </a: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391731678"/>
              </p:ext>
            </p:extLst>
          </p:nvPr>
        </p:nvGraphicFramePr>
        <p:xfrm>
          <a:off x="101601" y="1270001"/>
          <a:ext cx="11963400" cy="55473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692399">
                  <a:extLst>
                    <a:ext uri="{9D8B030D-6E8A-4147-A177-3AD203B41FA5}">
                      <a16:colId xmlns:a16="http://schemas.microsoft.com/office/drawing/2014/main" xmlns="" val="3680208947"/>
                    </a:ext>
                  </a:extLst>
                </a:gridCol>
                <a:gridCol w="9271001">
                  <a:extLst>
                    <a:ext uri="{9D8B030D-6E8A-4147-A177-3AD203B41FA5}">
                      <a16:colId xmlns:a16="http://schemas.microsoft.com/office/drawing/2014/main" xmlns="" val="10307245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600" b="1" dirty="0" err="1" smtClean="0"/>
                        <a:t>re.sub</a:t>
                      </a:r>
                      <a:r>
                        <a:rPr lang="en-US" sz="26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2600" b="1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pattern</a:t>
                      </a:r>
                      <a:r>
                        <a:rPr lang="en-US" sz="26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US" sz="2600" b="1" i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repl</a:t>
                      </a:r>
                      <a:r>
                        <a:rPr lang="en-US" sz="26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US" sz="2600" b="1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string</a:t>
                      </a:r>
                      <a:r>
                        <a:rPr lang="en-US" sz="26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US" sz="2600" b="1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count=0</a:t>
                      </a:r>
                      <a:r>
                        <a:rPr lang="en-US" sz="26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US" sz="2600" b="1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flags=0</a:t>
                      </a:r>
                      <a:r>
                        <a:rPr lang="en-US" sz="26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sz="2600" b="1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2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строку </a:t>
                      </a:r>
                      <a:r>
                        <a:rPr lang="ru-RU" sz="26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string</a:t>
                      </a:r>
                      <a:r>
                        <a:rPr lang="ru-RU" sz="2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в которой произведена замена всех неперекрывающихся совпадений с шаблоном </a:t>
                      </a:r>
                      <a:r>
                        <a:rPr lang="ru-RU" sz="26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pattern</a:t>
                      </a:r>
                      <a:r>
                        <a:rPr lang="ru-RU" sz="2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на строку </a:t>
                      </a:r>
                      <a:r>
                        <a:rPr lang="ru-RU" sz="26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repl</a:t>
                      </a:r>
                      <a:r>
                        <a:rPr lang="ru-RU" sz="2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Если </a:t>
                      </a:r>
                      <a:r>
                        <a:rPr lang="ru-RU" sz="26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repl</a:t>
                      </a:r>
                      <a:r>
                        <a:rPr lang="ru-RU" sz="2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- функция, она вызывается для каждого совпадения.</a:t>
                      </a:r>
                    </a:p>
                    <a:p>
                      <a:r>
                        <a:rPr lang="ru-RU" sz="2600" b="1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re.sub</a:t>
                      </a:r>
                      <a:r>
                        <a:rPr lang="ru-RU" sz="26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(r"\D+", "_", "123aaa bb456b ccc789") </a:t>
                      </a:r>
                      <a:r>
                        <a:rPr lang="ru-RU" sz="2600" b="1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# '123_456_789'</a:t>
                      </a:r>
                      <a:endParaRPr lang="ru-RU" sz="2600" b="1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2842545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600" b="1" dirty="0" err="1" smtClean="0"/>
                        <a:t>re.escape</a:t>
                      </a:r>
                      <a:r>
                        <a:rPr lang="en-US" sz="26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2600" b="1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string</a:t>
                      </a:r>
                      <a:r>
                        <a:rPr lang="en-US" sz="26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sz="2600" b="1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2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строку </a:t>
                      </a:r>
                      <a:r>
                        <a:rPr lang="ru-RU" sz="26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string</a:t>
                      </a:r>
                      <a:r>
                        <a:rPr lang="ru-RU" sz="2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экранируя все символы кроме ASCII, чисел и '_'. Удобно использовать, если в регулярном выражении необходимо отследить часть, которая может являться специальным символом.</a:t>
                      </a:r>
                    </a:p>
                    <a:p>
                      <a:r>
                        <a:rPr lang="ru-RU" sz="2600" b="1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regex</a:t>
                      </a:r>
                      <a:r>
                        <a:rPr lang="ru-RU" sz="26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ru-RU" sz="2600" b="1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re.escape</a:t>
                      </a:r>
                      <a:r>
                        <a:rPr lang="ru-RU" sz="26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('\d+') </a:t>
                      </a:r>
                      <a:r>
                        <a:rPr lang="ru-RU" sz="2600" b="1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# '\\d\+'</a:t>
                      </a:r>
                      <a:endParaRPr lang="ru-RU" sz="2600" b="1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1847298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600" b="1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Exception</a:t>
                      </a:r>
                      <a:r>
                        <a:rPr lang="ru-RU" sz="2600" b="1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600" b="1" dirty="0" err="1" smtClean="0"/>
                        <a:t>re.error</a:t>
                      </a:r>
                      <a:endParaRPr lang="en-US" sz="2600" b="1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2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Исключение возбуждается, когда строка, переданная в качестве регулярного выражения, содержит ошибки (например, нет парной скобки) или произошла ошибка во время компиляции или поиска вхождений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6040432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088667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0"/>
            <a:ext cx="11607800" cy="1270001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/>
              <a:t>модуль </a:t>
            </a:r>
            <a:r>
              <a:rPr lang="en-US" dirty="0" smtClean="0"/>
              <a:t>re</a:t>
            </a:r>
            <a:r>
              <a:rPr lang="ru-RU" dirty="0" smtClean="0"/>
              <a:t> </a:t>
            </a:r>
            <a:r>
              <a:rPr lang="ru-RU" dirty="0"/>
              <a:t>– </a:t>
            </a:r>
            <a:r>
              <a:rPr lang="ru-RU" dirty="0" smtClean="0"/>
              <a:t>класс </a:t>
            </a:r>
            <a:r>
              <a:rPr lang="en-US" dirty="0"/>
              <a:t>regex («</a:t>
            </a:r>
            <a:r>
              <a:rPr lang="ru-RU" dirty="0"/>
              <a:t>регулярное выражение»)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4239066317"/>
              </p:ext>
            </p:extLst>
          </p:nvPr>
        </p:nvGraphicFramePr>
        <p:xfrm>
          <a:off x="448732" y="3437468"/>
          <a:ext cx="11548535" cy="228282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515535">
                  <a:extLst>
                    <a:ext uri="{9D8B030D-6E8A-4147-A177-3AD203B41FA5}">
                      <a16:colId xmlns:a16="http://schemas.microsoft.com/office/drawing/2014/main" xmlns="" val="3680208947"/>
                    </a:ext>
                  </a:extLst>
                </a:gridCol>
                <a:gridCol w="10033000">
                  <a:extLst>
                    <a:ext uri="{9D8B030D-6E8A-4147-A177-3AD203B41FA5}">
                      <a16:colId xmlns:a16="http://schemas.microsoft.com/office/drawing/2014/main" xmlns="" val="10307245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flags</a:t>
                      </a:r>
                      <a:endParaRPr lang="en-US" sz="28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Флаги, переданные в функцию re.compile() или записанные непосредственно в регулярном выражении.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2842545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groups</a:t>
                      </a:r>
                      <a:endParaRPr lang="en-US" sz="28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Количество захваченных групп в регулярном выражении.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1847298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pattern</a:t>
                      </a:r>
                      <a:endParaRPr lang="en-US" sz="2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Регулярное выражение в виде, переданном в функцию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re.compile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().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604043232"/>
                  </a:ext>
                </a:extLst>
              </a:tr>
            </a:tbl>
          </a:graphicData>
        </a:graphic>
      </p:graphicFrame>
      <p:sp>
        <p:nvSpPr>
          <p:cNvPr id="2" name="Прямоугольник 1"/>
          <p:cNvSpPr/>
          <p:nvPr/>
        </p:nvSpPr>
        <p:spPr>
          <a:xfrm>
            <a:off x="33868" y="1773535"/>
            <a:ext cx="12158132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smtClean="0"/>
              <a:t>Объект </a:t>
            </a:r>
            <a:r>
              <a:rPr lang="ru-RU" sz="2800" dirty="0"/>
              <a:t>класса </a:t>
            </a:r>
            <a:r>
              <a:rPr lang="ru-RU" sz="2800" dirty="0" err="1" smtClean="0"/>
              <a:t>re.regex</a:t>
            </a:r>
            <a:r>
              <a:rPr lang="ru-RU" sz="2800" dirty="0" smtClean="0"/>
              <a:t> </a:t>
            </a:r>
            <a:r>
              <a:rPr lang="ru-RU" sz="2800" dirty="0"/>
              <a:t>является скомпилированным регулярным </a:t>
            </a:r>
            <a:r>
              <a:rPr lang="ru-RU" sz="2800" dirty="0" smtClean="0"/>
              <a:t>выражением</a:t>
            </a:r>
            <a:endParaRPr lang="en-US" sz="2800" dirty="0" smtClean="0"/>
          </a:p>
          <a:p>
            <a:r>
              <a:rPr lang="en-US" sz="2800" dirty="0" smtClean="0"/>
              <a:t>(</a:t>
            </a:r>
            <a:r>
              <a:rPr lang="ru-RU" sz="2800" dirty="0" smtClean="0"/>
              <a:t>возвращается функцией </a:t>
            </a:r>
            <a:r>
              <a:rPr lang="en-US" sz="2800" dirty="0" err="1"/>
              <a:t>re.compile</a:t>
            </a:r>
            <a:r>
              <a:rPr lang="en-US" sz="2800" dirty="0"/>
              <a:t>(pattern, flags=0</a:t>
            </a:r>
            <a:r>
              <a:rPr lang="en-US" sz="2800" dirty="0" smtClean="0"/>
              <a:t>))</a:t>
            </a:r>
            <a:endParaRPr lang="ru-RU" sz="2800" dirty="0" smtClean="0"/>
          </a:p>
          <a:p>
            <a:endParaRPr lang="ru-RU" sz="2800" dirty="0"/>
          </a:p>
          <a:p>
            <a:r>
              <a:rPr lang="ru-RU" sz="2800" dirty="0" smtClean="0"/>
              <a:t>Поля: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xmlns="" val="4112260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0"/>
            <a:ext cx="11607800" cy="1270001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/>
              <a:t>модуль </a:t>
            </a:r>
            <a:r>
              <a:rPr lang="en-US" dirty="0" smtClean="0"/>
              <a:t>re</a:t>
            </a:r>
            <a:r>
              <a:rPr lang="ru-RU" dirty="0" smtClean="0"/>
              <a:t> </a:t>
            </a:r>
            <a:r>
              <a:rPr lang="ru-RU" dirty="0"/>
              <a:t>– </a:t>
            </a:r>
            <a:r>
              <a:rPr lang="ru-RU" dirty="0" smtClean="0"/>
              <a:t>класс </a:t>
            </a:r>
            <a:r>
              <a:rPr lang="en-US" dirty="0"/>
              <a:t>regex («</a:t>
            </a:r>
            <a:r>
              <a:rPr lang="ru-RU" dirty="0"/>
              <a:t>регулярное выражение»)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899376793"/>
              </p:ext>
            </p:extLst>
          </p:nvPr>
        </p:nvGraphicFramePr>
        <p:xfrm>
          <a:off x="135466" y="2514601"/>
          <a:ext cx="11548535" cy="36525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834467">
                  <a:extLst>
                    <a:ext uri="{9D8B030D-6E8A-4147-A177-3AD203B41FA5}">
                      <a16:colId xmlns:a16="http://schemas.microsoft.com/office/drawing/2014/main" xmlns="" val="3680208947"/>
                    </a:ext>
                  </a:extLst>
                </a:gridCol>
                <a:gridCol w="6714068">
                  <a:extLst>
                    <a:ext uri="{9D8B030D-6E8A-4147-A177-3AD203B41FA5}">
                      <a16:colId xmlns:a16="http://schemas.microsoft.com/office/drawing/2014/main" xmlns="" val="10307245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search(string[, </a:t>
                      </a:r>
                      <a:r>
                        <a:rPr lang="en-US" sz="28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pos</a:t>
                      </a:r>
                      <a:r>
                        <a:rPr lang="en-US" sz="2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[, </a:t>
                      </a:r>
                      <a:r>
                        <a:rPr lang="en-US" sz="28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endpos</a:t>
                      </a:r>
                      <a:r>
                        <a:rPr lang="en-US" sz="2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]])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Аналогично </a:t>
                      </a: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</a:t>
                      </a: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search</a:t>
                      </a: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().Необязательные параметры </a:t>
                      </a: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pos</a:t>
                      </a: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и </a:t>
                      </a: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endpos</a:t>
                      </a: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определяют начальную и конечную позицию поиска в строке.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2842545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split(string, maxsplit=0)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Аналогично re.split().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1847298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findall(string[, pos[, endpos]])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Аналогично re.findall().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6040432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finditer(string[, pos[, endpos]])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Аналогично re.finditer().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699982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sub(</a:t>
                      </a:r>
                      <a:r>
                        <a:rPr lang="en-US" sz="28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repl</a:t>
                      </a:r>
                      <a:r>
                        <a:rPr lang="en-US" sz="2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string, count=0)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Аналогично</a:t>
                      </a:r>
                      <a:r>
                        <a:rPr lang="en-US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re.sub</a:t>
                      </a:r>
                      <a:r>
                        <a:rPr lang="en-US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().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2897993343"/>
                  </a:ext>
                </a:extLst>
              </a:tr>
            </a:tbl>
          </a:graphicData>
        </a:graphic>
      </p:graphicFrame>
      <p:sp>
        <p:nvSpPr>
          <p:cNvPr id="2" name="Прямоугольник 1"/>
          <p:cNvSpPr/>
          <p:nvPr/>
        </p:nvSpPr>
        <p:spPr>
          <a:xfrm>
            <a:off x="33868" y="1773535"/>
            <a:ext cx="1215813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smtClean="0"/>
              <a:t>Методы :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xmlns="" val="2362077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0"/>
            <a:ext cx="11607800" cy="1270001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/>
              <a:t>модуль </a:t>
            </a:r>
            <a:r>
              <a:rPr lang="en-US" dirty="0" smtClean="0"/>
              <a:t>re</a:t>
            </a:r>
            <a:r>
              <a:rPr lang="ru-RU" dirty="0" smtClean="0"/>
              <a:t> </a:t>
            </a:r>
            <a:r>
              <a:rPr lang="ru-RU" dirty="0"/>
              <a:t>– </a:t>
            </a:r>
            <a:r>
              <a:rPr lang="ru-RU" dirty="0" smtClean="0"/>
              <a:t>класс </a:t>
            </a:r>
            <a:r>
              <a:rPr lang="en-US" dirty="0" smtClean="0"/>
              <a:t>match («</a:t>
            </a:r>
            <a:r>
              <a:rPr lang="ru-RU" dirty="0" smtClean="0"/>
              <a:t>совпадение»)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-1" y="1147805"/>
            <a:ext cx="1197186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Объект класса </a:t>
            </a:r>
            <a:r>
              <a:rPr lang="ru-RU" sz="2800" dirty="0" err="1"/>
              <a:t>match</a:t>
            </a:r>
            <a:r>
              <a:rPr lang="ru-RU" sz="2800" dirty="0"/>
              <a:t> содержит соответствия строки регулярному выражению и имеет ряд атрибутов</a:t>
            </a:r>
            <a:r>
              <a:rPr lang="ru-RU" sz="2800" dirty="0" smtClean="0"/>
              <a:t>.</a:t>
            </a:r>
            <a:endParaRPr lang="ru-RU" sz="28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211668" y="2473977"/>
            <a:ext cx="3488265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Объекты данного типа всегда равны </a:t>
            </a:r>
            <a:r>
              <a:rPr lang="ru-RU" sz="2800" dirty="0" err="1"/>
              <a:t>True</a:t>
            </a:r>
            <a:r>
              <a:rPr lang="ru-RU" sz="2800" dirty="0"/>
              <a:t>, поэтому типовая проверка на </a:t>
            </a:r>
            <a:r>
              <a:rPr lang="ru-RU" sz="2800" dirty="0" smtClean="0"/>
              <a:t>вхождение:</a:t>
            </a:r>
            <a:endParaRPr lang="en-US" sz="2800" dirty="0"/>
          </a:p>
        </p:txBody>
      </p:sp>
      <p:pic>
        <p:nvPicPr>
          <p:cNvPr id="7" name="Рисунок 6" descr="Вырезка экрана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495660" y="1752601"/>
            <a:ext cx="6912367" cy="4863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994323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0"/>
            <a:ext cx="11607800" cy="1270001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/>
              <a:t>модуль </a:t>
            </a:r>
            <a:r>
              <a:rPr lang="en-US" dirty="0" smtClean="0"/>
              <a:t>re</a:t>
            </a:r>
            <a:r>
              <a:rPr lang="ru-RU" dirty="0" smtClean="0"/>
              <a:t> </a:t>
            </a:r>
            <a:r>
              <a:rPr lang="ru-RU" dirty="0"/>
              <a:t>– </a:t>
            </a:r>
            <a:r>
              <a:rPr lang="ru-RU" dirty="0" smtClean="0"/>
              <a:t>класс </a:t>
            </a:r>
            <a:r>
              <a:rPr lang="en-US" dirty="0" smtClean="0"/>
              <a:t>match («</a:t>
            </a:r>
            <a:r>
              <a:rPr lang="ru-RU" dirty="0" smtClean="0"/>
              <a:t>совпадение»)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211668" y="1270001"/>
            <a:ext cx="121920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smtClean="0"/>
              <a:t>Поля:</a:t>
            </a:r>
            <a:endParaRPr lang="ru-RU" sz="2800" dirty="0"/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039907614"/>
              </p:ext>
            </p:extLst>
          </p:nvPr>
        </p:nvGraphicFramePr>
        <p:xfrm>
          <a:off x="821268" y="2260600"/>
          <a:ext cx="11065932" cy="18262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08199">
                  <a:extLst>
                    <a:ext uri="{9D8B030D-6E8A-4147-A177-3AD203B41FA5}">
                      <a16:colId xmlns:a16="http://schemas.microsoft.com/office/drawing/2014/main" xmlns="" val="3044116942"/>
                    </a:ext>
                  </a:extLst>
                </a:gridCol>
                <a:gridCol w="8957733">
                  <a:extLst>
                    <a:ext uri="{9D8B030D-6E8A-4147-A177-3AD203B41FA5}">
                      <a16:colId xmlns:a16="http://schemas.microsoft.com/office/drawing/2014/main" xmlns="" val="3018323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pos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</a:t>
                      </a:r>
                      <a:endParaRPr lang="ru-RU" sz="280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endpos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Содержат соответствующие значения, переданные через метод re.regex.search().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25743979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Регулярное выражение, с которым был создан объект.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2684195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string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Строка поиска, с которой был создан объект.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31382840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102992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0"/>
            <a:ext cx="11607800" cy="1270001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/>
              <a:t>модуль </a:t>
            </a:r>
            <a:r>
              <a:rPr lang="en-US" dirty="0" smtClean="0"/>
              <a:t>re</a:t>
            </a:r>
            <a:r>
              <a:rPr lang="ru-RU" dirty="0" smtClean="0"/>
              <a:t> </a:t>
            </a:r>
            <a:r>
              <a:rPr lang="ru-RU" dirty="0"/>
              <a:t>– </a:t>
            </a:r>
            <a:r>
              <a:rPr lang="ru-RU" dirty="0" smtClean="0"/>
              <a:t>класс </a:t>
            </a:r>
            <a:r>
              <a:rPr lang="en-US" dirty="0" smtClean="0"/>
              <a:t>match («</a:t>
            </a:r>
            <a:r>
              <a:rPr lang="ru-RU" dirty="0" smtClean="0"/>
              <a:t>совпадение»)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211668" y="1270001"/>
            <a:ext cx="165099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smtClean="0"/>
              <a:t>Методы:</a:t>
            </a:r>
            <a:endParaRPr lang="ru-RU" sz="2800" dirty="0"/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623197898"/>
              </p:ext>
            </p:extLst>
          </p:nvPr>
        </p:nvGraphicFramePr>
        <p:xfrm>
          <a:off x="177802" y="1854200"/>
          <a:ext cx="11675532" cy="456565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759198">
                  <a:extLst>
                    <a:ext uri="{9D8B030D-6E8A-4147-A177-3AD203B41FA5}">
                      <a16:colId xmlns:a16="http://schemas.microsoft.com/office/drawing/2014/main" xmlns="" val="3044116942"/>
                    </a:ext>
                  </a:extLst>
                </a:gridCol>
                <a:gridCol w="7916334">
                  <a:extLst>
                    <a:ext uri="{9D8B030D-6E8A-4147-A177-3AD203B41FA5}">
                      <a16:colId xmlns:a16="http://schemas.microsoft.com/office/drawing/2014/main" xmlns="" val="3018323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800" b="0" dirty="0" smtClean="0">
                          <a:latin typeface="+mn-lt"/>
                        </a:rPr>
                        <a:t>group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([</a:t>
                      </a:r>
                      <a:r>
                        <a:rPr lang="en-US" sz="28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group1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US" sz="28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])</a:t>
                      </a:r>
                      <a:endParaRPr lang="en-US" sz="2800" b="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b="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Возвращает одну или несколько подгрупп совпадений (если аргумент один - строку, если несколько - кортеж).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2800" b="0" dirty="0" smtClean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b="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Параметр может быть числом или строкой (в случае именованной группы).</a:t>
                      </a:r>
                      <a:endParaRPr lang="en-US" sz="2800" b="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25743979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800" b="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groups(default=None)</a:t>
                      </a:r>
                      <a:endParaRPr lang="en-US" sz="2800" b="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b="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Возвращает кортеж, содержащий все группы совпадений или </a:t>
                      </a:r>
                      <a:r>
                        <a:rPr lang="ru-RU" sz="2800" b="0" dirty="0" err="1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default</a:t>
                      </a:r>
                      <a:r>
                        <a:rPr lang="ru-RU" sz="2800" b="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800" b="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25697227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800" b="0" dirty="0" err="1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groupdict</a:t>
                      </a:r>
                      <a:r>
                        <a:rPr lang="en-US" sz="2800" b="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(default=None)</a:t>
                      </a:r>
                      <a:endParaRPr lang="en-US" sz="2800" b="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b="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Возвращает словарь, содержащий все именованные группы совпадений или </a:t>
                      </a:r>
                      <a:r>
                        <a:rPr lang="ru-RU" sz="2800" b="0" dirty="0" err="1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default</a:t>
                      </a:r>
                      <a:endParaRPr lang="en-US" sz="2800" b="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2614168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81362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11668" y="932255"/>
            <a:ext cx="11682856" cy="985549"/>
          </a:xfrm>
          <a:prstGeom prst="rect">
            <a:avLst/>
          </a:prstGeom>
        </p:spPr>
      </p:pic>
      <p:pic>
        <p:nvPicPr>
          <p:cNvPr id="9" name="Рисунок 8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986899"/>
            <a:ext cx="11983657" cy="1041133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211668" y="0"/>
            <a:ext cx="11607800" cy="84538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/>
              <a:t>модуль </a:t>
            </a:r>
            <a:r>
              <a:rPr lang="en-US" dirty="0" smtClean="0"/>
              <a:t>re</a:t>
            </a:r>
            <a:r>
              <a:rPr lang="ru-RU" dirty="0" smtClean="0"/>
              <a:t>  </a:t>
            </a:r>
            <a:endParaRPr lang="ru-RU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8368903" y="1636550"/>
            <a:ext cx="331254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r</a:t>
            </a:r>
            <a:r>
              <a:rPr lang="ru-RU" sz="2400" dirty="0" err="1" smtClean="0"/>
              <a:t>e.match</a:t>
            </a:r>
            <a:r>
              <a:rPr lang="ru-RU" sz="2400" dirty="0" smtClean="0"/>
              <a:t>(</a:t>
            </a:r>
            <a:r>
              <a:rPr lang="ru-RU" sz="2400" dirty="0" err="1" smtClean="0"/>
              <a:t>pattern</a:t>
            </a:r>
            <a:r>
              <a:rPr lang="ru-RU" sz="2400" dirty="0"/>
              <a:t>, </a:t>
            </a:r>
            <a:r>
              <a:rPr lang="ru-RU" sz="2400" dirty="0" err="1"/>
              <a:t>string</a:t>
            </a:r>
            <a:r>
              <a:rPr lang="ru-RU" sz="2400" dirty="0"/>
              <a:t>)</a:t>
            </a:r>
          </a:p>
          <a:p>
            <a:r>
              <a:rPr lang="ru-RU" sz="2400" dirty="0"/>
              <a:t>Этот метод ищет по заданному шаблону в начале строки.</a:t>
            </a:r>
          </a:p>
        </p:txBody>
      </p:sp>
      <p:pic>
        <p:nvPicPr>
          <p:cNvPr id="8" name="Рисунок 7" descr="Вырезка экрана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11668" y="2004670"/>
            <a:ext cx="6610544" cy="416710"/>
          </a:xfrm>
          <a:prstGeom prst="rect">
            <a:avLst/>
          </a:prstGeom>
        </p:spPr>
      </p:pic>
      <p:pic>
        <p:nvPicPr>
          <p:cNvPr id="10" name="Рисунок 9" descr="Вырезка экрана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4059314"/>
            <a:ext cx="712367" cy="367673"/>
          </a:xfrm>
          <a:prstGeom prst="rect">
            <a:avLst/>
          </a:prstGeom>
        </p:spPr>
      </p:pic>
      <p:pic>
        <p:nvPicPr>
          <p:cNvPr id="11" name="Рисунок 10" descr="Вырезка экрана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4837343"/>
            <a:ext cx="11983657" cy="1020753"/>
          </a:xfrm>
          <a:prstGeom prst="rect">
            <a:avLst/>
          </a:prstGeom>
        </p:spPr>
      </p:pic>
      <p:pic>
        <p:nvPicPr>
          <p:cNvPr id="12" name="Рисунок 11" descr="Вырезка экрана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-15931" y="5858096"/>
            <a:ext cx="820715" cy="410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782573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0"/>
            <a:ext cx="11607800" cy="12700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/>
              <a:t>модуль </a:t>
            </a:r>
            <a:r>
              <a:rPr lang="en-US" dirty="0" smtClean="0"/>
              <a:t>re</a:t>
            </a:r>
            <a:r>
              <a:rPr lang="ru-RU" dirty="0" smtClean="0"/>
              <a:t> </a:t>
            </a:r>
            <a:r>
              <a:rPr lang="en-US" dirty="0" smtClean="0"/>
              <a:t> </a:t>
            </a:r>
          </a:p>
          <a:p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211668" y="1270001"/>
            <a:ext cx="165099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smtClean="0"/>
              <a:t>Методы:</a:t>
            </a:r>
            <a:endParaRPr lang="ru-RU" sz="2800" dirty="0"/>
          </a:p>
        </p:txBody>
      </p:sp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03220" y="1793221"/>
            <a:ext cx="11988780" cy="3284081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366297" y="5842061"/>
            <a:ext cx="63444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m.group</a:t>
            </a:r>
            <a:r>
              <a:rPr lang="en-US" dirty="0"/>
              <a:t>(0</a:t>
            </a:r>
            <a:r>
              <a:rPr lang="en-US" dirty="0" smtClean="0"/>
              <a:t>)</a:t>
            </a:r>
            <a:r>
              <a:rPr lang="ru-RU" dirty="0" smtClean="0"/>
              <a:t>, </a:t>
            </a:r>
            <a:r>
              <a:rPr lang="en-US" dirty="0" err="1" smtClean="0"/>
              <a:t>m.groups</a:t>
            </a:r>
            <a:r>
              <a:rPr lang="en-US" dirty="0"/>
              <a:t>(), </a:t>
            </a:r>
            <a:r>
              <a:rPr lang="en-US" dirty="0" err="1" smtClean="0"/>
              <a:t>m.group</a:t>
            </a:r>
            <a:r>
              <a:rPr lang="en-US" dirty="0" smtClean="0"/>
              <a:t>(1, 2) </a:t>
            </a:r>
            <a:r>
              <a:rPr lang="ru-RU" dirty="0" smtClean="0"/>
              <a:t>– все группы совпадений</a:t>
            </a:r>
            <a:r>
              <a:rPr lang="en-US" dirty="0" smtClean="0"/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540909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0"/>
            <a:ext cx="11607800" cy="12700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/>
              <a:t>модуль </a:t>
            </a:r>
            <a:r>
              <a:rPr lang="en-US" dirty="0" smtClean="0"/>
              <a:t>re</a:t>
            </a:r>
            <a:r>
              <a:rPr lang="ru-RU" dirty="0" smtClean="0"/>
              <a:t> </a:t>
            </a:r>
            <a:r>
              <a:rPr lang="en-US" dirty="0" smtClean="0"/>
              <a:t> </a:t>
            </a:r>
          </a:p>
          <a:p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211668" y="1270001"/>
            <a:ext cx="165099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smtClean="0"/>
              <a:t>Методы:</a:t>
            </a:r>
            <a:endParaRPr lang="ru-RU" sz="2800" dirty="0"/>
          </a:p>
        </p:txBody>
      </p:sp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4329" y="2379098"/>
            <a:ext cx="12150937" cy="1075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239738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0"/>
            <a:ext cx="11607800" cy="12700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/>
              <a:t>модуль </a:t>
            </a:r>
            <a:r>
              <a:rPr lang="en-US" dirty="0" smtClean="0"/>
              <a:t>re</a:t>
            </a:r>
            <a:r>
              <a:rPr lang="ru-RU" dirty="0" smtClean="0"/>
              <a:t> </a:t>
            </a:r>
            <a:r>
              <a:rPr lang="en-US" dirty="0" smtClean="0"/>
              <a:t> </a:t>
            </a:r>
          </a:p>
          <a:p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211668" y="1270001"/>
            <a:ext cx="165099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smtClean="0"/>
              <a:t>Методы:</a:t>
            </a:r>
            <a:endParaRPr lang="ru-RU" sz="2800" dirty="0"/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285352303"/>
              </p:ext>
            </p:extLst>
          </p:nvPr>
        </p:nvGraphicFramePr>
        <p:xfrm>
          <a:off x="177802" y="1854200"/>
          <a:ext cx="11675532" cy="18262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818465">
                  <a:extLst>
                    <a:ext uri="{9D8B030D-6E8A-4147-A177-3AD203B41FA5}">
                      <a16:colId xmlns:a16="http://schemas.microsoft.com/office/drawing/2014/main" xmlns="" val="3044116942"/>
                    </a:ext>
                  </a:extLst>
                </a:gridCol>
                <a:gridCol w="7857067">
                  <a:extLst>
                    <a:ext uri="{9D8B030D-6E8A-4147-A177-3AD203B41FA5}">
                      <a16:colId xmlns:a16="http://schemas.microsoft.com/office/drawing/2014/main" xmlns="" val="3018323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800" b="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start([group])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800" b="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end([group])</a:t>
                      </a:r>
                      <a:endParaRPr lang="en-US" sz="2800" b="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b="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Возвращают начальную и конечную позиции вхождения группы </a:t>
                      </a:r>
                      <a:r>
                        <a:rPr lang="ru-RU" sz="2800" b="0" dirty="0" err="1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group</a:t>
                      </a:r>
                      <a:r>
                        <a:rPr lang="ru-RU" sz="2800" b="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или -1, если группа существует, но ей не найдено соответствие.</a:t>
                      </a:r>
                      <a:endParaRPr lang="en-US" sz="2800" b="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25743979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800" b="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span([group])</a:t>
                      </a:r>
                      <a:endParaRPr lang="en-US" sz="2800" b="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800" b="0" dirty="0" err="1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Возвращает</a:t>
                      </a:r>
                      <a:r>
                        <a:rPr lang="en-US" sz="2800" b="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b="0" dirty="0" err="1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кортеж</a:t>
                      </a:r>
                      <a:r>
                        <a:rPr lang="en-US" sz="2800" b="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(start([group]), end([group])).</a:t>
                      </a:r>
                      <a:endParaRPr lang="en-US" sz="2800" b="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25697227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688793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0"/>
            <a:ext cx="11607800" cy="12700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/>
              <a:t>модуль </a:t>
            </a:r>
            <a:r>
              <a:rPr lang="en-US" dirty="0" smtClean="0"/>
              <a:t>re</a:t>
            </a:r>
            <a:r>
              <a:rPr lang="ru-RU" dirty="0" smtClean="0"/>
              <a:t>  </a:t>
            </a:r>
          </a:p>
          <a:p>
            <a:endParaRPr lang="ru-RU" dirty="0"/>
          </a:p>
        </p:txBody>
      </p:sp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2446" y="2131393"/>
            <a:ext cx="12027904" cy="1043128"/>
          </a:xfrm>
          <a:prstGeom prst="rect">
            <a:avLst/>
          </a:prstGeom>
        </p:spPr>
      </p:pic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11668" y="3456306"/>
            <a:ext cx="823502" cy="41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521499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0"/>
            <a:ext cx="11607800" cy="12700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/>
              <a:t>модуль </a:t>
            </a:r>
            <a:r>
              <a:rPr lang="en-US" dirty="0" smtClean="0"/>
              <a:t>re</a:t>
            </a:r>
            <a:r>
              <a:rPr lang="ru-RU" dirty="0" smtClean="0"/>
              <a:t>  </a:t>
            </a:r>
          </a:p>
          <a:p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211667" y="5595816"/>
            <a:ext cx="111579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Метод </a:t>
            </a:r>
            <a:r>
              <a:rPr lang="ru-RU" dirty="0" err="1"/>
              <a:t>search</a:t>
            </a:r>
            <a:r>
              <a:rPr lang="ru-RU" dirty="0"/>
              <a:t>() ищет по всей строке, но возвращает только первое найденное совпадение</a:t>
            </a:r>
          </a:p>
        </p:txBody>
      </p:sp>
      <p:pic>
        <p:nvPicPr>
          <p:cNvPr id="7" name="Рисунок 6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59052" y="1777041"/>
            <a:ext cx="12032948" cy="948906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211668" y="3232987"/>
            <a:ext cx="122405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accent2"/>
                </a:solidFill>
              </a:rPr>
              <a:t>Python</a:t>
            </a:r>
            <a:endParaRPr lang="ru-RU" sz="28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921317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0"/>
            <a:ext cx="11607800" cy="12700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/>
              <a:t>модуль </a:t>
            </a:r>
            <a:r>
              <a:rPr lang="en-US" dirty="0" smtClean="0"/>
              <a:t>re</a:t>
            </a:r>
            <a:r>
              <a:rPr lang="ru-RU" dirty="0" smtClean="0"/>
              <a:t>  </a:t>
            </a:r>
          </a:p>
          <a:p>
            <a:endParaRPr lang="ru-RU" dirty="0"/>
          </a:p>
        </p:txBody>
      </p:sp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892116"/>
            <a:ext cx="12068454" cy="782073"/>
          </a:xfrm>
          <a:prstGeom prst="rect">
            <a:avLst/>
          </a:prstGeom>
        </p:spPr>
      </p:pic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11668" y="3201040"/>
            <a:ext cx="3835095" cy="456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876553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0"/>
            <a:ext cx="11607800" cy="12700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/>
              <a:t>модуль </a:t>
            </a:r>
            <a:r>
              <a:rPr lang="en-US" dirty="0" smtClean="0"/>
              <a:t>re</a:t>
            </a:r>
            <a:r>
              <a:rPr lang="ru-RU" dirty="0" smtClean="0"/>
              <a:t>  </a:t>
            </a:r>
          </a:p>
          <a:p>
            <a:endParaRPr lang="ru-RU" dirty="0"/>
          </a:p>
        </p:txBody>
      </p:sp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8410" y="1145481"/>
            <a:ext cx="11986846" cy="1097387"/>
          </a:xfrm>
          <a:prstGeom prst="rect">
            <a:avLst/>
          </a:prstGeom>
        </p:spPr>
      </p:pic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8410" y="2415482"/>
            <a:ext cx="10649141" cy="472795"/>
          </a:xfrm>
          <a:prstGeom prst="rect">
            <a:avLst/>
          </a:prstGeom>
        </p:spPr>
      </p:pic>
      <p:pic>
        <p:nvPicPr>
          <p:cNvPr id="6" name="Рисунок 5" descr="Вырезка экрана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8410" y="3634124"/>
            <a:ext cx="11874340" cy="592819"/>
          </a:xfrm>
          <a:prstGeom prst="rect">
            <a:avLst/>
          </a:prstGeom>
        </p:spPr>
      </p:pic>
      <p:pic>
        <p:nvPicPr>
          <p:cNvPr id="7" name="Рисунок 6" descr="Вырезка экрана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8410" y="4739098"/>
            <a:ext cx="8233265" cy="367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031834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0"/>
            <a:ext cx="11607800" cy="12700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/>
              <a:t>модуль </a:t>
            </a:r>
            <a:r>
              <a:rPr lang="en-US" dirty="0" smtClean="0"/>
              <a:t>re</a:t>
            </a:r>
            <a:r>
              <a:rPr lang="ru-RU" dirty="0" smtClean="0"/>
              <a:t>  </a:t>
            </a:r>
          </a:p>
          <a:p>
            <a:endParaRPr lang="ru-RU" dirty="0"/>
          </a:p>
        </p:txBody>
      </p:sp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3507" y="1270001"/>
            <a:ext cx="11998688" cy="972867"/>
          </a:xfrm>
          <a:prstGeom prst="rect">
            <a:avLst/>
          </a:prstGeom>
        </p:spPr>
      </p:pic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11667" y="3106485"/>
            <a:ext cx="6982763" cy="343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954789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0"/>
            <a:ext cx="11607800" cy="12700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/>
              <a:t>модуль </a:t>
            </a:r>
            <a:r>
              <a:rPr lang="en-US" dirty="0" smtClean="0"/>
              <a:t>re</a:t>
            </a:r>
            <a:r>
              <a:rPr lang="ru-RU" dirty="0" smtClean="0"/>
              <a:t>  </a:t>
            </a:r>
          </a:p>
          <a:p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5723468" y="5644991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/>
              <a:t>можем собрать регулярное выражение в отдельный объект, который может быть использован для поиска</a:t>
            </a:r>
          </a:p>
        </p:txBody>
      </p:sp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11668" y="1828492"/>
            <a:ext cx="11840030" cy="2570979"/>
          </a:xfrm>
          <a:prstGeom prst="rect">
            <a:avLst/>
          </a:prstGeom>
        </p:spPr>
      </p:pic>
      <p:pic>
        <p:nvPicPr>
          <p:cNvPr id="6" name="Рисунок 5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11668" y="5212797"/>
            <a:ext cx="3399113" cy="755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219352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0"/>
            <a:ext cx="11607800" cy="12700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/>
              <a:t>модуль </a:t>
            </a:r>
            <a:r>
              <a:rPr lang="en-US" dirty="0" smtClean="0"/>
              <a:t>re</a:t>
            </a:r>
            <a:r>
              <a:rPr lang="ru-RU" dirty="0" smtClean="0"/>
              <a:t> </a:t>
            </a:r>
            <a:r>
              <a:rPr lang="en-US" dirty="0" smtClean="0"/>
              <a:t> </a:t>
            </a:r>
          </a:p>
          <a:p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211668" y="769669"/>
            <a:ext cx="1093366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err="1" smtClean="0"/>
              <a:t>result</a:t>
            </a:r>
            <a:r>
              <a:rPr lang="ru-RU" sz="2800" dirty="0" smtClean="0"/>
              <a:t> = </a:t>
            </a:r>
            <a:r>
              <a:rPr lang="ru-RU" sz="2800" dirty="0" err="1" smtClean="0"/>
              <a:t>re.</a:t>
            </a:r>
            <a:r>
              <a:rPr lang="ru-RU" sz="2800" dirty="0" err="1" smtClean="0">
                <a:solidFill>
                  <a:srgbClr val="92D050"/>
                </a:solidFill>
              </a:rPr>
              <a:t>findall</a:t>
            </a:r>
            <a:r>
              <a:rPr lang="ru-RU" sz="2800" dirty="0" smtClean="0">
                <a:solidFill>
                  <a:srgbClr val="92D050"/>
                </a:solidFill>
              </a:rPr>
              <a:t>(</a:t>
            </a:r>
            <a:r>
              <a:rPr lang="ru-RU" sz="2800" b="1" dirty="0" smtClean="0">
                <a:solidFill>
                  <a:srgbClr val="92D050"/>
                </a:solidFill>
              </a:rPr>
              <a:t>r'.', </a:t>
            </a:r>
            <a:r>
              <a:rPr lang="ru-RU" sz="2800" dirty="0" smtClean="0">
                <a:solidFill>
                  <a:srgbClr val="92D050"/>
                </a:solidFill>
              </a:rPr>
              <a:t>'AV </a:t>
            </a:r>
            <a:r>
              <a:rPr lang="ru-RU" sz="2800" dirty="0" err="1" smtClean="0">
                <a:solidFill>
                  <a:srgbClr val="92D050"/>
                </a:solidFill>
              </a:rPr>
              <a:t>is</a:t>
            </a:r>
            <a:r>
              <a:rPr lang="ru-RU" sz="2800" dirty="0" smtClean="0">
                <a:solidFill>
                  <a:srgbClr val="92D050"/>
                </a:solidFill>
              </a:rPr>
              <a:t> </a:t>
            </a:r>
            <a:r>
              <a:rPr lang="ru-RU" sz="2800" dirty="0" err="1" smtClean="0">
                <a:solidFill>
                  <a:srgbClr val="92D050"/>
                </a:solidFill>
              </a:rPr>
              <a:t>largest</a:t>
            </a:r>
            <a:r>
              <a:rPr lang="ru-RU" sz="2800" dirty="0" smtClean="0">
                <a:solidFill>
                  <a:srgbClr val="92D050"/>
                </a:solidFill>
              </a:rPr>
              <a:t> </a:t>
            </a:r>
            <a:r>
              <a:rPr lang="ru-RU" sz="2800" dirty="0" err="1" smtClean="0">
                <a:solidFill>
                  <a:srgbClr val="92D050"/>
                </a:solidFill>
              </a:rPr>
              <a:t>Analytics</a:t>
            </a:r>
            <a:r>
              <a:rPr lang="ru-RU" sz="2800" dirty="0" smtClean="0">
                <a:solidFill>
                  <a:srgbClr val="92D050"/>
                </a:solidFill>
              </a:rPr>
              <a:t> </a:t>
            </a:r>
            <a:r>
              <a:rPr lang="ru-RU" sz="2800" dirty="0" err="1" smtClean="0">
                <a:solidFill>
                  <a:srgbClr val="92D050"/>
                </a:solidFill>
              </a:rPr>
              <a:t>community</a:t>
            </a:r>
            <a:r>
              <a:rPr lang="ru-RU" sz="2800" dirty="0" smtClean="0">
                <a:solidFill>
                  <a:srgbClr val="92D050"/>
                </a:solidFill>
              </a:rPr>
              <a:t> </a:t>
            </a:r>
            <a:r>
              <a:rPr lang="ru-RU" sz="2800" dirty="0" err="1" smtClean="0">
                <a:solidFill>
                  <a:srgbClr val="92D050"/>
                </a:solidFill>
              </a:rPr>
              <a:t>of</a:t>
            </a:r>
            <a:r>
              <a:rPr lang="ru-RU" sz="2800" dirty="0" smtClean="0">
                <a:solidFill>
                  <a:srgbClr val="92D050"/>
                </a:solidFill>
              </a:rPr>
              <a:t> </a:t>
            </a:r>
            <a:r>
              <a:rPr lang="ru-RU" sz="2800" dirty="0" err="1" smtClean="0">
                <a:solidFill>
                  <a:srgbClr val="92D050"/>
                </a:solidFill>
              </a:rPr>
              <a:t>India</a:t>
            </a:r>
            <a:r>
              <a:rPr lang="ru-RU" sz="2800" dirty="0" smtClean="0">
                <a:solidFill>
                  <a:srgbClr val="92D050"/>
                </a:solidFill>
              </a:rPr>
              <a:t>')</a:t>
            </a:r>
          </a:p>
          <a:p>
            <a:r>
              <a:rPr lang="en-US" sz="2800" dirty="0"/>
              <a:t>print(result)</a:t>
            </a:r>
            <a:endParaRPr lang="ru-RU" sz="2800" dirty="0" smtClean="0"/>
          </a:p>
          <a:p>
            <a:endParaRPr lang="en-US" sz="2800" dirty="0" smtClean="0"/>
          </a:p>
          <a:p>
            <a:r>
              <a:rPr lang="ru-RU" sz="2800" dirty="0" smtClean="0"/>
              <a:t>Результат:</a:t>
            </a:r>
          </a:p>
          <a:p>
            <a:r>
              <a:rPr lang="ru-RU" sz="2800" dirty="0" smtClean="0">
                <a:solidFill>
                  <a:srgbClr val="92D050"/>
                </a:solidFill>
              </a:rPr>
              <a:t>['A', 'V', ' ', 'i', 's', ' ', 'l', 'a', 'r', 'g', 'e', 's', 't', ' ', 'A', 'n', 'a', 'l', 'y', 't', 'i', 'c', 's', ' ', 'c', 'o', 'm', 'm', 'u', 'n', 'i', 't', 'y', ' ', 'o', 'f', ' ', 'I', 'n', 'd', 'i', 'a']</a:t>
            </a:r>
            <a:endParaRPr lang="ru-RU" sz="2800" dirty="0">
              <a:solidFill>
                <a:srgbClr val="92D050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211668" y="3769942"/>
            <a:ext cx="11126892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result = </a:t>
            </a:r>
            <a:r>
              <a:rPr lang="en-US" sz="2800" dirty="0" err="1"/>
              <a:t>re.</a:t>
            </a:r>
            <a:r>
              <a:rPr lang="en-US" sz="2800" dirty="0" err="1">
                <a:solidFill>
                  <a:srgbClr val="92D050"/>
                </a:solidFill>
              </a:rPr>
              <a:t>findall</a:t>
            </a:r>
            <a:r>
              <a:rPr lang="en-US" sz="2800" dirty="0">
                <a:solidFill>
                  <a:srgbClr val="92D050"/>
                </a:solidFill>
              </a:rPr>
              <a:t>(</a:t>
            </a:r>
            <a:r>
              <a:rPr lang="en-US" sz="2800" b="1" dirty="0">
                <a:solidFill>
                  <a:srgbClr val="92D050"/>
                </a:solidFill>
              </a:rPr>
              <a:t>r'\w', </a:t>
            </a:r>
            <a:r>
              <a:rPr lang="en-US" sz="2800" dirty="0">
                <a:solidFill>
                  <a:srgbClr val="92D050"/>
                </a:solidFill>
              </a:rPr>
              <a:t>'AV is largest Analytics community of India')</a:t>
            </a:r>
          </a:p>
          <a:p>
            <a:r>
              <a:rPr lang="en-US" sz="2800" dirty="0"/>
              <a:t>print(result)</a:t>
            </a:r>
          </a:p>
          <a:p>
            <a:endParaRPr lang="en-US" sz="2800" dirty="0"/>
          </a:p>
          <a:p>
            <a:r>
              <a:rPr lang="ru-RU" sz="2800" dirty="0"/>
              <a:t>Результат:</a:t>
            </a:r>
          </a:p>
          <a:p>
            <a:r>
              <a:rPr lang="ru-RU" sz="2800" dirty="0">
                <a:solidFill>
                  <a:srgbClr val="92D050"/>
                </a:solidFill>
              </a:rPr>
              <a:t>['</a:t>
            </a:r>
            <a:r>
              <a:rPr lang="en-US" sz="2800" dirty="0">
                <a:solidFill>
                  <a:srgbClr val="92D050"/>
                </a:solidFill>
              </a:rPr>
              <a:t>A', 'V', '</a:t>
            </a:r>
            <a:r>
              <a:rPr lang="en-US" sz="2800" dirty="0" err="1">
                <a:solidFill>
                  <a:srgbClr val="92D050"/>
                </a:solidFill>
              </a:rPr>
              <a:t>i</a:t>
            </a:r>
            <a:r>
              <a:rPr lang="en-US" sz="2800" dirty="0">
                <a:solidFill>
                  <a:srgbClr val="92D050"/>
                </a:solidFill>
              </a:rPr>
              <a:t>', 's', 'l', 'a', 'r', 'g', 'e', 's', 't', 'A', 'n', 'a', 'l', 'y', 't', '</a:t>
            </a:r>
            <a:r>
              <a:rPr lang="en-US" sz="2800" dirty="0" err="1">
                <a:solidFill>
                  <a:srgbClr val="92D050"/>
                </a:solidFill>
              </a:rPr>
              <a:t>i</a:t>
            </a:r>
            <a:r>
              <a:rPr lang="en-US" sz="2800" dirty="0">
                <a:solidFill>
                  <a:srgbClr val="92D050"/>
                </a:solidFill>
              </a:rPr>
              <a:t>', 'c', 's', 'c', 'o', 'm', 'm', 'u', 'n', '</a:t>
            </a:r>
            <a:r>
              <a:rPr lang="en-US" sz="2800" dirty="0" err="1">
                <a:solidFill>
                  <a:srgbClr val="92D050"/>
                </a:solidFill>
              </a:rPr>
              <a:t>i</a:t>
            </a:r>
            <a:r>
              <a:rPr lang="en-US" sz="2800" dirty="0">
                <a:solidFill>
                  <a:srgbClr val="92D050"/>
                </a:solidFill>
              </a:rPr>
              <a:t>', 't', 'y', 'o', 'f', 'I', 'n', 'd', '</a:t>
            </a:r>
            <a:r>
              <a:rPr lang="en-US" sz="2800" dirty="0" err="1">
                <a:solidFill>
                  <a:srgbClr val="92D050"/>
                </a:solidFill>
              </a:rPr>
              <a:t>i</a:t>
            </a:r>
            <a:r>
              <a:rPr lang="en-US" sz="2800" dirty="0">
                <a:solidFill>
                  <a:srgbClr val="92D050"/>
                </a:solidFill>
              </a:rPr>
              <a:t>', 'a']</a:t>
            </a:r>
            <a:endParaRPr lang="ru-RU" sz="2800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856680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0"/>
            <a:ext cx="11607800" cy="12700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/>
              <a:t>модуль </a:t>
            </a:r>
            <a:r>
              <a:rPr lang="en-US" dirty="0" smtClean="0"/>
              <a:t>re</a:t>
            </a:r>
            <a:r>
              <a:rPr lang="ru-RU" dirty="0" smtClean="0"/>
              <a:t>  </a:t>
            </a:r>
          </a:p>
          <a:p>
            <a:endParaRPr lang="ru-RU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211668" y="1270001"/>
            <a:ext cx="11830807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err="1"/>
              <a:t>result</a:t>
            </a:r>
            <a:r>
              <a:rPr lang="ru-RU" sz="2800" dirty="0"/>
              <a:t> = </a:t>
            </a:r>
            <a:r>
              <a:rPr lang="ru-RU" sz="2800" dirty="0" err="1"/>
              <a:t>re.</a:t>
            </a:r>
            <a:r>
              <a:rPr lang="ru-RU" sz="2800" dirty="0" err="1">
                <a:solidFill>
                  <a:srgbClr val="92D050"/>
                </a:solidFill>
              </a:rPr>
              <a:t>findall</a:t>
            </a:r>
            <a:r>
              <a:rPr lang="ru-RU" sz="2800" dirty="0">
                <a:solidFill>
                  <a:srgbClr val="92D050"/>
                </a:solidFill>
              </a:rPr>
              <a:t>(r'\w*', 'AV </a:t>
            </a:r>
            <a:r>
              <a:rPr lang="ru-RU" sz="2800" dirty="0" err="1">
                <a:solidFill>
                  <a:srgbClr val="92D050"/>
                </a:solidFill>
              </a:rPr>
              <a:t>is</a:t>
            </a:r>
            <a:r>
              <a:rPr lang="ru-RU" sz="2800" dirty="0">
                <a:solidFill>
                  <a:srgbClr val="92D050"/>
                </a:solidFill>
              </a:rPr>
              <a:t> </a:t>
            </a:r>
            <a:r>
              <a:rPr lang="ru-RU" sz="2800" dirty="0" err="1">
                <a:solidFill>
                  <a:srgbClr val="92D050"/>
                </a:solidFill>
              </a:rPr>
              <a:t>largest</a:t>
            </a:r>
            <a:r>
              <a:rPr lang="ru-RU" sz="2800" dirty="0">
                <a:solidFill>
                  <a:srgbClr val="92D050"/>
                </a:solidFill>
              </a:rPr>
              <a:t> </a:t>
            </a:r>
            <a:r>
              <a:rPr lang="ru-RU" sz="2800" dirty="0" err="1">
                <a:solidFill>
                  <a:srgbClr val="92D050"/>
                </a:solidFill>
              </a:rPr>
              <a:t>Analytics</a:t>
            </a:r>
            <a:r>
              <a:rPr lang="ru-RU" sz="2800" dirty="0">
                <a:solidFill>
                  <a:srgbClr val="92D050"/>
                </a:solidFill>
              </a:rPr>
              <a:t> </a:t>
            </a:r>
            <a:r>
              <a:rPr lang="ru-RU" sz="2800" dirty="0" err="1">
                <a:solidFill>
                  <a:srgbClr val="92D050"/>
                </a:solidFill>
              </a:rPr>
              <a:t>community</a:t>
            </a:r>
            <a:r>
              <a:rPr lang="ru-RU" sz="2800" dirty="0">
                <a:solidFill>
                  <a:srgbClr val="92D050"/>
                </a:solidFill>
              </a:rPr>
              <a:t> </a:t>
            </a:r>
            <a:r>
              <a:rPr lang="ru-RU" sz="2800" dirty="0" err="1">
                <a:solidFill>
                  <a:srgbClr val="92D050"/>
                </a:solidFill>
              </a:rPr>
              <a:t>of</a:t>
            </a:r>
            <a:r>
              <a:rPr lang="ru-RU" sz="2800" dirty="0">
                <a:solidFill>
                  <a:srgbClr val="92D050"/>
                </a:solidFill>
              </a:rPr>
              <a:t> </a:t>
            </a:r>
            <a:r>
              <a:rPr lang="ru-RU" sz="2800" dirty="0" err="1">
                <a:solidFill>
                  <a:srgbClr val="92D050"/>
                </a:solidFill>
              </a:rPr>
              <a:t>India</a:t>
            </a:r>
            <a:r>
              <a:rPr lang="ru-RU" sz="2800" dirty="0">
                <a:solidFill>
                  <a:srgbClr val="92D050"/>
                </a:solidFill>
              </a:rPr>
              <a:t>')</a:t>
            </a:r>
          </a:p>
          <a:p>
            <a:r>
              <a:rPr lang="en-US" sz="2800" dirty="0"/>
              <a:t>print(result</a:t>
            </a:r>
            <a:r>
              <a:rPr lang="en-US" sz="2800" dirty="0" smtClean="0"/>
              <a:t>)</a:t>
            </a:r>
          </a:p>
          <a:p>
            <a:endParaRPr lang="ru-RU" sz="2800" dirty="0"/>
          </a:p>
          <a:p>
            <a:r>
              <a:rPr lang="ru-RU" sz="2800" dirty="0"/>
              <a:t>Результат</a:t>
            </a:r>
            <a:r>
              <a:rPr lang="ru-RU" sz="2800" dirty="0" smtClean="0"/>
              <a:t>: все слова, включая пробелы</a:t>
            </a:r>
            <a:endParaRPr lang="ru-RU" sz="2800" dirty="0"/>
          </a:p>
          <a:p>
            <a:r>
              <a:rPr lang="ru-RU" sz="2800" dirty="0">
                <a:solidFill>
                  <a:srgbClr val="92D050"/>
                </a:solidFill>
              </a:rPr>
              <a:t>['AV', </a:t>
            </a:r>
            <a:r>
              <a:rPr lang="ru-RU" sz="2800" dirty="0" smtClean="0">
                <a:solidFill>
                  <a:srgbClr val="92D050"/>
                </a:solidFill>
              </a:rPr>
              <a:t>' ', </a:t>
            </a:r>
            <a:r>
              <a:rPr lang="ru-RU" sz="2800" dirty="0">
                <a:solidFill>
                  <a:srgbClr val="92D050"/>
                </a:solidFill>
              </a:rPr>
              <a:t>'</a:t>
            </a:r>
            <a:r>
              <a:rPr lang="ru-RU" sz="2800" dirty="0" err="1">
                <a:solidFill>
                  <a:srgbClr val="92D050"/>
                </a:solidFill>
              </a:rPr>
              <a:t>is</a:t>
            </a:r>
            <a:r>
              <a:rPr lang="ru-RU" sz="2800" dirty="0">
                <a:solidFill>
                  <a:srgbClr val="92D050"/>
                </a:solidFill>
              </a:rPr>
              <a:t>', </a:t>
            </a:r>
            <a:r>
              <a:rPr lang="ru-RU" sz="2800" dirty="0" smtClean="0">
                <a:solidFill>
                  <a:srgbClr val="92D050"/>
                </a:solidFill>
              </a:rPr>
              <a:t>' ', </a:t>
            </a:r>
            <a:r>
              <a:rPr lang="ru-RU" sz="2800" dirty="0">
                <a:solidFill>
                  <a:srgbClr val="92D050"/>
                </a:solidFill>
              </a:rPr>
              <a:t>'</a:t>
            </a:r>
            <a:r>
              <a:rPr lang="ru-RU" sz="2800" dirty="0" err="1">
                <a:solidFill>
                  <a:srgbClr val="92D050"/>
                </a:solidFill>
              </a:rPr>
              <a:t>largest</a:t>
            </a:r>
            <a:r>
              <a:rPr lang="ru-RU" sz="2800" dirty="0">
                <a:solidFill>
                  <a:srgbClr val="92D050"/>
                </a:solidFill>
              </a:rPr>
              <a:t>', </a:t>
            </a:r>
            <a:r>
              <a:rPr lang="ru-RU" sz="2800" dirty="0" smtClean="0">
                <a:solidFill>
                  <a:srgbClr val="92D050"/>
                </a:solidFill>
              </a:rPr>
              <a:t>' ', </a:t>
            </a:r>
            <a:r>
              <a:rPr lang="ru-RU" sz="2800" dirty="0">
                <a:solidFill>
                  <a:srgbClr val="92D050"/>
                </a:solidFill>
              </a:rPr>
              <a:t>'</a:t>
            </a:r>
            <a:r>
              <a:rPr lang="ru-RU" sz="2800" dirty="0" err="1">
                <a:solidFill>
                  <a:srgbClr val="92D050"/>
                </a:solidFill>
              </a:rPr>
              <a:t>Analytics</a:t>
            </a:r>
            <a:r>
              <a:rPr lang="ru-RU" sz="2800" dirty="0">
                <a:solidFill>
                  <a:srgbClr val="92D050"/>
                </a:solidFill>
              </a:rPr>
              <a:t>', </a:t>
            </a:r>
            <a:r>
              <a:rPr lang="ru-RU" sz="2800" dirty="0" smtClean="0">
                <a:solidFill>
                  <a:srgbClr val="92D050"/>
                </a:solidFill>
              </a:rPr>
              <a:t>' ', </a:t>
            </a:r>
            <a:r>
              <a:rPr lang="ru-RU" sz="2800" dirty="0">
                <a:solidFill>
                  <a:srgbClr val="92D050"/>
                </a:solidFill>
              </a:rPr>
              <a:t>'</a:t>
            </a:r>
            <a:r>
              <a:rPr lang="ru-RU" sz="2800" dirty="0" err="1">
                <a:solidFill>
                  <a:srgbClr val="92D050"/>
                </a:solidFill>
              </a:rPr>
              <a:t>community</a:t>
            </a:r>
            <a:r>
              <a:rPr lang="ru-RU" sz="2800" dirty="0">
                <a:solidFill>
                  <a:srgbClr val="92D050"/>
                </a:solidFill>
              </a:rPr>
              <a:t>', </a:t>
            </a:r>
            <a:r>
              <a:rPr lang="ru-RU" sz="2800" dirty="0" smtClean="0">
                <a:solidFill>
                  <a:srgbClr val="92D050"/>
                </a:solidFill>
              </a:rPr>
              <a:t>' ', </a:t>
            </a:r>
            <a:r>
              <a:rPr lang="ru-RU" sz="2800" dirty="0">
                <a:solidFill>
                  <a:srgbClr val="92D050"/>
                </a:solidFill>
              </a:rPr>
              <a:t>'</a:t>
            </a:r>
            <a:r>
              <a:rPr lang="ru-RU" sz="2800" dirty="0" err="1">
                <a:solidFill>
                  <a:srgbClr val="92D050"/>
                </a:solidFill>
              </a:rPr>
              <a:t>of</a:t>
            </a:r>
            <a:r>
              <a:rPr lang="ru-RU" sz="2800" dirty="0">
                <a:solidFill>
                  <a:srgbClr val="92D050"/>
                </a:solidFill>
              </a:rPr>
              <a:t>', </a:t>
            </a:r>
            <a:r>
              <a:rPr lang="ru-RU" sz="2800" dirty="0" smtClean="0">
                <a:solidFill>
                  <a:srgbClr val="92D050"/>
                </a:solidFill>
              </a:rPr>
              <a:t>' ', </a:t>
            </a:r>
            <a:r>
              <a:rPr lang="ru-RU" sz="2800" dirty="0">
                <a:solidFill>
                  <a:srgbClr val="92D050"/>
                </a:solidFill>
              </a:rPr>
              <a:t>'</a:t>
            </a:r>
            <a:r>
              <a:rPr lang="ru-RU" sz="2800" dirty="0" err="1">
                <a:solidFill>
                  <a:srgbClr val="92D050"/>
                </a:solidFill>
              </a:rPr>
              <a:t>India</a:t>
            </a:r>
            <a:r>
              <a:rPr lang="ru-RU" sz="2800" dirty="0">
                <a:solidFill>
                  <a:srgbClr val="92D050"/>
                </a:solidFill>
              </a:rPr>
              <a:t>', </a:t>
            </a:r>
            <a:r>
              <a:rPr lang="ru-RU" sz="2800" dirty="0" smtClean="0">
                <a:solidFill>
                  <a:srgbClr val="92D050"/>
                </a:solidFill>
              </a:rPr>
              <a:t>' ']</a:t>
            </a:r>
            <a:endParaRPr lang="ru-RU" sz="2800" dirty="0">
              <a:solidFill>
                <a:srgbClr val="92D050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211668" y="3996825"/>
            <a:ext cx="10929944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result = </a:t>
            </a:r>
            <a:r>
              <a:rPr lang="en-US" sz="2800" dirty="0" err="1"/>
              <a:t>re.</a:t>
            </a:r>
            <a:r>
              <a:rPr lang="en-US" sz="2800" dirty="0" err="1">
                <a:solidFill>
                  <a:srgbClr val="92D050"/>
                </a:solidFill>
              </a:rPr>
              <a:t>findall</a:t>
            </a:r>
            <a:r>
              <a:rPr lang="en-US" sz="2800" dirty="0">
                <a:solidFill>
                  <a:srgbClr val="92D050"/>
                </a:solidFill>
              </a:rPr>
              <a:t>(r'\w+', 'AV is largest Analytics community of India')</a:t>
            </a:r>
          </a:p>
          <a:p>
            <a:r>
              <a:rPr lang="en-US" sz="2800" dirty="0"/>
              <a:t>print(result</a:t>
            </a:r>
            <a:r>
              <a:rPr lang="en-US" sz="2800" dirty="0" smtClean="0"/>
              <a:t>)</a:t>
            </a:r>
          </a:p>
          <a:p>
            <a:endParaRPr lang="en-US" sz="2800" dirty="0" smtClean="0"/>
          </a:p>
          <a:p>
            <a:r>
              <a:rPr lang="ru-RU" sz="2800" dirty="0" smtClean="0"/>
              <a:t>Результат</a:t>
            </a:r>
            <a:r>
              <a:rPr lang="ru-RU" sz="2800" dirty="0"/>
              <a:t>: все слова, </a:t>
            </a:r>
            <a:r>
              <a:rPr lang="ru-RU" sz="2800" dirty="0" smtClean="0"/>
              <a:t>не включая </a:t>
            </a:r>
            <a:r>
              <a:rPr lang="ru-RU" sz="2800" dirty="0"/>
              <a:t>пробелы</a:t>
            </a:r>
          </a:p>
          <a:p>
            <a:r>
              <a:rPr lang="ru-RU" sz="2800" dirty="0" smtClean="0">
                <a:solidFill>
                  <a:srgbClr val="92D050"/>
                </a:solidFill>
              </a:rPr>
              <a:t>[</a:t>
            </a:r>
            <a:r>
              <a:rPr lang="ru-RU" sz="2800" dirty="0">
                <a:solidFill>
                  <a:srgbClr val="92D050"/>
                </a:solidFill>
              </a:rPr>
              <a:t>'</a:t>
            </a:r>
            <a:r>
              <a:rPr lang="en-US" sz="2800" dirty="0">
                <a:solidFill>
                  <a:srgbClr val="92D050"/>
                </a:solidFill>
              </a:rPr>
              <a:t>AV', 'is', 'largest', 'Analytics', 'community', 'of', 'India']</a:t>
            </a:r>
            <a:endParaRPr lang="ru-RU" sz="2800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821437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0"/>
            <a:ext cx="11607800" cy="12700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/>
              <a:t>модуль </a:t>
            </a:r>
            <a:r>
              <a:rPr lang="en-US" dirty="0" smtClean="0"/>
              <a:t>re</a:t>
            </a:r>
            <a:r>
              <a:rPr lang="ru-RU" dirty="0" smtClean="0"/>
              <a:t>  </a:t>
            </a:r>
          </a:p>
          <a:p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74925" y="1707508"/>
            <a:ext cx="11744543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result = </a:t>
            </a:r>
            <a:r>
              <a:rPr lang="en-US" sz="2800" dirty="0" err="1"/>
              <a:t>re</a:t>
            </a:r>
            <a:r>
              <a:rPr lang="en-US" sz="2800" dirty="0" err="1">
                <a:solidFill>
                  <a:srgbClr val="92D050"/>
                </a:solidFill>
              </a:rPr>
              <a:t>.findall</a:t>
            </a:r>
            <a:r>
              <a:rPr lang="en-US" sz="2800" dirty="0">
                <a:solidFill>
                  <a:srgbClr val="92D050"/>
                </a:solidFill>
              </a:rPr>
              <a:t>(r'^\w+', 'AV is largest Analytics community of India')</a:t>
            </a:r>
          </a:p>
          <a:p>
            <a:r>
              <a:rPr lang="en-US" sz="2800" dirty="0" smtClean="0"/>
              <a:t>print(result)</a:t>
            </a:r>
            <a:endParaRPr lang="en-US" sz="2800" dirty="0"/>
          </a:p>
          <a:p>
            <a:endParaRPr lang="en-US" sz="2800" dirty="0"/>
          </a:p>
          <a:p>
            <a:r>
              <a:rPr lang="en-US" sz="2800" dirty="0" err="1"/>
              <a:t>Результат</a:t>
            </a:r>
            <a:r>
              <a:rPr lang="en-US" sz="2800" dirty="0" smtClean="0"/>
              <a:t>:</a:t>
            </a:r>
            <a:r>
              <a:rPr lang="ru-RU" sz="2800" dirty="0"/>
              <a:t> первое слово из строки</a:t>
            </a:r>
            <a:endParaRPr lang="en-US" sz="2800" dirty="0"/>
          </a:p>
          <a:p>
            <a:r>
              <a:rPr lang="en-US" sz="2800" dirty="0">
                <a:solidFill>
                  <a:schemeClr val="accent2"/>
                </a:solidFill>
              </a:rPr>
              <a:t>['AV']</a:t>
            </a:r>
            <a:endParaRPr lang="ru-RU" sz="2800" dirty="0">
              <a:solidFill>
                <a:schemeClr val="accent2"/>
              </a:solidFill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0" y="4167498"/>
            <a:ext cx="12175835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result = </a:t>
            </a:r>
            <a:r>
              <a:rPr lang="en-US" sz="2800" dirty="0" err="1"/>
              <a:t>re</a:t>
            </a:r>
            <a:r>
              <a:rPr lang="en-US" sz="2800" dirty="0" err="1">
                <a:solidFill>
                  <a:srgbClr val="92D050"/>
                </a:solidFill>
              </a:rPr>
              <a:t>.findall</a:t>
            </a:r>
            <a:r>
              <a:rPr lang="en-US" sz="2800" dirty="0">
                <a:solidFill>
                  <a:srgbClr val="92D050"/>
                </a:solidFill>
              </a:rPr>
              <a:t>(r'\w+$', 'AV is largest Analytics community of India')</a:t>
            </a:r>
          </a:p>
          <a:p>
            <a:r>
              <a:rPr lang="en-US" sz="2800" dirty="0"/>
              <a:t>print(result)</a:t>
            </a:r>
          </a:p>
          <a:p>
            <a:endParaRPr lang="en-US" sz="2800" dirty="0"/>
          </a:p>
          <a:p>
            <a:r>
              <a:rPr lang="en-US" sz="2800" dirty="0" err="1"/>
              <a:t>Результат</a:t>
            </a:r>
            <a:r>
              <a:rPr lang="en-US" sz="2800" dirty="0" smtClean="0"/>
              <a:t>:</a:t>
            </a:r>
            <a:r>
              <a:rPr lang="ru-RU" sz="2800" dirty="0"/>
              <a:t> последнее слово из строки</a:t>
            </a:r>
            <a:endParaRPr lang="en-US" sz="2800" dirty="0"/>
          </a:p>
          <a:p>
            <a:r>
              <a:rPr lang="en-US" sz="2800" dirty="0">
                <a:solidFill>
                  <a:schemeClr val="accent2"/>
                </a:solidFill>
              </a:rPr>
              <a:t>[‘India’]</a:t>
            </a:r>
            <a:endParaRPr lang="ru-RU" sz="28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76910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0"/>
            <a:ext cx="11607800" cy="12700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/>
              <a:t>модуль </a:t>
            </a:r>
            <a:r>
              <a:rPr lang="en-US" dirty="0" smtClean="0"/>
              <a:t>re</a:t>
            </a:r>
            <a:r>
              <a:rPr lang="ru-RU" dirty="0" smtClean="0"/>
              <a:t>  </a:t>
            </a:r>
          </a:p>
          <a:p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74925" y="1742013"/>
            <a:ext cx="12100910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result = </a:t>
            </a:r>
            <a:r>
              <a:rPr lang="en-US" sz="2800" dirty="0" err="1"/>
              <a:t>re</a:t>
            </a:r>
            <a:r>
              <a:rPr lang="en-US" sz="2800" dirty="0" err="1">
                <a:solidFill>
                  <a:srgbClr val="92D050"/>
                </a:solidFill>
              </a:rPr>
              <a:t>.findall</a:t>
            </a:r>
            <a:r>
              <a:rPr lang="en-US" sz="2800" dirty="0">
                <a:solidFill>
                  <a:srgbClr val="92D050"/>
                </a:solidFill>
              </a:rPr>
              <a:t>(r'\w\w', 'AV is largest Analytics community of India')</a:t>
            </a:r>
          </a:p>
          <a:p>
            <a:r>
              <a:rPr lang="en-US" sz="2800" dirty="0"/>
              <a:t>print(result)</a:t>
            </a:r>
          </a:p>
          <a:p>
            <a:endParaRPr lang="en-US" sz="2800" dirty="0"/>
          </a:p>
          <a:p>
            <a:r>
              <a:rPr lang="ru-RU" sz="2600" dirty="0"/>
              <a:t>Результат</a:t>
            </a:r>
            <a:r>
              <a:rPr lang="ru-RU" sz="2600" dirty="0" smtClean="0"/>
              <a:t>: </a:t>
            </a:r>
            <a:r>
              <a:rPr lang="ru-RU" sz="2600" dirty="0"/>
              <a:t>два последовательных символа, кроме </a:t>
            </a:r>
            <a:r>
              <a:rPr lang="ru-RU" sz="2600" dirty="0" smtClean="0"/>
              <a:t>пробельных</a:t>
            </a:r>
            <a:r>
              <a:rPr lang="en-US" sz="2600" dirty="0" smtClean="0"/>
              <a:t> </a:t>
            </a:r>
            <a:endParaRPr lang="ru-RU" sz="2600" dirty="0"/>
          </a:p>
          <a:p>
            <a:r>
              <a:rPr lang="ru-RU" sz="2800" dirty="0">
                <a:solidFill>
                  <a:schemeClr val="accent2"/>
                </a:solidFill>
              </a:rPr>
              <a:t>['</a:t>
            </a:r>
            <a:r>
              <a:rPr lang="en-US" sz="2800" dirty="0">
                <a:solidFill>
                  <a:schemeClr val="accent2"/>
                </a:solidFill>
              </a:rPr>
              <a:t>AV', 'is', 'la', '</a:t>
            </a:r>
            <a:r>
              <a:rPr lang="en-US" sz="2800" dirty="0" err="1">
                <a:solidFill>
                  <a:schemeClr val="accent2"/>
                </a:solidFill>
              </a:rPr>
              <a:t>rg</a:t>
            </a:r>
            <a:r>
              <a:rPr lang="en-US" sz="2800" dirty="0">
                <a:solidFill>
                  <a:schemeClr val="accent2"/>
                </a:solidFill>
              </a:rPr>
              <a:t>', '</a:t>
            </a:r>
            <a:r>
              <a:rPr lang="en-US" sz="2800" dirty="0" err="1">
                <a:solidFill>
                  <a:schemeClr val="accent2"/>
                </a:solidFill>
              </a:rPr>
              <a:t>es</a:t>
            </a:r>
            <a:r>
              <a:rPr lang="en-US" sz="2800" dirty="0">
                <a:solidFill>
                  <a:schemeClr val="accent2"/>
                </a:solidFill>
              </a:rPr>
              <a:t>', 'An', 'al', '</a:t>
            </a:r>
            <a:r>
              <a:rPr lang="en-US" sz="2800" dirty="0" err="1">
                <a:solidFill>
                  <a:schemeClr val="accent2"/>
                </a:solidFill>
              </a:rPr>
              <a:t>yt</a:t>
            </a:r>
            <a:r>
              <a:rPr lang="en-US" sz="2800" dirty="0">
                <a:solidFill>
                  <a:schemeClr val="accent2"/>
                </a:solidFill>
              </a:rPr>
              <a:t>', '</a:t>
            </a:r>
            <a:r>
              <a:rPr lang="en-US" sz="2800" dirty="0" err="1">
                <a:solidFill>
                  <a:schemeClr val="accent2"/>
                </a:solidFill>
              </a:rPr>
              <a:t>ic</a:t>
            </a:r>
            <a:r>
              <a:rPr lang="en-US" sz="2800" dirty="0">
                <a:solidFill>
                  <a:schemeClr val="accent2"/>
                </a:solidFill>
              </a:rPr>
              <a:t>', 'co', 'mm', 'un', 'it', 'of', 'In', 'di']</a:t>
            </a:r>
            <a:endParaRPr lang="ru-RU" sz="2800" dirty="0">
              <a:solidFill>
                <a:schemeClr val="accent2"/>
              </a:solidFill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0" y="4167498"/>
            <a:ext cx="12175835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result = </a:t>
            </a:r>
            <a:r>
              <a:rPr lang="en-US" sz="2800" dirty="0" err="1"/>
              <a:t>re</a:t>
            </a:r>
            <a:r>
              <a:rPr lang="en-US" sz="2800" dirty="0" err="1">
                <a:solidFill>
                  <a:srgbClr val="92D050"/>
                </a:solidFill>
              </a:rPr>
              <a:t>.findall</a:t>
            </a:r>
            <a:r>
              <a:rPr lang="en-US" sz="2800" dirty="0">
                <a:solidFill>
                  <a:srgbClr val="92D050"/>
                </a:solidFill>
              </a:rPr>
              <a:t>(r'\b\w.', 'AV is largest Analytics community of India')</a:t>
            </a:r>
          </a:p>
          <a:p>
            <a:r>
              <a:rPr lang="en-US" sz="2800" dirty="0"/>
              <a:t>print(result)</a:t>
            </a:r>
          </a:p>
          <a:p>
            <a:endParaRPr lang="en-US" sz="2800" dirty="0"/>
          </a:p>
          <a:p>
            <a:r>
              <a:rPr lang="en-US" sz="2600" dirty="0" err="1"/>
              <a:t>Результат</a:t>
            </a:r>
            <a:r>
              <a:rPr lang="en-US" sz="2600" dirty="0" smtClean="0"/>
              <a:t>:</a:t>
            </a:r>
            <a:r>
              <a:rPr lang="ru-RU" sz="2600" dirty="0"/>
              <a:t> два последовательных символа, используя символ границы слова (\b) </a:t>
            </a:r>
            <a:endParaRPr lang="ru-RU" sz="2600" dirty="0" smtClean="0"/>
          </a:p>
          <a:p>
            <a:r>
              <a:rPr lang="en-US" sz="2800" dirty="0">
                <a:solidFill>
                  <a:schemeClr val="accent2"/>
                </a:solidFill>
              </a:rPr>
              <a:t>['AV', 'is', 'la', 'An', 'co', 'of', 'In']</a:t>
            </a:r>
            <a:endParaRPr lang="ru-RU" sz="28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882333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0"/>
            <a:ext cx="11607800" cy="12700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/>
              <a:t>модуль </a:t>
            </a:r>
            <a:r>
              <a:rPr lang="en-US" dirty="0" smtClean="0"/>
              <a:t>re</a:t>
            </a:r>
            <a:r>
              <a:rPr lang="ru-RU" dirty="0" smtClean="0"/>
              <a:t> </a:t>
            </a:r>
            <a:r>
              <a:rPr lang="en-US" dirty="0" smtClean="0"/>
              <a:t> </a:t>
            </a:r>
          </a:p>
          <a:p>
            <a:endParaRPr lang="ru-RU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46204" y="689618"/>
            <a:ext cx="49840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solidFill>
                  <a:srgbClr val="0F1111"/>
                </a:solidFill>
                <a:latin typeface="Inter"/>
              </a:rPr>
              <a:t>Вернуть домены из списка </a:t>
            </a:r>
            <a:r>
              <a:rPr lang="ru-RU" b="1" dirty="0" err="1">
                <a:solidFill>
                  <a:srgbClr val="0F1111"/>
                </a:solidFill>
                <a:latin typeface="Inter"/>
              </a:rPr>
              <a:t>email</a:t>
            </a:r>
            <a:r>
              <a:rPr lang="ru-RU" b="1" dirty="0">
                <a:solidFill>
                  <a:srgbClr val="0F1111"/>
                </a:solidFill>
                <a:latin typeface="Inter"/>
              </a:rPr>
              <a:t>-адресов</a:t>
            </a:r>
            <a:endParaRPr lang="ru-RU" b="1" i="0" dirty="0">
              <a:solidFill>
                <a:srgbClr val="0F1111"/>
              </a:solidFill>
              <a:effectLst/>
              <a:latin typeface="Inter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6940" y="1270001"/>
            <a:ext cx="11980333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result = </a:t>
            </a:r>
            <a:r>
              <a:rPr lang="en-US" sz="2800" dirty="0" err="1"/>
              <a:t>re</a:t>
            </a:r>
            <a:r>
              <a:rPr lang="en-US" sz="2800" dirty="0" err="1">
                <a:solidFill>
                  <a:srgbClr val="92D050"/>
                </a:solidFill>
              </a:rPr>
              <a:t>.findall</a:t>
            </a:r>
            <a:r>
              <a:rPr lang="en-US" sz="2800" dirty="0">
                <a:solidFill>
                  <a:srgbClr val="92D050"/>
                </a:solidFill>
              </a:rPr>
              <a:t>(r'@\w+', 'abc.test@gmail.com, xyz@test.in, test.first@analyticsvidhya.com, first.test@rest.biz')</a:t>
            </a:r>
          </a:p>
          <a:p>
            <a:r>
              <a:rPr lang="en-US" sz="2800" dirty="0"/>
              <a:t>print(result)</a:t>
            </a:r>
          </a:p>
          <a:p>
            <a:r>
              <a:rPr lang="en-US" sz="2800" dirty="0" err="1" smtClean="0"/>
              <a:t>Результат</a:t>
            </a:r>
            <a:r>
              <a:rPr lang="en-US" sz="2800" dirty="0"/>
              <a:t>:</a:t>
            </a:r>
          </a:p>
          <a:p>
            <a:r>
              <a:rPr lang="en-US" sz="2800" dirty="0">
                <a:solidFill>
                  <a:schemeClr val="accent2"/>
                </a:solidFill>
              </a:rPr>
              <a:t>['@</a:t>
            </a:r>
            <a:r>
              <a:rPr lang="en-US" sz="2800" dirty="0" err="1">
                <a:solidFill>
                  <a:schemeClr val="accent2"/>
                </a:solidFill>
              </a:rPr>
              <a:t>gmail</a:t>
            </a:r>
            <a:r>
              <a:rPr lang="en-US" sz="2800" dirty="0">
                <a:solidFill>
                  <a:schemeClr val="accent2"/>
                </a:solidFill>
              </a:rPr>
              <a:t>', '@test', '@</a:t>
            </a:r>
            <a:r>
              <a:rPr lang="en-US" sz="2800" dirty="0" err="1">
                <a:solidFill>
                  <a:schemeClr val="accent2"/>
                </a:solidFill>
              </a:rPr>
              <a:t>analyticsvidhya</a:t>
            </a:r>
            <a:r>
              <a:rPr lang="en-US" sz="2800" dirty="0">
                <a:solidFill>
                  <a:schemeClr val="accent2"/>
                </a:solidFill>
              </a:rPr>
              <a:t>', '@rest']</a:t>
            </a:r>
            <a:endParaRPr lang="ru-RU" sz="2800" dirty="0">
              <a:solidFill>
                <a:schemeClr val="accent2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46204" y="3727821"/>
            <a:ext cx="1214579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result = </a:t>
            </a:r>
            <a:r>
              <a:rPr lang="en-US" sz="2800" dirty="0" err="1"/>
              <a:t>re</a:t>
            </a:r>
            <a:r>
              <a:rPr lang="en-US" sz="2800" dirty="0" err="1">
                <a:solidFill>
                  <a:srgbClr val="92D050"/>
                </a:solidFill>
              </a:rPr>
              <a:t>.findall</a:t>
            </a:r>
            <a:r>
              <a:rPr lang="en-US" sz="2800" dirty="0">
                <a:solidFill>
                  <a:srgbClr val="92D050"/>
                </a:solidFill>
              </a:rPr>
              <a:t>(r'@\w+.\w+', 'abc.test@gmail.com, xyz@test.in, test.first@analyticsvidhya.com, first.test@rest.biz')</a:t>
            </a:r>
          </a:p>
          <a:p>
            <a:r>
              <a:rPr lang="en-US" sz="2800" dirty="0"/>
              <a:t>print(result)</a:t>
            </a:r>
          </a:p>
          <a:p>
            <a:endParaRPr lang="en-US" sz="2800" dirty="0"/>
          </a:p>
          <a:p>
            <a:r>
              <a:rPr lang="en-US" sz="2800" dirty="0" err="1"/>
              <a:t>Результат</a:t>
            </a:r>
            <a:r>
              <a:rPr lang="en-US" sz="2800" dirty="0"/>
              <a:t>:</a:t>
            </a:r>
          </a:p>
          <a:p>
            <a:r>
              <a:rPr lang="en-US" sz="2800" dirty="0">
                <a:solidFill>
                  <a:schemeClr val="accent2"/>
                </a:solidFill>
              </a:rPr>
              <a:t>['@gmail.com', '@test.in', '@analyticsvidhya.com', '@rest.biz']</a:t>
            </a:r>
            <a:endParaRPr lang="ru-RU" sz="28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9193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0"/>
            <a:ext cx="11607800" cy="12700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/>
              <a:t>модуль </a:t>
            </a:r>
            <a:r>
              <a:rPr lang="en-US" dirty="0" smtClean="0"/>
              <a:t>re</a:t>
            </a:r>
            <a:r>
              <a:rPr lang="ru-RU" dirty="0" smtClean="0"/>
              <a:t> </a:t>
            </a:r>
            <a:r>
              <a:rPr lang="en-US" dirty="0" smtClean="0"/>
              <a:t> </a:t>
            </a:r>
          </a:p>
          <a:p>
            <a:endParaRPr lang="ru-RU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211668" y="900669"/>
            <a:ext cx="49840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solidFill>
                  <a:srgbClr val="0F1111"/>
                </a:solidFill>
                <a:latin typeface="Inter"/>
              </a:rPr>
              <a:t>Вернуть домены из списка </a:t>
            </a:r>
            <a:r>
              <a:rPr lang="ru-RU" b="1" dirty="0" err="1">
                <a:solidFill>
                  <a:srgbClr val="0F1111"/>
                </a:solidFill>
                <a:latin typeface="Inter"/>
              </a:rPr>
              <a:t>email</a:t>
            </a:r>
            <a:r>
              <a:rPr lang="ru-RU" b="1" dirty="0">
                <a:solidFill>
                  <a:srgbClr val="0F1111"/>
                </a:solidFill>
                <a:latin typeface="Inter"/>
              </a:rPr>
              <a:t>-адресов</a:t>
            </a:r>
            <a:endParaRPr lang="ru-RU" b="1" i="0" dirty="0">
              <a:solidFill>
                <a:srgbClr val="0F1111"/>
              </a:solidFill>
              <a:effectLst/>
              <a:latin typeface="Inter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0" y="2551837"/>
            <a:ext cx="12192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result = </a:t>
            </a:r>
            <a:r>
              <a:rPr lang="en-US" sz="2800" dirty="0" err="1"/>
              <a:t>re</a:t>
            </a:r>
            <a:r>
              <a:rPr lang="en-US" sz="2800" dirty="0" err="1">
                <a:solidFill>
                  <a:srgbClr val="92D050"/>
                </a:solidFill>
              </a:rPr>
              <a:t>.findall</a:t>
            </a:r>
            <a:r>
              <a:rPr lang="en-US" sz="2800" dirty="0">
                <a:solidFill>
                  <a:srgbClr val="92D050"/>
                </a:solidFill>
              </a:rPr>
              <a:t>(r'@\w+.(\w+)', 'abc.test@gmail.com, xyz@test.in, test.first@analyticsvidhya.com, first.test@rest.biz')</a:t>
            </a:r>
          </a:p>
          <a:p>
            <a:r>
              <a:rPr lang="en-US" sz="2800" dirty="0"/>
              <a:t>print(result)</a:t>
            </a:r>
          </a:p>
          <a:p>
            <a:endParaRPr lang="en-US" sz="2800" dirty="0"/>
          </a:p>
          <a:p>
            <a:r>
              <a:rPr lang="ru-RU" sz="2800" dirty="0"/>
              <a:t>Результат:</a:t>
            </a:r>
          </a:p>
          <a:p>
            <a:r>
              <a:rPr lang="ru-RU" sz="2800" dirty="0">
                <a:solidFill>
                  <a:srgbClr val="00B0F0"/>
                </a:solidFill>
              </a:rPr>
              <a:t>['</a:t>
            </a:r>
            <a:r>
              <a:rPr lang="en-US" sz="2800" dirty="0">
                <a:solidFill>
                  <a:srgbClr val="00B0F0"/>
                </a:solidFill>
              </a:rPr>
              <a:t>com', 'in', 'com', 'biz']</a:t>
            </a:r>
            <a:endParaRPr lang="ru-RU" sz="28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31294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0"/>
            <a:ext cx="11607800" cy="12700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/>
              <a:t>модуль </a:t>
            </a:r>
            <a:r>
              <a:rPr lang="en-US" dirty="0" smtClean="0"/>
              <a:t>re</a:t>
            </a:r>
            <a:r>
              <a:rPr lang="ru-RU" dirty="0" smtClean="0"/>
              <a:t> </a:t>
            </a:r>
            <a:r>
              <a:rPr lang="en-US" dirty="0" smtClean="0"/>
              <a:t> </a:t>
            </a:r>
          </a:p>
          <a:p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211668" y="635000"/>
            <a:ext cx="29037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solidFill>
                  <a:srgbClr val="0F1111"/>
                </a:solidFill>
                <a:latin typeface="Inter"/>
              </a:rPr>
              <a:t>Извлечь дату из строки</a:t>
            </a:r>
            <a:endParaRPr lang="ru-RU" b="1" i="0" dirty="0">
              <a:solidFill>
                <a:srgbClr val="0F1111"/>
              </a:solidFill>
              <a:effectLst/>
              <a:latin typeface="Inter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87665" y="1281441"/>
            <a:ext cx="11731803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result = </a:t>
            </a:r>
            <a:r>
              <a:rPr lang="en-US" sz="2800" dirty="0" err="1"/>
              <a:t>re</a:t>
            </a:r>
            <a:r>
              <a:rPr lang="en-US" sz="2800" dirty="0" err="1">
                <a:solidFill>
                  <a:srgbClr val="92D050"/>
                </a:solidFill>
              </a:rPr>
              <a:t>.findall</a:t>
            </a:r>
            <a:r>
              <a:rPr lang="en-US" sz="2800" dirty="0">
                <a:solidFill>
                  <a:srgbClr val="92D050"/>
                </a:solidFill>
              </a:rPr>
              <a:t>(r'\d{2}-\d{2}-\d{4}', 'Amit 34-3456 12-05-2007, XYZ 56-4532 11-11-2011, ABC 67-8945 12-01-2009')</a:t>
            </a:r>
          </a:p>
          <a:p>
            <a:r>
              <a:rPr lang="en-US" sz="2800" dirty="0"/>
              <a:t>print(result)</a:t>
            </a:r>
          </a:p>
          <a:p>
            <a:r>
              <a:rPr lang="ru-RU" sz="2800" dirty="0" smtClean="0"/>
              <a:t>Результат</a:t>
            </a:r>
            <a:r>
              <a:rPr lang="ru-RU" sz="2800" dirty="0"/>
              <a:t>:</a:t>
            </a:r>
          </a:p>
          <a:p>
            <a:r>
              <a:rPr lang="ru-RU" sz="2800" dirty="0">
                <a:solidFill>
                  <a:srgbClr val="00B0F0"/>
                </a:solidFill>
              </a:rPr>
              <a:t>['12-05-2007', '11-11-2011', '12-01-2009']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87665" y="3728751"/>
            <a:ext cx="12463975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result = </a:t>
            </a:r>
            <a:r>
              <a:rPr lang="en-US" sz="2800" dirty="0" err="1"/>
              <a:t>re</a:t>
            </a:r>
            <a:r>
              <a:rPr lang="en-US" sz="2800" dirty="0" err="1">
                <a:solidFill>
                  <a:srgbClr val="92D050"/>
                </a:solidFill>
              </a:rPr>
              <a:t>.findall</a:t>
            </a:r>
            <a:r>
              <a:rPr lang="en-US" sz="2800" dirty="0">
                <a:solidFill>
                  <a:srgbClr val="92D050"/>
                </a:solidFill>
              </a:rPr>
              <a:t>(r'\d{2}-\d{2}-(\d{4})', 'Amit 34-3456 12-05-2007, XYZ 56-4532 11-11-2011, ABC 67-8945 12-01-2009')</a:t>
            </a:r>
          </a:p>
          <a:p>
            <a:r>
              <a:rPr lang="en-US" sz="2800" dirty="0"/>
              <a:t>print(result)</a:t>
            </a:r>
          </a:p>
          <a:p>
            <a:endParaRPr lang="en-US" sz="2800" dirty="0"/>
          </a:p>
          <a:p>
            <a:r>
              <a:rPr lang="ru-RU" sz="2800" dirty="0"/>
              <a:t>Результат:</a:t>
            </a:r>
          </a:p>
          <a:p>
            <a:r>
              <a:rPr lang="ru-RU" sz="2800" dirty="0">
                <a:solidFill>
                  <a:srgbClr val="00B0F0"/>
                </a:solidFill>
              </a:rPr>
              <a:t>['2007', '2011', '2009']</a:t>
            </a:r>
          </a:p>
        </p:txBody>
      </p:sp>
    </p:spTree>
    <p:extLst>
      <p:ext uri="{BB962C8B-B14F-4D97-AF65-F5344CB8AC3E}">
        <p14:creationId xmlns:p14="http://schemas.microsoft.com/office/powerpoint/2010/main" xmlns="" val="511246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1"/>
            <a:ext cx="11607800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/>
              <a:t>модуль </a:t>
            </a:r>
            <a:r>
              <a:rPr lang="en-US" dirty="0" smtClean="0"/>
              <a:t>re</a:t>
            </a:r>
            <a:endParaRPr lang="ru-RU" dirty="0"/>
          </a:p>
        </p:txBody>
      </p:sp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6197" y="1052750"/>
            <a:ext cx="11946470" cy="3968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934042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1"/>
            <a:ext cx="11607800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/>
              <a:t>модуль </a:t>
            </a:r>
            <a:r>
              <a:rPr lang="en-US" dirty="0" smtClean="0"/>
              <a:t>re</a:t>
            </a:r>
            <a:endParaRPr lang="ru-RU" dirty="0"/>
          </a:p>
        </p:txBody>
      </p:sp>
      <p:pic>
        <p:nvPicPr>
          <p:cNvPr id="2" name="Рисунок 1" descr="Вырезка экрана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b="44625"/>
          <a:stretch/>
        </p:blipFill>
        <p:spPr>
          <a:xfrm>
            <a:off x="33814" y="992269"/>
            <a:ext cx="12158186" cy="3160009"/>
          </a:xfrm>
          <a:prstGeom prst="rect">
            <a:avLst/>
          </a:prstGeom>
        </p:spPr>
      </p:pic>
      <p:pic>
        <p:nvPicPr>
          <p:cNvPr id="6" name="Рисунок 5" descr="Вырезка экрана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b="48652"/>
          <a:stretch/>
        </p:blipFill>
        <p:spPr>
          <a:xfrm>
            <a:off x="111119" y="4157731"/>
            <a:ext cx="11808897" cy="2153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994582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1"/>
            <a:ext cx="11607800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/>
              <a:t>модуль </a:t>
            </a:r>
            <a:r>
              <a:rPr lang="en-US" dirty="0" smtClean="0"/>
              <a:t>re</a:t>
            </a:r>
            <a:endParaRPr lang="ru-RU" dirty="0"/>
          </a:p>
        </p:txBody>
      </p:sp>
      <p:pic>
        <p:nvPicPr>
          <p:cNvPr id="2" name="Рисунок 1" descr="Вырезка экрана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59184" r="25982"/>
          <a:stretch/>
        </p:blipFill>
        <p:spPr>
          <a:xfrm>
            <a:off x="451972" y="1304143"/>
            <a:ext cx="8999327" cy="2329166"/>
          </a:xfrm>
          <a:prstGeom prst="rect">
            <a:avLst/>
          </a:prstGeom>
        </p:spPr>
      </p:pic>
      <p:pic>
        <p:nvPicPr>
          <p:cNvPr id="4" name="Рисунок 3" descr="Вырезка экрана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50991" r="35720"/>
          <a:stretch/>
        </p:blipFill>
        <p:spPr>
          <a:xfrm>
            <a:off x="346579" y="4227226"/>
            <a:ext cx="7590712" cy="2055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201432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1"/>
            <a:ext cx="11607800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/>
              <a:t>модуль </a:t>
            </a:r>
            <a:r>
              <a:rPr lang="en-US" dirty="0" smtClean="0"/>
              <a:t>re</a:t>
            </a:r>
            <a:endParaRPr lang="ru-RU" dirty="0"/>
          </a:p>
        </p:txBody>
      </p:sp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42036" y="1341470"/>
            <a:ext cx="11301573" cy="401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361932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1"/>
            <a:ext cx="11607800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/>
              <a:t>модуль </a:t>
            </a:r>
            <a:r>
              <a:rPr lang="en-US" dirty="0" smtClean="0"/>
              <a:t>re</a:t>
            </a:r>
            <a:endParaRPr lang="ru-RU" dirty="0"/>
          </a:p>
        </p:txBody>
      </p:sp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11667" y="1260854"/>
            <a:ext cx="11137675" cy="2244346"/>
          </a:xfrm>
          <a:prstGeom prst="rect">
            <a:avLst/>
          </a:prstGeom>
        </p:spPr>
      </p:pic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1596" y="4069882"/>
            <a:ext cx="11895672" cy="1892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190475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1"/>
            <a:ext cx="11607800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/>
              <a:t>модуль </a:t>
            </a:r>
            <a:r>
              <a:rPr lang="en-US" dirty="0" smtClean="0"/>
              <a:t>re</a:t>
            </a:r>
            <a:endParaRPr lang="ru-RU" dirty="0"/>
          </a:p>
        </p:txBody>
      </p:sp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37939" y="4393520"/>
            <a:ext cx="11798734" cy="1871813"/>
          </a:xfrm>
          <a:prstGeom prst="rect">
            <a:avLst/>
          </a:prstGeom>
        </p:spPr>
      </p:pic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78206" y="1204968"/>
            <a:ext cx="11365840" cy="2923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919219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1"/>
            <a:ext cx="11607800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/>
              <a:t>модуль </a:t>
            </a:r>
            <a:r>
              <a:rPr lang="en-US" dirty="0" smtClean="0"/>
              <a:t>re</a:t>
            </a:r>
            <a:endParaRPr lang="ru-RU" dirty="0"/>
          </a:p>
        </p:txBody>
      </p:sp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11668" y="939801"/>
            <a:ext cx="11758355" cy="3081500"/>
          </a:xfrm>
          <a:prstGeom prst="rect">
            <a:avLst/>
          </a:prstGeom>
        </p:spPr>
      </p:pic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78368" y="4266837"/>
            <a:ext cx="11856601" cy="1837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258335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1"/>
            <a:ext cx="11607800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/>
              <a:t>модуль </a:t>
            </a:r>
            <a:r>
              <a:rPr lang="en-US" dirty="0" smtClean="0"/>
              <a:t>re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497639" y="1104983"/>
            <a:ext cx="44348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/>
              <a:t>Извлечь слова, начинающиеся на гласную</a:t>
            </a:r>
          </a:p>
        </p:txBody>
      </p:sp>
      <p:pic>
        <p:nvPicPr>
          <p:cNvPr id="6" name="Рисунок 5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11668" y="1879627"/>
            <a:ext cx="11780786" cy="846320"/>
          </a:xfrm>
          <a:prstGeom prst="rect">
            <a:avLst/>
          </a:prstGeom>
        </p:spPr>
      </p:pic>
      <p:pic>
        <p:nvPicPr>
          <p:cNvPr id="7" name="Рисунок 6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11668" y="3026469"/>
            <a:ext cx="6028695" cy="406844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211668" y="3734313"/>
            <a:ext cx="46544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/>
              <a:t>Извлечь слова, начинающиеся на </a:t>
            </a:r>
            <a:r>
              <a:rPr lang="ru-RU" b="1" dirty="0" smtClean="0"/>
              <a:t>согласную</a:t>
            </a:r>
            <a:endParaRPr lang="ru-RU" b="1" dirty="0"/>
          </a:p>
        </p:txBody>
      </p:sp>
      <p:pic>
        <p:nvPicPr>
          <p:cNvPr id="9" name="Рисунок 8" descr="Вырезка экрана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4166487"/>
            <a:ext cx="11950001" cy="836834"/>
          </a:xfrm>
          <a:prstGeom prst="rect">
            <a:avLst/>
          </a:prstGeom>
        </p:spPr>
      </p:pic>
      <p:pic>
        <p:nvPicPr>
          <p:cNvPr id="10" name="Рисунок 9" descr="Вырезка экрана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11668" y="5083416"/>
            <a:ext cx="4256815" cy="41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253027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1"/>
            <a:ext cx="11607800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/>
              <a:t>модуль </a:t>
            </a:r>
            <a:r>
              <a:rPr lang="en-US" dirty="0" smtClean="0"/>
              <a:t>re</a:t>
            </a:r>
            <a:endParaRPr lang="ru-RU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444382" y="2002130"/>
            <a:ext cx="82730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Проверить формат телефонного </a:t>
            </a:r>
            <a:r>
              <a:rPr lang="ru-RU" dirty="0" smtClean="0"/>
              <a:t>номера</a:t>
            </a:r>
            <a:r>
              <a:rPr lang="en-US" dirty="0" smtClean="0"/>
              <a:t>: </a:t>
            </a:r>
            <a:r>
              <a:rPr lang="ru-RU" dirty="0"/>
              <a:t>длиной 10 знаков и начинаться с 8 или 9</a:t>
            </a:r>
          </a:p>
        </p:txBody>
      </p:sp>
      <p:pic>
        <p:nvPicPr>
          <p:cNvPr id="11" name="Рисунок 10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11668" y="2688182"/>
            <a:ext cx="10932866" cy="969417"/>
          </a:xfrm>
          <a:prstGeom prst="rect">
            <a:avLst/>
          </a:prstGeom>
        </p:spPr>
      </p:pic>
      <p:sp>
        <p:nvSpPr>
          <p:cNvPr id="12" name="Прямоугольник 11"/>
          <p:cNvSpPr/>
          <p:nvPr/>
        </p:nvSpPr>
        <p:spPr>
          <a:xfrm>
            <a:off x="444382" y="3750511"/>
            <a:ext cx="46164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Разбить строку по нескольким разделителям</a:t>
            </a:r>
          </a:p>
        </p:txBody>
      </p:sp>
      <p:pic>
        <p:nvPicPr>
          <p:cNvPr id="14" name="Рисунок 13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11668" y="4212755"/>
            <a:ext cx="5098235" cy="583532"/>
          </a:xfrm>
          <a:prstGeom prst="rect">
            <a:avLst/>
          </a:prstGeom>
        </p:spPr>
      </p:pic>
      <p:pic>
        <p:nvPicPr>
          <p:cNvPr id="15" name="Рисунок 14" descr="Вырезка экрана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11668" y="5179968"/>
            <a:ext cx="5715030" cy="565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558356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1"/>
            <a:ext cx="11607800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/>
              <a:t>модуль </a:t>
            </a:r>
            <a:r>
              <a:rPr lang="en-US" dirty="0" smtClean="0"/>
              <a:t>re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442823" y="1845901"/>
            <a:ext cx="1109932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извлечь информацию из </a:t>
            </a:r>
            <a:r>
              <a:rPr lang="ru-RU" sz="2400" dirty="0" err="1"/>
              <a:t>html</a:t>
            </a:r>
            <a:r>
              <a:rPr lang="ru-RU" sz="2400" dirty="0"/>
              <a:t>-файла, заключенную между &lt;</a:t>
            </a:r>
            <a:r>
              <a:rPr lang="ru-RU" sz="2400" dirty="0" err="1"/>
              <a:t>td</a:t>
            </a:r>
            <a:r>
              <a:rPr lang="ru-RU" sz="2400" dirty="0"/>
              <a:t>&gt; и &lt;/</a:t>
            </a:r>
            <a:r>
              <a:rPr lang="ru-RU" sz="2400" dirty="0" err="1"/>
              <a:t>td</a:t>
            </a:r>
            <a:r>
              <a:rPr lang="ru-RU" sz="2400" dirty="0"/>
              <a:t>&gt;, кроме первого столбца с номером. Также будем считать, что </a:t>
            </a:r>
            <a:r>
              <a:rPr lang="ru-RU" sz="2400" dirty="0" err="1"/>
              <a:t>html</a:t>
            </a:r>
            <a:r>
              <a:rPr lang="ru-RU" sz="2400" dirty="0"/>
              <a:t>-код содержится в строке</a:t>
            </a:r>
          </a:p>
        </p:txBody>
      </p:sp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42823" y="3421050"/>
            <a:ext cx="11080412" cy="478090"/>
          </a:xfrm>
          <a:prstGeom prst="rect">
            <a:avLst/>
          </a:prstGeom>
        </p:spPr>
      </p:pic>
      <p:sp>
        <p:nvSpPr>
          <p:cNvPr id="2" name="Прямоугольник 1"/>
          <p:cNvSpPr/>
          <p:nvPr/>
        </p:nvSpPr>
        <p:spPr>
          <a:xfrm>
            <a:off x="865662" y="5510455"/>
            <a:ext cx="67930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hlinkClick r:id="rId4"/>
              </a:rPr>
              <a:t>https://habr.com/ru/companies/rosbank/articles/765538</a:t>
            </a:r>
            <a:r>
              <a:rPr lang="ru-RU" dirty="0" smtClean="0">
                <a:hlinkClick r:id="rId4"/>
              </a:rPr>
              <a:t>/</a:t>
            </a:r>
            <a:r>
              <a:rPr lang="ru-RU" dirty="0" smtClean="0"/>
              <a:t>  - примеры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1297138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1"/>
            <a:ext cx="11607800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Библиотека </a:t>
            </a:r>
            <a:r>
              <a:rPr lang="en-US" dirty="0" err="1" smtClean="0"/>
              <a:t>NumPy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308971" y="949700"/>
            <a:ext cx="9715561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import </a:t>
            </a:r>
            <a:r>
              <a:rPr lang="en-US" sz="2800" dirty="0" err="1"/>
              <a:t>numpy</a:t>
            </a:r>
            <a:r>
              <a:rPr lang="en-US" sz="2800" dirty="0"/>
              <a:t> as </a:t>
            </a:r>
            <a:r>
              <a:rPr lang="en-US" sz="2800" dirty="0" smtClean="0"/>
              <a:t>np</a:t>
            </a:r>
          </a:p>
          <a:p>
            <a:endParaRPr lang="en-US" sz="2800" dirty="0"/>
          </a:p>
          <a:p>
            <a:r>
              <a:rPr lang="en-US" sz="2800" dirty="0" smtClean="0"/>
              <a:t>#</a:t>
            </a:r>
            <a:r>
              <a:rPr lang="ru-RU" sz="2800" dirty="0" smtClean="0"/>
              <a:t>Создание </a:t>
            </a:r>
            <a:r>
              <a:rPr lang="ru-RU" sz="2800" dirty="0"/>
              <a:t>массива из списка</a:t>
            </a:r>
            <a:r>
              <a:rPr lang="ru-RU" sz="2800" dirty="0" smtClean="0"/>
              <a:t>:</a:t>
            </a:r>
            <a:endParaRPr lang="en-US" sz="2800" dirty="0" smtClean="0"/>
          </a:p>
          <a:p>
            <a:endParaRPr lang="en-US" sz="2800" dirty="0" smtClean="0"/>
          </a:p>
          <a:p>
            <a:r>
              <a:rPr lang="en-US" sz="2800" dirty="0" smtClean="0"/>
              <a:t>a </a:t>
            </a:r>
            <a:r>
              <a:rPr lang="en-US" sz="2800" dirty="0"/>
              <a:t>= </a:t>
            </a:r>
            <a:r>
              <a:rPr lang="en-US" sz="2800" dirty="0" err="1"/>
              <a:t>np.array</a:t>
            </a:r>
            <a:r>
              <a:rPr lang="en-US" sz="2800" dirty="0"/>
              <a:t>([1, 4, 5, 8], float)</a:t>
            </a:r>
          </a:p>
          <a:p>
            <a:r>
              <a:rPr lang="en-US" sz="2800" dirty="0"/>
              <a:t>&gt;&gt;&gt; a</a:t>
            </a:r>
          </a:p>
          <a:p>
            <a:r>
              <a:rPr lang="en-US" sz="2800" dirty="0"/>
              <a:t>array([ 1.,  4.,  5.,  8.])</a:t>
            </a:r>
          </a:p>
          <a:p>
            <a:r>
              <a:rPr lang="en-US" sz="2800" dirty="0"/>
              <a:t>&gt;&gt;&gt; type(a)</a:t>
            </a:r>
          </a:p>
          <a:p>
            <a:r>
              <a:rPr lang="en-US" sz="2800" dirty="0"/>
              <a:t>&lt;class '</a:t>
            </a:r>
            <a:r>
              <a:rPr lang="en-US" sz="2800" dirty="0" err="1"/>
              <a:t>numpy.ndarray</a:t>
            </a:r>
            <a:r>
              <a:rPr lang="en-US" sz="2800" dirty="0" smtClean="0"/>
              <a:t>'&gt;</a:t>
            </a:r>
          </a:p>
          <a:p>
            <a:r>
              <a:rPr lang="en-US" sz="2800" dirty="0"/>
              <a:t>&gt;&gt;&gt; </a:t>
            </a:r>
            <a:r>
              <a:rPr lang="en-US" sz="2800" dirty="0" err="1"/>
              <a:t>a.ndim</a:t>
            </a:r>
            <a:r>
              <a:rPr lang="en-US" sz="2800" dirty="0"/>
              <a:t> </a:t>
            </a:r>
            <a:r>
              <a:rPr lang="en-US" sz="2800" dirty="0" smtClean="0"/>
              <a:t>     #1 - </a:t>
            </a:r>
            <a:r>
              <a:rPr lang="ru-RU" sz="2800" dirty="0" smtClean="0"/>
              <a:t>ос</a:t>
            </a:r>
            <a:r>
              <a:rPr lang="ru-RU" sz="2800" dirty="0"/>
              <a:t>и</a:t>
            </a:r>
            <a:endParaRPr lang="en-US" sz="2800" dirty="0" smtClean="0"/>
          </a:p>
          <a:p>
            <a:r>
              <a:rPr lang="en-US" sz="2800" dirty="0" smtClean="0"/>
              <a:t>&gt;&gt;&gt; </a:t>
            </a:r>
            <a:r>
              <a:rPr lang="en-US" sz="2800" dirty="0" err="1"/>
              <a:t>a.size</a:t>
            </a:r>
            <a:r>
              <a:rPr lang="en-US" sz="2800" dirty="0"/>
              <a:t> </a:t>
            </a:r>
            <a:r>
              <a:rPr lang="en-US" sz="2800" dirty="0" smtClean="0"/>
              <a:t>       #4  - </a:t>
            </a:r>
            <a:r>
              <a:rPr lang="ru-RU" sz="2800" dirty="0" smtClean="0"/>
              <a:t>длин</a:t>
            </a:r>
            <a:r>
              <a:rPr lang="en-US" sz="2800" dirty="0" smtClean="0"/>
              <a:t>a</a:t>
            </a:r>
            <a:r>
              <a:rPr lang="ru-RU" sz="2800" dirty="0" smtClean="0"/>
              <a:t> </a:t>
            </a:r>
            <a:r>
              <a:rPr lang="ru-RU" sz="2800" dirty="0"/>
              <a:t>массива</a:t>
            </a:r>
            <a:endParaRPr lang="en-US" sz="2800" dirty="0" smtClean="0"/>
          </a:p>
          <a:p>
            <a:r>
              <a:rPr lang="en-US" sz="2800" dirty="0" smtClean="0"/>
              <a:t>&gt;&gt;&gt; </a:t>
            </a:r>
            <a:r>
              <a:rPr lang="en-US" sz="2800" dirty="0" err="1"/>
              <a:t>a.shape</a:t>
            </a:r>
            <a:r>
              <a:rPr lang="en-US" sz="2800" dirty="0"/>
              <a:t> </a:t>
            </a:r>
            <a:r>
              <a:rPr lang="en-US" sz="2800" dirty="0" smtClean="0"/>
              <a:t>   #(4,) - </a:t>
            </a:r>
            <a:r>
              <a:rPr lang="ru-RU" sz="2400" dirty="0" smtClean="0"/>
              <a:t>форм</a:t>
            </a:r>
            <a:r>
              <a:rPr lang="en-US" sz="2400" dirty="0" smtClean="0"/>
              <a:t>a </a:t>
            </a:r>
            <a:r>
              <a:rPr lang="ru-RU" sz="2400" dirty="0" smtClean="0"/>
              <a:t>массива</a:t>
            </a:r>
            <a:r>
              <a:rPr lang="en-US" sz="2400" dirty="0" smtClean="0"/>
              <a:t>, </a:t>
            </a:r>
            <a:r>
              <a:rPr lang="ru-RU" sz="2400" dirty="0"/>
              <a:t>количество строк и столбцов</a:t>
            </a:r>
          </a:p>
          <a:p>
            <a:endParaRPr lang="en-US" sz="2000" dirty="0" smtClean="0"/>
          </a:p>
          <a:p>
            <a:endParaRPr lang="ru-RU" sz="2800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7255567" y="339636"/>
            <a:ext cx="433346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333333"/>
                </a:solidFill>
                <a:latin typeface="-apple-system"/>
              </a:rPr>
              <a:t>Массивы схожи со списками в </a:t>
            </a:r>
            <a:r>
              <a:rPr lang="ru-RU" dirty="0" err="1">
                <a:solidFill>
                  <a:srgbClr val="333333"/>
                </a:solidFill>
                <a:latin typeface="-apple-system"/>
              </a:rPr>
              <a:t>python</a:t>
            </a:r>
            <a:r>
              <a:rPr lang="ru-RU" dirty="0">
                <a:solidFill>
                  <a:srgbClr val="333333"/>
                </a:solidFill>
                <a:latin typeface="-apple-system"/>
              </a:rPr>
              <a:t>, </a:t>
            </a:r>
            <a:r>
              <a:rPr lang="ru-RU" dirty="0" smtClean="0">
                <a:solidFill>
                  <a:srgbClr val="333333"/>
                </a:solidFill>
                <a:latin typeface="-apple-system"/>
              </a:rPr>
              <a:t>но элементы </a:t>
            </a:r>
            <a:r>
              <a:rPr lang="ru-RU" dirty="0">
                <a:solidFill>
                  <a:srgbClr val="333333"/>
                </a:solidFill>
                <a:latin typeface="-apple-system"/>
              </a:rPr>
              <a:t>массива должны иметь одинаковый тип данных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7553674" y="1602601"/>
            <a:ext cx="3737246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&gt;&gt;&gt; a[:2]</a:t>
            </a:r>
          </a:p>
          <a:p>
            <a:r>
              <a:rPr lang="en-US" sz="2800" dirty="0"/>
              <a:t>array([ 1.,  4.])</a:t>
            </a:r>
          </a:p>
          <a:p>
            <a:r>
              <a:rPr lang="en-US" sz="2800" dirty="0"/>
              <a:t>&gt;&gt;&gt; a[3]</a:t>
            </a:r>
          </a:p>
          <a:p>
            <a:r>
              <a:rPr lang="en-US" sz="2800" dirty="0"/>
              <a:t>8.0</a:t>
            </a:r>
          </a:p>
          <a:p>
            <a:r>
              <a:rPr lang="en-US" sz="2800" dirty="0"/>
              <a:t>&gt;&gt;&gt; a[0] = 5.</a:t>
            </a:r>
          </a:p>
          <a:p>
            <a:r>
              <a:rPr lang="en-US" sz="2800" dirty="0"/>
              <a:t>&gt;&gt;&gt; a</a:t>
            </a:r>
          </a:p>
          <a:p>
            <a:r>
              <a:rPr lang="en-US" sz="2800" dirty="0"/>
              <a:t>array([ 5.,  4.,  5.,  8.])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xmlns="" val="897646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1"/>
            <a:ext cx="11607800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Библиотека </a:t>
            </a:r>
            <a:r>
              <a:rPr lang="en-US" dirty="0" err="1" smtClean="0"/>
              <a:t>NumPy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522107" y="910104"/>
            <a:ext cx="43334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solidFill>
                  <a:srgbClr val="333333"/>
                </a:solidFill>
                <a:latin typeface="-apple-system"/>
              </a:rPr>
              <a:t>Массив с комплексными числами</a:t>
            </a:r>
            <a:endParaRPr lang="ru-RU" dirty="0"/>
          </a:p>
        </p:txBody>
      </p:sp>
      <p:pic>
        <p:nvPicPr>
          <p:cNvPr id="6" name="Рисунок 5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22107" y="1279436"/>
            <a:ext cx="9091725" cy="1957956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522107" y="3577027"/>
            <a:ext cx="43334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solidFill>
                  <a:srgbClr val="333333"/>
                </a:solidFill>
                <a:latin typeface="-apple-system"/>
              </a:rPr>
              <a:t>Массив со случайными значениями</a:t>
            </a:r>
            <a:endParaRPr lang="ru-RU" dirty="0"/>
          </a:p>
        </p:txBody>
      </p:sp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22107" y="3946359"/>
            <a:ext cx="8251607" cy="2386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299565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1"/>
            <a:ext cx="11607800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Библиотека </a:t>
            </a:r>
            <a:r>
              <a:rPr lang="en-US" dirty="0" err="1" smtClean="0"/>
              <a:t>NumPy</a:t>
            </a:r>
            <a:endParaRPr lang="ru-RU" dirty="0"/>
          </a:p>
        </p:txBody>
      </p:sp>
      <p:pic>
        <p:nvPicPr>
          <p:cNvPr id="9" name="Рисунок 8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11668" y="1089660"/>
            <a:ext cx="7700282" cy="2838103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7509733" y="193056"/>
            <a:ext cx="454762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smtClean="0"/>
              <a:t>многомерны</a:t>
            </a:r>
            <a:r>
              <a:rPr lang="ru-RU" sz="2000" dirty="0"/>
              <a:t>е</a:t>
            </a:r>
            <a:r>
              <a:rPr lang="ru-RU" sz="2000" dirty="0" smtClean="0"/>
              <a:t> массивы можно создать на основе списков, кортежей, последовательности кортежей</a:t>
            </a:r>
            <a:endParaRPr lang="ru-RU" sz="2000" dirty="0"/>
          </a:p>
        </p:txBody>
      </p:sp>
      <p:pic>
        <p:nvPicPr>
          <p:cNvPr id="11" name="Рисунок 10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11668" y="4077621"/>
            <a:ext cx="2947168" cy="2143397"/>
          </a:xfrm>
          <a:prstGeom prst="rect">
            <a:avLst/>
          </a:prstGeom>
        </p:spPr>
      </p:pic>
      <p:sp>
        <p:nvSpPr>
          <p:cNvPr id="12" name="Прямоугольник 11"/>
          <p:cNvSpPr/>
          <p:nvPr/>
        </p:nvSpPr>
        <p:spPr>
          <a:xfrm>
            <a:off x="4174580" y="3965611"/>
            <a:ext cx="475450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/>
              <a:t>#</a:t>
            </a:r>
            <a:r>
              <a:rPr lang="ru-RU" sz="2800" dirty="0" smtClean="0"/>
              <a:t>количество строк и столбцов</a:t>
            </a:r>
            <a:endParaRPr lang="ru-RU" sz="2800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4174580" y="4626099"/>
            <a:ext cx="289643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/>
              <a:t>#</a:t>
            </a:r>
            <a:r>
              <a:rPr lang="ru-RU" sz="2800" dirty="0" smtClean="0"/>
              <a:t>тип переменных</a:t>
            </a:r>
            <a:endParaRPr lang="ru-RU" sz="2800" dirty="0"/>
          </a:p>
        </p:txBody>
      </p:sp>
      <p:sp>
        <p:nvSpPr>
          <p:cNvPr id="14" name="Прямоугольник 13"/>
          <p:cNvSpPr/>
          <p:nvPr/>
        </p:nvSpPr>
        <p:spPr>
          <a:xfrm>
            <a:off x="4174580" y="5535968"/>
            <a:ext cx="438209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/>
              <a:t>#</a:t>
            </a:r>
            <a:r>
              <a:rPr lang="ru-RU" sz="2800" dirty="0" smtClean="0"/>
              <a:t>длина первого измерения</a:t>
            </a:r>
            <a:endParaRPr lang="ru-RU" sz="2800" dirty="0"/>
          </a:p>
        </p:txBody>
      </p:sp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780635" y="2161519"/>
            <a:ext cx="2276720" cy="2327312"/>
          </a:xfrm>
          <a:prstGeom prst="rect">
            <a:avLst/>
          </a:prstGeom>
        </p:spPr>
      </p:pic>
      <p:sp>
        <p:nvSpPr>
          <p:cNvPr id="15" name="Прямоугольник 14"/>
          <p:cNvSpPr/>
          <p:nvPr/>
        </p:nvSpPr>
        <p:spPr>
          <a:xfrm>
            <a:off x="3988374" y="3161857"/>
            <a:ext cx="58810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/>
              <a:t>#</a:t>
            </a:r>
            <a:r>
              <a:rPr lang="ru-RU" sz="2400" dirty="0" smtClean="0"/>
              <a:t>обратиться к элементу 2-мерного массива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xmlns="" val="1694500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1"/>
            <a:ext cx="11607800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Библиотека </a:t>
            </a:r>
            <a:r>
              <a:rPr lang="en-US" dirty="0" err="1" smtClean="0"/>
              <a:t>NumPy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7433074" y="349827"/>
            <a:ext cx="438639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 smtClean="0"/>
              <a:t>Переформировать массивы</a:t>
            </a:r>
            <a:endParaRPr lang="ru-RU" sz="2800" dirty="0"/>
          </a:p>
        </p:txBody>
      </p:sp>
      <p:pic>
        <p:nvPicPr>
          <p:cNvPr id="15" name="Рисунок 14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32830" y="1073102"/>
            <a:ext cx="9493441" cy="5786071"/>
          </a:xfrm>
          <a:prstGeom prst="rect">
            <a:avLst/>
          </a:prstGeom>
        </p:spPr>
      </p:pic>
      <p:sp>
        <p:nvSpPr>
          <p:cNvPr id="16" name="Прямоугольник 15"/>
          <p:cNvSpPr/>
          <p:nvPr/>
        </p:nvSpPr>
        <p:spPr>
          <a:xfrm>
            <a:off x="5609032" y="2516200"/>
            <a:ext cx="65741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smtClean="0"/>
              <a:t>#</a:t>
            </a:r>
            <a:r>
              <a:rPr lang="ru-RU" sz="2000" dirty="0" smtClean="0"/>
              <a:t>создает </a:t>
            </a:r>
            <a:r>
              <a:rPr lang="ru-RU" sz="2000" dirty="0"/>
              <a:t>новый </a:t>
            </a:r>
            <a:r>
              <a:rPr lang="en-US" sz="2000" dirty="0" smtClean="0"/>
              <a:t>2-</a:t>
            </a:r>
            <a:r>
              <a:rPr lang="ru-RU" sz="2000" dirty="0" smtClean="0"/>
              <a:t>мерный массив на основе одномерного</a:t>
            </a:r>
            <a:endParaRPr lang="ru-RU" sz="20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6781092" y="1071159"/>
            <a:ext cx="287860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smtClean="0"/>
              <a:t>#</a:t>
            </a:r>
            <a:r>
              <a:rPr lang="ru-RU" sz="2000" dirty="0" smtClean="0"/>
              <a:t>массив на основе </a:t>
            </a:r>
            <a:r>
              <a:rPr lang="en-US" sz="2000" dirty="0" smtClean="0"/>
              <a:t>range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xmlns="" val="3758520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1"/>
            <a:ext cx="11607800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Библиотека </a:t>
            </a:r>
            <a:r>
              <a:rPr lang="en-US" dirty="0" err="1" smtClean="0"/>
              <a:t>NumPy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211668" y="1127309"/>
            <a:ext cx="245073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 smtClean="0"/>
              <a:t>Копия массива</a:t>
            </a:r>
            <a:endParaRPr lang="ru-RU" sz="2800" dirty="0"/>
          </a:p>
        </p:txBody>
      </p:sp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11668" y="1838037"/>
            <a:ext cx="5781304" cy="4853707"/>
          </a:xfrm>
          <a:prstGeom prst="rect">
            <a:avLst/>
          </a:prstGeom>
        </p:spPr>
      </p:pic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942676" y="1838037"/>
            <a:ext cx="5210278" cy="2152072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6942676" y="1127309"/>
            <a:ext cx="302807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 smtClean="0"/>
              <a:t>Список из массива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xmlns="" val="2262657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1"/>
            <a:ext cx="11607800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Библиотека </a:t>
            </a:r>
            <a:r>
              <a:rPr lang="en-US" dirty="0" err="1" smtClean="0"/>
              <a:t>NumPy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211668" y="1127309"/>
            <a:ext cx="910916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 err="1"/>
              <a:t>переконвертировать</a:t>
            </a:r>
            <a:r>
              <a:rPr lang="ru-RU" sz="2800" dirty="0"/>
              <a:t> массив в бинарную </a:t>
            </a:r>
            <a:r>
              <a:rPr lang="ru-RU" sz="2800" dirty="0" smtClean="0"/>
              <a:t>строку и обратно</a:t>
            </a:r>
            <a:endParaRPr lang="ru-RU" sz="2800" dirty="0"/>
          </a:p>
        </p:txBody>
      </p:sp>
      <p:pic>
        <p:nvPicPr>
          <p:cNvPr id="6" name="Рисунок 5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11667" y="1838036"/>
            <a:ext cx="7914023" cy="3656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281581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1"/>
            <a:ext cx="11607800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Библиотека </a:t>
            </a:r>
            <a:r>
              <a:rPr lang="en-US" dirty="0" err="1" smtClean="0"/>
              <a:t>NumPy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211668" y="1127309"/>
            <a:ext cx="711912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/>
              <a:t>Заполнение массива одинаковым значением</a:t>
            </a:r>
          </a:p>
        </p:txBody>
      </p:sp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11668" y="1983510"/>
            <a:ext cx="6686660" cy="362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614197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1"/>
            <a:ext cx="11607800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Библиотека </a:t>
            </a:r>
            <a:r>
              <a:rPr lang="en-US" dirty="0" err="1" smtClean="0"/>
              <a:t>NumPy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211668" y="1127309"/>
            <a:ext cx="461171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/>
              <a:t>Транспонирование массивов</a:t>
            </a:r>
          </a:p>
        </p:txBody>
      </p:sp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11668" y="1838036"/>
            <a:ext cx="8267996" cy="3876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828732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1"/>
            <a:ext cx="11607800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Библиотека </a:t>
            </a:r>
            <a:r>
              <a:rPr lang="en-US" dirty="0" err="1" smtClean="0"/>
              <a:t>NumPy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211668" y="1127309"/>
            <a:ext cx="569091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 err="1"/>
              <a:t>переконвертировать</a:t>
            </a:r>
            <a:r>
              <a:rPr lang="ru-RU" sz="2800" dirty="0"/>
              <a:t> в одномерный</a:t>
            </a:r>
          </a:p>
        </p:txBody>
      </p:sp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11668" y="1838037"/>
            <a:ext cx="8865920" cy="3336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876758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1"/>
            <a:ext cx="11607800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Библиотека </a:t>
            </a:r>
            <a:r>
              <a:rPr lang="en-US" dirty="0" err="1" smtClean="0"/>
              <a:t>NumPy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211668" y="1127309"/>
            <a:ext cx="609583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/>
              <a:t>Два или больше </a:t>
            </a:r>
            <a:r>
              <a:rPr lang="ru-RU" sz="2800" dirty="0" smtClean="0"/>
              <a:t>массивов объединить</a:t>
            </a:r>
            <a:endParaRPr lang="ru-RU" sz="2800" dirty="0"/>
          </a:p>
        </p:txBody>
      </p:sp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11668" y="1650529"/>
            <a:ext cx="10008196" cy="3316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81876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1"/>
            <a:ext cx="11607800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Библиотека </a:t>
            </a:r>
            <a:r>
              <a:rPr lang="en-US" dirty="0" err="1" smtClean="0"/>
              <a:t>NumPy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398704" y="1164726"/>
            <a:ext cx="2822478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Два или больше </a:t>
            </a:r>
            <a:r>
              <a:rPr lang="ru-RU" sz="2800" dirty="0" smtClean="0"/>
              <a:t>массивов объединить, указав ось объединения</a:t>
            </a:r>
            <a:endParaRPr lang="ru-RU" sz="2800" dirty="0"/>
          </a:p>
        </p:txBody>
      </p:sp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026727" y="1"/>
            <a:ext cx="6165273" cy="6821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51732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1"/>
            <a:ext cx="11607800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Библиотека </a:t>
            </a:r>
            <a:r>
              <a:rPr lang="en-US" dirty="0" err="1" smtClean="0"/>
              <a:t>NumPy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398704" y="1164726"/>
            <a:ext cx="1055331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Функция </a:t>
            </a:r>
            <a:r>
              <a:rPr lang="ru-RU" sz="2800" dirty="0" err="1"/>
              <a:t>arange</a:t>
            </a:r>
            <a:r>
              <a:rPr lang="ru-RU" sz="2800" dirty="0"/>
              <a:t> аналогична функции </a:t>
            </a:r>
            <a:r>
              <a:rPr lang="ru-RU" sz="2800" dirty="0" err="1"/>
              <a:t>range</a:t>
            </a:r>
            <a:r>
              <a:rPr lang="ru-RU" sz="2800" dirty="0"/>
              <a:t>, но возвращает массив</a:t>
            </a:r>
          </a:p>
        </p:txBody>
      </p:sp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11667" y="1912871"/>
            <a:ext cx="6883957" cy="2347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232314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1"/>
            <a:ext cx="11607800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Библиотека </a:t>
            </a:r>
            <a:r>
              <a:rPr lang="en-US" dirty="0" err="1" smtClean="0"/>
              <a:t>NumPy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398704" y="1164726"/>
            <a:ext cx="1055331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Функции </a:t>
            </a:r>
            <a:r>
              <a:rPr lang="ru-RU" sz="2800" dirty="0" err="1"/>
              <a:t>zeros</a:t>
            </a:r>
            <a:r>
              <a:rPr lang="ru-RU" sz="2800" dirty="0"/>
              <a:t> и </a:t>
            </a:r>
            <a:r>
              <a:rPr lang="ru-RU" sz="2800" dirty="0" err="1"/>
              <a:t>ones</a:t>
            </a:r>
            <a:r>
              <a:rPr lang="ru-RU" sz="2800" dirty="0"/>
              <a:t> создают новые массивы с установленной размерностью, заполненные этими значениями</a:t>
            </a:r>
          </a:p>
        </p:txBody>
      </p:sp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98704" y="2343758"/>
            <a:ext cx="6100748" cy="2744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092285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1"/>
            <a:ext cx="11607800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Библиотека </a:t>
            </a:r>
            <a:r>
              <a:rPr lang="en-US" dirty="0" err="1" smtClean="0"/>
              <a:t>NumPy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398704" y="1164726"/>
            <a:ext cx="1055331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Функции </a:t>
            </a:r>
            <a:r>
              <a:rPr lang="ru-RU" sz="2800" dirty="0" err="1"/>
              <a:t>zeros_like</a:t>
            </a:r>
            <a:r>
              <a:rPr lang="ru-RU" sz="2800" dirty="0"/>
              <a:t> и </a:t>
            </a:r>
            <a:r>
              <a:rPr lang="ru-RU" sz="2800" dirty="0" err="1"/>
              <a:t>ones_like</a:t>
            </a:r>
            <a:r>
              <a:rPr lang="ru-RU" sz="2800" dirty="0"/>
              <a:t> могут преобразовать уже созданный массив, заполнив его нулями и единицами соответственно</a:t>
            </a:r>
          </a:p>
        </p:txBody>
      </p:sp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98704" y="2343758"/>
            <a:ext cx="8264624" cy="3475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505002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1"/>
            <a:ext cx="11607800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Библиотека </a:t>
            </a:r>
            <a:r>
              <a:rPr lang="en-US" dirty="0" err="1" smtClean="0"/>
              <a:t>NumPy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398704" y="1164726"/>
            <a:ext cx="1055331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smtClean="0"/>
              <a:t>Создание квадратной </a:t>
            </a:r>
            <a:r>
              <a:rPr lang="ru-RU" sz="2800" dirty="0"/>
              <a:t>матрицы с </a:t>
            </a:r>
            <a:r>
              <a:rPr lang="ru-RU" sz="2800" dirty="0" smtClean="0"/>
              <a:t>главной и к-й </a:t>
            </a:r>
            <a:r>
              <a:rPr lang="ru-RU" sz="2800" dirty="0"/>
              <a:t>диагональю, которая </a:t>
            </a:r>
            <a:r>
              <a:rPr lang="ru-RU" sz="2800" dirty="0" smtClean="0"/>
              <a:t>заполнена </a:t>
            </a:r>
            <a:r>
              <a:rPr lang="ru-RU" sz="2800" dirty="0"/>
              <a:t>единицами</a:t>
            </a:r>
          </a:p>
        </p:txBody>
      </p:sp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118832"/>
            <a:ext cx="5653196" cy="2577859"/>
          </a:xfrm>
          <a:prstGeom prst="rect">
            <a:avLst/>
          </a:prstGeom>
        </p:spPr>
      </p:pic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234545" y="2118832"/>
            <a:ext cx="5898738" cy="2735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524210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1"/>
            <a:ext cx="11607800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Библиотека </a:t>
            </a:r>
            <a:r>
              <a:rPr lang="en-US" dirty="0" err="1" smtClean="0"/>
              <a:t>NumPy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398704" y="1037535"/>
            <a:ext cx="1179329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Математические операции над </a:t>
            </a:r>
            <a:r>
              <a:rPr lang="ru-RU" sz="2800" dirty="0" smtClean="0"/>
              <a:t>массивами – </a:t>
            </a:r>
            <a:r>
              <a:rPr lang="ru-RU" sz="2800" dirty="0"/>
              <a:t>прибавление и умножение на скаляр</a:t>
            </a:r>
          </a:p>
        </p:txBody>
      </p:sp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32217" y="2089376"/>
            <a:ext cx="3916789" cy="3515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403880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1"/>
            <a:ext cx="11607800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Библиотека </a:t>
            </a:r>
            <a:r>
              <a:rPr lang="en-US" dirty="0" err="1" smtClean="0"/>
              <a:t>NumPy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398704" y="1037535"/>
            <a:ext cx="1179329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Математические операции над </a:t>
            </a:r>
            <a:r>
              <a:rPr lang="ru-RU" sz="2800" dirty="0" smtClean="0"/>
              <a:t>массивами – массивы одинакового размера (поэлементные действия)</a:t>
            </a:r>
            <a:endParaRPr lang="ru-RU" sz="2800" dirty="0"/>
          </a:p>
        </p:txBody>
      </p:sp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912871"/>
            <a:ext cx="6338614" cy="4474315"/>
          </a:xfrm>
          <a:prstGeom prst="rect">
            <a:avLst/>
          </a:prstGeom>
        </p:spPr>
      </p:pic>
      <p:pic>
        <p:nvPicPr>
          <p:cNvPr id="6" name="Рисунок 5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737318" y="1514588"/>
            <a:ext cx="5020684" cy="3957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467623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1"/>
            <a:ext cx="11607800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Библиотека </a:t>
            </a:r>
            <a:r>
              <a:rPr lang="en-US" dirty="0" err="1" smtClean="0"/>
              <a:t>NumPy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398704" y="1037535"/>
            <a:ext cx="1179329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/>
              <a:t>Математические операции над </a:t>
            </a:r>
            <a:r>
              <a:rPr lang="ru-RU" sz="2000" dirty="0" smtClean="0"/>
              <a:t>массивами – массивы одинакового размера (поэлементные действия) </a:t>
            </a:r>
            <a:r>
              <a:rPr lang="ru-RU" sz="2000" dirty="0"/>
              <a:t>- можно перемножить массив на синус или квадратный корень элементов массива b</a:t>
            </a:r>
          </a:p>
        </p:txBody>
      </p:sp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20439" y="1968409"/>
            <a:ext cx="8724662" cy="3026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761037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1"/>
            <a:ext cx="11607800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Библиотека </a:t>
            </a:r>
            <a:r>
              <a:rPr lang="en-US" dirty="0" err="1" smtClean="0"/>
              <a:t>NumPy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398704" y="1037535"/>
            <a:ext cx="1179329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Математические операции над </a:t>
            </a:r>
            <a:r>
              <a:rPr lang="ru-RU" sz="2800" dirty="0" smtClean="0"/>
              <a:t>массивами – массивы должны быть одинакового размера (поэлементные действия)</a:t>
            </a:r>
            <a:endParaRPr lang="ru-RU" sz="2800" dirty="0"/>
          </a:p>
        </p:txBody>
      </p:sp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98704" y="2089376"/>
            <a:ext cx="6253416" cy="1886276"/>
          </a:xfrm>
          <a:prstGeom prst="rect">
            <a:avLst/>
          </a:prstGeom>
        </p:spPr>
      </p:pic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11668" y="4073386"/>
            <a:ext cx="10515643" cy="2506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704799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1"/>
            <a:ext cx="11607800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Библиотека </a:t>
            </a:r>
            <a:r>
              <a:rPr lang="en-US" dirty="0" err="1" smtClean="0"/>
              <a:t>NumPy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1037535"/>
            <a:ext cx="121920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abs, sign, </a:t>
            </a:r>
            <a:r>
              <a:rPr lang="en-US" sz="2800" dirty="0" err="1"/>
              <a:t>sqrt</a:t>
            </a:r>
            <a:r>
              <a:rPr lang="en-US" sz="2800" dirty="0"/>
              <a:t>, log, log10, </a:t>
            </a:r>
            <a:r>
              <a:rPr lang="en-US" sz="2800" dirty="0" err="1"/>
              <a:t>exp</a:t>
            </a:r>
            <a:r>
              <a:rPr lang="en-US" sz="2800" dirty="0"/>
              <a:t>, sin, cos, tan, </a:t>
            </a:r>
            <a:r>
              <a:rPr lang="en-US" sz="2800" dirty="0" err="1"/>
              <a:t>arcsin</a:t>
            </a:r>
            <a:r>
              <a:rPr lang="en-US" sz="2800" dirty="0"/>
              <a:t>, </a:t>
            </a:r>
            <a:r>
              <a:rPr lang="en-US" sz="2800" dirty="0" err="1"/>
              <a:t>arccos</a:t>
            </a:r>
            <a:r>
              <a:rPr lang="en-US" sz="2800" dirty="0"/>
              <a:t>, </a:t>
            </a:r>
            <a:r>
              <a:rPr lang="en-US" sz="2800" dirty="0" err="1"/>
              <a:t>arctan</a:t>
            </a:r>
            <a:r>
              <a:rPr lang="en-US" sz="2800" dirty="0"/>
              <a:t>, </a:t>
            </a:r>
            <a:r>
              <a:rPr lang="en-US" sz="2800" dirty="0" err="1"/>
              <a:t>sinh</a:t>
            </a:r>
            <a:r>
              <a:rPr lang="en-US" sz="2800" dirty="0"/>
              <a:t>, </a:t>
            </a:r>
            <a:r>
              <a:rPr lang="en-US" sz="2800" dirty="0" err="1"/>
              <a:t>cosh</a:t>
            </a:r>
            <a:r>
              <a:rPr lang="en-US" sz="2800" dirty="0"/>
              <a:t>, </a:t>
            </a:r>
            <a:r>
              <a:rPr lang="en-US" sz="2800" dirty="0" err="1"/>
              <a:t>tanh</a:t>
            </a:r>
            <a:r>
              <a:rPr lang="en-US" sz="2800" dirty="0"/>
              <a:t>, </a:t>
            </a:r>
            <a:r>
              <a:rPr lang="en-US" sz="2800" dirty="0" err="1"/>
              <a:t>arcsinh</a:t>
            </a:r>
            <a:r>
              <a:rPr lang="en-US" sz="2800" dirty="0"/>
              <a:t>, </a:t>
            </a:r>
            <a:r>
              <a:rPr lang="en-US" sz="2800" dirty="0" err="1"/>
              <a:t>arccosh</a:t>
            </a:r>
            <a:r>
              <a:rPr lang="en-US" sz="2800" dirty="0"/>
              <a:t>, </a:t>
            </a:r>
            <a:r>
              <a:rPr lang="ru-RU" sz="2800" dirty="0" smtClean="0"/>
              <a:t> </a:t>
            </a:r>
            <a:r>
              <a:rPr lang="en-US" sz="2800" dirty="0" err="1" smtClean="0"/>
              <a:t>arctanh</a:t>
            </a:r>
            <a:r>
              <a:rPr lang="ru-RU" sz="2800" dirty="0" smtClean="0"/>
              <a:t>, </a:t>
            </a:r>
            <a:r>
              <a:rPr lang="en-US" sz="2800" dirty="0"/>
              <a:t>floor, ceil </a:t>
            </a:r>
            <a:r>
              <a:rPr lang="ru-RU" sz="2800" dirty="0"/>
              <a:t>и </a:t>
            </a:r>
            <a:r>
              <a:rPr lang="en-US" sz="2800" dirty="0" err="1"/>
              <a:t>rint</a:t>
            </a:r>
            <a:r>
              <a:rPr lang="ru-RU" sz="2800" dirty="0" smtClean="0"/>
              <a:t> используются поэлементно</a:t>
            </a:r>
            <a:endParaRPr lang="ru-RU" sz="2800" dirty="0"/>
          </a:p>
        </p:txBody>
      </p:sp>
      <p:pic>
        <p:nvPicPr>
          <p:cNvPr id="6" name="Рисунок 5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089376"/>
            <a:ext cx="6579704" cy="1644926"/>
          </a:xfrm>
          <a:prstGeom prst="rect">
            <a:avLst/>
          </a:prstGeom>
        </p:spPr>
      </p:pic>
      <p:pic>
        <p:nvPicPr>
          <p:cNvPr id="7" name="Рисунок 6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3806688"/>
            <a:ext cx="6102626" cy="3051312"/>
          </a:xfrm>
          <a:prstGeom prst="rect">
            <a:avLst/>
          </a:prstGeom>
        </p:spPr>
      </p:pic>
      <p:pic>
        <p:nvPicPr>
          <p:cNvPr id="8" name="Рисунок 7" descr="Вырезка экрана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757307" y="2016990"/>
            <a:ext cx="2719076" cy="171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383641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1"/>
            <a:ext cx="11607800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Библиотека </a:t>
            </a:r>
            <a:r>
              <a:rPr lang="en-US" dirty="0" err="1" smtClean="0"/>
              <a:t>NumPy</a:t>
            </a:r>
            <a:endParaRPr lang="ru-RU" dirty="0"/>
          </a:p>
        </p:txBody>
      </p:sp>
      <p:pic>
        <p:nvPicPr>
          <p:cNvPr id="12" name="Рисунок 11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78361" y="1404591"/>
            <a:ext cx="4470961" cy="2420369"/>
          </a:xfrm>
          <a:prstGeom prst="rect">
            <a:avLst/>
          </a:prstGeom>
        </p:spPr>
      </p:pic>
      <p:sp>
        <p:nvSpPr>
          <p:cNvPr id="13" name="Прямоугольник 12"/>
          <p:cNvSpPr/>
          <p:nvPr/>
        </p:nvSpPr>
        <p:spPr>
          <a:xfrm>
            <a:off x="211668" y="939801"/>
            <a:ext cx="17300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 smtClean="0"/>
              <a:t>Итерация </a:t>
            </a:r>
            <a:endParaRPr lang="ru-RU" sz="2800" dirty="0"/>
          </a:p>
        </p:txBody>
      </p:sp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875626" y="1201411"/>
            <a:ext cx="7316374" cy="2623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056236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1"/>
            <a:ext cx="11607800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Библиотека </a:t>
            </a:r>
            <a:r>
              <a:rPr lang="en-US" dirty="0" err="1" smtClean="0"/>
              <a:t>NumPy</a:t>
            </a:r>
            <a:endParaRPr lang="ru-RU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211668" y="939801"/>
            <a:ext cx="547425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/>
              <a:t>Базовые операции над массивами</a:t>
            </a:r>
          </a:p>
        </p:txBody>
      </p:sp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11667" y="1463020"/>
            <a:ext cx="5124843" cy="2132235"/>
          </a:xfrm>
          <a:prstGeom prst="rect">
            <a:avLst/>
          </a:prstGeom>
        </p:spPr>
      </p:pic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015568" y="1934939"/>
            <a:ext cx="2062289" cy="1660316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5095411" y="2267527"/>
            <a:ext cx="75533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 smtClean="0"/>
              <a:t>или</a:t>
            </a:r>
            <a:endParaRPr lang="ru-RU" sz="2800" dirty="0"/>
          </a:p>
        </p:txBody>
      </p:sp>
      <p:pic>
        <p:nvPicPr>
          <p:cNvPr id="7" name="Рисунок 6" descr="Вырезка экрана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755632" y="3477561"/>
            <a:ext cx="5063836" cy="3276599"/>
          </a:xfrm>
          <a:prstGeom prst="rect">
            <a:avLst/>
          </a:prstGeom>
        </p:spPr>
      </p:pic>
      <p:pic>
        <p:nvPicPr>
          <p:cNvPr id="8" name="Рисунок 7" descr="Вырезка экрана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11666" y="3793906"/>
            <a:ext cx="5420491" cy="2212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214803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1"/>
            <a:ext cx="11607800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Библиотека </a:t>
            </a:r>
            <a:r>
              <a:rPr lang="en-US" dirty="0" err="1" smtClean="0"/>
              <a:t>NumPy</a:t>
            </a:r>
            <a:endParaRPr lang="ru-RU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211668" y="939801"/>
            <a:ext cx="101654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/>
              <a:t>индекс минимального или максимального </a:t>
            </a:r>
            <a:r>
              <a:rPr lang="ru-RU" sz="2800" dirty="0" smtClean="0"/>
              <a:t>элемента, сортировка</a:t>
            </a:r>
            <a:endParaRPr lang="ru-RU" sz="2800" dirty="0"/>
          </a:p>
        </p:txBody>
      </p:sp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11668" y="1463021"/>
            <a:ext cx="5796298" cy="2443961"/>
          </a:xfrm>
          <a:prstGeom prst="rect">
            <a:avLst/>
          </a:prstGeom>
        </p:spPr>
      </p:pic>
      <p:pic>
        <p:nvPicPr>
          <p:cNvPr id="9" name="Рисунок 8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822759" y="3616036"/>
            <a:ext cx="6148452" cy="2763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495992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1"/>
            <a:ext cx="11607800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Библиотека </a:t>
            </a:r>
            <a:r>
              <a:rPr lang="en-US" dirty="0" err="1" smtClean="0"/>
              <a:t>NumPy</a:t>
            </a:r>
            <a:endParaRPr lang="ru-RU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211668" y="939801"/>
            <a:ext cx="109049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 smtClean="0"/>
              <a:t>Уникальные элементы, диагональ, сократить до заданного диапазона</a:t>
            </a:r>
            <a:endParaRPr lang="ru-RU" sz="2800" dirty="0"/>
          </a:p>
        </p:txBody>
      </p:sp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11667" y="1565232"/>
            <a:ext cx="7353465" cy="1336994"/>
          </a:xfrm>
          <a:prstGeom prst="rect">
            <a:avLst/>
          </a:prstGeom>
        </p:spPr>
      </p:pic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11667" y="3004437"/>
            <a:ext cx="7192965" cy="1510748"/>
          </a:xfrm>
          <a:prstGeom prst="rect">
            <a:avLst/>
          </a:prstGeom>
        </p:spPr>
      </p:pic>
      <p:pic>
        <p:nvPicPr>
          <p:cNvPr id="6" name="Рисунок 5" descr="Вырезка экрана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10484" y="4584025"/>
            <a:ext cx="7325975" cy="1478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063177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1"/>
            <a:ext cx="11607800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Библиотека </a:t>
            </a:r>
            <a:r>
              <a:rPr lang="en-US" dirty="0" err="1" smtClean="0"/>
              <a:t>NumPy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794421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smtClean="0"/>
              <a:t>сравнение</a:t>
            </a:r>
            <a:endParaRPr lang="ru-RU" sz="2800" dirty="0"/>
          </a:p>
        </p:txBody>
      </p:sp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11668" y="1317641"/>
            <a:ext cx="5942511" cy="3485510"/>
          </a:xfrm>
          <a:prstGeom prst="rect">
            <a:avLst/>
          </a:prstGeom>
        </p:spPr>
      </p:pic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11668" y="5155515"/>
            <a:ext cx="5374123" cy="1237574"/>
          </a:xfrm>
          <a:prstGeom prst="rect">
            <a:avLst/>
          </a:prstGeom>
        </p:spPr>
      </p:pic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743875" y="455872"/>
            <a:ext cx="5075593" cy="1015119"/>
          </a:xfrm>
          <a:prstGeom prst="rect">
            <a:avLst/>
          </a:prstGeom>
        </p:spPr>
      </p:pic>
      <p:pic>
        <p:nvPicPr>
          <p:cNvPr id="8" name="Рисунок 7" descr="Вырезка экрана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611827" y="1567086"/>
            <a:ext cx="5632174" cy="1761047"/>
          </a:xfrm>
          <a:prstGeom prst="rect">
            <a:avLst/>
          </a:prstGeom>
        </p:spPr>
      </p:pic>
      <p:pic>
        <p:nvPicPr>
          <p:cNvPr id="9" name="Рисунок 8" descr="Вырезка экрана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365847" y="3355337"/>
            <a:ext cx="5746107" cy="3378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06697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1"/>
            <a:ext cx="11607800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Библиотека </a:t>
            </a:r>
            <a:r>
              <a:rPr lang="en-US" dirty="0" err="1" smtClean="0"/>
              <a:t>NumPy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794421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Функция </a:t>
            </a:r>
            <a:r>
              <a:rPr lang="ru-RU" sz="2800" dirty="0" err="1"/>
              <a:t>where</a:t>
            </a:r>
            <a:r>
              <a:rPr lang="ru-RU" sz="2800" dirty="0"/>
              <a:t> создает новый </a:t>
            </a:r>
            <a:r>
              <a:rPr lang="ru-RU" sz="2800" dirty="0" smtClean="0"/>
              <a:t>массив , </a:t>
            </a:r>
            <a:r>
              <a:rPr lang="ru-RU" sz="2800" dirty="0"/>
              <a:t>используя булев фильтр</a:t>
            </a:r>
          </a:p>
        </p:txBody>
      </p:sp>
      <p:pic>
        <p:nvPicPr>
          <p:cNvPr id="6" name="Рисунок 5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809421"/>
            <a:ext cx="8012474" cy="1709031"/>
          </a:xfrm>
          <a:prstGeom prst="rect">
            <a:avLst/>
          </a:prstGeom>
        </p:spPr>
      </p:pic>
      <p:pic>
        <p:nvPicPr>
          <p:cNvPr id="7" name="Рисунок 6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11668" y="3658858"/>
            <a:ext cx="4880339" cy="1370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744912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1"/>
            <a:ext cx="11607800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Библиотека </a:t>
            </a:r>
            <a:r>
              <a:rPr lang="en-US" dirty="0" err="1" smtClean="0"/>
              <a:t>NumPy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794421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err="1"/>
              <a:t>nonzero</a:t>
            </a:r>
            <a:r>
              <a:rPr lang="ru-RU" sz="2800" dirty="0"/>
              <a:t> возвращает кортеж индексов ненулевых значений</a:t>
            </a:r>
          </a:p>
        </p:txBody>
      </p:sp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405562"/>
            <a:ext cx="7307836" cy="1556299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0" y="3049782"/>
            <a:ext cx="57053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проверить значения на конечность и </a:t>
            </a:r>
            <a:r>
              <a:rPr lang="ru-RU" dirty="0" err="1"/>
              <a:t>NaN</a:t>
            </a:r>
            <a:r>
              <a:rPr lang="ru-RU" dirty="0"/>
              <a:t>(</a:t>
            </a:r>
            <a:r>
              <a:rPr lang="ru-RU" dirty="0" err="1"/>
              <a:t>not</a:t>
            </a:r>
            <a:r>
              <a:rPr lang="ru-RU" dirty="0"/>
              <a:t> a </a:t>
            </a:r>
            <a:r>
              <a:rPr lang="ru-RU" dirty="0" err="1"/>
              <a:t>number</a:t>
            </a:r>
            <a:r>
              <a:rPr lang="ru-RU" dirty="0"/>
              <a:t>)</a:t>
            </a:r>
          </a:p>
        </p:txBody>
      </p:sp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3507035"/>
            <a:ext cx="6899000" cy="3132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853673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1"/>
            <a:ext cx="11607800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Библиотека </a:t>
            </a:r>
            <a:r>
              <a:rPr lang="en-US" dirty="0" err="1" smtClean="0"/>
              <a:t>NumPy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794421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smtClean="0"/>
              <a:t>фильтрация</a:t>
            </a:r>
            <a:endParaRPr lang="ru-RU" sz="2800" dirty="0"/>
          </a:p>
        </p:txBody>
      </p:sp>
      <p:pic>
        <p:nvPicPr>
          <p:cNvPr id="6" name="Рисунок 5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317641"/>
            <a:ext cx="5975364" cy="2419472"/>
          </a:xfrm>
          <a:prstGeom prst="rect">
            <a:avLst/>
          </a:prstGeom>
        </p:spPr>
      </p:pic>
      <p:pic>
        <p:nvPicPr>
          <p:cNvPr id="7" name="Рисунок 6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3835708"/>
            <a:ext cx="5718059" cy="1651490"/>
          </a:xfrm>
          <a:prstGeom prst="rect">
            <a:avLst/>
          </a:prstGeom>
        </p:spPr>
      </p:pic>
      <p:pic>
        <p:nvPicPr>
          <p:cNvPr id="8" name="Рисунок 7" descr="Вырезка экрана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5585793"/>
            <a:ext cx="6776950" cy="1272207"/>
          </a:xfrm>
          <a:prstGeom prst="rect">
            <a:avLst/>
          </a:prstGeom>
        </p:spPr>
      </p:pic>
      <p:pic>
        <p:nvPicPr>
          <p:cNvPr id="9" name="Рисунок 8" descr="Вырезка экрана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121995" y="1317641"/>
            <a:ext cx="5923373" cy="1637205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6054640" y="949257"/>
            <a:ext cx="56827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333333"/>
                </a:solidFill>
                <a:latin typeface="-apple-system"/>
              </a:rPr>
              <a:t>целочисленный массив хранит индексы элементов</a:t>
            </a:r>
            <a:endParaRPr lang="ru-RU" dirty="0"/>
          </a:p>
        </p:txBody>
      </p:sp>
      <p:pic>
        <p:nvPicPr>
          <p:cNvPr id="12" name="Рисунок 11" descr="Вырезка экрана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539948" y="3726521"/>
            <a:ext cx="5478063" cy="1322933"/>
          </a:xfrm>
          <a:prstGeom prst="rect">
            <a:avLst/>
          </a:prstGeom>
        </p:spPr>
      </p:pic>
      <p:sp>
        <p:nvSpPr>
          <p:cNvPr id="13" name="Прямоугольник 12"/>
          <p:cNvSpPr/>
          <p:nvPr/>
        </p:nvSpPr>
        <p:spPr>
          <a:xfrm>
            <a:off x="6335237" y="3171200"/>
            <a:ext cx="39283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>
                <a:solidFill>
                  <a:srgbClr val="333333"/>
                </a:solidFill>
                <a:latin typeface="-apple-system"/>
              </a:rPr>
              <a:t>Список хранит </a:t>
            </a:r>
            <a:r>
              <a:rPr lang="ru-RU" dirty="0">
                <a:solidFill>
                  <a:srgbClr val="333333"/>
                </a:solidFill>
                <a:latin typeface="-apple-system"/>
              </a:rPr>
              <a:t>индексы элементов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706819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1"/>
            <a:ext cx="11607800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Библиотека </a:t>
            </a:r>
            <a:r>
              <a:rPr lang="en-US" dirty="0" err="1" smtClean="0"/>
              <a:t>NumPy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794421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smtClean="0"/>
              <a:t>фильтрация</a:t>
            </a:r>
            <a:endParaRPr lang="ru-RU" sz="2800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6054640" y="949257"/>
            <a:ext cx="56827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333333"/>
                </a:solidFill>
                <a:latin typeface="-apple-system"/>
              </a:rPr>
              <a:t>целочисленный массив хранит индексы элементов</a:t>
            </a:r>
            <a:endParaRPr lang="ru-RU" dirty="0"/>
          </a:p>
        </p:txBody>
      </p:sp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11668" y="1317641"/>
            <a:ext cx="6315371" cy="2200811"/>
          </a:xfrm>
          <a:prstGeom prst="rect">
            <a:avLst/>
          </a:prstGeom>
        </p:spPr>
      </p:pic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11668" y="4423549"/>
            <a:ext cx="6328280" cy="1782890"/>
          </a:xfrm>
          <a:prstGeom prst="rect">
            <a:avLst/>
          </a:prstGeom>
        </p:spPr>
      </p:pic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679243" y="1434856"/>
            <a:ext cx="5436684" cy="1785421"/>
          </a:xfrm>
          <a:prstGeom prst="rect">
            <a:avLst/>
          </a:prstGeom>
        </p:spPr>
      </p:pic>
      <p:pic>
        <p:nvPicPr>
          <p:cNvPr id="14" name="Рисунок 13" descr="Вырезка экрана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679243" y="4613301"/>
            <a:ext cx="5364050" cy="1403386"/>
          </a:xfrm>
          <a:prstGeom prst="rect">
            <a:avLst/>
          </a:prstGeom>
        </p:spPr>
      </p:pic>
      <p:sp>
        <p:nvSpPr>
          <p:cNvPr id="15" name="Прямоугольник 14"/>
          <p:cNvSpPr/>
          <p:nvPr/>
        </p:nvSpPr>
        <p:spPr>
          <a:xfrm>
            <a:off x="6679243" y="3966970"/>
            <a:ext cx="485600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Исходный массив будет повторен если необходимо в случае не соответствия длин</a:t>
            </a:r>
          </a:p>
        </p:txBody>
      </p:sp>
    </p:spTree>
    <p:extLst>
      <p:ext uri="{BB962C8B-B14F-4D97-AF65-F5344CB8AC3E}">
        <p14:creationId xmlns:p14="http://schemas.microsoft.com/office/powerpoint/2010/main" xmlns="" val="1386950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1"/>
            <a:ext cx="11607800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Библиотека </a:t>
            </a:r>
            <a:r>
              <a:rPr lang="en-US" dirty="0" err="1" smtClean="0"/>
              <a:t>NumPy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794421"/>
            <a:ext cx="121920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Векторная и матричная </a:t>
            </a:r>
            <a:r>
              <a:rPr lang="ru-RU" sz="2800" dirty="0" smtClean="0"/>
              <a:t>математика</a:t>
            </a:r>
          </a:p>
          <a:p>
            <a:r>
              <a:rPr lang="ru-RU" sz="2800" dirty="0" smtClean="0"/>
              <a:t>Скалярное произведение векторов</a:t>
            </a:r>
            <a:endParaRPr lang="ru-RU" sz="2800" dirty="0"/>
          </a:p>
        </p:txBody>
      </p:sp>
      <p:pic>
        <p:nvPicPr>
          <p:cNvPr id="6" name="Рисунок 5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11668" y="1707191"/>
            <a:ext cx="5457841" cy="1711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284123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1"/>
            <a:ext cx="11607800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Библиотека </a:t>
            </a:r>
            <a:r>
              <a:rPr lang="en-US" dirty="0" err="1" smtClean="0"/>
              <a:t>NumPy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794421"/>
            <a:ext cx="121920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Векторная и матричная </a:t>
            </a:r>
            <a:r>
              <a:rPr lang="ru-RU" sz="2800" dirty="0" smtClean="0"/>
              <a:t>математика</a:t>
            </a:r>
          </a:p>
          <a:p>
            <a:r>
              <a:rPr lang="ru-RU" sz="2800" dirty="0" smtClean="0"/>
              <a:t>Умножение матриц</a:t>
            </a:r>
            <a:endParaRPr lang="ru-RU" sz="2800" dirty="0"/>
          </a:p>
        </p:txBody>
      </p:sp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764697" y="38552"/>
            <a:ext cx="6266440" cy="6817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019383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1"/>
            <a:ext cx="11607800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Библиотека </a:t>
            </a:r>
            <a:r>
              <a:rPr lang="en-US" dirty="0" err="1" smtClean="0"/>
              <a:t>NumPy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794421"/>
            <a:ext cx="121920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Векторная и матричная </a:t>
            </a:r>
            <a:r>
              <a:rPr lang="ru-RU" sz="2800" dirty="0" smtClean="0"/>
              <a:t>математика</a:t>
            </a:r>
          </a:p>
          <a:p>
            <a:r>
              <a:rPr lang="ru-RU" sz="2800" dirty="0"/>
              <a:t>Определитель матрицы</a:t>
            </a:r>
          </a:p>
        </p:txBody>
      </p:sp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809420"/>
            <a:ext cx="9683638" cy="3299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346768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1"/>
            <a:ext cx="11607800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Библиотека </a:t>
            </a:r>
            <a:r>
              <a:rPr lang="en-US" dirty="0" err="1" smtClean="0"/>
              <a:t>NumPy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794421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Функция </a:t>
            </a:r>
            <a:r>
              <a:rPr lang="ru-RU" sz="2800" dirty="0" err="1"/>
              <a:t>where</a:t>
            </a:r>
            <a:r>
              <a:rPr lang="ru-RU" sz="2800" dirty="0"/>
              <a:t> в</a:t>
            </a:r>
            <a:r>
              <a:rPr lang="ru-RU" sz="2800" dirty="0" smtClean="0"/>
              <a:t>озвращает </a:t>
            </a:r>
            <a:r>
              <a:rPr lang="ru-RU" sz="2800" dirty="0"/>
              <a:t>элементы, выбранные </a:t>
            </a:r>
            <a:r>
              <a:rPr lang="en-US" sz="2800" dirty="0" smtClean="0"/>
              <a:t> </a:t>
            </a:r>
            <a:r>
              <a:rPr lang="ru-RU" sz="2800" dirty="0"/>
              <a:t> в зависимости от </a:t>
            </a:r>
            <a:r>
              <a:rPr lang="ru-RU" sz="2800" i="1" dirty="0"/>
              <a:t>условия</a:t>
            </a:r>
            <a:endParaRPr lang="ru-RU" sz="2800" dirty="0"/>
          </a:p>
        </p:txBody>
      </p:sp>
      <p:pic>
        <p:nvPicPr>
          <p:cNvPr id="6" name="Рисунок 5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809421"/>
            <a:ext cx="8012474" cy="1709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836136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1"/>
            <a:ext cx="11607800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Библиотека </a:t>
            </a:r>
            <a:r>
              <a:rPr lang="en-US" dirty="0" err="1" smtClean="0"/>
              <a:t>NumPy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794421"/>
            <a:ext cx="85344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smtClean="0"/>
              <a:t>Чтение и запись (в бинарных файлах) - </a:t>
            </a:r>
            <a:r>
              <a:rPr lang="en-US" sz="2800" dirty="0"/>
              <a:t>save() </a:t>
            </a:r>
            <a:r>
              <a:rPr lang="ru-RU" sz="2800" dirty="0"/>
              <a:t>и </a:t>
            </a:r>
            <a:r>
              <a:rPr lang="en-US" sz="2800" dirty="0"/>
              <a:t>load</a:t>
            </a:r>
            <a:r>
              <a:rPr lang="en-US" sz="2800" dirty="0" smtClean="0"/>
              <a:t>()</a:t>
            </a:r>
            <a:r>
              <a:rPr lang="ru-RU" sz="2800" dirty="0" smtClean="0"/>
              <a:t> </a:t>
            </a:r>
            <a:endParaRPr lang="ru-RU" sz="2800" dirty="0"/>
          </a:p>
        </p:txBody>
      </p:sp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11667" y="1317641"/>
            <a:ext cx="8447939" cy="2339959"/>
          </a:xfrm>
          <a:prstGeom prst="rect">
            <a:avLst/>
          </a:prstGeom>
        </p:spPr>
      </p:pic>
      <p:pic>
        <p:nvPicPr>
          <p:cNvPr id="8" name="Рисунок 7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11667" y="4035439"/>
            <a:ext cx="7323666" cy="2688027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10030487" y="1528823"/>
            <a:ext cx="178898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Файл автоматически получит расширение .</a:t>
            </a:r>
            <a:r>
              <a:rPr lang="ru-RU" dirty="0" err="1"/>
              <a:t>npy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3240359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1"/>
            <a:ext cx="11607800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Библиотека </a:t>
            </a:r>
            <a:r>
              <a:rPr lang="en-US" dirty="0" err="1"/>
              <a:t>SciPy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7397201" y="353308"/>
            <a:ext cx="409786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smtClean="0"/>
              <a:t>Содержит набор пакетов </a:t>
            </a:r>
            <a:endParaRPr lang="ru-RU" sz="2800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752039" y="5683467"/>
            <a:ext cx="1074302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ru-RU" dirty="0" err="1"/>
              <a:t>SciPy</a:t>
            </a:r>
            <a:r>
              <a:rPr lang="ru-RU" dirty="0"/>
              <a:t> (</a:t>
            </a:r>
            <a:r>
              <a:rPr lang="ru-RU" dirty="0" err="1"/>
              <a:t>Scientific</a:t>
            </a:r>
            <a:r>
              <a:rPr lang="ru-RU" dirty="0"/>
              <a:t> Python) расширяет функционал </a:t>
            </a:r>
            <a:r>
              <a:rPr lang="ru-RU" dirty="0" err="1"/>
              <a:t>numpy</a:t>
            </a:r>
            <a:r>
              <a:rPr lang="ru-RU" dirty="0"/>
              <a:t> огромной коллекцией полезных алгоритмов, таких как минимизация, преобразование Фурье, регрессия, и другие прикладные математические техники.</a:t>
            </a:r>
            <a:endParaRPr lang="ru-RU" sz="1400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406946633"/>
              </p:ext>
            </p:extLst>
          </p:nvPr>
        </p:nvGraphicFramePr>
        <p:xfrm>
          <a:off x="406401" y="929115"/>
          <a:ext cx="10329332" cy="478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2579"/>
                <a:gridCol w="8026753"/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ru-RU" sz="2600" b="1" dirty="0">
                          <a:effectLst/>
                        </a:rPr>
                        <a:t>Название</a:t>
                      </a:r>
                      <a:endParaRPr lang="ru-RU" sz="2600" dirty="0">
                        <a:effectLst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600" b="1" dirty="0">
                          <a:effectLst/>
                        </a:rPr>
                        <a:t>Описание</a:t>
                      </a:r>
                      <a:endParaRPr lang="ru-RU" sz="2600" dirty="0">
                        <a:effectLst/>
                      </a:endParaRPr>
                    </a:p>
                  </a:txBody>
                  <a:tcPr marL="114300" marR="114300" marT="76200" marB="7620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600">
                          <a:effectLst/>
                        </a:rPr>
                        <a:t>cluster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lang="ru-RU" sz="2600">
                          <a:effectLst/>
                        </a:rPr>
                        <a:t>Алгоритмы кластерного анализа</a:t>
                      </a:r>
                    </a:p>
                  </a:txBody>
                  <a:tcPr marL="114300" marR="114300" marT="76200" marB="7620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600" dirty="0">
                          <a:effectLst/>
                        </a:rPr>
                        <a:t>constants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lang="ru-RU" sz="2600">
                          <a:effectLst/>
                        </a:rPr>
                        <a:t>Физические и математические константы</a:t>
                      </a:r>
                    </a:p>
                  </a:txBody>
                  <a:tcPr marL="114300" marR="114300" marT="76200" marB="7620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600">
                          <a:effectLst/>
                        </a:rPr>
                        <a:t>fftpack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lang="ru-RU" sz="2600">
                          <a:effectLst/>
                        </a:rPr>
                        <a:t>Быстрое преобразование Фурье</a:t>
                      </a:r>
                    </a:p>
                  </a:txBody>
                  <a:tcPr marL="114300" marR="114300" marT="76200" marB="7620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600">
                          <a:effectLst/>
                        </a:rPr>
                        <a:t>integrate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lang="ru-RU" sz="2600">
                          <a:effectLst/>
                        </a:rPr>
                        <a:t>Решения интегральных и обычных дифференциальных уравнений</a:t>
                      </a:r>
                    </a:p>
                  </a:txBody>
                  <a:tcPr marL="114300" marR="114300" marT="76200" marB="7620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600">
                          <a:effectLst/>
                        </a:rPr>
                        <a:t>interpolate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lang="ru-RU" sz="2600" dirty="0">
                          <a:effectLst/>
                        </a:rPr>
                        <a:t>Интерполяция и сглаживание сплайнов</a:t>
                      </a:r>
                    </a:p>
                  </a:txBody>
                  <a:tcPr marL="114300" marR="114300" marT="76200" marB="7620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600">
                          <a:effectLst/>
                        </a:rPr>
                        <a:t>io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lang="ru-RU" sz="2600" dirty="0">
                          <a:effectLst/>
                        </a:rPr>
                        <a:t>Ввод и вывод</a:t>
                      </a:r>
                    </a:p>
                  </a:txBody>
                  <a:tcPr marL="114300" marR="114300" marT="76200" marB="7620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600">
                          <a:effectLst/>
                        </a:rPr>
                        <a:t>linalg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lang="ru-RU" sz="2600" dirty="0">
                          <a:effectLst/>
                        </a:rPr>
                        <a:t>Линейная алгебра</a:t>
                      </a:r>
                    </a:p>
                  </a:txBody>
                  <a:tcPr marL="114300" marR="114300" marT="76200" marB="7620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272106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1"/>
            <a:ext cx="11607800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Библиотека </a:t>
            </a:r>
            <a:r>
              <a:rPr lang="en-US" dirty="0" err="1"/>
              <a:t>SciPy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7397201" y="353308"/>
            <a:ext cx="409786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smtClean="0"/>
              <a:t>Содержит набор пакетов </a:t>
            </a:r>
            <a:endParaRPr lang="ru-RU" sz="2800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891086803"/>
              </p:ext>
            </p:extLst>
          </p:nvPr>
        </p:nvGraphicFramePr>
        <p:xfrm>
          <a:off x="406401" y="929115"/>
          <a:ext cx="10329332" cy="518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2579"/>
                <a:gridCol w="8026753"/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ru-RU" sz="2600" b="1" dirty="0">
                          <a:effectLst/>
                        </a:rPr>
                        <a:t>Название</a:t>
                      </a:r>
                      <a:endParaRPr lang="ru-RU" sz="2600" dirty="0">
                        <a:effectLst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600" b="1" dirty="0">
                          <a:effectLst/>
                        </a:rPr>
                        <a:t>Описание</a:t>
                      </a:r>
                      <a:endParaRPr lang="ru-RU" sz="2600" dirty="0">
                        <a:effectLst/>
                      </a:endParaRPr>
                    </a:p>
                  </a:txBody>
                  <a:tcPr marL="114300" marR="114300" marT="76200" marB="7620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>
                          <a:effectLst/>
                        </a:rPr>
                        <a:t>ndimage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effectLst/>
                        </a:rPr>
                        <a:t>N-</a:t>
                      </a:r>
                      <a:r>
                        <a:rPr lang="ru-RU" sz="2800">
                          <a:effectLst/>
                        </a:rPr>
                        <a:t>размерная обработка изображений</a:t>
                      </a:r>
                    </a:p>
                  </a:txBody>
                  <a:tcPr marL="114300" marR="114300" marT="76200" marB="7620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>
                          <a:effectLst/>
                        </a:rPr>
                        <a:t>odr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lang="ru-RU" sz="2800">
                          <a:effectLst/>
                        </a:rPr>
                        <a:t>Метод ортогональных расстояний</a:t>
                      </a:r>
                    </a:p>
                  </a:txBody>
                  <a:tcPr marL="114300" marR="114300" marT="76200" marB="7620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>
                          <a:effectLst/>
                        </a:rPr>
                        <a:t>optimize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lang="ru-RU" sz="2800">
                          <a:effectLst/>
                        </a:rPr>
                        <a:t>Оптимизация и численное решение уравнений</a:t>
                      </a:r>
                    </a:p>
                  </a:txBody>
                  <a:tcPr marL="114300" marR="114300" marT="76200" marB="7620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>
                          <a:effectLst/>
                        </a:rPr>
                        <a:t>signal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lang="ru-RU" sz="2800">
                          <a:effectLst/>
                        </a:rPr>
                        <a:t>Обработка сигналов</a:t>
                      </a:r>
                    </a:p>
                  </a:txBody>
                  <a:tcPr marL="114300" marR="114300" marT="76200" marB="7620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>
                          <a:effectLst/>
                        </a:rPr>
                        <a:t>sparse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lang="ru-RU" sz="2800">
                          <a:effectLst/>
                        </a:rPr>
                        <a:t>Разреженные матрицы</a:t>
                      </a:r>
                    </a:p>
                  </a:txBody>
                  <a:tcPr marL="114300" marR="114300" marT="76200" marB="7620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>
                          <a:effectLst/>
                        </a:rPr>
                        <a:t>spatial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lang="ru-RU" sz="2800">
                          <a:effectLst/>
                        </a:rPr>
                        <a:t>Разреженные структуры данных и алгоритмы</a:t>
                      </a:r>
                    </a:p>
                  </a:txBody>
                  <a:tcPr marL="114300" marR="114300" marT="76200" marB="7620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>
                          <a:effectLst/>
                        </a:rPr>
                        <a:t>special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lang="ru-RU" sz="2800">
                          <a:effectLst/>
                        </a:rPr>
                        <a:t>Специальные функции</a:t>
                      </a:r>
                    </a:p>
                  </a:txBody>
                  <a:tcPr marL="114300" marR="114300" marT="76200" marB="7620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>
                          <a:effectLst/>
                        </a:rPr>
                        <a:t>stats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lang="ru-RU" sz="2800" dirty="0">
                          <a:effectLst/>
                        </a:rPr>
                        <a:t>Статистические распределения и функции</a:t>
                      </a:r>
                    </a:p>
                  </a:txBody>
                  <a:tcPr marL="114300" marR="114300" marT="76200" marB="76200" anchor="ctr"/>
                </a:tc>
              </a:tr>
            </a:tbl>
          </a:graphicData>
        </a:graphic>
      </p:graphicFrame>
      <p:sp>
        <p:nvSpPr>
          <p:cNvPr id="2" name="Прямоугольник 1"/>
          <p:cNvSpPr/>
          <p:nvPr/>
        </p:nvSpPr>
        <p:spPr>
          <a:xfrm>
            <a:off x="5427878" y="116055"/>
            <a:ext cx="51144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hlinkClick r:id="rId3"/>
              </a:rPr>
              <a:t>https://docs.scipy.org/doc/scipy/reference/tutorial</a:t>
            </a:r>
            <a:r>
              <a:rPr lang="ru-RU" dirty="0" smtClean="0">
                <a:hlinkClick r:id="rId3"/>
              </a:rPr>
              <a:t>/</a:t>
            </a:r>
            <a:r>
              <a:rPr lang="ru-RU" dirty="0" smtClean="0"/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4029981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1"/>
            <a:ext cx="11607800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Библиотека </a:t>
            </a:r>
            <a:r>
              <a:rPr lang="en-US" dirty="0" err="1"/>
              <a:t>SciPy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211668" y="1059933"/>
            <a:ext cx="7346563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 smtClean="0"/>
              <a:t>Функции для получения справки - </a:t>
            </a:r>
            <a:r>
              <a:rPr lang="en-US" sz="2800" dirty="0" smtClean="0"/>
              <a:t>help</a:t>
            </a:r>
            <a:r>
              <a:rPr lang="en-US" sz="2800" dirty="0"/>
              <a:t>(), info() </a:t>
            </a:r>
            <a:endParaRPr lang="ru-RU" sz="2800" dirty="0" smtClean="0"/>
          </a:p>
          <a:p>
            <a:r>
              <a:rPr lang="ru-RU" sz="2800" dirty="0" smtClean="0"/>
              <a:t>Получить исходный код - </a:t>
            </a:r>
            <a:r>
              <a:rPr lang="en-US" sz="2800" dirty="0"/>
              <a:t>source()</a:t>
            </a:r>
            <a:endParaRPr lang="ru-RU" sz="28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880893" y="2476268"/>
            <a:ext cx="6096000" cy="310854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dirty="0"/>
              <a:t>from </a:t>
            </a:r>
            <a:r>
              <a:rPr lang="en-US" sz="2800" dirty="0" err="1"/>
              <a:t>scipy</a:t>
            </a:r>
            <a:r>
              <a:rPr lang="en-US" sz="2800" dirty="0"/>
              <a:t> import cluster</a:t>
            </a:r>
          </a:p>
          <a:p>
            <a:r>
              <a:rPr lang="en-US" sz="2800" dirty="0"/>
              <a:t>help(cluster)               # с </a:t>
            </a:r>
            <a:r>
              <a:rPr lang="en-US" sz="2800" dirty="0" err="1"/>
              <a:t>параметром</a:t>
            </a:r>
            <a:endParaRPr lang="en-US" sz="2800" dirty="0"/>
          </a:p>
          <a:p>
            <a:r>
              <a:rPr lang="en-US" sz="2800" dirty="0"/>
              <a:t>help()                      # </a:t>
            </a:r>
            <a:r>
              <a:rPr lang="en-US" sz="2800" dirty="0" err="1"/>
              <a:t>без</a:t>
            </a:r>
            <a:r>
              <a:rPr lang="en-US" sz="2800" dirty="0"/>
              <a:t> </a:t>
            </a:r>
            <a:r>
              <a:rPr lang="en-US" sz="2800" dirty="0" err="1" smtClean="0"/>
              <a:t>параметра</a:t>
            </a:r>
            <a:endParaRPr lang="ru-RU" sz="2800" dirty="0" smtClean="0"/>
          </a:p>
          <a:p>
            <a:endParaRPr lang="ru-RU" sz="2800" dirty="0"/>
          </a:p>
          <a:p>
            <a:r>
              <a:rPr lang="en-US" sz="2800" dirty="0"/>
              <a:t>scipy.info(cluster</a:t>
            </a:r>
            <a:r>
              <a:rPr lang="en-US" sz="2800" dirty="0" smtClean="0"/>
              <a:t>)</a:t>
            </a:r>
            <a:endParaRPr lang="ru-RU" sz="2800" dirty="0" smtClean="0"/>
          </a:p>
          <a:p>
            <a:endParaRPr lang="ru-RU" sz="2800" dirty="0"/>
          </a:p>
          <a:p>
            <a:r>
              <a:rPr lang="en-US" sz="2800" dirty="0" err="1"/>
              <a:t>scipy.source</a:t>
            </a:r>
            <a:r>
              <a:rPr lang="en-US" sz="2800" dirty="0"/>
              <a:t>(cluster)</a:t>
            </a:r>
            <a:endParaRPr lang="ru-RU" sz="28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8791314" y="2346529"/>
            <a:ext cx="3028154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Для выхода достаточно ввести </a:t>
            </a:r>
            <a:r>
              <a:rPr lang="ru-RU" sz="2800" dirty="0" err="1"/>
              <a:t>quit</a:t>
            </a:r>
            <a:r>
              <a:rPr lang="ru-RU" sz="2800" dirty="0"/>
              <a:t> и нажать </a:t>
            </a:r>
            <a:r>
              <a:rPr lang="ru-RU" sz="2800" dirty="0" err="1"/>
              <a:t>Enter</a:t>
            </a:r>
            <a:r>
              <a:rPr lang="ru-RU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xmlns="" val="2741159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41540" y="155276"/>
            <a:ext cx="10593238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В</a:t>
            </a:r>
            <a:r>
              <a:rPr lang="ru-RU" dirty="0" smtClean="0"/>
              <a:t>изуализация </a:t>
            </a:r>
            <a:r>
              <a:rPr lang="ru-RU" dirty="0"/>
              <a:t>данных</a:t>
            </a:r>
            <a:r>
              <a:rPr lang="en-US" dirty="0" smtClean="0"/>
              <a:t>- </a:t>
            </a:r>
            <a:r>
              <a:rPr lang="ru-RU" dirty="0" smtClean="0"/>
              <a:t>библиотека </a:t>
            </a:r>
            <a:r>
              <a:rPr lang="en-US" dirty="0" err="1" smtClean="0"/>
              <a:t>matplotlib</a:t>
            </a:r>
            <a:endParaRPr lang="ru-RU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241540" y="1217171"/>
            <a:ext cx="6952890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поддерживает многие виды диаграмм:</a:t>
            </a:r>
          </a:p>
          <a:p>
            <a:endParaRPr lang="ru-RU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графики;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 smtClean="0"/>
              <a:t>диаграммы </a:t>
            </a:r>
            <a:r>
              <a:rPr lang="ru-RU" sz="2800" dirty="0"/>
              <a:t>разброса;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 smtClean="0"/>
              <a:t>столбчатые </a:t>
            </a:r>
            <a:r>
              <a:rPr lang="ru-RU" sz="2800" dirty="0"/>
              <a:t>диаграммы и гистограммы;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 smtClean="0"/>
              <a:t>круговые </a:t>
            </a:r>
            <a:r>
              <a:rPr lang="ru-RU" sz="2800" dirty="0"/>
              <a:t>диаграммы;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 smtClean="0"/>
              <a:t>ствол-лист </a:t>
            </a:r>
            <a:r>
              <a:rPr lang="ru-RU" sz="2800" dirty="0"/>
              <a:t>диаграммы;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 smtClean="0"/>
              <a:t>контурные </a:t>
            </a:r>
            <a:r>
              <a:rPr lang="ru-RU" sz="2800" dirty="0"/>
              <a:t>графики;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 smtClean="0"/>
              <a:t>поля </a:t>
            </a:r>
            <a:r>
              <a:rPr lang="ru-RU" sz="2800" dirty="0"/>
              <a:t>градиентов;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 smtClean="0"/>
              <a:t>спектральные </a:t>
            </a:r>
            <a:r>
              <a:rPr lang="ru-RU" sz="2800" dirty="0"/>
              <a:t>диаграммы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 smtClean="0"/>
              <a:t>и </a:t>
            </a:r>
            <a:r>
              <a:rPr lang="ru-RU" sz="2800" dirty="0"/>
              <a:t>др.</a:t>
            </a:r>
          </a:p>
        </p:txBody>
      </p:sp>
    </p:spTree>
    <p:extLst>
      <p:ext uri="{BB962C8B-B14F-4D97-AF65-F5344CB8AC3E}">
        <p14:creationId xmlns:p14="http://schemas.microsoft.com/office/powerpoint/2010/main" xmlns="" val="1308704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41540" y="155276"/>
            <a:ext cx="10593238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В</a:t>
            </a:r>
            <a:r>
              <a:rPr lang="ru-RU" dirty="0" smtClean="0"/>
              <a:t>изуализация </a:t>
            </a:r>
            <a:r>
              <a:rPr lang="ru-RU" dirty="0"/>
              <a:t>данных</a:t>
            </a:r>
            <a:r>
              <a:rPr lang="en-US" dirty="0" smtClean="0"/>
              <a:t>- </a:t>
            </a:r>
            <a:r>
              <a:rPr lang="ru-RU" dirty="0"/>
              <a:t>библиотека </a:t>
            </a:r>
            <a:r>
              <a:rPr lang="en-US" dirty="0" err="1" smtClean="0"/>
              <a:t>matplotlib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241540" y="2397038"/>
            <a:ext cx="10990052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smtClean="0"/>
              <a:t>Можно </a:t>
            </a:r>
            <a:r>
              <a:rPr lang="ru-RU" sz="2800" dirty="0"/>
              <a:t>указать оси координат, сетку, добавить аннотации, использовать логарифмическую шкалу или полярные координаты. </a:t>
            </a:r>
            <a:endParaRPr lang="ru-RU" sz="2800" dirty="0" smtClean="0"/>
          </a:p>
          <a:p>
            <a:endParaRPr lang="ru-RU" sz="2800" dirty="0"/>
          </a:p>
          <a:p>
            <a:r>
              <a:rPr lang="ru-RU" sz="2800" dirty="0" smtClean="0"/>
              <a:t>Созданные </a:t>
            </a:r>
            <a:r>
              <a:rPr lang="ru-RU" sz="2800" dirty="0"/>
              <a:t>изображения могут быть легко сохранены, в частности, в популярные форматы (JPEG, PNG и др.).</a:t>
            </a:r>
          </a:p>
        </p:txBody>
      </p:sp>
    </p:spTree>
    <p:extLst>
      <p:ext uri="{BB962C8B-B14F-4D97-AF65-F5344CB8AC3E}">
        <p14:creationId xmlns:p14="http://schemas.microsoft.com/office/powerpoint/2010/main" xmlns="" val="938708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41540" y="155276"/>
            <a:ext cx="10593238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В</a:t>
            </a:r>
            <a:r>
              <a:rPr lang="ru-RU" dirty="0" smtClean="0"/>
              <a:t>изуализация </a:t>
            </a:r>
            <a:r>
              <a:rPr lang="ru-RU" dirty="0"/>
              <a:t>данных</a:t>
            </a:r>
            <a:r>
              <a:rPr lang="en-US" dirty="0" smtClean="0"/>
              <a:t>- </a:t>
            </a:r>
            <a:r>
              <a:rPr lang="ru-RU" dirty="0"/>
              <a:t>библиотека </a:t>
            </a:r>
            <a:r>
              <a:rPr lang="en-US" dirty="0" err="1" smtClean="0"/>
              <a:t>matplotlib</a:t>
            </a:r>
            <a:endParaRPr lang="ru-RU" dirty="0"/>
          </a:p>
        </p:txBody>
      </p:sp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89590" y="1974971"/>
            <a:ext cx="6375381" cy="1123530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689590" y="3725645"/>
            <a:ext cx="1078354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на базе </a:t>
            </a:r>
            <a:r>
              <a:rPr lang="ru-RU" sz="2800" dirty="0" err="1"/>
              <a:t>Linux</a:t>
            </a:r>
            <a:r>
              <a:rPr lang="ru-RU" sz="2800" dirty="0"/>
              <a:t> можно воспользоваться пакетным менеджером и установить python3-matplotlib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689590" y="5112606"/>
            <a:ext cx="1150241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hlinkClick r:id="rId4"/>
              </a:rPr>
              <a:t>http://</a:t>
            </a:r>
            <a:r>
              <a:rPr lang="en-US" sz="2800" dirty="0" smtClean="0">
                <a:hlinkClick r:id="rId4"/>
              </a:rPr>
              <a:t>matplotlib.org/users/screenshots.html</a:t>
            </a:r>
            <a:r>
              <a:rPr lang="ru-RU" sz="2800" dirty="0" smtClean="0"/>
              <a:t>   - см </a:t>
            </a:r>
            <a:r>
              <a:rPr lang="en-US" sz="2800" dirty="0"/>
              <a:t>(</a:t>
            </a:r>
            <a:r>
              <a:rPr lang="en-US" sz="2800" dirty="0">
                <a:hlinkClick r:id="rId5"/>
              </a:rPr>
              <a:t>Source code</a:t>
            </a:r>
            <a:r>
              <a:rPr lang="en-US" sz="2800" dirty="0"/>
              <a:t>)</a:t>
            </a:r>
            <a:endParaRPr lang="ru-RU" sz="2800" dirty="0"/>
          </a:p>
          <a:p>
            <a:r>
              <a:rPr lang="en-US" sz="2800" dirty="0"/>
              <a:t>http://matplotlib.org/gallery.html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xmlns="" val="3505376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41540" y="155276"/>
            <a:ext cx="10593238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В</a:t>
            </a:r>
            <a:r>
              <a:rPr lang="ru-RU" dirty="0" smtClean="0"/>
              <a:t>изуализация </a:t>
            </a:r>
            <a:r>
              <a:rPr lang="ru-RU" dirty="0"/>
              <a:t>данных</a:t>
            </a:r>
            <a:r>
              <a:rPr lang="en-US" dirty="0" smtClean="0"/>
              <a:t>- </a:t>
            </a:r>
            <a:r>
              <a:rPr lang="ru-RU" dirty="0"/>
              <a:t>библиотека </a:t>
            </a:r>
            <a:r>
              <a:rPr lang="en-US" dirty="0" err="1" smtClean="0"/>
              <a:t>matplotlib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425570" y="1997363"/>
            <a:ext cx="11409872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Все функции построения диаграмм ожидают аргументы следующих типов:</a:t>
            </a:r>
          </a:p>
          <a:p>
            <a:endParaRPr lang="ru-RU" sz="2800" dirty="0"/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2800" dirty="0" err="1"/>
              <a:t>np.array</a:t>
            </a:r>
            <a:r>
              <a:rPr lang="ru-RU" sz="2800" dirty="0"/>
              <a:t>,</a:t>
            </a:r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2800" dirty="0" err="1" smtClean="0"/>
              <a:t>np.ma.masked_array</a:t>
            </a:r>
            <a:endParaRPr lang="ru-RU" sz="2800" dirty="0"/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2800" dirty="0" smtClean="0"/>
              <a:t>набор </a:t>
            </a:r>
            <a:r>
              <a:rPr lang="ru-RU" sz="2800" dirty="0"/>
              <a:t>или массив значений из пакета </a:t>
            </a:r>
            <a:r>
              <a:rPr lang="ru-RU" sz="2800" dirty="0" err="1"/>
              <a:t>NumPy</a:t>
            </a:r>
            <a:r>
              <a:rPr lang="ru-RU" sz="2800" dirty="0"/>
              <a:t> (устанавливается вместе с </a:t>
            </a:r>
            <a:r>
              <a:rPr lang="ru-RU" sz="2800" dirty="0" err="1"/>
              <a:t>matplotlib</a:t>
            </a:r>
            <a:r>
              <a:rPr lang="ru-RU" sz="2800" dirty="0"/>
              <a:t>), однако стандартные последовательности Python также допускаются к использованию</a:t>
            </a:r>
          </a:p>
        </p:txBody>
      </p:sp>
    </p:spTree>
    <p:extLst>
      <p:ext uri="{BB962C8B-B14F-4D97-AF65-F5344CB8AC3E}">
        <p14:creationId xmlns:p14="http://schemas.microsoft.com/office/powerpoint/2010/main" xmlns="" val="3467995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41540" y="155276"/>
            <a:ext cx="10593238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В</a:t>
            </a:r>
            <a:r>
              <a:rPr lang="ru-RU" dirty="0" smtClean="0"/>
              <a:t>изуализация </a:t>
            </a:r>
            <a:r>
              <a:rPr lang="ru-RU" dirty="0"/>
              <a:t>данных</a:t>
            </a:r>
            <a:r>
              <a:rPr lang="en-US" dirty="0" smtClean="0"/>
              <a:t>- </a:t>
            </a:r>
            <a:r>
              <a:rPr lang="ru-RU" dirty="0"/>
              <a:t>библиотека </a:t>
            </a:r>
            <a:r>
              <a:rPr lang="en-US" dirty="0" err="1" smtClean="0"/>
              <a:t>matplotlib</a:t>
            </a:r>
            <a:endParaRPr lang="ru-RU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372035" y="1225240"/>
            <a:ext cx="11407588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Модуль верхнего уровня </a:t>
            </a:r>
            <a:r>
              <a:rPr lang="en-US" sz="2800" dirty="0" err="1"/>
              <a:t>matplotlib</a:t>
            </a:r>
            <a:r>
              <a:rPr lang="en-US" sz="2800" dirty="0"/>
              <a:t> </a:t>
            </a:r>
            <a:r>
              <a:rPr lang="ru-RU" sz="2800" dirty="0"/>
              <a:t>содержит функции для конфигурации библиотеки.</a:t>
            </a:r>
          </a:p>
          <a:p>
            <a:endParaRPr lang="ru-RU" sz="2800" dirty="0"/>
          </a:p>
          <a:p>
            <a:r>
              <a:rPr lang="en-US" sz="2800" b="1" dirty="0" err="1"/>
              <a:t>matplotlib.rc</a:t>
            </a:r>
            <a:r>
              <a:rPr lang="en-US" sz="2800" b="1" dirty="0"/>
              <a:t>(group, **</a:t>
            </a:r>
            <a:r>
              <a:rPr lang="en-US" sz="2800" b="1" dirty="0" err="1"/>
              <a:t>kwargs</a:t>
            </a:r>
            <a:r>
              <a:rPr lang="en-US" sz="2800" b="1" dirty="0"/>
              <a:t>)</a:t>
            </a:r>
          </a:p>
          <a:p>
            <a:r>
              <a:rPr lang="ru-RU" sz="2800" dirty="0"/>
              <a:t>Устанавливает параметры </a:t>
            </a:r>
            <a:r>
              <a:rPr lang="ru-RU" sz="2800" b="1" dirty="0"/>
              <a:t>**</a:t>
            </a:r>
            <a:r>
              <a:rPr lang="en-US" sz="2800" b="1" dirty="0" err="1"/>
              <a:t>kwargs</a:t>
            </a:r>
            <a:r>
              <a:rPr lang="en-US" sz="2800" b="1" dirty="0"/>
              <a:t> </a:t>
            </a:r>
            <a:r>
              <a:rPr lang="ru-RU" sz="2800" dirty="0"/>
              <a:t>для группы объектов </a:t>
            </a:r>
            <a:r>
              <a:rPr lang="en-US" sz="2800" b="1" dirty="0"/>
              <a:t>group</a:t>
            </a:r>
            <a:r>
              <a:rPr lang="en-US" sz="2800" dirty="0"/>
              <a:t> (</a:t>
            </a:r>
            <a:r>
              <a:rPr lang="ru-RU" sz="2800" dirty="0"/>
              <a:t>например, "</a:t>
            </a:r>
            <a:r>
              <a:rPr lang="en-US" sz="2800" dirty="0"/>
              <a:t>font" </a:t>
            </a:r>
            <a:r>
              <a:rPr lang="ru-RU" sz="2800" dirty="0"/>
              <a:t>для шрифта</a:t>
            </a:r>
            <a:r>
              <a:rPr lang="ru-RU" sz="2800" dirty="0" smtClean="0"/>
              <a:t>)</a:t>
            </a:r>
            <a:r>
              <a:rPr lang="ru-RU" sz="2800" dirty="0"/>
              <a:t> , если шрифт в ОС по умолчанию не поддерживает кириллицу</a:t>
            </a:r>
            <a:r>
              <a:rPr lang="ru-RU" sz="2800" dirty="0" smtClean="0"/>
              <a:t>.</a:t>
            </a:r>
            <a:endParaRPr lang="ru-RU" sz="280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762000" y="4463948"/>
            <a:ext cx="979039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import </a:t>
            </a:r>
            <a:r>
              <a:rPr lang="en-US" sz="2800" dirty="0" err="1"/>
              <a:t>matplotlib</a:t>
            </a:r>
            <a:endParaRPr lang="en-US" sz="2800" dirty="0"/>
          </a:p>
          <a:p>
            <a:r>
              <a:rPr lang="en-US" sz="2800" dirty="0" smtClean="0"/>
              <a:t># </a:t>
            </a:r>
            <a:r>
              <a:rPr lang="en-US" sz="2800" dirty="0"/>
              <a:t>"</a:t>
            </a:r>
            <a:r>
              <a:rPr lang="ru-RU" sz="2800" dirty="0"/>
              <a:t>Включение" поддержки кириллицы</a:t>
            </a:r>
          </a:p>
          <a:p>
            <a:r>
              <a:rPr lang="en-US" sz="2800" dirty="0" err="1"/>
              <a:t>matplotlib.rc</a:t>
            </a:r>
            <a:r>
              <a:rPr lang="en-US" sz="2800" dirty="0"/>
              <a:t>("font", family="Arial, Ubuntu")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xmlns="" val="1562671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174044" y="0"/>
            <a:ext cx="792459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807714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41540" y="155276"/>
            <a:ext cx="10593238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В</a:t>
            </a:r>
            <a:r>
              <a:rPr lang="ru-RU" dirty="0" smtClean="0"/>
              <a:t>изуализация </a:t>
            </a:r>
            <a:r>
              <a:rPr lang="ru-RU" dirty="0"/>
              <a:t>данных</a:t>
            </a:r>
            <a:r>
              <a:rPr lang="en-US" dirty="0" smtClean="0"/>
              <a:t>- </a:t>
            </a:r>
            <a:r>
              <a:rPr lang="ru-RU" dirty="0"/>
              <a:t>библиотека </a:t>
            </a:r>
            <a:r>
              <a:rPr lang="en-US" dirty="0" err="1" smtClean="0"/>
              <a:t>matplotlib</a:t>
            </a:r>
            <a:endParaRPr lang="ru-RU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241540" y="1970957"/>
            <a:ext cx="11632213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Все элементы изображения унаследованы от класса </a:t>
            </a:r>
            <a:r>
              <a:rPr lang="ru-RU" sz="2800" dirty="0" err="1"/>
              <a:t>Artists</a:t>
            </a:r>
            <a:r>
              <a:rPr lang="ru-RU" sz="2800" dirty="0"/>
              <a:t> (модуль </a:t>
            </a:r>
            <a:r>
              <a:rPr lang="ru-RU" sz="2800" dirty="0" err="1"/>
              <a:t>artist</a:t>
            </a:r>
            <a:r>
              <a:rPr lang="ru-RU" sz="2800" dirty="0"/>
              <a:t>) и делятся на 2 типа:</a:t>
            </a:r>
          </a:p>
          <a:p>
            <a:endParaRPr lang="ru-RU" sz="2800" dirty="0"/>
          </a:p>
          <a:p>
            <a:r>
              <a:rPr lang="ru-RU" sz="2800" b="1" dirty="0" smtClean="0"/>
              <a:t>Примитивы</a:t>
            </a:r>
            <a:r>
              <a:rPr lang="en-US" sz="2800" dirty="0" smtClean="0"/>
              <a:t> </a:t>
            </a:r>
            <a:r>
              <a:rPr lang="ru-RU" sz="2800" dirty="0" smtClean="0"/>
              <a:t>– стандартные </a:t>
            </a:r>
            <a:r>
              <a:rPr lang="ru-RU" sz="2800" dirty="0"/>
              <a:t>графические объекты на изображении: линия (класс Line2D), прямоугольник (класс </a:t>
            </a:r>
            <a:r>
              <a:rPr lang="ru-RU" sz="2800" dirty="0" err="1"/>
              <a:t>Rectangle</a:t>
            </a:r>
            <a:r>
              <a:rPr lang="ru-RU" sz="2800" dirty="0"/>
              <a:t>), текст (класс </a:t>
            </a:r>
            <a:r>
              <a:rPr lang="ru-RU" sz="2800" dirty="0" err="1"/>
              <a:t>Text</a:t>
            </a:r>
            <a:r>
              <a:rPr lang="ru-RU" sz="2800" dirty="0"/>
              <a:t>) и т.д.</a:t>
            </a:r>
          </a:p>
          <a:p>
            <a:endParaRPr lang="ru-RU" sz="2800" dirty="0"/>
          </a:p>
          <a:p>
            <a:r>
              <a:rPr lang="ru-RU" sz="2800" b="1" dirty="0" smtClean="0"/>
              <a:t>Контейнеры</a:t>
            </a:r>
            <a:r>
              <a:rPr lang="ru-RU" sz="2800" dirty="0" smtClean="0"/>
              <a:t> –  </a:t>
            </a:r>
            <a:r>
              <a:rPr lang="ru-RU" sz="2800" dirty="0"/>
              <a:t>объекты, внутри которых размещаются примитивы: координатная плоскость (класс </a:t>
            </a:r>
            <a:r>
              <a:rPr lang="ru-RU" sz="2800" dirty="0" err="1"/>
              <a:t>Axes</a:t>
            </a:r>
            <a:r>
              <a:rPr lang="ru-RU" sz="2800" dirty="0"/>
              <a:t>), оси (класс </a:t>
            </a:r>
            <a:r>
              <a:rPr lang="ru-RU" sz="2800" dirty="0" err="1"/>
              <a:t>Axis</a:t>
            </a:r>
            <a:r>
              <a:rPr lang="ru-RU" sz="2800" dirty="0"/>
              <a:t>) или изображение (класс </a:t>
            </a:r>
            <a:r>
              <a:rPr lang="ru-RU" sz="2800" dirty="0" err="1"/>
              <a:t>Figure</a:t>
            </a:r>
            <a:r>
              <a:rPr lang="ru-RU" sz="28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xmlns="" val="636740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41540" y="155276"/>
            <a:ext cx="10593238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В</a:t>
            </a:r>
            <a:r>
              <a:rPr lang="ru-RU" dirty="0" smtClean="0"/>
              <a:t>изуализация </a:t>
            </a:r>
            <a:r>
              <a:rPr lang="ru-RU" dirty="0"/>
              <a:t>данных</a:t>
            </a:r>
            <a:r>
              <a:rPr lang="en-US" dirty="0" smtClean="0"/>
              <a:t>- </a:t>
            </a:r>
            <a:r>
              <a:rPr lang="ru-RU" dirty="0"/>
              <a:t>библиотека </a:t>
            </a:r>
            <a:r>
              <a:rPr lang="en-US" dirty="0" err="1" smtClean="0"/>
              <a:t>matplotlib</a:t>
            </a:r>
            <a:endParaRPr lang="ru-RU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139742" y="1307957"/>
            <a:ext cx="518199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/>
              <a:t>Построение простой диаграммы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386707" y="2044058"/>
            <a:ext cx="10802471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Создать объект </a:t>
            </a:r>
            <a:r>
              <a:rPr lang="ru-RU" sz="2800" dirty="0" err="1"/>
              <a:t>Figure</a:t>
            </a:r>
            <a:r>
              <a:rPr lang="ru-RU" sz="28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Используя объект </a:t>
            </a:r>
            <a:r>
              <a:rPr lang="ru-RU" sz="2800" dirty="0" err="1"/>
              <a:t>Figure</a:t>
            </a:r>
            <a:r>
              <a:rPr lang="ru-RU" sz="2800" dirty="0"/>
              <a:t>, добавить координатную плоскость </a:t>
            </a:r>
            <a:r>
              <a:rPr lang="ru-RU" sz="2800" dirty="0" err="1"/>
              <a:t>Axes</a:t>
            </a:r>
            <a:r>
              <a:rPr lang="ru-RU" sz="2800" dirty="0"/>
              <a:t> (одну или несколько).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Используя методы </a:t>
            </a:r>
            <a:r>
              <a:rPr lang="ru-RU" sz="2800" dirty="0" err="1"/>
              <a:t>Axes</a:t>
            </a:r>
            <a:r>
              <a:rPr lang="ru-RU" sz="2800" dirty="0"/>
              <a:t>, добавить на изображение графические примитивы.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Отобразить и/или сохранить изображение.</a:t>
            </a:r>
          </a:p>
        </p:txBody>
      </p:sp>
    </p:spTree>
    <p:extLst>
      <p:ext uri="{BB962C8B-B14F-4D97-AF65-F5344CB8AC3E}">
        <p14:creationId xmlns:p14="http://schemas.microsoft.com/office/powerpoint/2010/main" xmlns="" val="3598183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41540" y="155276"/>
            <a:ext cx="10593238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В</a:t>
            </a:r>
            <a:r>
              <a:rPr lang="ru-RU" dirty="0" smtClean="0"/>
              <a:t>изуализация </a:t>
            </a:r>
            <a:r>
              <a:rPr lang="ru-RU" dirty="0"/>
              <a:t>данных</a:t>
            </a:r>
            <a:r>
              <a:rPr lang="en-US" dirty="0" smtClean="0"/>
              <a:t>- </a:t>
            </a:r>
            <a:r>
              <a:rPr lang="ru-RU" dirty="0"/>
              <a:t>библиотека </a:t>
            </a:r>
            <a:r>
              <a:rPr lang="en-US" dirty="0" err="1" smtClean="0"/>
              <a:t>matplotlib</a:t>
            </a:r>
            <a:endParaRPr lang="ru-RU" dirty="0"/>
          </a:p>
        </p:txBody>
      </p:sp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23362" y="1442469"/>
            <a:ext cx="11300671" cy="4181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149127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41540" y="155276"/>
            <a:ext cx="10593238" cy="62110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В</a:t>
            </a:r>
            <a:r>
              <a:rPr lang="ru-RU" dirty="0" smtClean="0"/>
              <a:t>изуализация </a:t>
            </a:r>
            <a:r>
              <a:rPr lang="ru-RU" dirty="0"/>
              <a:t>данных</a:t>
            </a:r>
            <a:r>
              <a:rPr lang="en-US" dirty="0" smtClean="0"/>
              <a:t>- </a:t>
            </a:r>
            <a:r>
              <a:rPr lang="ru-RU" dirty="0"/>
              <a:t>библиотека </a:t>
            </a:r>
            <a:r>
              <a:rPr lang="en-US" dirty="0" err="1" smtClean="0"/>
              <a:t>matplotlib</a:t>
            </a:r>
            <a:endParaRPr lang="ru-RU" dirty="0"/>
          </a:p>
        </p:txBody>
      </p:sp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41540" y="768179"/>
            <a:ext cx="10593238" cy="5972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942102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41540" y="155276"/>
            <a:ext cx="10593238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В</a:t>
            </a:r>
            <a:r>
              <a:rPr lang="ru-RU" dirty="0" smtClean="0"/>
              <a:t>изуализация </a:t>
            </a:r>
            <a:r>
              <a:rPr lang="ru-RU" dirty="0"/>
              <a:t>данных</a:t>
            </a:r>
            <a:r>
              <a:rPr lang="en-US" dirty="0" smtClean="0"/>
              <a:t>- </a:t>
            </a:r>
            <a:r>
              <a:rPr lang="ru-RU" dirty="0"/>
              <a:t>библиотека </a:t>
            </a:r>
            <a:r>
              <a:rPr lang="en-US" dirty="0" err="1" smtClean="0"/>
              <a:t>matplotlib</a:t>
            </a:r>
            <a:endParaRPr lang="ru-RU" dirty="0"/>
          </a:p>
        </p:txBody>
      </p:sp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828799" y="1095076"/>
            <a:ext cx="6630323" cy="5288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585098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41540" y="155276"/>
            <a:ext cx="10593238" cy="56934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В</a:t>
            </a:r>
            <a:r>
              <a:rPr lang="ru-RU" dirty="0" smtClean="0"/>
              <a:t>изуализация </a:t>
            </a:r>
            <a:r>
              <a:rPr lang="ru-RU" dirty="0"/>
              <a:t>данных</a:t>
            </a:r>
            <a:r>
              <a:rPr lang="en-US" dirty="0" smtClean="0"/>
              <a:t>- </a:t>
            </a:r>
            <a:r>
              <a:rPr lang="ru-RU" dirty="0"/>
              <a:t>библиотека </a:t>
            </a:r>
            <a:r>
              <a:rPr lang="en-US" dirty="0" err="1" smtClean="0"/>
              <a:t>matplotlib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517585" y="2130246"/>
            <a:ext cx="11248845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smtClean="0">
                <a:solidFill>
                  <a:srgbClr val="404040"/>
                </a:solidFill>
                <a:latin typeface="Lato" panose="020F0502020204030203" pitchFamily="34" charset="0"/>
              </a:rPr>
              <a:t>Функция</a:t>
            </a:r>
            <a:r>
              <a:rPr lang="ru-RU" sz="2800" dirty="0">
                <a:solidFill>
                  <a:srgbClr val="404040"/>
                </a:solidFill>
                <a:latin typeface="Lato" panose="020F0502020204030203" pitchFamily="34" charset="0"/>
              </a:rPr>
              <a:t> </a:t>
            </a:r>
            <a:r>
              <a:rPr lang="en-US" sz="2800" dirty="0" err="1">
                <a:solidFill>
                  <a:srgbClr val="1B7A41"/>
                </a:solidFill>
                <a:latin typeface="Lato" panose="020F0502020204030203" pitchFamily="34" charset="0"/>
                <a:hlinkClick r:id="rId3"/>
              </a:rPr>
              <a:t>pyplot.subplots</a:t>
            </a:r>
            <a:r>
              <a:rPr lang="en-US" sz="2800" dirty="0" smtClean="0">
                <a:solidFill>
                  <a:srgbClr val="1B7A41"/>
                </a:solidFill>
                <a:latin typeface="Lato" panose="020F0502020204030203" pitchFamily="34" charset="0"/>
                <a:hlinkClick r:id="rId3"/>
              </a:rPr>
              <a:t>()</a:t>
            </a:r>
            <a:r>
              <a:rPr lang="ru-RU" sz="2800" dirty="0" smtClean="0">
                <a:solidFill>
                  <a:srgbClr val="1B7A41"/>
                </a:solidFill>
                <a:latin typeface="Lato" panose="020F0502020204030203" pitchFamily="34" charset="0"/>
              </a:rPr>
              <a:t> </a:t>
            </a:r>
            <a:r>
              <a:rPr lang="ru-RU" sz="2800" dirty="0" smtClean="0">
                <a:solidFill>
                  <a:srgbClr val="404040"/>
                </a:solidFill>
                <a:latin typeface="Lato" panose="020F0502020204030203" pitchFamily="34" charset="0"/>
              </a:rPr>
              <a:t>представляет один из способов создания изображения и координатной оси </a:t>
            </a:r>
            <a:r>
              <a:rPr lang="ru-RU" sz="2800" dirty="0" smtClean="0">
                <a:solidFill>
                  <a:srgbClr val="1B7A41"/>
                </a:solidFill>
                <a:latin typeface="Lato" panose="020F0502020204030203" pitchFamily="34" charset="0"/>
              </a:rPr>
              <a:t>(</a:t>
            </a:r>
            <a:r>
              <a:rPr lang="en-US" sz="2800" dirty="0" smtClean="0">
                <a:hlinkClick r:id="rId4"/>
              </a:rPr>
              <a:t>https</a:t>
            </a:r>
            <a:r>
              <a:rPr lang="en-US" sz="2800" dirty="0">
                <a:hlinkClick r:id="rId4"/>
              </a:rPr>
              <a:t>://</a:t>
            </a:r>
            <a:r>
              <a:rPr lang="en-US" sz="2800" dirty="0" smtClean="0">
                <a:hlinkClick r:id="rId4"/>
              </a:rPr>
              <a:t>matplotlib.org/2.0.2/api/pyplot_api.html</a:t>
            </a:r>
            <a:r>
              <a:rPr lang="ru-RU" sz="2800" dirty="0" smtClean="0"/>
              <a:t> ) 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xmlns="" val="1774387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41540" y="155276"/>
            <a:ext cx="10593238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В</a:t>
            </a:r>
            <a:r>
              <a:rPr lang="ru-RU" dirty="0" smtClean="0"/>
              <a:t>изуализация </a:t>
            </a:r>
            <a:r>
              <a:rPr lang="ru-RU" dirty="0"/>
              <a:t>данных</a:t>
            </a:r>
            <a:r>
              <a:rPr lang="en-US" dirty="0" smtClean="0"/>
              <a:t>- </a:t>
            </a:r>
            <a:r>
              <a:rPr lang="ru-RU" dirty="0"/>
              <a:t>библиотека </a:t>
            </a:r>
            <a:r>
              <a:rPr lang="en-US" dirty="0" err="1" smtClean="0"/>
              <a:t>matplotlib</a:t>
            </a:r>
            <a:endParaRPr lang="ru-RU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0" y="1095076"/>
            <a:ext cx="12192000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800" b="1" dirty="0" err="1"/>
              <a:t>matplotlib.pyplot.subplots</a:t>
            </a:r>
            <a:r>
              <a:rPr lang="en-US" sz="2800" b="1" dirty="0"/>
              <a:t>(</a:t>
            </a:r>
            <a:r>
              <a:rPr lang="en-US" sz="2800" b="1" dirty="0" err="1"/>
              <a:t>nrows</a:t>
            </a:r>
            <a:r>
              <a:rPr lang="en-US" sz="2800" b="1" dirty="0"/>
              <a:t>=1, </a:t>
            </a:r>
            <a:r>
              <a:rPr lang="en-US" sz="2800" b="1" dirty="0" err="1"/>
              <a:t>ncols</a:t>
            </a:r>
            <a:r>
              <a:rPr lang="en-US" sz="2800" b="1" dirty="0"/>
              <a:t>=1, </a:t>
            </a:r>
            <a:r>
              <a:rPr lang="en-US" sz="2800" b="1" dirty="0" err="1"/>
              <a:t>sharex</a:t>
            </a:r>
            <a:r>
              <a:rPr lang="en-US" sz="2800" b="1" dirty="0"/>
              <a:t>=False, </a:t>
            </a:r>
            <a:r>
              <a:rPr lang="en-US" sz="2800" b="1" dirty="0" err="1"/>
              <a:t>sharey</a:t>
            </a:r>
            <a:r>
              <a:rPr lang="en-US" sz="2800" b="1" dirty="0"/>
              <a:t>=False, squeeze=True, </a:t>
            </a:r>
            <a:r>
              <a:rPr lang="en-US" sz="2800" b="1" dirty="0" err="1"/>
              <a:t>subplot_kw</a:t>
            </a:r>
            <a:r>
              <a:rPr lang="en-US" sz="2800" b="1" dirty="0"/>
              <a:t>=None, </a:t>
            </a:r>
            <a:r>
              <a:rPr lang="en-US" sz="2800" b="1" dirty="0" err="1"/>
              <a:t>gridspec_kw</a:t>
            </a:r>
            <a:r>
              <a:rPr lang="en-US" sz="2800" b="1" dirty="0"/>
              <a:t>=None, **</a:t>
            </a:r>
            <a:r>
              <a:rPr lang="en-US" sz="2800" b="1" dirty="0" err="1"/>
              <a:t>fig_kw</a:t>
            </a:r>
            <a:r>
              <a:rPr lang="en-US" sz="2800" b="1" dirty="0"/>
              <a:t>)</a:t>
            </a:r>
          </a:p>
          <a:p>
            <a:r>
              <a:rPr lang="ru-RU" sz="2400" dirty="0" smtClean="0"/>
              <a:t> </a:t>
            </a:r>
            <a:r>
              <a:rPr lang="en-US" sz="2400" dirty="0" err="1" smtClean="0"/>
              <a:t>nrows</a:t>
            </a:r>
            <a:r>
              <a:rPr lang="en-US" sz="2400" dirty="0" smtClean="0"/>
              <a:t> </a:t>
            </a:r>
            <a:r>
              <a:rPr lang="en-US" sz="2400" dirty="0"/>
              <a:t>(</a:t>
            </a:r>
            <a:r>
              <a:rPr lang="en-US" sz="2400" dirty="0" smtClean="0"/>
              <a:t>int)</a:t>
            </a:r>
            <a:r>
              <a:rPr lang="ru-RU" sz="2400" dirty="0" smtClean="0"/>
              <a:t>, </a:t>
            </a:r>
            <a:r>
              <a:rPr lang="en-US" sz="2400" dirty="0" err="1"/>
              <a:t>ncols</a:t>
            </a:r>
            <a:r>
              <a:rPr lang="en-US" sz="2400" dirty="0"/>
              <a:t> (int</a:t>
            </a:r>
            <a:r>
              <a:rPr lang="en-US" sz="2400" dirty="0" smtClean="0"/>
              <a:t>)</a:t>
            </a:r>
            <a:r>
              <a:rPr lang="ru-RU" sz="2400" dirty="0" smtClean="0"/>
              <a:t> </a:t>
            </a:r>
            <a:r>
              <a:rPr lang="en-US" sz="2400" dirty="0" smtClean="0"/>
              <a:t>– </a:t>
            </a:r>
            <a:r>
              <a:rPr lang="ru-RU" sz="2400" dirty="0"/>
              <a:t>количество координатных плоскостей по </a:t>
            </a:r>
            <a:r>
              <a:rPr lang="ru-RU" sz="2400" dirty="0" smtClean="0"/>
              <a:t>вертикали(</a:t>
            </a:r>
            <a:r>
              <a:rPr lang="ru-RU" sz="2400" dirty="0"/>
              <a:t>горизонтали</a:t>
            </a:r>
            <a:r>
              <a:rPr lang="ru-RU" sz="2400" dirty="0" smtClean="0"/>
              <a:t>);</a:t>
            </a:r>
            <a:endParaRPr lang="ru-RU" sz="2400" dirty="0"/>
          </a:p>
          <a:p>
            <a:r>
              <a:rPr lang="en-US" sz="2400" dirty="0" err="1" smtClean="0"/>
              <a:t>sharex</a:t>
            </a:r>
            <a:r>
              <a:rPr lang="en-US" sz="2400" dirty="0" smtClean="0"/>
              <a:t> </a:t>
            </a:r>
            <a:r>
              <a:rPr lang="en-US" sz="2400" dirty="0"/>
              <a:t>(bool </a:t>
            </a:r>
            <a:r>
              <a:rPr lang="ru-RU" sz="2400" dirty="0"/>
              <a:t>или {"</a:t>
            </a:r>
            <a:r>
              <a:rPr lang="en-US" sz="2400" dirty="0"/>
              <a:t>none", "all", "row", "col</a:t>
            </a:r>
            <a:r>
              <a:rPr lang="en-US" sz="2400" dirty="0" smtClean="0"/>
              <a:t>"})</a:t>
            </a:r>
            <a:r>
              <a:rPr lang="ru-RU" sz="2400" dirty="0" smtClean="0"/>
              <a:t>, </a:t>
            </a:r>
            <a:r>
              <a:rPr lang="en-US" sz="2400" dirty="0" err="1" smtClean="0"/>
              <a:t>sharey</a:t>
            </a:r>
            <a:r>
              <a:rPr lang="ru-RU" sz="2400" dirty="0" smtClean="0"/>
              <a:t>(…)</a:t>
            </a:r>
            <a:r>
              <a:rPr lang="en-US" sz="2400" dirty="0" smtClean="0"/>
              <a:t> –</a:t>
            </a:r>
            <a:r>
              <a:rPr lang="ru-RU" sz="2400" dirty="0" smtClean="0"/>
              <a:t> является </a:t>
            </a:r>
            <a:r>
              <a:rPr lang="ru-RU" sz="2400" dirty="0"/>
              <a:t>ли ось </a:t>
            </a:r>
            <a:r>
              <a:rPr lang="en-US" sz="2400" dirty="0" smtClean="0"/>
              <a:t>OX</a:t>
            </a:r>
            <a:r>
              <a:rPr lang="ru-RU" sz="2400" dirty="0" smtClean="0"/>
              <a:t> (</a:t>
            </a:r>
            <a:r>
              <a:rPr lang="en-US" sz="2400" dirty="0"/>
              <a:t>OY</a:t>
            </a:r>
            <a:r>
              <a:rPr lang="ru-RU" sz="2400" dirty="0" smtClean="0"/>
              <a:t>)</a:t>
            </a:r>
            <a:r>
              <a:rPr lang="en-US" sz="2400" dirty="0" smtClean="0"/>
              <a:t> </a:t>
            </a:r>
            <a:r>
              <a:rPr lang="ru-RU" sz="2400" dirty="0"/>
              <a:t>общей для нескольких плоскостей:</a:t>
            </a:r>
          </a:p>
          <a:p>
            <a:pPr lvl="1"/>
            <a:r>
              <a:rPr lang="en-US" sz="2400" dirty="0" smtClean="0"/>
              <a:t>True </a:t>
            </a:r>
            <a:r>
              <a:rPr lang="ru-RU" sz="2400" dirty="0"/>
              <a:t>или "</a:t>
            </a:r>
            <a:r>
              <a:rPr lang="en-US" sz="2400" dirty="0"/>
              <a:t>all": </a:t>
            </a:r>
            <a:r>
              <a:rPr lang="ru-RU" sz="2400" dirty="0"/>
              <a:t>оси </a:t>
            </a:r>
            <a:r>
              <a:rPr lang="en-US" sz="2400" dirty="0"/>
              <a:t>OX </a:t>
            </a:r>
            <a:r>
              <a:rPr lang="ru-RU" sz="2400" dirty="0"/>
              <a:t>и </a:t>
            </a:r>
            <a:r>
              <a:rPr lang="en-US" sz="2400" dirty="0"/>
              <a:t>OY </a:t>
            </a:r>
            <a:r>
              <a:rPr lang="ru-RU" sz="2400" dirty="0"/>
              <a:t>будут общими для всех координатных плоскостей;</a:t>
            </a:r>
          </a:p>
          <a:p>
            <a:pPr lvl="1"/>
            <a:r>
              <a:rPr lang="en-US" sz="2400" dirty="0" smtClean="0"/>
              <a:t>False </a:t>
            </a:r>
            <a:r>
              <a:rPr lang="ru-RU" sz="2400" dirty="0"/>
              <a:t>или "</a:t>
            </a:r>
            <a:r>
              <a:rPr lang="en-US" sz="2400" dirty="0"/>
              <a:t>none": </a:t>
            </a:r>
            <a:r>
              <a:rPr lang="ru-RU" sz="2400" dirty="0"/>
              <a:t>оси </a:t>
            </a:r>
            <a:r>
              <a:rPr lang="en-US" sz="2400" dirty="0"/>
              <a:t>OX </a:t>
            </a:r>
            <a:r>
              <a:rPr lang="ru-RU" sz="2400" dirty="0"/>
              <a:t>и </a:t>
            </a:r>
            <a:r>
              <a:rPr lang="en-US" sz="2400" dirty="0"/>
              <a:t>OY </a:t>
            </a:r>
            <a:r>
              <a:rPr lang="ru-RU" sz="2400" dirty="0"/>
              <a:t>будут отдельными для каждой координатной плоскости;</a:t>
            </a:r>
          </a:p>
          <a:p>
            <a:pPr lvl="1"/>
            <a:r>
              <a:rPr lang="ru-RU" sz="2400" dirty="0" smtClean="0"/>
              <a:t>"</a:t>
            </a:r>
            <a:r>
              <a:rPr lang="en-US" sz="2400" dirty="0"/>
              <a:t>row": </a:t>
            </a:r>
            <a:r>
              <a:rPr lang="ru-RU" sz="2400" dirty="0"/>
              <a:t>оси </a:t>
            </a:r>
            <a:r>
              <a:rPr lang="en-US" sz="2400" dirty="0"/>
              <a:t>OX </a:t>
            </a:r>
            <a:r>
              <a:rPr lang="ru-RU" sz="2400" dirty="0"/>
              <a:t>и </a:t>
            </a:r>
            <a:r>
              <a:rPr lang="en-US" sz="2400" dirty="0"/>
              <a:t>OY </a:t>
            </a:r>
            <a:r>
              <a:rPr lang="ru-RU" sz="2400" dirty="0"/>
              <a:t>будут общими для всех координатных плоскостей по вертикали;</a:t>
            </a:r>
          </a:p>
          <a:p>
            <a:pPr lvl="1"/>
            <a:r>
              <a:rPr lang="ru-RU" sz="2400" dirty="0" smtClean="0"/>
              <a:t>"</a:t>
            </a:r>
            <a:r>
              <a:rPr lang="en-US" sz="2400" dirty="0"/>
              <a:t>col": </a:t>
            </a:r>
            <a:r>
              <a:rPr lang="ru-RU" sz="2400" dirty="0"/>
              <a:t>оси </a:t>
            </a:r>
            <a:r>
              <a:rPr lang="en-US" sz="2400" dirty="0"/>
              <a:t>OX </a:t>
            </a:r>
            <a:r>
              <a:rPr lang="ru-RU" sz="2400" dirty="0"/>
              <a:t>и </a:t>
            </a:r>
            <a:r>
              <a:rPr lang="en-US" sz="2400" dirty="0"/>
              <a:t>OY </a:t>
            </a:r>
            <a:r>
              <a:rPr lang="ru-RU" sz="2400" dirty="0"/>
              <a:t>будут общими для всех координатных плоскостей по горизонтали.</a:t>
            </a:r>
          </a:p>
          <a:p>
            <a:endParaRPr lang="ru-RU" sz="2400" b="1" dirty="0" smtClean="0"/>
          </a:p>
          <a:p>
            <a:r>
              <a:rPr lang="ru-RU" sz="2400" b="1" dirty="0" smtClean="0"/>
              <a:t>Результат - </a:t>
            </a:r>
            <a:r>
              <a:rPr lang="ru-RU" sz="2400" dirty="0" smtClean="0"/>
              <a:t>кортеж</a:t>
            </a:r>
            <a:r>
              <a:rPr lang="ru-RU" sz="2400" dirty="0"/>
              <a:t>:</a:t>
            </a:r>
          </a:p>
          <a:p>
            <a:pPr lvl="1"/>
            <a:r>
              <a:rPr lang="en-US" sz="2400" dirty="0" smtClean="0"/>
              <a:t>fig</a:t>
            </a:r>
            <a:r>
              <a:rPr lang="en-US" sz="2400" dirty="0"/>
              <a:t>: </a:t>
            </a:r>
            <a:r>
              <a:rPr lang="ru-RU" sz="2400" dirty="0"/>
              <a:t>изображение (класс </a:t>
            </a:r>
            <a:r>
              <a:rPr lang="en-US" sz="2400" dirty="0"/>
              <a:t>Figure);</a:t>
            </a:r>
          </a:p>
          <a:p>
            <a:pPr lvl="1"/>
            <a:r>
              <a:rPr lang="en-US" sz="2400" dirty="0" smtClean="0"/>
              <a:t>ax</a:t>
            </a:r>
            <a:r>
              <a:rPr lang="en-US" sz="2400" dirty="0"/>
              <a:t>: </a:t>
            </a:r>
            <a:r>
              <a:rPr lang="ru-RU" sz="2400" dirty="0"/>
              <a:t>одна или несколько координатных плоскостей (класс </a:t>
            </a:r>
            <a:r>
              <a:rPr lang="en-US" sz="2400" dirty="0"/>
              <a:t>Axes).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xmlns="" val="876339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41540" y="155276"/>
            <a:ext cx="10593238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В</a:t>
            </a:r>
            <a:r>
              <a:rPr lang="ru-RU" dirty="0" smtClean="0"/>
              <a:t>изуализация </a:t>
            </a:r>
            <a:r>
              <a:rPr lang="ru-RU" dirty="0"/>
              <a:t>данных</a:t>
            </a:r>
            <a:r>
              <a:rPr lang="en-US" dirty="0" smtClean="0"/>
              <a:t>- </a:t>
            </a:r>
            <a:r>
              <a:rPr lang="ru-RU" dirty="0"/>
              <a:t>библиотека </a:t>
            </a:r>
            <a:r>
              <a:rPr lang="en-US" dirty="0" err="1" smtClean="0"/>
              <a:t>matplotlib</a:t>
            </a:r>
            <a:endParaRPr lang="ru-RU" dirty="0"/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46495034"/>
              </p:ext>
            </p:extLst>
          </p:nvPr>
        </p:nvGraphicFramePr>
        <p:xfrm>
          <a:off x="241540" y="1599560"/>
          <a:ext cx="11714672" cy="429113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857336"/>
                <a:gridCol w="5857336"/>
              </a:tblGrid>
              <a:tr h="1212652"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matplotlib.pyplot.show</a:t>
                      </a:r>
                      <a:r>
                        <a:rPr lang="en-US" sz="2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2800" b="1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  <a:r>
                        <a:rPr lang="en-US" sz="2800" b="1" i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args</a:t>
                      </a:r>
                      <a:r>
                        <a:rPr lang="en-US" sz="2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US" sz="2800" b="1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**kw</a:t>
                      </a:r>
                      <a:r>
                        <a:rPr lang="en-US" sz="2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Выводит изображение на экран в отдельном окне</a:t>
                      </a:r>
                      <a:endParaRPr lang="ru-RU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matplotlib.pyplot.savefig</a:t>
                      </a:r>
                      <a:r>
                        <a:rPr lang="en-US" sz="2800" dirty="0" smtClean="0"/>
                        <a:t>(</a:t>
                      </a:r>
                      <a:r>
                        <a:rPr lang="en-US" sz="2800" dirty="0" err="1" smtClean="0"/>
                        <a:t>fname</a:t>
                      </a:r>
                      <a:r>
                        <a:rPr lang="en-US" sz="2800" dirty="0" smtClean="0"/>
                        <a:t>, dpi=None, </a:t>
                      </a:r>
                      <a:r>
                        <a:rPr lang="en-US" sz="2800" dirty="0" err="1" smtClean="0"/>
                        <a:t>facecolor</a:t>
                      </a:r>
                      <a:r>
                        <a:rPr lang="en-US" sz="2800" dirty="0" smtClean="0"/>
                        <a:t>='w', </a:t>
                      </a:r>
                      <a:r>
                        <a:rPr lang="en-US" sz="2800" dirty="0" err="1" smtClean="0"/>
                        <a:t>edgecolor</a:t>
                      </a:r>
                      <a:r>
                        <a:rPr lang="en-US" sz="2800" dirty="0" smtClean="0"/>
                        <a:t>='w', orientation='portrait', </a:t>
                      </a:r>
                      <a:r>
                        <a:rPr lang="en-US" sz="2800" dirty="0" err="1" smtClean="0"/>
                        <a:t>papertype</a:t>
                      </a:r>
                      <a:r>
                        <a:rPr lang="en-US" sz="2800" dirty="0" smtClean="0"/>
                        <a:t>=None, format=None, transparent=False, </a:t>
                      </a:r>
                      <a:r>
                        <a:rPr lang="en-US" sz="2800" dirty="0" err="1" smtClean="0"/>
                        <a:t>bbox_inches</a:t>
                      </a:r>
                      <a:r>
                        <a:rPr lang="en-US" sz="2800" dirty="0" smtClean="0"/>
                        <a:t>=None, </a:t>
                      </a:r>
                      <a:r>
                        <a:rPr lang="en-US" sz="2800" dirty="0" err="1" smtClean="0"/>
                        <a:t>pad_inches</a:t>
                      </a:r>
                      <a:r>
                        <a:rPr lang="en-US" sz="2800" dirty="0" smtClean="0"/>
                        <a:t>=0.1, </a:t>
                      </a:r>
                      <a:r>
                        <a:rPr lang="en-US" sz="2800" dirty="0" err="1" smtClean="0"/>
                        <a:t>frameon</a:t>
                      </a:r>
                      <a:r>
                        <a:rPr lang="en-US" sz="2800" dirty="0" smtClean="0"/>
                        <a:t>=None)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Сохраняет текущее изображение в файл </a:t>
                      </a:r>
                      <a:r>
                        <a:rPr lang="en-US" sz="2800" b="1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fname</a:t>
                      </a:r>
                      <a:r>
                        <a:rPr lang="en-US" sz="2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 </a:t>
                      </a:r>
                    </a:p>
                    <a:p>
                      <a:r>
                        <a:rPr lang="ru-RU" sz="2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Доп. Можно установить: </a:t>
                      </a:r>
                      <a:r>
                        <a:rPr lang="ru-RU" sz="2800" b="0" i="0" u="none" strike="noStrike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dpi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(</a:t>
                      </a:r>
                      <a:r>
                        <a:rPr lang="ru-RU" sz="28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англ.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ru-RU" sz="2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Dots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Inch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- количество точек на дюйм), ориентацию (альбомная или портретная), прозрачность, отступы и т.д.</a:t>
                      </a:r>
                      <a:endParaRPr lang="ru-RU" sz="28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360243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41540" y="155276"/>
            <a:ext cx="10593238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В</a:t>
            </a:r>
            <a:r>
              <a:rPr lang="ru-RU" dirty="0" smtClean="0"/>
              <a:t>изуализация </a:t>
            </a:r>
            <a:r>
              <a:rPr lang="ru-RU" dirty="0"/>
              <a:t>данных</a:t>
            </a:r>
            <a:r>
              <a:rPr lang="en-US" dirty="0" smtClean="0"/>
              <a:t>- </a:t>
            </a:r>
            <a:r>
              <a:rPr lang="ru-RU" dirty="0"/>
              <a:t>библиотека </a:t>
            </a:r>
            <a:r>
              <a:rPr lang="en-US" dirty="0" err="1" smtClean="0"/>
              <a:t>matplotlib</a:t>
            </a:r>
            <a:endParaRPr lang="ru-RU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431321" y="1243006"/>
            <a:ext cx="620657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/>
              <a:t>Заголовок диаграммы и подписи осей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336522270"/>
              </p:ext>
            </p:extLst>
          </p:nvPr>
        </p:nvGraphicFramePr>
        <p:xfrm>
          <a:off x="241540" y="1914154"/>
          <a:ext cx="11697418" cy="42367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504317"/>
                <a:gridCol w="5193101"/>
              </a:tblGrid>
              <a:tr h="604152"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set_title</a:t>
                      </a:r>
                      <a:r>
                        <a:rPr lang="en-US" sz="2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2800" b="1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label</a:t>
                      </a:r>
                      <a:r>
                        <a:rPr lang="en-US" sz="2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US" sz="2800" b="1" i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fontdict</a:t>
                      </a:r>
                      <a:r>
                        <a:rPr lang="en-US" sz="2800" b="1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=None</a:t>
                      </a:r>
                      <a:r>
                        <a:rPr lang="en-US" sz="2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US" sz="2800" b="1" i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loc</a:t>
                      </a:r>
                      <a:r>
                        <a:rPr lang="en-US" sz="2800" b="1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='center'</a:t>
                      </a:r>
                      <a:r>
                        <a:rPr lang="en-US" sz="2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US" sz="2800" b="1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**</a:t>
                      </a:r>
                      <a:r>
                        <a:rPr lang="en-US" sz="2800" b="1" i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kwargs</a:t>
                      </a:r>
                      <a:r>
                        <a:rPr lang="en-US" sz="2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600" dirty="0" smtClean="0"/>
                        <a:t>Установить заголовок диаграммы.</a:t>
                      </a:r>
                    </a:p>
                    <a:p>
                      <a:r>
                        <a:rPr lang="ru-RU" sz="2600" dirty="0" smtClean="0"/>
                        <a:t>Обязательный </a:t>
                      </a:r>
                      <a:r>
                        <a:rPr lang="ru-RU" sz="2600" dirty="0" err="1" smtClean="0"/>
                        <a:t>параметр:label</a:t>
                      </a:r>
                      <a:r>
                        <a:rPr lang="ru-RU" sz="2600" dirty="0" smtClean="0"/>
                        <a:t> (</a:t>
                      </a:r>
                      <a:r>
                        <a:rPr lang="ru-RU" sz="2600" dirty="0" err="1" smtClean="0"/>
                        <a:t>str</a:t>
                      </a:r>
                      <a:r>
                        <a:rPr lang="ru-RU" sz="2600" dirty="0" smtClean="0"/>
                        <a:t>) – заголовок диаграммы.</a:t>
                      </a:r>
                    </a:p>
                    <a:p>
                      <a:r>
                        <a:rPr lang="ru-RU" sz="2600" dirty="0" smtClean="0"/>
                        <a:t>Результат</a:t>
                      </a:r>
                      <a:r>
                        <a:rPr lang="en-US" sz="2600" dirty="0" smtClean="0"/>
                        <a:t> - </a:t>
                      </a:r>
                      <a:r>
                        <a:rPr lang="ru-RU" sz="2600" dirty="0" smtClean="0"/>
                        <a:t>текст (класс </a:t>
                      </a:r>
                      <a:r>
                        <a:rPr lang="ru-RU" sz="2600" dirty="0" err="1" smtClean="0"/>
                        <a:t>Text</a:t>
                      </a:r>
                      <a:r>
                        <a:rPr lang="ru-RU" sz="2600" dirty="0" smtClean="0"/>
                        <a:t>).</a:t>
                      </a:r>
                      <a:endParaRPr lang="ru-RU" sz="2600" dirty="0"/>
                    </a:p>
                  </a:txBody>
                  <a:tcPr/>
                </a:tc>
              </a:tr>
              <a:tr h="604152"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set_xlabel</a:t>
                      </a:r>
                      <a:r>
                        <a:rPr lang="en-US" sz="2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2800" b="1" i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xlabel</a:t>
                      </a:r>
                      <a:r>
                        <a:rPr lang="en-US" sz="2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US" sz="2800" b="1" i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fontdict</a:t>
                      </a:r>
                      <a:r>
                        <a:rPr lang="en-US" sz="2800" b="1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=None</a:t>
                      </a:r>
                      <a:r>
                        <a:rPr lang="en-US" sz="2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</a:p>
                    <a:p>
                      <a:r>
                        <a:rPr lang="en-US" sz="2800" b="1" i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labelpad</a:t>
                      </a:r>
                      <a:r>
                        <a:rPr lang="en-US" sz="2800" b="1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=None</a:t>
                      </a:r>
                      <a:r>
                        <a:rPr lang="en-US" sz="2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US" sz="2800" b="1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**</a:t>
                      </a:r>
                      <a:r>
                        <a:rPr lang="en-US" sz="2800" b="1" i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kwargs</a:t>
                      </a:r>
                      <a:r>
                        <a:rPr lang="en-US" sz="2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Установить подпись оси OX.</a:t>
                      </a:r>
                    </a:p>
                    <a:p>
                      <a:r>
                        <a:rPr lang="ru-RU" sz="2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Обязательный параметр:</a:t>
                      </a:r>
                    </a:p>
                    <a:p>
                      <a:r>
                        <a:rPr lang="ru-RU" sz="2600" b="1" dirty="0" err="1" smtClean="0">
                          <a:effectLst/>
                        </a:rPr>
                        <a:t>xlabel</a:t>
                      </a:r>
                      <a:r>
                        <a:rPr lang="ru-RU" sz="2600" dirty="0" smtClean="0">
                          <a:effectLst/>
                        </a:rPr>
                        <a:t> (</a:t>
                      </a:r>
                      <a:r>
                        <a:rPr lang="ru-RU" sz="2600" i="1" u="none" strike="noStrike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 tooltip="str"/>
                        </a:rPr>
                        <a:t>str</a:t>
                      </a:r>
                      <a:r>
                        <a:rPr lang="ru-RU" sz="2600" dirty="0" smtClean="0">
                          <a:effectLst/>
                        </a:rPr>
                        <a:t>) – подпись оси OX.</a:t>
                      </a:r>
                      <a:endParaRPr lang="ru-RU" sz="2600" dirty="0"/>
                    </a:p>
                  </a:txBody>
                  <a:tcPr/>
                </a:tc>
              </a:tr>
              <a:tr h="604152"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set_ylabel</a:t>
                      </a:r>
                      <a:r>
                        <a:rPr lang="en-US" sz="2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2800" b="1" i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ylabel</a:t>
                      </a:r>
                      <a:r>
                        <a:rPr lang="en-US" sz="2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US" sz="2800" b="1" i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fontdict</a:t>
                      </a:r>
                      <a:r>
                        <a:rPr lang="en-US" sz="2800" b="1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=None</a:t>
                      </a:r>
                      <a:r>
                        <a:rPr lang="en-US" sz="2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</a:p>
                    <a:p>
                      <a:r>
                        <a:rPr lang="en-US" sz="2800" b="1" i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labelpad</a:t>
                      </a:r>
                      <a:r>
                        <a:rPr lang="en-US" sz="2800" b="1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=None</a:t>
                      </a:r>
                      <a:r>
                        <a:rPr lang="en-US" sz="2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US" sz="2800" b="1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**</a:t>
                      </a:r>
                      <a:r>
                        <a:rPr lang="en-US" sz="2800" b="1" i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kwargs</a:t>
                      </a:r>
                      <a:r>
                        <a:rPr lang="en-US" sz="2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Установить подпись оси OY.</a:t>
                      </a:r>
                    </a:p>
                    <a:p>
                      <a:r>
                        <a:rPr lang="ru-RU" sz="2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Обязательный параметр:</a:t>
                      </a:r>
                    </a:p>
                    <a:p>
                      <a:r>
                        <a:rPr lang="ru-RU" sz="2600" b="1" dirty="0" err="1" smtClean="0">
                          <a:effectLst/>
                        </a:rPr>
                        <a:t>ylabel</a:t>
                      </a:r>
                      <a:r>
                        <a:rPr lang="ru-RU" sz="2600" dirty="0" smtClean="0">
                          <a:effectLst/>
                        </a:rPr>
                        <a:t> (</a:t>
                      </a:r>
                      <a:r>
                        <a:rPr lang="ru-RU" sz="2600" i="1" u="none" strike="noStrike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 tooltip="str"/>
                        </a:rPr>
                        <a:t>str</a:t>
                      </a:r>
                      <a:r>
                        <a:rPr lang="ru-RU" sz="2600" dirty="0" smtClean="0">
                          <a:effectLst/>
                        </a:rPr>
                        <a:t>) – подпись оси OY.</a:t>
                      </a:r>
                      <a:endParaRPr lang="ru-RU" sz="26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983236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41540" y="155276"/>
            <a:ext cx="10593238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В</a:t>
            </a:r>
            <a:r>
              <a:rPr lang="ru-RU" dirty="0" smtClean="0"/>
              <a:t>изуализация </a:t>
            </a:r>
            <a:r>
              <a:rPr lang="ru-RU" dirty="0"/>
              <a:t>данных</a:t>
            </a:r>
            <a:r>
              <a:rPr lang="en-US" dirty="0" smtClean="0"/>
              <a:t>- </a:t>
            </a:r>
            <a:r>
              <a:rPr lang="ru-RU" dirty="0"/>
              <a:t>библиотека </a:t>
            </a:r>
            <a:r>
              <a:rPr lang="en-US" dirty="0" err="1" smtClean="0"/>
              <a:t>matplotlib</a:t>
            </a:r>
            <a:endParaRPr lang="ru-RU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431321" y="1243006"/>
            <a:ext cx="620657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/>
              <a:t>Заголовок диаграммы и подписи осей</a:t>
            </a:r>
          </a:p>
        </p:txBody>
      </p:sp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31320" y="1758879"/>
            <a:ext cx="11076317" cy="4482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030485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41540" y="155276"/>
            <a:ext cx="10593238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В</a:t>
            </a:r>
            <a:r>
              <a:rPr lang="ru-RU" dirty="0" smtClean="0"/>
              <a:t>изуализация </a:t>
            </a:r>
            <a:r>
              <a:rPr lang="ru-RU" dirty="0"/>
              <a:t>данных</a:t>
            </a:r>
            <a:r>
              <a:rPr lang="en-US" dirty="0" smtClean="0"/>
              <a:t>- </a:t>
            </a:r>
            <a:r>
              <a:rPr lang="ru-RU" dirty="0"/>
              <a:t>библиотека </a:t>
            </a:r>
            <a:r>
              <a:rPr lang="en-US" dirty="0" err="1" smtClean="0"/>
              <a:t>matplotlib</a:t>
            </a:r>
            <a:endParaRPr lang="ru-RU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414069" y="1095076"/>
            <a:ext cx="620657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/>
              <a:t>Заголовок диаграммы и подписи осей</a:t>
            </a:r>
          </a:p>
        </p:txBody>
      </p:sp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41540" y="1618295"/>
            <a:ext cx="6379100" cy="5100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129544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41540" y="155276"/>
            <a:ext cx="10593238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В</a:t>
            </a:r>
            <a:r>
              <a:rPr lang="ru-RU" dirty="0" smtClean="0"/>
              <a:t>изуализация </a:t>
            </a:r>
            <a:r>
              <a:rPr lang="ru-RU" dirty="0"/>
              <a:t>данных</a:t>
            </a:r>
            <a:r>
              <a:rPr lang="en-US" dirty="0" smtClean="0"/>
              <a:t>- </a:t>
            </a:r>
            <a:r>
              <a:rPr lang="ru-RU" dirty="0"/>
              <a:t>библиотека </a:t>
            </a:r>
            <a:r>
              <a:rPr lang="en-US" dirty="0" err="1" smtClean="0"/>
              <a:t>matplotlib</a:t>
            </a:r>
            <a:endParaRPr lang="ru-RU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414069" y="1095076"/>
            <a:ext cx="657917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/>
              <a:t>Координатная сетка и масштабирование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414069" y="2034876"/>
            <a:ext cx="1162840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800" dirty="0">
                <a:solidFill>
                  <a:srgbClr val="404040"/>
                </a:solidFill>
              </a:rPr>
              <a:t>Координатная плоскость поддерживает настройку</a:t>
            </a:r>
            <a:r>
              <a:rPr lang="ru-RU" sz="2800" dirty="0" smtClean="0">
                <a:solidFill>
                  <a:srgbClr val="404040"/>
                </a:solidFill>
              </a:rPr>
              <a:t>:</a:t>
            </a:r>
            <a:endParaRPr lang="en-US" sz="2800" dirty="0" smtClean="0">
              <a:solidFill>
                <a:srgbClr val="404040"/>
              </a:solidFill>
            </a:endParaRPr>
          </a:p>
          <a:p>
            <a:pPr algn="just"/>
            <a:endParaRPr lang="ru-RU" sz="2800" dirty="0">
              <a:solidFill>
                <a:srgbClr val="404040"/>
              </a:solidFill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404040"/>
                </a:solidFill>
              </a:rPr>
              <a:t>координатной сетки (метод </a:t>
            </a:r>
            <a:r>
              <a:rPr lang="en-US" sz="2800" dirty="0" err="1">
                <a:solidFill>
                  <a:srgbClr val="1B7A41"/>
                </a:solidFill>
                <a:hlinkClick r:id="rId3"/>
              </a:rPr>
              <a:t>Axes.grid</a:t>
            </a:r>
            <a:r>
              <a:rPr lang="en-US" sz="2800" dirty="0">
                <a:solidFill>
                  <a:srgbClr val="1B7A41"/>
                </a:solidFill>
                <a:hlinkClick r:id="rId3"/>
              </a:rPr>
              <a:t>()</a:t>
            </a:r>
            <a:r>
              <a:rPr lang="en-US" sz="2800" dirty="0">
                <a:solidFill>
                  <a:srgbClr val="404040"/>
                </a:solidFill>
              </a:rPr>
              <a:t>);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404040"/>
                </a:solidFill>
              </a:rPr>
              <a:t>соотношения сторон (метод </a:t>
            </a:r>
            <a:r>
              <a:rPr lang="en-US" sz="2800" dirty="0" err="1">
                <a:solidFill>
                  <a:srgbClr val="1B7A41"/>
                </a:solidFill>
                <a:hlinkClick r:id="rId4"/>
              </a:rPr>
              <a:t>Axes.set_aspect</a:t>
            </a:r>
            <a:r>
              <a:rPr lang="en-US" sz="2800" dirty="0">
                <a:solidFill>
                  <a:srgbClr val="1B7A41"/>
                </a:solidFill>
                <a:hlinkClick r:id="rId4"/>
              </a:rPr>
              <a:t>()</a:t>
            </a:r>
            <a:r>
              <a:rPr lang="en-US" sz="2800" dirty="0">
                <a:solidFill>
                  <a:srgbClr val="404040"/>
                </a:solidFill>
              </a:rPr>
              <a:t>);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404040"/>
                </a:solidFill>
              </a:rPr>
              <a:t>пределов осей (методы </a:t>
            </a:r>
            <a:r>
              <a:rPr lang="en-US" sz="2800" dirty="0" err="1">
                <a:solidFill>
                  <a:srgbClr val="1B7A41"/>
                </a:solidFill>
                <a:hlinkClick r:id="rId5"/>
              </a:rPr>
              <a:t>Axes.set_xlim</a:t>
            </a:r>
            <a:r>
              <a:rPr lang="en-US" sz="2800" dirty="0">
                <a:solidFill>
                  <a:srgbClr val="1B7A41"/>
                </a:solidFill>
                <a:hlinkClick r:id="rId5"/>
              </a:rPr>
              <a:t>()</a:t>
            </a:r>
            <a:r>
              <a:rPr lang="en-US" sz="2800" dirty="0">
                <a:solidFill>
                  <a:srgbClr val="404040"/>
                </a:solidFill>
              </a:rPr>
              <a:t> </a:t>
            </a:r>
            <a:r>
              <a:rPr lang="ru-RU" sz="2800" dirty="0">
                <a:solidFill>
                  <a:srgbClr val="404040"/>
                </a:solidFill>
              </a:rPr>
              <a:t>и </a:t>
            </a:r>
            <a:r>
              <a:rPr lang="en-US" sz="2800" dirty="0" err="1">
                <a:solidFill>
                  <a:srgbClr val="1B7A41"/>
                </a:solidFill>
                <a:hlinkClick r:id="rId6"/>
              </a:rPr>
              <a:t>Axes.set_ylim</a:t>
            </a:r>
            <a:r>
              <a:rPr lang="en-US" sz="2800" dirty="0">
                <a:solidFill>
                  <a:srgbClr val="1B7A41"/>
                </a:solidFill>
                <a:hlinkClick r:id="rId6"/>
              </a:rPr>
              <a:t>()</a:t>
            </a:r>
            <a:r>
              <a:rPr lang="en-US" sz="2800" dirty="0">
                <a:solidFill>
                  <a:srgbClr val="404040"/>
                </a:solidFill>
              </a:rPr>
              <a:t>);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404040"/>
                </a:solidFill>
              </a:rPr>
              <a:t>положения линий осей (поле </a:t>
            </a:r>
            <a:r>
              <a:rPr lang="en-US" sz="2800" dirty="0" err="1">
                <a:solidFill>
                  <a:srgbClr val="1B7A41"/>
                </a:solidFill>
                <a:hlinkClick r:id="rId7"/>
              </a:rPr>
              <a:t>Axes.spines</a:t>
            </a:r>
            <a:r>
              <a:rPr lang="en-US" sz="2800" dirty="0">
                <a:solidFill>
                  <a:srgbClr val="404040"/>
                </a:solidFill>
              </a:rPr>
              <a:t> </a:t>
            </a:r>
            <a:r>
              <a:rPr lang="ru-RU" sz="2800" dirty="0">
                <a:solidFill>
                  <a:srgbClr val="404040"/>
                </a:solidFill>
              </a:rPr>
              <a:t>и метод </a:t>
            </a:r>
            <a:r>
              <a:rPr lang="en-US" sz="2800" dirty="0" err="1">
                <a:solidFill>
                  <a:srgbClr val="1B7A41"/>
                </a:solidFill>
                <a:hlinkClick r:id="rId7"/>
              </a:rPr>
              <a:t>Spines.set_position</a:t>
            </a:r>
            <a:r>
              <a:rPr lang="en-US" sz="2800" dirty="0">
                <a:solidFill>
                  <a:srgbClr val="1B7A41"/>
                </a:solidFill>
                <a:hlinkClick r:id="rId7"/>
              </a:rPr>
              <a:t>()</a:t>
            </a:r>
            <a:r>
              <a:rPr lang="en-US" sz="2800" dirty="0">
                <a:solidFill>
                  <a:srgbClr val="404040"/>
                </a:solidFill>
              </a:rPr>
              <a:t>).</a:t>
            </a:r>
            <a:endParaRPr lang="en-US" sz="2800" b="0" i="0" dirty="0">
              <a:solidFill>
                <a:srgbClr val="40404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xmlns="" val="637431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41540" y="149464"/>
            <a:ext cx="10593238" cy="71880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В</a:t>
            </a:r>
            <a:r>
              <a:rPr lang="ru-RU" dirty="0" smtClean="0"/>
              <a:t>изуализация </a:t>
            </a:r>
            <a:r>
              <a:rPr lang="ru-RU" dirty="0"/>
              <a:t>данных</a:t>
            </a:r>
            <a:r>
              <a:rPr lang="en-US" dirty="0" smtClean="0"/>
              <a:t>- </a:t>
            </a:r>
            <a:r>
              <a:rPr lang="ru-RU" dirty="0"/>
              <a:t>библиотека </a:t>
            </a:r>
            <a:r>
              <a:rPr lang="en-US" dirty="0" err="1" smtClean="0"/>
              <a:t>matplotlib</a:t>
            </a:r>
            <a:endParaRPr lang="ru-RU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414069" y="802978"/>
            <a:ext cx="14778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 smtClean="0"/>
              <a:t>Легенда</a:t>
            </a:r>
            <a:endParaRPr lang="ru-RU" sz="2800" b="1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414069" y="1260174"/>
            <a:ext cx="1162840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800" dirty="0" smtClean="0"/>
              <a:t>Метод</a:t>
            </a:r>
            <a:r>
              <a:rPr lang="ru-RU" sz="2800" dirty="0"/>
              <a:t> </a:t>
            </a:r>
            <a:r>
              <a:rPr lang="en-US" sz="2800" dirty="0" err="1">
                <a:hlinkClick r:id="rId3"/>
              </a:rPr>
              <a:t>Axes.legend</a:t>
            </a:r>
            <a:r>
              <a:rPr lang="en-US" sz="2800" dirty="0" smtClean="0">
                <a:hlinkClick r:id="rId3"/>
              </a:rPr>
              <a:t>()</a:t>
            </a:r>
            <a:r>
              <a:rPr lang="en-US" sz="2800" dirty="0" smtClean="0"/>
              <a:t>)</a:t>
            </a:r>
            <a:r>
              <a:rPr lang="ru-RU" sz="2800" dirty="0" smtClean="0"/>
              <a:t> - размещает </a:t>
            </a:r>
            <a:r>
              <a:rPr lang="ru-RU" sz="2800" dirty="0"/>
              <a:t>легенду на координатной плоскости</a:t>
            </a:r>
            <a:r>
              <a:rPr lang="ru-RU" sz="2800" dirty="0" smtClean="0"/>
              <a:t> </a:t>
            </a:r>
            <a:endParaRPr lang="en-US" sz="2800" b="0" i="0" dirty="0">
              <a:solidFill>
                <a:srgbClr val="404040"/>
              </a:solidFill>
              <a:effectLst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1783394"/>
            <a:ext cx="5607169" cy="35702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smtClean="0"/>
              <a:t>Параметр </a:t>
            </a:r>
            <a:r>
              <a:rPr lang="en-US" sz="2800" dirty="0" err="1" smtClean="0"/>
              <a:t>loc</a:t>
            </a:r>
            <a:r>
              <a:rPr lang="en-US" sz="2800" dirty="0" smtClean="0"/>
              <a:t> - </a:t>
            </a:r>
            <a:r>
              <a:rPr lang="ru-RU" sz="2800" dirty="0" smtClean="0"/>
              <a:t>положение </a:t>
            </a:r>
            <a:r>
              <a:rPr lang="ru-RU" sz="2800" dirty="0"/>
              <a:t>легенды:</a:t>
            </a:r>
          </a:p>
          <a:p>
            <a:r>
              <a:rPr lang="ru-RU" dirty="0" smtClean="0"/>
              <a:t>"</a:t>
            </a:r>
            <a:r>
              <a:rPr lang="en-US" dirty="0"/>
              <a:t>best" (</a:t>
            </a:r>
            <a:r>
              <a:rPr lang="ru-RU" dirty="0"/>
              <a:t>авто-размещение);</a:t>
            </a:r>
          </a:p>
          <a:p>
            <a:r>
              <a:rPr lang="ru-RU" dirty="0" smtClean="0"/>
              <a:t>"</a:t>
            </a:r>
            <a:r>
              <a:rPr lang="en-US" dirty="0"/>
              <a:t>upper right" (</a:t>
            </a:r>
            <a:r>
              <a:rPr lang="ru-RU" dirty="0"/>
              <a:t>по умолчанию),</a:t>
            </a:r>
          </a:p>
          <a:p>
            <a:r>
              <a:rPr lang="ru-RU" dirty="0" smtClean="0"/>
              <a:t>"</a:t>
            </a:r>
            <a:r>
              <a:rPr lang="en-US" dirty="0"/>
              <a:t>upper left";</a:t>
            </a:r>
          </a:p>
          <a:p>
            <a:r>
              <a:rPr lang="en-US" dirty="0" smtClean="0"/>
              <a:t>"</a:t>
            </a:r>
            <a:r>
              <a:rPr lang="en-US" dirty="0"/>
              <a:t>lower left";</a:t>
            </a:r>
          </a:p>
          <a:p>
            <a:r>
              <a:rPr lang="en-US" dirty="0" smtClean="0"/>
              <a:t>"</a:t>
            </a:r>
            <a:r>
              <a:rPr lang="en-US" dirty="0"/>
              <a:t>lower right";</a:t>
            </a:r>
          </a:p>
          <a:p>
            <a:r>
              <a:rPr lang="en-US" dirty="0" smtClean="0"/>
              <a:t>"</a:t>
            </a:r>
            <a:r>
              <a:rPr lang="en-US" dirty="0"/>
              <a:t>right";</a:t>
            </a:r>
          </a:p>
          <a:p>
            <a:r>
              <a:rPr lang="en-US" dirty="0" smtClean="0"/>
              <a:t>"</a:t>
            </a:r>
            <a:r>
              <a:rPr lang="en-US" dirty="0"/>
              <a:t>center left";</a:t>
            </a:r>
          </a:p>
          <a:p>
            <a:r>
              <a:rPr lang="en-US" dirty="0" smtClean="0"/>
              <a:t>"</a:t>
            </a:r>
            <a:r>
              <a:rPr lang="en-US" dirty="0"/>
              <a:t>center right";</a:t>
            </a:r>
          </a:p>
          <a:p>
            <a:r>
              <a:rPr lang="en-US" dirty="0" smtClean="0"/>
              <a:t>"</a:t>
            </a:r>
            <a:r>
              <a:rPr lang="en-US" dirty="0"/>
              <a:t>lower center";</a:t>
            </a:r>
          </a:p>
          <a:p>
            <a:r>
              <a:rPr lang="en-US" dirty="0" smtClean="0"/>
              <a:t>"</a:t>
            </a:r>
            <a:r>
              <a:rPr lang="en-US" dirty="0"/>
              <a:t>upper center";</a:t>
            </a:r>
          </a:p>
          <a:p>
            <a:r>
              <a:rPr lang="en-US" dirty="0" smtClean="0"/>
              <a:t>"</a:t>
            </a:r>
            <a:r>
              <a:rPr lang="en-US" dirty="0"/>
              <a:t>center".</a:t>
            </a:r>
            <a:endParaRPr lang="ru-RU" dirty="0"/>
          </a:p>
        </p:txBody>
      </p:sp>
      <p:pic>
        <p:nvPicPr>
          <p:cNvPr id="7" name="Рисунок 6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635925" y="1830320"/>
            <a:ext cx="6504316" cy="1054270"/>
          </a:xfrm>
          <a:prstGeom prst="rect">
            <a:avLst/>
          </a:prstGeom>
        </p:spPr>
      </p:pic>
      <p:pic>
        <p:nvPicPr>
          <p:cNvPr id="8" name="Рисунок 7" descr="Вырезка экрана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678364" y="2814608"/>
            <a:ext cx="5032986" cy="3977682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6972562" y="3321745"/>
            <a:ext cx="3939861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err="1"/>
              <a:t>ax.legend</a:t>
            </a:r>
            <a:r>
              <a:rPr lang="en-US" sz="2400" dirty="0"/>
              <a:t>([line1, line2, line3], </a:t>
            </a:r>
            <a:endParaRPr lang="en-US" sz="2400" dirty="0" smtClean="0"/>
          </a:p>
          <a:p>
            <a:r>
              <a:rPr lang="en-US" sz="2400" dirty="0" smtClean="0"/>
              <a:t>[</a:t>
            </a:r>
            <a:r>
              <a:rPr lang="en-US" sz="2400" dirty="0"/>
              <a:t>'label1', 'label2', 'label3'])</a:t>
            </a:r>
            <a:endParaRPr lang="ru-RU" sz="2400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6972562" y="4722409"/>
            <a:ext cx="490646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line1, = </a:t>
            </a:r>
            <a:r>
              <a:rPr lang="en-US" sz="2400" dirty="0" err="1"/>
              <a:t>ax.plot</a:t>
            </a:r>
            <a:r>
              <a:rPr lang="en-US" sz="2400" dirty="0"/>
              <a:t>([1, 2, 3], label='label1')</a:t>
            </a:r>
          </a:p>
          <a:p>
            <a:r>
              <a:rPr lang="en-US" sz="2400" dirty="0"/>
              <a:t>line2, = </a:t>
            </a:r>
            <a:r>
              <a:rPr lang="en-US" sz="2400" dirty="0" err="1"/>
              <a:t>ax.plot</a:t>
            </a:r>
            <a:r>
              <a:rPr lang="en-US" sz="2400" dirty="0"/>
              <a:t>([1, 2, 3], label='label2')</a:t>
            </a:r>
          </a:p>
          <a:p>
            <a:r>
              <a:rPr lang="en-US" sz="2400" dirty="0" err="1"/>
              <a:t>ax.legend</a:t>
            </a:r>
            <a:r>
              <a:rPr lang="en-US" sz="2400" dirty="0"/>
              <a:t>(handles=[line1, line2])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xmlns="" val="3670338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41540" y="149464"/>
            <a:ext cx="10593238" cy="71880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В</a:t>
            </a:r>
            <a:r>
              <a:rPr lang="ru-RU" dirty="0" smtClean="0"/>
              <a:t>изуализация </a:t>
            </a:r>
            <a:r>
              <a:rPr lang="ru-RU" dirty="0"/>
              <a:t>данных</a:t>
            </a:r>
            <a:r>
              <a:rPr lang="en-US" dirty="0" smtClean="0"/>
              <a:t>- </a:t>
            </a:r>
            <a:r>
              <a:rPr lang="ru-RU" dirty="0"/>
              <a:t>библиотека </a:t>
            </a:r>
            <a:r>
              <a:rPr lang="en-US" dirty="0" err="1" smtClean="0"/>
              <a:t>matplotlib</a:t>
            </a:r>
            <a:endParaRPr lang="ru-RU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241540" y="868270"/>
            <a:ext cx="76958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/>
              <a:t>Текст и </a:t>
            </a:r>
            <a:r>
              <a:rPr lang="ru-RU" sz="2800" b="1" dirty="0" smtClean="0"/>
              <a:t>аннотации (</a:t>
            </a:r>
            <a:r>
              <a:rPr lang="ru-RU" sz="2800" dirty="0" smtClean="0">
                <a:solidFill>
                  <a:srgbClr val="404040"/>
                </a:solidFill>
                <a:latin typeface="Lato" panose="020F0502020204030203" pitchFamily="34" charset="0"/>
              </a:rPr>
              <a:t>поддерживается </a:t>
            </a:r>
            <a:r>
              <a:rPr lang="ru-RU" sz="2800" dirty="0"/>
              <a:t>формат </a:t>
            </a:r>
            <a:r>
              <a:rPr lang="ru-RU" sz="2800" dirty="0" err="1">
                <a:hlinkClick r:id="rId3"/>
              </a:rPr>
              <a:t>TeX</a:t>
            </a:r>
            <a:r>
              <a:rPr lang="ru-RU" sz="2800" b="1" dirty="0" smtClean="0"/>
              <a:t>)</a:t>
            </a:r>
            <a:endParaRPr lang="ru-RU" sz="2800" b="1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241540" y="1285219"/>
            <a:ext cx="1116258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404040"/>
                </a:solidFill>
                <a:latin typeface="Lato" panose="020F0502020204030203" pitchFamily="34" charset="0"/>
              </a:rPr>
              <a:t>произвольный текст (метод </a:t>
            </a:r>
            <a:r>
              <a:rPr lang="ru-RU" sz="2800" dirty="0" err="1">
                <a:solidFill>
                  <a:srgbClr val="1B7A41"/>
                </a:solidFill>
                <a:latin typeface="Lato" panose="020F0502020204030203" pitchFamily="34" charset="0"/>
                <a:hlinkClick r:id="rId4"/>
              </a:rPr>
              <a:t>Axes.text</a:t>
            </a:r>
            <a:r>
              <a:rPr lang="ru-RU" sz="2800" dirty="0" smtClean="0">
                <a:solidFill>
                  <a:srgbClr val="1B7A41"/>
                </a:solidFill>
                <a:latin typeface="Lato" panose="020F0502020204030203" pitchFamily="34" charset="0"/>
                <a:hlinkClick r:id="rId4"/>
              </a:rPr>
              <a:t>()</a:t>
            </a:r>
            <a:r>
              <a:rPr lang="ru-RU" sz="2800" dirty="0" smtClean="0">
                <a:solidFill>
                  <a:srgbClr val="404040"/>
                </a:solidFill>
                <a:latin typeface="Lato" panose="020F0502020204030203" pitchFamily="34" charset="0"/>
              </a:rPr>
              <a:t>);</a:t>
            </a:r>
            <a:endParaRPr lang="ru-RU" sz="2800" dirty="0">
              <a:solidFill>
                <a:srgbClr val="404040"/>
              </a:solidFill>
              <a:latin typeface="Lato" panose="020F0502020204030203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2800" dirty="0" smtClean="0">
                <a:solidFill>
                  <a:srgbClr val="404040"/>
                </a:solidFill>
                <a:latin typeface="Lato" panose="020F0502020204030203" pitchFamily="34" charset="0"/>
              </a:rPr>
              <a:t>аннотаци</a:t>
            </a:r>
            <a:r>
              <a:rPr lang="ru-RU" sz="2800" dirty="0">
                <a:solidFill>
                  <a:srgbClr val="404040"/>
                </a:solidFill>
                <a:latin typeface="Lato" panose="020F0502020204030203" pitchFamily="34" charset="0"/>
              </a:rPr>
              <a:t>я</a:t>
            </a:r>
            <a:r>
              <a:rPr lang="ru-RU" sz="2800" dirty="0" smtClean="0">
                <a:solidFill>
                  <a:srgbClr val="404040"/>
                </a:solidFill>
                <a:latin typeface="Lato" panose="020F0502020204030203" pitchFamily="34" charset="0"/>
              </a:rPr>
              <a:t> </a:t>
            </a:r>
            <a:r>
              <a:rPr lang="ru-RU" sz="2800" dirty="0">
                <a:solidFill>
                  <a:srgbClr val="404040"/>
                </a:solidFill>
                <a:latin typeface="Lato" panose="020F0502020204030203" pitchFamily="34" charset="0"/>
              </a:rPr>
              <a:t>(метод </a:t>
            </a:r>
            <a:r>
              <a:rPr lang="ru-RU" sz="2800" dirty="0" err="1">
                <a:solidFill>
                  <a:srgbClr val="1B7A41"/>
                </a:solidFill>
                <a:latin typeface="Lato" panose="020F0502020204030203" pitchFamily="34" charset="0"/>
                <a:hlinkClick r:id="rId5"/>
              </a:rPr>
              <a:t>Axes.annotate</a:t>
            </a:r>
            <a:r>
              <a:rPr lang="ru-RU" sz="2800" dirty="0">
                <a:solidFill>
                  <a:srgbClr val="1B7A41"/>
                </a:solidFill>
                <a:latin typeface="Lato" panose="020F0502020204030203" pitchFamily="34" charset="0"/>
                <a:hlinkClick r:id="rId5"/>
              </a:rPr>
              <a:t>()</a:t>
            </a:r>
            <a:r>
              <a:rPr lang="ru-RU" sz="2800" dirty="0">
                <a:solidFill>
                  <a:srgbClr val="404040"/>
                </a:solidFill>
                <a:latin typeface="Lato" panose="020F0502020204030203" pitchFamily="34" charset="0"/>
              </a:rPr>
              <a:t>).</a:t>
            </a:r>
            <a:endParaRPr lang="ru-RU" sz="2800" b="0" i="0" dirty="0">
              <a:solidFill>
                <a:srgbClr val="404040"/>
              </a:solidFill>
              <a:effectLst/>
              <a:latin typeface="Lato" panose="020F0502020204030203" pitchFamily="34" charset="0"/>
            </a:endParaRPr>
          </a:p>
        </p:txBody>
      </p:sp>
      <p:graphicFrame>
        <p:nvGraphicFramePr>
          <p:cNvPr id="12" name="Таблица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049596573"/>
              </p:ext>
            </p:extLst>
          </p:nvPr>
        </p:nvGraphicFramePr>
        <p:xfrm>
          <a:off x="207035" y="2255918"/>
          <a:ext cx="11950460" cy="38404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91110"/>
                <a:gridCol w="975935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text(x, y, s, </a:t>
                      </a:r>
                      <a:r>
                        <a:rPr lang="en-US" sz="2400" dirty="0" err="1" smtClean="0"/>
                        <a:t>fontdict</a:t>
                      </a:r>
                      <a:r>
                        <a:rPr lang="en-US" sz="2400" dirty="0" smtClean="0"/>
                        <a:t>=None, </a:t>
                      </a:r>
                      <a:r>
                        <a:rPr lang="en-US" sz="2400" dirty="0" err="1" smtClean="0"/>
                        <a:t>withdash</a:t>
                      </a:r>
                      <a:r>
                        <a:rPr lang="en-US" sz="2400" dirty="0" smtClean="0"/>
                        <a:t>=False, **</a:t>
                      </a:r>
                      <a:r>
                        <a:rPr lang="en-US" sz="2400" dirty="0" err="1" smtClean="0"/>
                        <a:t>kwargs</a:t>
                      </a:r>
                      <a:r>
                        <a:rPr lang="en-US" sz="2400" dirty="0" smtClean="0"/>
                        <a:t>)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Добавляет текст s на координатную плоскость в координаты (x, y) (левый верхний угол).</a:t>
                      </a:r>
                    </a:p>
                    <a:p>
                      <a:r>
                        <a:rPr lang="ru-RU" sz="2400" dirty="0" smtClean="0"/>
                        <a:t>Возможные ключи **</a:t>
                      </a:r>
                      <a:r>
                        <a:rPr lang="ru-RU" sz="2400" dirty="0" err="1" smtClean="0"/>
                        <a:t>kwargs</a:t>
                      </a:r>
                      <a:r>
                        <a:rPr lang="ru-RU" sz="2400" dirty="0" smtClean="0"/>
                        <a:t> - свойства текстового объекта </a:t>
                      </a:r>
                      <a:r>
                        <a:rPr lang="ru-RU" sz="2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(класс </a:t>
                      </a:r>
                      <a:r>
                        <a:rPr lang="en-US" sz="2400" b="0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6"/>
                        </a:rPr>
                        <a:t>Text</a:t>
                      </a:r>
                      <a:r>
                        <a:rPr lang="en-US" sz="2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ru-RU" sz="2400" dirty="0" smtClean="0"/>
                        <a:t>, определяющие отображение текста.</a:t>
                      </a:r>
                      <a:endParaRPr lang="ru-RU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annotate</a:t>
                      </a:r>
                      <a:r>
                        <a:rPr lang="en-US" sz="24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2400" b="1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  <a:r>
                        <a:rPr lang="en-US" sz="2400" b="1" i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args</a:t>
                      </a:r>
                      <a:r>
                        <a:rPr lang="en-US" sz="24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US" sz="2400" b="1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**</a:t>
                      </a:r>
                      <a:r>
                        <a:rPr lang="en-US" sz="2400" b="1" i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kwargs</a:t>
                      </a:r>
                      <a:r>
                        <a:rPr lang="en-US" sz="24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Добавляет аннотацию s на координатную плоскость в координаты (x, y).</a:t>
                      </a:r>
                    </a:p>
                    <a:p>
                      <a:r>
                        <a:rPr lang="ru-RU" sz="2400" b="1" dirty="0" smtClean="0">
                          <a:effectLst/>
                        </a:rPr>
                        <a:t>s</a:t>
                      </a:r>
                      <a:r>
                        <a:rPr lang="ru-RU" sz="2400" dirty="0" smtClean="0">
                          <a:effectLst/>
                        </a:rPr>
                        <a:t> (</a:t>
                      </a:r>
                      <a:r>
                        <a:rPr lang="ru-RU" sz="2400" i="1" u="none" strike="noStrike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7" tooltip="str"/>
                        </a:rPr>
                        <a:t>str</a:t>
                      </a:r>
                      <a:r>
                        <a:rPr lang="ru-RU" sz="2400" dirty="0" smtClean="0">
                          <a:effectLst/>
                        </a:rPr>
                        <a:t>) – текст аннотации;</a:t>
                      </a:r>
                    </a:p>
                    <a:p>
                      <a:r>
                        <a:rPr lang="ru-RU" sz="2400" b="1" dirty="0" err="1" smtClean="0">
                          <a:effectLst/>
                        </a:rPr>
                        <a:t>xy</a:t>
                      </a:r>
                      <a:r>
                        <a:rPr lang="ru-RU" sz="2400" dirty="0" smtClean="0">
                          <a:effectLst/>
                        </a:rPr>
                        <a:t> – координаты точки аннотации;</a:t>
                      </a:r>
                    </a:p>
                    <a:p>
                      <a:r>
                        <a:rPr lang="ru-RU" sz="2400" b="1" dirty="0" err="1" smtClean="0">
                          <a:effectLst/>
                        </a:rPr>
                        <a:t>xytext</a:t>
                      </a:r>
                      <a:r>
                        <a:rPr lang="ru-RU" sz="2400" dirty="0" smtClean="0">
                          <a:effectLst/>
                        </a:rPr>
                        <a:t>  – координаты текста аннотации (по умолчанию „</a:t>
                      </a:r>
                      <a:r>
                        <a:rPr lang="ru-RU" sz="2400" dirty="0" err="1" smtClean="0">
                          <a:effectLst/>
                        </a:rPr>
                        <a:t>xy</a:t>
                      </a:r>
                      <a:r>
                        <a:rPr lang="ru-RU" sz="2400" dirty="0" smtClean="0">
                          <a:effectLst/>
                        </a:rPr>
                        <a:t>“, левый верхний угол);</a:t>
                      </a:r>
                    </a:p>
                    <a:p>
                      <a:r>
                        <a:rPr lang="ru-RU" sz="2400" b="1" dirty="0" err="1" smtClean="0">
                          <a:effectLst/>
                        </a:rPr>
                        <a:t>arrowprops</a:t>
                      </a:r>
                      <a:r>
                        <a:rPr lang="ru-RU" sz="2400" dirty="0" smtClean="0">
                          <a:effectLst/>
                        </a:rPr>
                        <a:t> (</a:t>
                      </a:r>
                      <a:r>
                        <a:rPr lang="ru-RU" sz="2400" i="1" u="none" strike="noStrike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7" tooltip="dict"/>
                        </a:rPr>
                        <a:t>dict</a:t>
                      </a:r>
                      <a:r>
                        <a:rPr lang="ru-RU" sz="2400" dirty="0" smtClean="0">
                          <a:effectLst/>
                        </a:rPr>
                        <a:t>) – свойства стрелки-указателя на аннотацию.</a:t>
                      </a:r>
                      <a:endParaRPr lang="ru-RU" sz="24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771303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41540" y="28693"/>
            <a:ext cx="10593238" cy="6346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В</a:t>
            </a:r>
            <a:r>
              <a:rPr lang="ru-RU" dirty="0" smtClean="0"/>
              <a:t>изуализация </a:t>
            </a:r>
            <a:r>
              <a:rPr lang="ru-RU" dirty="0"/>
              <a:t>данных</a:t>
            </a:r>
            <a:r>
              <a:rPr lang="en-US" dirty="0" smtClean="0"/>
              <a:t>- </a:t>
            </a:r>
            <a:r>
              <a:rPr lang="ru-RU" dirty="0"/>
              <a:t>библиотека </a:t>
            </a:r>
            <a:r>
              <a:rPr lang="en-US" dirty="0" err="1" smtClean="0"/>
              <a:t>matplotlib</a:t>
            </a:r>
            <a:endParaRPr lang="ru-RU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241540" y="574969"/>
            <a:ext cx="30212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/>
              <a:t>Текст и </a:t>
            </a:r>
            <a:r>
              <a:rPr lang="ru-RU" sz="2800" b="1" dirty="0" smtClean="0"/>
              <a:t>аннотации</a:t>
            </a:r>
            <a:endParaRPr lang="ru-RU" sz="2800" b="1" dirty="0"/>
          </a:p>
        </p:txBody>
      </p:sp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41540" y="1061594"/>
            <a:ext cx="11226001" cy="1560835"/>
          </a:xfrm>
          <a:prstGeom prst="rect">
            <a:avLst/>
          </a:prstGeom>
        </p:spPr>
      </p:pic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41540" y="2524597"/>
            <a:ext cx="5365630" cy="4333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672171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41540" y="28693"/>
            <a:ext cx="10593238" cy="6346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В</a:t>
            </a:r>
            <a:r>
              <a:rPr lang="ru-RU" dirty="0" smtClean="0"/>
              <a:t>изуализация </a:t>
            </a:r>
            <a:r>
              <a:rPr lang="ru-RU" dirty="0"/>
              <a:t>данных</a:t>
            </a:r>
            <a:r>
              <a:rPr lang="en-US" dirty="0" smtClean="0"/>
              <a:t>- </a:t>
            </a:r>
            <a:r>
              <a:rPr lang="ru-RU" dirty="0"/>
              <a:t>библиотека </a:t>
            </a:r>
            <a:r>
              <a:rPr lang="en-US" dirty="0" err="1" smtClean="0"/>
              <a:t>matplotlib</a:t>
            </a:r>
            <a:endParaRPr lang="ru-RU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241540" y="574969"/>
            <a:ext cx="33949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 smtClean="0"/>
              <a:t>Несколько графиков</a:t>
            </a:r>
            <a:endParaRPr lang="ru-RU" sz="2800" b="1" dirty="0"/>
          </a:p>
        </p:txBody>
      </p:sp>
      <p:pic>
        <p:nvPicPr>
          <p:cNvPr id="10" name="Рисунок 9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098189"/>
            <a:ext cx="9861604" cy="5759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883973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41540" y="28693"/>
            <a:ext cx="10593238" cy="6346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В</a:t>
            </a:r>
            <a:r>
              <a:rPr lang="ru-RU" dirty="0" smtClean="0"/>
              <a:t>изуализация </a:t>
            </a:r>
            <a:r>
              <a:rPr lang="ru-RU" dirty="0"/>
              <a:t>данных</a:t>
            </a:r>
            <a:r>
              <a:rPr lang="en-US" dirty="0" smtClean="0"/>
              <a:t>- </a:t>
            </a:r>
            <a:r>
              <a:rPr lang="ru-RU" dirty="0"/>
              <a:t>библиотека </a:t>
            </a:r>
            <a:r>
              <a:rPr lang="en-US" dirty="0" err="1" smtClean="0"/>
              <a:t>matplotlib</a:t>
            </a:r>
            <a:endParaRPr lang="ru-RU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241540" y="574969"/>
            <a:ext cx="33949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 smtClean="0"/>
              <a:t>Несколько графиков</a:t>
            </a:r>
            <a:endParaRPr lang="ru-RU" sz="2800" b="1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241540" y="1382855"/>
            <a:ext cx="1129552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fig, (ax1, ax2) = </a:t>
            </a:r>
            <a:r>
              <a:rPr lang="en-US" sz="2800" dirty="0" err="1"/>
              <a:t>plt.subplots</a:t>
            </a:r>
            <a:r>
              <a:rPr lang="en-US" sz="2800" dirty="0"/>
              <a:t>(</a:t>
            </a:r>
            <a:r>
              <a:rPr lang="en-US" sz="2800" dirty="0" err="1"/>
              <a:t>ncols</a:t>
            </a:r>
            <a:r>
              <a:rPr lang="en-US" sz="2800" dirty="0"/>
              <a:t>=2)  # 2 </a:t>
            </a:r>
            <a:r>
              <a:rPr lang="ru-RU" sz="2800" dirty="0"/>
              <a:t>диаграммы по горизонтали</a:t>
            </a:r>
          </a:p>
        </p:txBody>
      </p:sp>
    </p:spTree>
    <p:extLst>
      <p:ext uri="{BB962C8B-B14F-4D97-AF65-F5344CB8AC3E}">
        <p14:creationId xmlns:p14="http://schemas.microsoft.com/office/powerpoint/2010/main" xmlns="" val="1534552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41540" y="28693"/>
            <a:ext cx="10593238" cy="6346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В</a:t>
            </a:r>
            <a:r>
              <a:rPr lang="ru-RU" dirty="0" smtClean="0"/>
              <a:t>изуализация </a:t>
            </a:r>
            <a:r>
              <a:rPr lang="ru-RU" dirty="0"/>
              <a:t>данных</a:t>
            </a:r>
            <a:r>
              <a:rPr lang="en-US" dirty="0" smtClean="0"/>
              <a:t>- </a:t>
            </a:r>
            <a:r>
              <a:rPr lang="ru-RU" dirty="0"/>
              <a:t>библиотека </a:t>
            </a:r>
            <a:r>
              <a:rPr lang="en-US" dirty="0" err="1" smtClean="0"/>
              <a:t>matplotlib</a:t>
            </a:r>
            <a:endParaRPr lang="ru-RU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241540" y="574969"/>
            <a:ext cx="432201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 smtClean="0"/>
              <a:t>Основные типы диаграмм</a:t>
            </a:r>
            <a:endParaRPr lang="ru-RU" sz="2800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241541" y="1209603"/>
            <a:ext cx="5849544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smtClean="0"/>
              <a:t>График   </a:t>
            </a:r>
            <a:r>
              <a:rPr lang="en-US" sz="2800" dirty="0" err="1" smtClean="0"/>
              <a:t>Axes.plot</a:t>
            </a:r>
            <a:r>
              <a:rPr lang="en-US" sz="2800" dirty="0" smtClean="0"/>
              <a:t>()</a:t>
            </a:r>
            <a:endParaRPr lang="ru-RU" sz="2800" dirty="0" smtClean="0"/>
          </a:p>
          <a:p>
            <a:endParaRPr lang="en-US" sz="2800" dirty="0"/>
          </a:p>
          <a:p>
            <a:r>
              <a:rPr lang="ru-RU" sz="2800" dirty="0" smtClean="0"/>
              <a:t>Круговая диаграмма    </a:t>
            </a:r>
            <a:r>
              <a:rPr lang="en-US" sz="2800" dirty="0" err="1" smtClean="0"/>
              <a:t>Axes.pie</a:t>
            </a:r>
            <a:r>
              <a:rPr lang="en-US" sz="2800" dirty="0" smtClean="0"/>
              <a:t>()</a:t>
            </a:r>
            <a:endParaRPr lang="ru-RU" sz="2800" dirty="0" smtClean="0"/>
          </a:p>
          <a:p>
            <a:endParaRPr lang="en-US" sz="2800" dirty="0"/>
          </a:p>
          <a:p>
            <a:r>
              <a:rPr lang="ru-RU" sz="2800" dirty="0" smtClean="0"/>
              <a:t>Столбчатая </a:t>
            </a:r>
            <a:r>
              <a:rPr lang="ru-RU" sz="2800" dirty="0"/>
              <a:t>(линейчатая) </a:t>
            </a:r>
            <a:r>
              <a:rPr lang="ru-RU" sz="2800" dirty="0" smtClean="0"/>
              <a:t>диаграмма   </a:t>
            </a:r>
          </a:p>
          <a:p>
            <a:r>
              <a:rPr lang="en-US" sz="2800" dirty="0" err="1" smtClean="0"/>
              <a:t>Axes.bar</a:t>
            </a:r>
            <a:r>
              <a:rPr lang="en-US" sz="2800" dirty="0"/>
              <a:t>(), </a:t>
            </a:r>
            <a:r>
              <a:rPr lang="en-US" sz="2800" dirty="0" err="1"/>
              <a:t>Axes.barh</a:t>
            </a:r>
            <a:r>
              <a:rPr lang="en-US" sz="2800" dirty="0" smtClean="0"/>
              <a:t>()</a:t>
            </a:r>
            <a:endParaRPr lang="ru-RU" sz="2800" dirty="0" smtClean="0"/>
          </a:p>
          <a:p>
            <a:endParaRPr lang="en-US" sz="2800" dirty="0"/>
          </a:p>
          <a:p>
            <a:r>
              <a:rPr lang="ru-RU" sz="2800" dirty="0" smtClean="0"/>
              <a:t>Гистограмма     </a:t>
            </a:r>
            <a:r>
              <a:rPr lang="en-US" sz="2800" dirty="0" err="1" smtClean="0"/>
              <a:t>Axes.hist</a:t>
            </a:r>
            <a:r>
              <a:rPr lang="en-US" sz="2800" dirty="0" smtClean="0"/>
              <a:t>()</a:t>
            </a:r>
            <a:endParaRPr lang="en-US" sz="2800" dirty="0"/>
          </a:p>
        </p:txBody>
      </p:sp>
      <p:pic>
        <p:nvPicPr>
          <p:cNvPr id="6" name="Рисунок 5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623750" y="836579"/>
            <a:ext cx="5258534" cy="519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908296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41540" y="28693"/>
            <a:ext cx="10593238" cy="6346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В</a:t>
            </a:r>
            <a:r>
              <a:rPr lang="ru-RU" dirty="0" smtClean="0"/>
              <a:t>изуализация </a:t>
            </a:r>
            <a:r>
              <a:rPr lang="ru-RU" dirty="0"/>
              <a:t>данных</a:t>
            </a:r>
            <a:r>
              <a:rPr lang="en-US" dirty="0" smtClean="0"/>
              <a:t>- </a:t>
            </a:r>
            <a:r>
              <a:rPr lang="ru-RU" dirty="0"/>
              <a:t>библиотека </a:t>
            </a:r>
            <a:r>
              <a:rPr lang="en-US" dirty="0" err="1" smtClean="0"/>
              <a:t>matplotlib</a:t>
            </a:r>
            <a:endParaRPr lang="ru-RU" dirty="0"/>
          </a:p>
        </p:txBody>
      </p:sp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815241"/>
            <a:ext cx="6519605" cy="5145292"/>
          </a:xfrm>
          <a:prstGeom prst="rect">
            <a:avLst/>
          </a:prstGeom>
        </p:spPr>
      </p:pic>
      <p:pic>
        <p:nvPicPr>
          <p:cNvPr id="7" name="Рисунок 6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448707" y="663327"/>
            <a:ext cx="6743293" cy="3705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057556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41540" y="28693"/>
            <a:ext cx="10593238" cy="6346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В</a:t>
            </a:r>
            <a:r>
              <a:rPr lang="ru-RU" dirty="0" smtClean="0"/>
              <a:t>изуализация </a:t>
            </a:r>
            <a:r>
              <a:rPr lang="ru-RU" dirty="0"/>
              <a:t>данных</a:t>
            </a:r>
            <a:r>
              <a:rPr lang="en-US" dirty="0" smtClean="0"/>
              <a:t>- </a:t>
            </a:r>
            <a:r>
              <a:rPr lang="ru-RU" dirty="0"/>
              <a:t>библиотека </a:t>
            </a:r>
            <a:r>
              <a:rPr lang="en-US" dirty="0" err="1" smtClean="0"/>
              <a:t>matplotlib</a:t>
            </a:r>
            <a:endParaRPr lang="ru-RU" dirty="0"/>
          </a:p>
        </p:txBody>
      </p:sp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885627" y="818785"/>
            <a:ext cx="6420746" cy="5220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872706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89392" y="28693"/>
            <a:ext cx="88750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625241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-1"/>
            <a:ext cx="12055151" cy="1306287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/>
              <a:t>Платформа и операционная система</a:t>
            </a: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910178193"/>
              </p:ext>
            </p:extLst>
          </p:nvPr>
        </p:nvGraphicFramePr>
        <p:xfrm>
          <a:off x="169947" y="1484436"/>
          <a:ext cx="11754830" cy="48768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708957">
                  <a:extLst>
                    <a:ext uri="{9D8B030D-6E8A-4147-A177-3AD203B41FA5}">
                      <a16:colId xmlns:a16="http://schemas.microsoft.com/office/drawing/2014/main" xmlns="" val="1961690123"/>
                    </a:ext>
                  </a:extLst>
                </a:gridCol>
                <a:gridCol w="10045873">
                  <a:extLst>
                    <a:ext uri="{9D8B030D-6E8A-4147-A177-3AD203B41FA5}">
                      <a16:colId xmlns:a16="http://schemas.microsoft.com/office/drawing/2014/main" xmlns="" val="364366179"/>
                    </a:ext>
                  </a:extLst>
                </a:gridCol>
              </a:tblGrid>
              <a:tr h="601148">
                <a:tc>
                  <a:txBody>
                    <a:bodyPr/>
                    <a:lstStyle/>
                    <a:p>
                      <a:pPr algn="just"/>
                      <a:r>
                        <a:rPr lang="ru-RU" sz="2400" b="1">
                          <a:effectLst/>
                        </a:rPr>
                        <a:t>Модуль / Пакет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2400" b="1">
                          <a:effectLst/>
                        </a:rPr>
                        <a:t>Описание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xmlns="" val="42664902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2400" u="none" strike="noStrike">
                          <a:solidFill>
                            <a:srgbClr val="1B7A41"/>
                          </a:solidFill>
                          <a:effectLst/>
                          <a:hlinkClick r:id="rId3"/>
                        </a:rPr>
                        <a:t>sys</a:t>
                      </a:r>
                      <a:endParaRPr lang="en-US" sz="2400">
                        <a:effectLst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ru-RU" sz="2400">
                          <a:effectLst/>
                        </a:rPr>
                        <a:t>Переменные и функции, которые используются/взаимодействуют с интерпретатором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xmlns="" val="7896161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2400" u="none" strike="noStrike">
                          <a:solidFill>
                            <a:srgbClr val="1B7A41"/>
                          </a:solidFill>
                          <a:effectLst/>
                          <a:hlinkClick r:id="rId4"/>
                        </a:rPr>
                        <a:t>platform</a:t>
                      </a:r>
                      <a:endParaRPr lang="en-US" sz="2400">
                        <a:effectLst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ru-RU" sz="2400">
                          <a:effectLst/>
                        </a:rPr>
                        <a:t>Низкоуровневая информация о платформе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xmlns="" val="1572929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2400" u="none" strike="noStrike">
                          <a:solidFill>
                            <a:srgbClr val="1B7A41"/>
                          </a:solidFill>
                          <a:effectLst/>
                          <a:hlinkClick r:id="rId5"/>
                        </a:rPr>
                        <a:t>os</a:t>
                      </a:r>
                      <a:endParaRPr lang="en-US" sz="2400">
                        <a:effectLst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ru-RU" sz="2400">
                          <a:effectLst/>
                        </a:rPr>
                        <a:t>Унифицированный способ доступа к системным функциям для разных платформ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xmlns="" val="2083348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2400" u="none" strike="noStrike">
                          <a:solidFill>
                            <a:srgbClr val="1B7A41"/>
                          </a:solidFill>
                          <a:effectLst/>
                          <a:hlinkClick r:id="rId5"/>
                        </a:rPr>
                        <a:t>os.path</a:t>
                      </a:r>
                      <a:endParaRPr lang="en-US" sz="2400">
                        <a:effectLst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ru-RU" sz="2400">
                          <a:effectLst/>
                        </a:rPr>
                        <a:t>Функции для работы с именами путей в ОС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xmlns="" val="37676471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2400" u="none" strike="noStrike">
                          <a:solidFill>
                            <a:srgbClr val="1B7A41"/>
                          </a:solidFill>
                          <a:effectLst/>
                          <a:hlinkClick r:id="rId6"/>
                        </a:rPr>
                        <a:t>shutil</a:t>
                      </a:r>
                      <a:endParaRPr lang="en-US" sz="2400">
                        <a:effectLst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ru-RU" sz="2400">
                          <a:effectLst/>
                        </a:rPr>
                        <a:t>Высокоуровневые операции с файлами (копирование, удаление и др.)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xmlns="" val="1826036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2400" u="none" strike="noStrike">
                          <a:solidFill>
                            <a:srgbClr val="1B7A41"/>
                          </a:solidFill>
                          <a:effectLst/>
                          <a:hlinkClick r:id="rId7"/>
                        </a:rPr>
                        <a:t>subprocess</a:t>
                      </a:r>
                      <a:endParaRPr lang="en-US" sz="2400">
                        <a:effectLst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ru-RU" sz="2400">
                          <a:effectLst/>
                        </a:rPr>
                        <a:t>Запуск процессов, присоединение к потокам их ввода/вывода и получение кодов возврата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xmlns="" val="39210939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2400" u="none" strike="noStrike">
                          <a:solidFill>
                            <a:srgbClr val="1B7A41"/>
                          </a:solidFill>
                          <a:effectLst/>
                          <a:hlinkClick r:id="rId8"/>
                        </a:rPr>
                        <a:t>glob</a:t>
                      </a:r>
                      <a:endParaRPr lang="en-US" sz="2400">
                        <a:effectLst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ru-RU" sz="2400" dirty="0">
                          <a:effectLst/>
                        </a:rPr>
                        <a:t>Поиск путей по заданной маске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xmlns="" val="841528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017223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12055151" cy="83958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2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400" dirty="0"/>
              <a:t>Стандартная библиотека </a:t>
            </a:r>
            <a:r>
              <a:rPr lang="ru-RU" sz="4400" dirty="0" smtClean="0"/>
              <a:t>Python</a:t>
            </a:r>
            <a:r>
              <a:rPr lang="en-US" sz="4400" dirty="0" smtClean="0"/>
              <a:t> - </a:t>
            </a:r>
            <a:r>
              <a:rPr lang="ru-RU" sz="4400" dirty="0"/>
              <a:t>Платформа и операционная система</a:t>
            </a: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825367286"/>
              </p:ext>
            </p:extLst>
          </p:nvPr>
        </p:nvGraphicFramePr>
        <p:xfrm>
          <a:off x="143013" y="839586"/>
          <a:ext cx="11912138" cy="593534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141604">
                  <a:extLst>
                    <a:ext uri="{9D8B030D-6E8A-4147-A177-3AD203B41FA5}">
                      <a16:colId xmlns:a16="http://schemas.microsoft.com/office/drawing/2014/main" xmlns="" val="1961690123"/>
                    </a:ext>
                  </a:extLst>
                </a:gridCol>
                <a:gridCol w="8770534">
                  <a:extLst>
                    <a:ext uri="{9D8B030D-6E8A-4147-A177-3AD203B41FA5}">
                      <a16:colId xmlns:a16="http://schemas.microsoft.com/office/drawing/2014/main" xmlns="" val="364366179"/>
                    </a:ext>
                  </a:extLst>
                </a:gridCol>
              </a:tblGrid>
              <a:tr h="60114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platform.machine()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тип 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машины, например, 'i386'. Если определить не возможно, возвращается пустая строка.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42664902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platform.node()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сетевое 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имя машины. Если определить не возможно, возвращается пустая строка.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7896161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platform.platform(aliased=0, terse=0)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имя 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платформы в «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человекочитаемом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» виде, например: 'Windows-10-10.0.14393-SP0'.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572929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platform.processor()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наименование 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процессора, например: 'Intel64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Family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6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Model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58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Stepping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9,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GenuineIntel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'.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2083348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platform.system()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название 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операционной системы, например: '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Windows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'.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37676471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platform.version()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версию 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операционной системы, например: '10.0.14393'.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826036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platform.uname()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именованный 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кортеж из результатов вызова функций: (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system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(),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node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(),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release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(),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version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(),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machine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(),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processor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()).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39210939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510888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41540" y="28693"/>
            <a:ext cx="10593238" cy="6346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Конвертер римских/арабских чисел </a:t>
            </a:r>
            <a:r>
              <a:rPr lang="en-US" dirty="0"/>
              <a:t>Python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241540" y="890988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 smtClean="0">
                <a:solidFill>
                  <a:srgbClr val="404040"/>
                </a:solidFill>
                <a:latin typeface="Lato" panose="020F0502020204030203" pitchFamily="34" charset="0"/>
              </a:rPr>
              <a:t>Установка:</a:t>
            </a:r>
            <a:endParaRPr lang="en-US" dirty="0" smtClean="0">
              <a:solidFill>
                <a:srgbClr val="404040"/>
              </a:solidFill>
              <a:latin typeface="Lato" panose="020F0502020204030203" pitchFamily="34" charset="0"/>
            </a:endParaRPr>
          </a:p>
          <a:p>
            <a:r>
              <a:rPr lang="en-US" dirty="0" smtClean="0">
                <a:solidFill>
                  <a:srgbClr val="404040"/>
                </a:solidFill>
                <a:latin typeface="Lato" panose="020F0502020204030203" pitchFamily="34" charset="0"/>
              </a:rPr>
              <a:t>$ </a:t>
            </a:r>
            <a:r>
              <a:rPr lang="en-US" dirty="0">
                <a:solidFill>
                  <a:srgbClr val="404040"/>
                </a:solidFill>
                <a:latin typeface="Lato" panose="020F0502020204030203" pitchFamily="34" charset="0"/>
              </a:rPr>
              <a:t>pip install </a:t>
            </a:r>
            <a:r>
              <a:rPr lang="en-US" dirty="0" err="1">
                <a:solidFill>
                  <a:srgbClr val="404040"/>
                </a:solidFill>
                <a:latin typeface="Lato" panose="020F0502020204030203" pitchFamily="34" charset="0"/>
              </a:rPr>
              <a:t>py-romanify</a:t>
            </a:r>
            <a:endParaRPr lang="en-US" dirty="0">
              <a:solidFill>
                <a:srgbClr val="404040"/>
              </a:solidFill>
              <a:latin typeface="Lato" panose="020F0502020204030203" pitchFamily="34" charset="0"/>
            </a:endParaRPr>
          </a:p>
          <a:p>
            <a:r>
              <a:rPr lang="ru-RU" dirty="0">
                <a:solidFill>
                  <a:srgbClr val="404040"/>
                </a:solidFill>
                <a:latin typeface="Lato" panose="020F0502020204030203" pitchFamily="34" charset="0"/>
              </a:rPr>
              <a:t>Или из </a:t>
            </a:r>
            <a:r>
              <a:rPr lang="en-US" dirty="0" err="1">
                <a:solidFill>
                  <a:srgbClr val="404040"/>
                </a:solidFill>
                <a:latin typeface="Lato" panose="020F0502020204030203" pitchFamily="34" charset="0"/>
              </a:rPr>
              <a:t>git</a:t>
            </a:r>
            <a:r>
              <a:rPr lang="en-US" dirty="0">
                <a:solidFill>
                  <a:srgbClr val="404040"/>
                </a:solidFill>
                <a:latin typeface="Lato" panose="020F0502020204030203" pitchFamily="34" charset="0"/>
              </a:rPr>
              <a:t> :</a:t>
            </a:r>
          </a:p>
          <a:p>
            <a:endParaRPr lang="en-US" dirty="0">
              <a:solidFill>
                <a:srgbClr val="404040"/>
              </a:solidFill>
              <a:latin typeface="Lato" panose="020F0502020204030203" pitchFamily="34" charset="0"/>
            </a:endParaRPr>
          </a:p>
          <a:p>
            <a:r>
              <a:rPr lang="en-US" dirty="0">
                <a:solidFill>
                  <a:srgbClr val="404040"/>
                </a:solidFill>
                <a:latin typeface="Lato" panose="020F0502020204030203" pitchFamily="34" charset="0"/>
              </a:rPr>
              <a:t>$ </a:t>
            </a:r>
            <a:r>
              <a:rPr lang="en-US" dirty="0" err="1">
                <a:solidFill>
                  <a:srgbClr val="404040"/>
                </a:solidFill>
                <a:latin typeface="Lato" panose="020F0502020204030203" pitchFamily="34" charset="0"/>
              </a:rPr>
              <a:t>git</a:t>
            </a:r>
            <a:r>
              <a:rPr lang="en-US" dirty="0">
                <a:solidFill>
                  <a:srgbClr val="404040"/>
                </a:solidFill>
                <a:latin typeface="Lato" panose="020F0502020204030203" pitchFamily="34" charset="0"/>
              </a:rPr>
              <a:t> clone https://</a:t>
            </a:r>
            <a:r>
              <a:rPr lang="en-US" dirty="0" smtClean="0">
                <a:solidFill>
                  <a:srgbClr val="404040"/>
                </a:solidFill>
                <a:latin typeface="Lato" panose="020F0502020204030203" pitchFamily="34" charset="0"/>
              </a:rPr>
              <a:t>github.com/peter-lisak/py-romanify.git</a:t>
            </a:r>
          </a:p>
          <a:p>
            <a:r>
              <a:rPr lang="en-US" dirty="0" smtClean="0">
                <a:solidFill>
                  <a:srgbClr val="404040"/>
                </a:solidFill>
                <a:latin typeface="Lato" panose="020F0502020204030203" pitchFamily="34" charset="0"/>
              </a:rPr>
              <a:t>$ python setup.py install</a:t>
            </a:r>
            <a:endParaRPr lang="ru-RU" dirty="0"/>
          </a:p>
        </p:txBody>
      </p:sp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66517" y="3233698"/>
            <a:ext cx="5529706" cy="1109702"/>
          </a:xfrm>
          <a:prstGeom prst="rect">
            <a:avLst/>
          </a:prstGeom>
        </p:spPr>
      </p:pic>
      <p:pic>
        <p:nvPicPr>
          <p:cNvPr id="6" name="Рисунок 5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034179" y="3676610"/>
            <a:ext cx="990081" cy="666790"/>
          </a:xfrm>
          <a:prstGeom prst="rect">
            <a:avLst/>
          </a:prstGeom>
        </p:spPr>
      </p:pic>
      <p:pic>
        <p:nvPicPr>
          <p:cNvPr id="8" name="Рисунок 7" descr="Вырезка экрана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66517" y="4560256"/>
            <a:ext cx="5202574" cy="1554793"/>
          </a:xfrm>
          <a:prstGeom prst="rect">
            <a:avLst/>
          </a:prstGeom>
        </p:spPr>
      </p:pic>
      <p:pic>
        <p:nvPicPr>
          <p:cNvPr id="10" name="Рисунок 9" descr="Вырезка экрана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034179" y="5337652"/>
            <a:ext cx="1196243" cy="648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120097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41540" y="28693"/>
            <a:ext cx="10593238" cy="6346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Генератор </a:t>
            </a:r>
            <a:r>
              <a:rPr lang="en-US" dirty="0"/>
              <a:t>QR-</a:t>
            </a:r>
            <a:r>
              <a:rPr lang="ru-RU" dirty="0"/>
              <a:t>кода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241540" y="890988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>
                <a:solidFill>
                  <a:srgbClr val="404040"/>
                </a:solidFill>
                <a:latin typeface="Lato" panose="020F0502020204030203" pitchFamily="34" charset="0"/>
              </a:rPr>
              <a:t> Установка:</a:t>
            </a:r>
            <a:endParaRPr lang="en-US" dirty="0">
              <a:solidFill>
                <a:srgbClr val="404040"/>
              </a:solidFill>
              <a:latin typeface="Lato" panose="020F0502020204030203" pitchFamily="34" charset="0"/>
            </a:endParaRPr>
          </a:p>
          <a:p>
            <a:endParaRPr lang="ru-RU" dirty="0" smtClean="0">
              <a:latin typeface="Lato" panose="020F0502020204030203" pitchFamily="34" charset="0"/>
            </a:endParaRPr>
          </a:p>
          <a:p>
            <a:r>
              <a:rPr lang="en-US" dirty="0" smtClean="0">
                <a:latin typeface="Lato" panose="020F0502020204030203" pitchFamily="34" charset="0"/>
              </a:rPr>
              <a:t>$ </a:t>
            </a:r>
            <a:r>
              <a:rPr lang="en-US" dirty="0">
                <a:latin typeface="Lato" panose="020F0502020204030203" pitchFamily="34" charset="0"/>
              </a:rPr>
              <a:t>pip install </a:t>
            </a:r>
            <a:r>
              <a:rPr lang="en-US" dirty="0" err="1" smtClean="0">
                <a:latin typeface="Lato" panose="020F0502020204030203" pitchFamily="34" charset="0"/>
              </a:rPr>
              <a:t>pyqrcode</a:t>
            </a:r>
            <a:r>
              <a:rPr lang="ru-RU" dirty="0">
                <a:solidFill>
                  <a:srgbClr val="404040"/>
                </a:solidFill>
                <a:latin typeface="Lato" panose="020F0502020204030203" pitchFamily="34" charset="0"/>
              </a:rPr>
              <a:t> 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5027257" y="909486"/>
            <a:ext cx="670278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>
                <a:solidFill>
                  <a:srgbClr val="404040"/>
                </a:solidFill>
                <a:latin typeface="Lato" panose="020F0502020204030203" pitchFamily="34" charset="0"/>
              </a:rPr>
              <a:t>Написан на чистом </a:t>
            </a:r>
            <a:r>
              <a:rPr lang="en-US" dirty="0" smtClean="0">
                <a:solidFill>
                  <a:srgbClr val="404040"/>
                </a:solidFill>
                <a:latin typeface="Lato" panose="020F0502020204030203" pitchFamily="34" charset="0"/>
              </a:rPr>
              <a:t>Python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</a:t>
            </a:r>
            <a:r>
              <a:rPr lang="ru-RU" dirty="0" err="1"/>
              <a:t>ледует</a:t>
            </a:r>
            <a:r>
              <a:rPr lang="ru-RU" dirty="0"/>
              <a:t> стандарту </a:t>
            </a:r>
            <a:r>
              <a:rPr lang="en-US" dirty="0"/>
              <a:t>QR-</a:t>
            </a:r>
            <a:r>
              <a:rPr lang="ru-RU" dirty="0"/>
              <a:t>кода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QR-коды </a:t>
            </a:r>
            <a:r>
              <a:rPr lang="ru-RU" dirty="0"/>
              <a:t>можно сохранять в форматах SVG, PNG (с помощью модуля </a:t>
            </a:r>
            <a:r>
              <a:rPr lang="ru-RU" dirty="0" err="1">
                <a:hlinkClick r:id="rId3"/>
              </a:rPr>
              <a:t>pypng</a:t>
            </a:r>
            <a:r>
              <a:rPr lang="ru-RU" dirty="0"/>
              <a:t> ) и в виде обычного текста. </a:t>
            </a:r>
            <a:endParaRPr lang="ru-RU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Их </a:t>
            </a:r>
            <a:r>
              <a:rPr lang="ru-RU" dirty="0"/>
              <a:t>также можно отображать непосредственно в большинстве эмуляторов терминала </a:t>
            </a:r>
            <a:r>
              <a:rPr lang="ru-RU" dirty="0" err="1"/>
              <a:t>Linux</a:t>
            </a:r>
            <a:r>
              <a:rPr lang="ru-RU" dirty="0"/>
              <a:t>. </a:t>
            </a:r>
            <a:endParaRPr lang="en-US" dirty="0" smtClean="0"/>
          </a:p>
        </p:txBody>
      </p:sp>
      <p:sp>
        <p:nvSpPr>
          <p:cNvPr id="9" name="Прямоугольник 8"/>
          <p:cNvSpPr/>
          <p:nvPr/>
        </p:nvSpPr>
        <p:spPr>
          <a:xfrm>
            <a:off x="241540" y="2676720"/>
            <a:ext cx="36387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/>
              <a:t>Создание </a:t>
            </a:r>
            <a:r>
              <a:rPr lang="en-US" dirty="0"/>
              <a:t>QR-</a:t>
            </a:r>
            <a:r>
              <a:rPr lang="ru-RU" dirty="0"/>
              <a:t>кода для </a:t>
            </a:r>
            <a:r>
              <a:rPr lang="en-US" dirty="0"/>
              <a:t>URL-</a:t>
            </a:r>
            <a:r>
              <a:rPr lang="ru-RU" dirty="0" smtClean="0"/>
              <a:t>адреса:</a:t>
            </a:r>
            <a:endParaRPr lang="ru-RU" b="1" dirty="0"/>
          </a:p>
        </p:txBody>
      </p:sp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41540" y="3278687"/>
            <a:ext cx="7228935" cy="2054123"/>
          </a:xfrm>
          <a:prstGeom prst="rect">
            <a:avLst/>
          </a:prstGeom>
        </p:spPr>
      </p:pic>
      <p:pic>
        <p:nvPicPr>
          <p:cNvPr id="8" name="Рисунок 7" descr="Вырезка экрана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666010" y="2633920"/>
            <a:ext cx="3064028" cy="3679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564749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41540" y="28693"/>
            <a:ext cx="10593238" cy="6346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Генератор </a:t>
            </a:r>
            <a:r>
              <a:rPr lang="en-US" dirty="0"/>
              <a:t>QR-</a:t>
            </a:r>
            <a:r>
              <a:rPr lang="ru-RU" dirty="0"/>
              <a:t>кода</a:t>
            </a:r>
          </a:p>
        </p:txBody>
      </p:sp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41540" y="663326"/>
            <a:ext cx="11627074" cy="992945"/>
          </a:xfrm>
          <a:prstGeom prst="rect">
            <a:avLst/>
          </a:prstGeom>
        </p:spPr>
      </p:pic>
      <p:pic>
        <p:nvPicPr>
          <p:cNvPr id="6" name="Рисунок 5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79562" y="1794459"/>
            <a:ext cx="5658502" cy="4485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777353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41540" y="28693"/>
            <a:ext cx="10593238" cy="143779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Настольные </a:t>
            </a:r>
            <a:r>
              <a:rPr lang="ru-RU" dirty="0" smtClean="0"/>
              <a:t>приложения</a:t>
            </a:r>
            <a:r>
              <a:rPr lang="en-US" dirty="0" smtClean="0"/>
              <a:t> – </a:t>
            </a:r>
            <a:r>
              <a:rPr lang="ru-RU" dirty="0" smtClean="0"/>
              <a:t>библиотеки для приложений с графическим интерфейсом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379562" y="1466491"/>
            <a:ext cx="10455216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Tkinter</a:t>
            </a:r>
            <a:r>
              <a:rPr lang="en-US" sz="2400" dirty="0"/>
              <a:t>:</a:t>
            </a:r>
          </a:p>
          <a:p>
            <a:r>
              <a:rPr lang="ru-RU" sz="2400" dirty="0" smtClean="0"/>
              <a:t>Официальный </a:t>
            </a:r>
            <a:r>
              <a:rPr lang="ru-RU" sz="2400" dirty="0"/>
              <a:t>сайт: </a:t>
            </a:r>
            <a:r>
              <a:rPr lang="en-US" sz="2400" dirty="0"/>
              <a:t>https://wiki.python.org/moin/TkInter</a:t>
            </a:r>
          </a:p>
          <a:p>
            <a:r>
              <a:rPr lang="ru-RU" sz="2400" dirty="0" smtClean="0"/>
              <a:t>Вики</a:t>
            </a:r>
            <a:r>
              <a:rPr lang="ru-RU" sz="2400" dirty="0"/>
              <a:t>: </a:t>
            </a:r>
            <a:r>
              <a:rPr lang="en-US" sz="2400" dirty="0"/>
              <a:t>https://ru.wikipedia.org/wiki/Tkinter</a:t>
            </a:r>
          </a:p>
          <a:p>
            <a:endParaRPr lang="en-US" sz="2400" dirty="0"/>
          </a:p>
          <a:p>
            <a:r>
              <a:rPr lang="en-US" sz="2400" b="1" dirty="0" err="1"/>
              <a:t>Qt</a:t>
            </a:r>
            <a:r>
              <a:rPr lang="en-US" sz="2400" b="1" dirty="0"/>
              <a:t> Framework</a:t>
            </a:r>
            <a:r>
              <a:rPr lang="en-US" sz="2400" dirty="0"/>
              <a:t>:</a:t>
            </a:r>
          </a:p>
          <a:p>
            <a:r>
              <a:rPr lang="ru-RU" sz="2400" dirty="0" smtClean="0"/>
              <a:t>Официальный </a:t>
            </a:r>
            <a:r>
              <a:rPr lang="ru-RU" sz="2400" dirty="0"/>
              <a:t>сайт: </a:t>
            </a:r>
            <a:r>
              <a:rPr lang="en-US" sz="2400" dirty="0"/>
              <a:t>http://www.qt.io/</a:t>
            </a:r>
          </a:p>
          <a:p>
            <a:r>
              <a:rPr lang="ru-RU" sz="2400" dirty="0" smtClean="0"/>
              <a:t>Вики</a:t>
            </a:r>
            <a:r>
              <a:rPr lang="ru-RU" sz="2400" dirty="0"/>
              <a:t>: </a:t>
            </a:r>
            <a:r>
              <a:rPr lang="en-US" sz="2400" dirty="0"/>
              <a:t>https://ru.wikipedia.org/wiki/Qt</a:t>
            </a:r>
          </a:p>
          <a:p>
            <a:r>
              <a:rPr lang="ru-RU" sz="2400" dirty="0" smtClean="0"/>
              <a:t>Привязки</a:t>
            </a:r>
            <a:r>
              <a:rPr lang="ru-RU" sz="2400" dirty="0"/>
              <a:t>: </a:t>
            </a:r>
            <a:r>
              <a:rPr lang="en-US" sz="2400" dirty="0" err="1"/>
              <a:t>PySide</a:t>
            </a:r>
            <a:r>
              <a:rPr lang="en-US" sz="2400" dirty="0"/>
              <a:t> (</a:t>
            </a:r>
            <a:r>
              <a:rPr lang="ru-RU" sz="2400" dirty="0"/>
              <a:t>оф. сайт, вики) и </a:t>
            </a:r>
            <a:r>
              <a:rPr lang="en-US" sz="2400" dirty="0" err="1"/>
              <a:t>PyQt</a:t>
            </a:r>
            <a:r>
              <a:rPr lang="en-US" sz="2400" dirty="0"/>
              <a:t> (</a:t>
            </a:r>
            <a:r>
              <a:rPr lang="ru-RU" sz="2400" dirty="0"/>
              <a:t>оф. сайт, вики)</a:t>
            </a:r>
          </a:p>
        </p:txBody>
      </p:sp>
    </p:spTree>
    <p:extLst>
      <p:ext uri="{BB962C8B-B14F-4D97-AF65-F5344CB8AC3E}">
        <p14:creationId xmlns:p14="http://schemas.microsoft.com/office/powerpoint/2010/main" xmlns="" val="1276650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41540" y="28693"/>
            <a:ext cx="10593238" cy="143779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Настольные </a:t>
            </a:r>
            <a:r>
              <a:rPr lang="ru-RU" dirty="0" smtClean="0"/>
              <a:t>приложения</a:t>
            </a:r>
            <a:r>
              <a:rPr lang="en-US" dirty="0" smtClean="0"/>
              <a:t> – </a:t>
            </a:r>
            <a:r>
              <a:rPr lang="ru-RU" dirty="0" smtClean="0"/>
              <a:t>библиотеки для приложений с графическим интерфейсом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396814" y="1708031"/>
            <a:ext cx="7073661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GTK:</a:t>
            </a:r>
          </a:p>
          <a:p>
            <a:r>
              <a:rPr lang="ru-RU" sz="2400" dirty="0" smtClean="0"/>
              <a:t>Официальный </a:t>
            </a:r>
            <a:r>
              <a:rPr lang="ru-RU" sz="2400" dirty="0"/>
              <a:t>сайт: </a:t>
            </a:r>
            <a:r>
              <a:rPr lang="en-US" sz="2400" dirty="0"/>
              <a:t>http://www.gtk.org/</a:t>
            </a:r>
          </a:p>
          <a:p>
            <a:r>
              <a:rPr lang="ru-RU" sz="2400" dirty="0" smtClean="0"/>
              <a:t>Вики</a:t>
            </a:r>
            <a:r>
              <a:rPr lang="ru-RU" sz="2400" dirty="0"/>
              <a:t>: </a:t>
            </a:r>
            <a:r>
              <a:rPr lang="en-US" sz="2400" dirty="0"/>
              <a:t>https://ru.wikipedia.org/wiki/GTK</a:t>
            </a:r>
          </a:p>
          <a:p>
            <a:r>
              <a:rPr lang="ru-RU" sz="2400" dirty="0" smtClean="0"/>
              <a:t>Привязки</a:t>
            </a:r>
            <a:r>
              <a:rPr lang="ru-RU" sz="2400" dirty="0"/>
              <a:t>: </a:t>
            </a:r>
            <a:r>
              <a:rPr lang="en-US" sz="2400" dirty="0" err="1"/>
              <a:t>PyGTK</a:t>
            </a:r>
            <a:r>
              <a:rPr lang="en-US" sz="2400" dirty="0"/>
              <a:t> (</a:t>
            </a:r>
            <a:r>
              <a:rPr lang="ru-RU" sz="2400" dirty="0"/>
              <a:t>оф. сайт, вики)</a:t>
            </a:r>
          </a:p>
          <a:p>
            <a:endParaRPr lang="ru-RU" sz="2400" b="1" dirty="0"/>
          </a:p>
          <a:p>
            <a:r>
              <a:rPr lang="en-US" sz="2400" b="1" dirty="0" err="1"/>
              <a:t>wxWidgets</a:t>
            </a:r>
            <a:r>
              <a:rPr lang="en-US" sz="2400" b="1" dirty="0"/>
              <a:t>:</a:t>
            </a:r>
          </a:p>
          <a:p>
            <a:r>
              <a:rPr lang="ru-RU" sz="2400" dirty="0" smtClean="0"/>
              <a:t>Официальный </a:t>
            </a:r>
            <a:r>
              <a:rPr lang="ru-RU" sz="2400" dirty="0"/>
              <a:t>сайт: </a:t>
            </a:r>
            <a:r>
              <a:rPr lang="en-US" sz="2400" dirty="0"/>
              <a:t>https://www.wxwidgets.org/</a:t>
            </a:r>
          </a:p>
          <a:p>
            <a:r>
              <a:rPr lang="ru-RU" sz="2400" dirty="0" smtClean="0"/>
              <a:t>Вики</a:t>
            </a:r>
            <a:r>
              <a:rPr lang="ru-RU" sz="2400" dirty="0"/>
              <a:t>: </a:t>
            </a:r>
            <a:r>
              <a:rPr lang="en-US" sz="2400" dirty="0"/>
              <a:t>https://ru.wikipedia.org/wiki/WxWidgets</a:t>
            </a:r>
          </a:p>
          <a:p>
            <a:r>
              <a:rPr lang="ru-RU" sz="2400" dirty="0" smtClean="0"/>
              <a:t>Привязки</a:t>
            </a:r>
            <a:r>
              <a:rPr lang="ru-RU" sz="2400" dirty="0"/>
              <a:t>: </a:t>
            </a:r>
            <a:r>
              <a:rPr lang="en-US" sz="2400" dirty="0" err="1"/>
              <a:t>wxPython</a:t>
            </a:r>
            <a:r>
              <a:rPr lang="en-US" sz="2400" dirty="0"/>
              <a:t> (</a:t>
            </a:r>
            <a:r>
              <a:rPr lang="ru-RU" sz="2400" dirty="0"/>
              <a:t>оф. сайт, вики)</a:t>
            </a:r>
          </a:p>
          <a:p>
            <a:endParaRPr lang="ru-RU" sz="2400" b="1" dirty="0"/>
          </a:p>
          <a:p>
            <a:r>
              <a:rPr lang="en-US" sz="2400" b="1" dirty="0" err="1"/>
              <a:t>kivy</a:t>
            </a:r>
            <a:r>
              <a:rPr lang="en-US" sz="2400" b="1" dirty="0"/>
              <a:t>:</a:t>
            </a:r>
          </a:p>
          <a:p>
            <a:r>
              <a:rPr lang="ru-RU" sz="2400" dirty="0" smtClean="0"/>
              <a:t>Официальный </a:t>
            </a:r>
            <a:r>
              <a:rPr lang="ru-RU" sz="2400" dirty="0"/>
              <a:t>сайт: </a:t>
            </a:r>
            <a:r>
              <a:rPr lang="en-US" sz="2400" dirty="0"/>
              <a:t>https://kivy.org</a:t>
            </a:r>
            <a:r>
              <a:rPr lang="ru-RU" sz="2400" dirty="0" smtClean="0"/>
              <a:t>)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xmlns="" val="162610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41540" y="28693"/>
            <a:ext cx="10593238" cy="8512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Пакет </a:t>
            </a:r>
            <a:r>
              <a:rPr lang="en-US" dirty="0"/>
              <a:t>PyQt5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5313873" y="38794"/>
            <a:ext cx="244990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 smtClean="0"/>
              <a:t>Установка</a:t>
            </a:r>
            <a:r>
              <a:rPr lang="en-US" sz="2400" b="1" dirty="0" smtClean="0"/>
              <a:t>:</a:t>
            </a:r>
            <a:endParaRPr lang="en-US" sz="2400" b="1" dirty="0"/>
          </a:p>
          <a:p>
            <a:r>
              <a:rPr lang="en-US" sz="2400" dirty="0"/>
              <a:t>pip install </a:t>
            </a:r>
            <a:r>
              <a:rPr lang="en-US" sz="2400" dirty="0" smtClean="0"/>
              <a:t>PyQt5</a:t>
            </a:r>
            <a:endParaRPr lang="ru-RU" sz="2400" b="1" dirty="0"/>
          </a:p>
        </p:txBody>
      </p:sp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1759" y="852538"/>
            <a:ext cx="10206526" cy="5978108"/>
          </a:xfrm>
          <a:prstGeom prst="rect">
            <a:avLst/>
          </a:prstGeom>
        </p:spPr>
      </p:pic>
      <p:pic>
        <p:nvPicPr>
          <p:cNvPr id="6" name="Рисунок 5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969479" y="1077911"/>
            <a:ext cx="5727939" cy="2620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935156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41540" y="28693"/>
            <a:ext cx="10593238" cy="8512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Пакет </a:t>
            </a:r>
            <a:r>
              <a:rPr lang="en-US" dirty="0"/>
              <a:t>PyQt5</a:t>
            </a:r>
            <a:endParaRPr lang="ru-RU" dirty="0"/>
          </a:p>
        </p:txBody>
      </p:sp>
      <p:pic>
        <p:nvPicPr>
          <p:cNvPr id="7" name="Рисунок 6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41540" y="1029356"/>
            <a:ext cx="8756815" cy="4658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601818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41540" y="28693"/>
            <a:ext cx="10593238" cy="8512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Пакет </a:t>
            </a:r>
            <a:r>
              <a:rPr lang="en-US" dirty="0"/>
              <a:t>PyQt5</a:t>
            </a:r>
            <a:endParaRPr lang="ru-RU" dirty="0"/>
          </a:p>
        </p:txBody>
      </p:sp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69105" y="1216165"/>
            <a:ext cx="6018264" cy="4235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310089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41540" y="28694"/>
            <a:ext cx="10593238" cy="699848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Пакет </a:t>
            </a:r>
            <a:r>
              <a:rPr lang="en-US" dirty="0"/>
              <a:t>PyQt5</a:t>
            </a:r>
            <a:endParaRPr lang="ru-RU" dirty="0"/>
          </a:p>
        </p:txBody>
      </p:sp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41540" y="728541"/>
            <a:ext cx="5102440" cy="3619172"/>
          </a:xfrm>
          <a:prstGeom prst="rect">
            <a:avLst/>
          </a:prstGeom>
        </p:spPr>
      </p:pic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41540" y="4347713"/>
            <a:ext cx="10577365" cy="2018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573895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41540" y="28693"/>
            <a:ext cx="10593238" cy="8512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Пакет </a:t>
            </a:r>
            <a:r>
              <a:rPr lang="en-US" dirty="0"/>
              <a:t>PyQt5</a:t>
            </a:r>
            <a:endParaRPr lang="ru-RU" dirty="0"/>
          </a:p>
        </p:txBody>
      </p:sp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41539" y="879894"/>
            <a:ext cx="5543555" cy="491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687937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41540" y="28693"/>
            <a:ext cx="10593238" cy="8512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Пакет </a:t>
            </a:r>
            <a:r>
              <a:rPr lang="en-US" dirty="0"/>
              <a:t>PyQt5</a:t>
            </a:r>
            <a:endParaRPr lang="ru-RU" dirty="0"/>
          </a:p>
        </p:txBody>
      </p:sp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41540" y="879894"/>
            <a:ext cx="6987396" cy="5070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895205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18096</TotalTime>
  <Words>10097</Words>
  <Application>Microsoft Office PowerPoint</Application>
  <PresentationFormat>Произвольный</PresentationFormat>
  <Paragraphs>1863</Paragraphs>
  <Slides>219</Slides>
  <Notes>219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219</vt:i4>
      </vt:variant>
    </vt:vector>
  </HeadingPairs>
  <TitlesOfParts>
    <vt:vector size="220" baseType="lpstr">
      <vt:lpstr>Retrospect</vt:lpstr>
      <vt:lpstr> </vt:lpstr>
      <vt:lpstr>Модули, пакеты, стандартная библиотека. Визуализация данных</vt:lpstr>
      <vt:lpstr>Модули и пакеты</vt:lpstr>
      <vt:lpstr>Модули и пакеты</vt:lpstr>
      <vt:lpstr>Модули и пакеты</vt:lpstr>
      <vt:lpstr>Модули и пакеты - классификация</vt:lpstr>
      <vt:lpstr>Модули и пакеты - классификация</vt:lpstr>
      <vt:lpstr>Модули и пакеты - классификация</vt:lpstr>
      <vt:lpstr>Модули и пакеты - классификация</vt:lpstr>
      <vt:lpstr>Модули и пакеты - классификация</vt:lpstr>
      <vt:lpstr>Модули и пакеты - классификация</vt:lpstr>
      <vt:lpstr>Модули и пакеты – подключение  </vt:lpstr>
      <vt:lpstr>Модули – подключение</vt:lpstr>
      <vt:lpstr>Модули  – подключение</vt:lpstr>
      <vt:lpstr>Пакеты – подключение</vt:lpstr>
      <vt:lpstr>Слайд 16</vt:lpstr>
      <vt:lpstr>Слайд 17</vt:lpstr>
      <vt:lpstr>Слайд 18</vt:lpstr>
      <vt:lpstr>Слайд 19</vt:lpstr>
      <vt:lpstr>Слайд 20</vt:lpstr>
      <vt:lpstr>Слайд 21</vt:lpstr>
      <vt:lpstr>Слайд 22</vt:lpstr>
      <vt:lpstr>Слайд 23</vt:lpstr>
      <vt:lpstr>Слайд 24</vt:lpstr>
      <vt:lpstr>Слайд 25</vt:lpstr>
      <vt:lpstr>Слайд 26</vt:lpstr>
      <vt:lpstr>Слайд 27</vt:lpstr>
      <vt:lpstr>Слайд 28</vt:lpstr>
      <vt:lpstr>Слайд 29</vt:lpstr>
      <vt:lpstr>Слайд 30</vt:lpstr>
      <vt:lpstr>Слайд 31</vt:lpstr>
      <vt:lpstr>Слайд 32</vt:lpstr>
      <vt:lpstr>Слайд 33</vt:lpstr>
      <vt:lpstr>Слайд 34</vt:lpstr>
      <vt:lpstr>Слайд 35</vt:lpstr>
      <vt:lpstr>Слайд 36</vt:lpstr>
      <vt:lpstr>Слайд 37</vt:lpstr>
      <vt:lpstr>Слайд 38</vt:lpstr>
      <vt:lpstr>Слайд 39</vt:lpstr>
      <vt:lpstr>Слайд 40</vt:lpstr>
      <vt:lpstr>Слайд 41</vt:lpstr>
      <vt:lpstr>Слайд 42</vt:lpstr>
      <vt:lpstr>Слайд 43</vt:lpstr>
      <vt:lpstr>Слайд 44</vt:lpstr>
      <vt:lpstr>Слайд 45</vt:lpstr>
      <vt:lpstr>Слайд 46</vt:lpstr>
      <vt:lpstr>Слайд 47</vt:lpstr>
      <vt:lpstr>Слайд 48</vt:lpstr>
      <vt:lpstr>Слайд 49</vt:lpstr>
      <vt:lpstr>Слайд 50</vt:lpstr>
      <vt:lpstr>Слайд 51</vt:lpstr>
      <vt:lpstr>Слайд 52</vt:lpstr>
      <vt:lpstr>Слайд 53</vt:lpstr>
      <vt:lpstr>Слайд 54</vt:lpstr>
      <vt:lpstr>Слайд 55</vt:lpstr>
      <vt:lpstr>Слайд 56</vt:lpstr>
      <vt:lpstr>Слайд 57</vt:lpstr>
      <vt:lpstr>Слайд 58</vt:lpstr>
      <vt:lpstr>Слайд 59</vt:lpstr>
      <vt:lpstr>Слайд 60</vt:lpstr>
      <vt:lpstr>Слайд 61</vt:lpstr>
      <vt:lpstr>Слайд 62</vt:lpstr>
      <vt:lpstr>Слайд 63</vt:lpstr>
      <vt:lpstr>Слайд 64</vt:lpstr>
      <vt:lpstr>Слайд 65</vt:lpstr>
      <vt:lpstr>Слайд 66</vt:lpstr>
      <vt:lpstr>Слайд 67</vt:lpstr>
      <vt:lpstr>Слайд 68</vt:lpstr>
      <vt:lpstr>Слайд 69</vt:lpstr>
      <vt:lpstr>Слайд 70</vt:lpstr>
      <vt:lpstr>Слайд 71</vt:lpstr>
      <vt:lpstr>Слайд 72</vt:lpstr>
      <vt:lpstr>Слайд 73</vt:lpstr>
      <vt:lpstr>Слайд 74</vt:lpstr>
      <vt:lpstr>Слайд 75</vt:lpstr>
      <vt:lpstr>Слайд 76</vt:lpstr>
      <vt:lpstr>Слайд 77</vt:lpstr>
      <vt:lpstr>Слайд 78</vt:lpstr>
      <vt:lpstr>Слайд 79</vt:lpstr>
      <vt:lpstr>Слайд 80</vt:lpstr>
      <vt:lpstr>Слайд 81</vt:lpstr>
      <vt:lpstr>Слайд 82</vt:lpstr>
      <vt:lpstr>Слайд 83</vt:lpstr>
      <vt:lpstr>Слайд 84</vt:lpstr>
      <vt:lpstr>Слайд 85</vt:lpstr>
      <vt:lpstr>Слайд 86</vt:lpstr>
      <vt:lpstr>Слайд 87</vt:lpstr>
      <vt:lpstr>Слайд 88</vt:lpstr>
      <vt:lpstr>Слайд 89</vt:lpstr>
      <vt:lpstr>Слайд 90</vt:lpstr>
      <vt:lpstr>Слайд 91</vt:lpstr>
      <vt:lpstr>Слайд 92</vt:lpstr>
      <vt:lpstr>Слайд 93</vt:lpstr>
      <vt:lpstr>Слайд 94</vt:lpstr>
      <vt:lpstr>Слайд 95</vt:lpstr>
      <vt:lpstr>Слайд 96</vt:lpstr>
      <vt:lpstr>Слайд 97</vt:lpstr>
      <vt:lpstr>Слайд 98</vt:lpstr>
      <vt:lpstr>Слайд 99</vt:lpstr>
      <vt:lpstr>Слайд 100</vt:lpstr>
      <vt:lpstr>Слайд 101</vt:lpstr>
      <vt:lpstr>Слайд 102</vt:lpstr>
      <vt:lpstr>Слайд 103</vt:lpstr>
      <vt:lpstr>Слайд 104</vt:lpstr>
      <vt:lpstr>Слайд 105</vt:lpstr>
      <vt:lpstr>Слайд 106</vt:lpstr>
      <vt:lpstr>Слайд 107</vt:lpstr>
      <vt:lpstr>Слайд 108</vt:lpstr>
      <vt:lpstr>Слайд 109</vt:lpstr>
      <vt:lpstr>Слайд 110</vt:lpstr>
      <vt:lpstr>Слайд 111</vt:lpstr>
      <vt:lpstr>Слайд 112</vt:lpstr>
      <vt:lpstr>Слайд 113</vt:lpstr>
      <vt:lpstr>Слайд 114</vt:lpstr>
      <vt:lpstr>Слайд 115</vt:lpstr>
      <vt:lpstr>Слайд 116</vt:lpstr>
      <vt:lpstr>Слайд 117</vt:lpstr>
      <vt:lpstr>Слайд 118</vt:lpstr>
      <vt:lpstr>Слайд 119</vt:lpstr>
      <vt:lpstr>Слайд 120</vt:lpstr>
      <vt:lpstr>Слайд 121</vt:lpstr>
      <vt:lpstr>Слайд 122</vt:lpstr>
      <vt:lpstr>Слайд 123</vt:lpstr>
      <vt:lpstr>Слайд 124</vt:lpstr>
      <vt:lpstr>Слайд 125</vt:lpstr>
      <vt:lpstr>Слайд 126</vt:lpstr>
      <vt:lpstr>Слайд 127</vt:lpstr>
      <vt:lpstr>Слайд 128</vt:lpstr>
      <vt:lpstr>Слайд 129</vt:lpstr>
      <vt:lpstr>Слайд 130</vt:lpstr>
      <vt:lpstr>Слайд 131</vt:lpstr>
      <vt:lpstr>Слайд 132</vt:lpstr>
      <vt:lpstr>Слайд 133</vt:lpstr>
      <vt:lpstr>Слайд 134</vt:lpstr>
      <vt:lpstr>Слайд 135</vt:lpstr>
      <vt:lpstr>Слайд 136</vt:lpstr>
      <vt:lpstr>Слайд 137</vt:lpstr>
      <vt:lpstr>Слайд 138</vt:lpstr>
      <vt:lpstr>Слайд 139</vt:lpstr>
      <vt:lpstr>Слайд 140</vt:lpstr>
      <vt:lpstr>Слайд 141</vt:lpstr>
      <vt:lpstr>Слайд 142</vt:lpstr>
      <vt:lpstr>Слайд 143</vt:lpstr>
      <vt:lpstr>Слайд 144</vt:lpstr>
      <vt:lpstr>Слайд 145</vt:lpstr>
      <vt:lpstr>Слайд 146</vt:lpstr>
      <vt:lpstr>Слайд 147</vt:lpstr>
      <vt:lpstr>Слайд 148</vt:lpstr>
      <vt:lpstr>Слайд 149</vt:lpstr>
      <vt:lpstr>Слайд 150</vt:lpstr>
      <vt:lpstr>Слайд 151</vt:lpstr>
      <vt:lpstr>Слайд 152</vt:lpstr>
      <vt:lpstr>Слайд 153</vt:lpstr>
      <vt:lpstr>Слайд 154</vt:lpstr>
      <vt:lpstr>Слайд 155</vt:lpstr>
      <vt:lpstr>Слайд 156</vt:lpstr>
      <vt:lpstr>Слайд 157</vt:lpstr>
      <vt:lpstr>Слайд 158</vt:lpstr>
      <vt:lpstr>Слайд 159</vt:lpstr>
      <vt:lpstr>Слайд 160</vt:lpstr>
      <vt:lpstr>Слайд 161</vt:lpstr>
      <vt:lpstr>Слайд 162</vt:lpstr>
      <vt:lpstr>Слайд 163</vt:lpstr>
      <vt:lpstr>Слайд 164</vt:lpstr>
      <vt:lpstr>Слайд 165</vt:lpstr>
      <vt:lpstr>Слайд 166</vt:lpstr>
      <vt:lpstr>Слайд 167</vt:lpstr>
      <vt:lpstr>Слайд 168</vt:lpstr>
      <vt:lpstr>Слайд 169</vt:lpstr>
      <vt:lpstr>Слайд 170</vt:lpstr>
      <vt:lpstr>Слайд 171</vt:lpstr>
      <vt:lpstr>Слайд 172</vt:lpstr>
      <vt:lpstr>Слайд 173</vt:lpstr>
      <vt:lpstr>Слайд 174</vt:lpstr>
      <vt:lpstr>Слайд 175</vt:lpstr>
      <vt:lpstr>Слайд 176</vt:lpstr>
      <vt:lpstr>Слайд 177</vt:lpstr>
      <vt:lpstr>Слайд 178</vt:lpstr>
      <vt:lpstr>Слайд 179</vt:lpstr>
      <vt:lpstr>Слайд 180</vt:lpstr>
      <vt:lpstr>Слайд 181</vt:lpstr>
      <vt:lpstr>Слайд 182</vt:lpstr>
      <vt:lpstr>Слайд 183</vt:lpstr>
      <vt:lpstr>Слайд 184</vt:lpstr>
      <vt:lpstr>Слайд 185</vt:lpstr>
      <vt:lpstr>Слайд 186</vt:lpstr>
      <vt:lpstr>Слайд 187</vt:lpstr>
      <vt:lpstr>Слайд 188</vt:lpstr>
      <vt:lpstr>Слайд 189</vt:lpstr>
      <vt:lpstr>Слайд 190</vt:lpstr>
      <vt:lpstr>Слайд 191</vt:lpstr>
      <vt:lpstr>Слайд 192</vt:lpstr>
      <vt:lpstr>Слайд 193</vt:lpstr>
      <vt:lpstr>Слайд 194</vt:lpstr>
      <vt:lpstr>Слайд 195</vt:lpstr>
      <vt:lpstr>Слайд 196</vt:lpstr>
      <vt:lpstr>Слайд 197</vt:lpstr>
      <vt:lpstr>Слайд 198</vt:lpstr>
      <vt:lpstr>Слайд 199</vt:lpstr>
      <vt:lpstr>Слайд 200</vt:lpstr>
      <vt:lpstr>Слайд 201</vt:lpstr>
      <vt:lpstr>Слайд 202</vt:lpstr>
      <vt:lpstr>Слайд 203</vt:lpstr>
      <vt:lpstr>Слайд 204</vt:lpstr>
      <vt:lpstr>Слайд 205</vt:lpstr>
      <vt:lpstr>Слайд 206</vt:lpstr>
      <vt:lpstr>Слайд 207</vt:lpstr>
      <vt:lpstr>Слайд 208</vt:lpstr>
      <vt:lpstr>Слайд 209</vt:lpstr>
      <vt:lpstr>Слайд 210</vt:lpstr>
      <vt:lpstr>Слайд 211</vt:lpstr>
      <vt:lpstr>Слайд 212</vt:lpstr>
      <vt:lpstr>Слайд 213</vt:lpstr>
      <vt:lpstr>Слайд 214</vt:lpstr>
      <vt:lpstr>Слайд 215</vt:lpstr>
      <vt:lpstr>Слайд 216</vt:lpstr>
      <vt:lpstr>Слайд 217</vt:lpstr>
      <vt:lpstr>Слайд 218</vt:lpstr>
      <vt:lpstr>Слайд 219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Zhvakina</dc:creator>
  <cp:lastModifiedBy>Жека</cp:lastModifiedBy>
  <cp:revision>831</cp:revision>
  <cp:lastPrinted>2016-01-26T13:20:45Z</cp:lastPrinted>
  <dcterms:created xsi:type="dcterms:W3CDTF">2015-03-09T11:51:14Z</dcterms:created>
  <dcterms:modified xsi:type="dcterms:W3CDTF">2026-05-28T02:42:06Z</dcterms:modified>
</cp:coreProperties>
</file>