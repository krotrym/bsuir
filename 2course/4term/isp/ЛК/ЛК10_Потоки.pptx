
<file path=[Content_Types].xml><?xml version="1.0" encoding="utf-8"?>
<Types xmlns="http://schemas.openxmlformats.org/package/2006/content-types">
  <Default Extension="emf" ContentType="image/x-emf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1" r:id="rId1"/>
  </p:sldMasterIdLst>
  <p:notesMasterIdLst>
    <p:notesMasterId r:id="rId72"/>
  </p:notesMasterIdLst>
  <p:handoutMasterIdLst>
    <p:handoutMasterId r:id="rId73"/>
  </p:handoutMasterIdLst>
  <p:sldIdLst>
    <p:sldId id="391" r:id="rId2"/>
    <p:sldId id="404" r:id="rId3"/>
    <p:sldId id="403" r:id="rId4"/>
    <p:sldId id="405" r:id="rId5"/>
    <p:sldId id="407" r:id="rId6"/>
    <p:sldId id="409" r:id="rId7"/>
    <p:sldId id="408" r:id="rId8"/>
    <p:sldId id="410" r:id="rId9"/>
    <p:sldId id="411" r:id="rId10"/>
    <p:sldId id="412" r:id="rId11"/>
    <p:sldId id="413" r:id="rId12"/>
    <p:sldId id="414" r:id="rId13"/>
    <p:sldId id="415" r:id="rId14"/>
    <p:sldId id="416" r:id="rId15"/>
    <p:sldId id="418" r:id="rId16"/>
    <p:sldId id="419" r:id="rId17"/>
    <p:sldId id="422" r:id="rId18"/>
    <p:sldId id="417" r:id="rId19"/>
    <p:sldId id="423" r:id="rId20"/>
    <p:sldId id="424" r:id="rId21"/>
    <p:sldId id="425" r:id="rId22"/>
    <p:sldId id="420" r:id="rId23"/>
    <p:sldId id="421" r:id="rId24"/>
    <p:sldId id="426" r:id="rId25"/>
    <p:sldId id="427" r:id="rId26"/>
    <p:sldId id="428" r:id="rId27"/>
    <p:sldId id="429" r:id="rId28"/>
    <p:sldId id="430" r:id="rId29"/>
    <p:sldId id="431" r:id="rId30"/>
    <p:sldId id="432" r:id="rId31"/>
    <p:sldId id="433" r:id="rId32"/>
    <p:sldId id="434" r:id="rId33"/>
    <p:sldId id="435" r:id="rId34"/>
    <p:sldId id="436" r:id="rId35"/>
    <p:sldId id="437" r:id="rId36"/>
    <p:sldId id="438" r:id="rId37"/>
    <p:sldId id="439" r:id="rId38"/>
    <p:sldId id="440" r:id="rId39"/>
    <p:sldId id="441" r:id="rId40"/>
    <p:sldId id="442" r:id="rId41"/>
    <p:sldId id="444" r:id="rId42"/>
    <p:sldId id="443" r:id="rId43"/>
    <p:sldId id="445" r:id="rId44"/>
    <p:sldId id="446" r:id="rId45"/>
    <p:sldId id="448" r:id="rId46"/>
    <p:sldId id="447" r:id="rId47"/>
    <p:sldId id="449" r:id="rId48"/>
    <p:sldId id="450" r:id="rId49"/>
    <p:sldId id="451" r:id="rId50"/>
    <p:sldId id="452" r:id="rId51"/>
    <p:sldId id="453" r:id="rId52"/>
    <p:sldId id="454" r:id="rId53"/>
    <p:sldId id="455" r:id="rId54"/>
    <p:sldId id="456" r:id="rId55"/>
    <p:sldId id="471" r:id="rId56"/>
    <p:sldId id="472" r:id="rId57"/>
    <p:sldId id="457" r:id="rId58"/>
    <p:sldId id="458" r:id="rId59"/>
    <p:sldId id="459" r:id="rId60"/>
    <p:sldId id="460" r:id="rId61"/>
    <p:sldId id="461" r:id="rId62"/>
    <p:sldId id="462" r:id="rId63"/>
    <p:sldId id="463" r:id="rId64"/>
    <p:sldId id="469" r:id="rId65"/>
    <p:sldId id="470" r:id="rId66"/>
    <p:sldId id="464" r:id="rId67"/>
    <p:sldId id="465" r:id="rId68"/>
    <p:sldId id="466" r:id="rId69"/>
    <p:sldId id="467" r:id="rId70"/>
    <p:sldId id="468" r:id="rId71"/>
  </p:sldIdLst>
  <p:sldSz cx="12192000" cy="6858000"/>
  <p:notesSz cx="6858000" cy="9144000"/>
  <p:embeddedFontLst>
    <p:embeddedFont>
      <p:font typeface="Calibri" panose="020F0502020204030204" pitchFamily="34" charset="0"/>
      <p:regular r:id="rId74"/>
      <p:bold r:id="rId75"/>
      <p:italic r:id="rId76"/>
      <p:boldItalic r:id="rId77"/>
    </p:embeddedFont>
    <p:embeddedFont>
      <p:font typeface="Consolas" panose="020B0609020204030204" pitchFamily="49" charset="0"/>
      <p:regular r:id="rId78"/>
      <p:bold r:id="rId79"/>
      <p:italic r:id="rId80"/>
      <p:boldItalic r:id="rId81"/>
    </p:embeddedFont>
    <p:embeddedFont>
      <p:font typeface="Cascadia Mono" panose="020B0609020000020004" pitchFamily="49" charset="0"/>
      <p:regular r:id="rId82"/>
      <p:bold r:id="rId83"/>
      <p:italic r:id="rId84"/>
      <p:boldItalic r:id="rId85"/>
    </p:embeddedFont>
    <p:embeddedFont>
      <p:font typeface="Calibri Light" panose="020F0302020204030204" pitchFamily="34" charset="0"/>
      <p:regular r:id="rId86"/>
      <p:italic r:id="rId8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Igor Glamazdin" initials="IG" lastIdx="1" clrIdx="0">
    <p:extLst>
      <p:ext uri="{19B8F6BF-5375-455C-9EA6-DF929625EA0E}">
        <p15:presenceInfo xmlns:p15="http://schemas.microsoft.com/office/powerpoint/2012/main" userId="93344bf745a1c414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B91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1400" autoAdjust="0"/>
  </p:normalViewPr>
  <p:slideViewPr>
    <p:cSldViewPr snapToGrid="0">
      <p:cViewPr varScale="1">
        <p:scale>
          <a:sx n="87" d="100"/>
          <a:sy n="87" d="100"/>
        </p:scale>
        <p:origin x="52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3134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font" Target="fonts/font11.fntdata"/><Relationship Id="rId89" Type="http://schemas.openxmlformats.org/officeDocument/2006/relationships/presProps" Target="pres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font" Target="fonts/font1.fntdata"/><Relationship Id="rId79" Type="http://schemas.openxmlformats.org/officeDocument/2006/relationships/font" Target="fonts/font6.fntdata"/><Relationship Id="rId5" Type="http://schemas.openxmlformats.org/officeDocument/2006/relationships/slide" Target="slides/slide4.xml"/><Relationship Id="rId90" Type="http://schemas.openxmlformats.org/officeDocument/2006/relationships/viewProps" Target="viewProps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font" Target="fonts/font4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notesMaster" Target="notesMasters/notesMaster1.xml"/><Relationship Id="rId80" Type="http://schemas.openxmlformats.org/officeDocument/2006/relationships/font" Target="fonts/font7.fntdata"/><Relationship Id="rId85" Type="http://schemas.openxmlformats.org/officeDocument/2006/relationships/font" Target="fonts/font12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font" Target="fonts/font2.fntdata"/><Relationship Id="rId83" Type="http://schemas.openxmlformats.org/officeDocument/2006/relationships/font" Target="fonts/font10.fntdata"/><Relationship Id="rId88" Type="http://schemas.openxmlformats.org/officeDocument/2006/relationships/commentAuthors" Target="commentAuthors.xml"/><Relationship Id="rId9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handoutMaster" Target="handoutMasters/handoutMaster1.xml"/><Relationship Id="rId78" Type="http://schemas.openxmlformats.org/officeDocument/2006/relationships/font" Target="fonts/font5.fntdata"/><Relationship Id="rId81" Type="http://schemas.openxmlformats.org/officeDocument/2006/relationships/font" Target="fonts/font8.fntdata"/><Relationship Id="rId86" Type="http://schemas.openxmlformats.org/officeDocument/2006/relationships/font" Target="fonts/font1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font" Target="fonts/font3.fntdata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tableStyles" Target="tableStyles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font" Target="fonts/font14.fntdata"/><Relationship Id="rId61" Type="http://schemas.openxmlformats.org/officeDocument/2006/relationships/slide" Target="slides/slide60.xml"/><Relationship Id="rId82" Type="http://schemas.openxmlformats.org/officeDocument/2006/relationships/font" Target="fonts/font9.fntdata"/><Relationship Id="rId19" Type="http://schemas.openxmlformats.org/officeDocument/2006/relationships/slide" Target="slides/slide1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DAEC2F-30E4-483B-B6DF-0FD7CF7AB987}" type="datetimeFigureOut">
              <a:rPr lang="en-US" smtClean="0"/>
              <a:t>12/3/2024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7E9889-9D32-47FF-9B25-89B1BA4014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503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3" name="Google Shape;1293;p13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4" name="Google Shape;1294;p1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3200" cap="all" spc="200" baseline="0">
                <a:solidFill>
                  <a:schemeClr val="tx1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smtClean="0"/>
              <a:t>Кафедра информатики</a:t>
            </a:r>
            <a:endParaRPr lang="ru-RU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Гламаздин И.И.</a:t>
            </a:r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125626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6948" y="286604"/>
            <a:ext cx="11788726" cy="920502"/>
          </a:xfrm>
        </p:spPr>
        <p:txBody>
          <a:bodyPr/>
          <a:lstStyle>
            <a:lvl1pPr marL="0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6948" y="1420837"/>
            <a:ext cx="11788726" cy="4825217"/>
          </a:xfrm>
        </p:spPr>
        <p:txBody>
          <a:bodyPr/>
          <a:lstStyle>
            <a:lvl1pPr>
              <a:buClrTx/>
              <a:defRPr>
                <a:solidFill>
                  <a:schemeClr val="tx1"/>
                </a:solidFill>
              </a:defRPr>
            </a:lvl1pPr>
            <a:lvl2pPr marL="0" indent="-360000">
              <a:buClrTx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</a:defRPr>
            </a:lvl2pPr>
          </a:lstStyle>
          <a:p>
            <a:pPr lvl="0"/>
            <a:r>
              <a:rPr lang="en-US" dirty="0" smtClean="0"/>
              <a:t>Edit Master text styles</a:t>
            </a:r>
          </a:p>
          <a:p>
            <a:pPr lvl="1"/>
            <a:r>
              <a:rPr lang="en-US" dirty="0" smtClean="0"/>
              <a:t>Second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smtClean="0"/>
              <a:t>Кафедра информатики</a:t>
            </a:r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 smtClean="0"/>
              <a:t>Гламаздин И.И.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966631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54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3200" cap="all" spc="20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smtClean="0"/>
              <a:t>Кафедра информатики</a:t>
            </a:r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Гламаздин И.И.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6031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smtClean="0"/>
              <a:t>Кафедра информатики</a:t>
            </a:r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Гламаздин И.И.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3776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smtClean="0"/>
              <a:t>Кафедра информатики</a:t>
            </a:r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Гламаздин И.И.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961939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smtClean="0"/>
              <a:t>Кафедра информатики</a:t>
            </a:r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 smtClean="0"/>
              <a:t>Гламаздин И.И.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03771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smtClean="0"/>
              <a:t>Кафедра информатики</a:t>
            </a:r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ru-RU" smtClean="0"/>
              <a:t>Гламаздин И.И.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157995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r>
              <a:rPr lang="ru-RU" smtClean="0"/>
              <a:t>Кафедра информатики</a:t>
            </a:r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ru-RU" smtClean="0"/>
              <a:t>Гламаздин И.И.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808632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smtClean="0"/>
              <a:t>Кафедра информатики</a:t>
            </a:r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Гламаздин И.И.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46489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smtClean="0"/>
              <a:t>Кафедра информатики</a:t>
            </a:r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Гламаздин И.И.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940211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smtClean="0"/>
              <a:t>Кафедра информатики</a:t>
            </a:r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Гламаздин И.И.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70723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5082" y="286603"/>
            <a:ext cx="11746523" cy="98601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5082" y="1390593"/>
            <a:ext cx="11746523" cy="4884738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 smtClean="0"/>
              <a:t>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r>
              <a:rPr lang="ru-RU" smtClean="0"/>
              <a:t>Кафедра информатики</a:t>
            </a:r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r>
              <a:rPr lang="ru-RU" smtClean="0"/>
              <a:t>Гламаздин И.И.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‹#›</a:t>
            </a:fld>
            <a:endParaRPr lang="ru-RU"/>
          </a:p>
        </p:txBody>
      </p:sp>
      <p:cxnSp>
        <p:nvCxnSpPr>
          <p:cNvPr id="10" name="Straight Connector 9"/>
          <p:cNvCxnSpPr/>
          <p:nvPr/>
        </p:nvCxnSpPr>
        <p:spPr>
          <a:xfrm flipV="1">
            <a:off x="0" y="1320776"/>
            <a:ext cx="12222480" cy="10831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48782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hdr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0" indent="0" algn="just" defTabSz="914400" rtl="0" eaLnBrk="1" latinLnBrk="0" hangingPunct="1">
        <a:lnSpc>
          <a:spcPct val="90000"/>
        </a:lnSpc>
        <a:spcBef>
          <a:spcPts val="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3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0" indent="-360000" algn="just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>
          <a:schemeClr val="accent1"/>
        </a:buClr>
        <a:buFont typeface="Calibri" pitchFamily="34" charset="0"/>
        <a:buChar char="◦"/>
        <a:defRPr sz="3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6" name="Google Shape;1296;p149"/>
          <p:cNvSpPr txBox="1">
            <a:spLocks noGrp="1"/>
          </p:cNvSpPr>
          <p:nvPr>
            <p:ph type="ctrTitle"/>
          </p:nvPr>
        </p:nvSpPr>
        <p:spPr>
          <a:xfrm>
            <a:off x="1210491" y="2130426"/>
            <a:ext cx="9840685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alibri"/>
              <a:buNone/>
            </a:pPr>
            <a:r>
              <a:rPr lang="ru-RU" sz="5400" b="1" dirty="0" smtClean="0"/>
              <a:t>Основы многопоточного программирования</a:t>
            </a:r>
            <a:endParaRPr dirty="0"/>
          </a:p>
        </p:txBody>
      </p:sp>
      <p:sp>
        <p:nvSpPr>
          <p:cNvPr id="1297" name="Google Shape;1297;p149"/>
          <p:cNvSpPr txBox="1">
            <a:spLocks noGrp="1"/>
          </p:cNvSpPr>
          <p:nvPr>
            <p:ph type="subTitle" idx="1"/>
          </p:nvPr>
        </p:nvSpPr>
        <p:spPr>
          <a:xfrm>
            <a:off x="2895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ru-RU" sz="2800" b="0" i="0" u="none" strike="noStrike" cap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dirty="0"/>
          </a:p>
        </p:txBody>
      </p:sp>
      <p:sp>
        <p:nvSpPr>
          <p:cNvPr id="1299" name="Google Shape;1299;p149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1</a:t>
            </a:fld>
            <a:endParaRPr/>
          </a:p>
        </p:txBody>
      </p:sp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smtClean="0"/>
              <a:t>Кафедра информатики</a:t>
            </a:r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Гламаздин И.И.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Потоки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Общая информация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2</a:t>
            </a:fld>
            <a:endParaRPr lang="ru-RU"/>
          </a:p>
        </p:txBody>
      </p:sp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smtClean="0"/>
              <a:t>Кафедра информатики</a:t>
            </a:r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Гламаздин И.И.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479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Общая информация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ClrTx/>
              <a:buNone/>
            </a:pPr>
            <a:r>
              <a:rPr lang="ru-RU" sz="4000" b="1" dirty="0"/>
              <a:t>Пото́к выполне́ния</a:t>
            </a:r>
            <a:r>
              <a:rPr lang="ru-RU" sz="4000" dirty="0"/>
              <a:t> </a:t>
            </a:r>
            <a:r>
              <a:rPr lang="ru-RU" sz="4000" dirty="0" smtClean="0"/>
              <a:t>(англ</a:t>
            </a:r>
            <a:r>
              <a:rPr lang="ru-RU" sz="4000" dirty="0"/>
              <a:t>. </a:t>
            </a:r>
            <a:r>
              <a:rPr lang="ru-RU" sz="4000" i="1" dirty="0"/>
              <a:t>thread</a:t>
            </a:r>
            <a:r>
              <a:rPr lang="ru-RU" sz="4000" dirty="0"/>
              <a:t> — нить) — наименьшая единица обработки, исполнение которой может быть назначено ядром операционной системы.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3</a:t>
            </a:fld>
            <a:endParaRPr lang="ru-RU"/>
          </a:p>
        </p:txBody>
      </p:sp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smtClean="0"/>
              <a:t>Кафедра информатики</a:t>
            </a:r>
            <a:endParaRPr lang="ru-RU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Гламаздин И.И.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05792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Общая информация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ClrTx/>
              <a:buNone/>
            </a:pPr>
            <a:r>
              <a:rPr lang="ru-RU" dirty="0" smtClean="0"/>
              <a:t>Поток </a:t>
            </a:r>
            <a:r>
              <a:rPr lang="ru-RU" dirty="0"/>
              <a:t>выполнения находится внутри процесса. </a:t>
            </a:r>
            <a:endParaRPr lang="ru-RU" dirty="0" smtClean="0"/>
          </a:p>
          <a:p>
            <a:pPr>
              <a:buClrTx/>
              <a:buNone/>
            </a:pPr>
            <a:endParaRPr lang="ru-RU" dirty="0" smtClean="0"/>
          </a:p>
          <a:p>
            <a:pPr>
              <a:buClrTx/>
              <a:buNone/>
            </a:pPr>
            <a:r>
              <a:rPr lang="ru-RU" dirty="0" smtClean="0"/>
              <a:t>Несколько </a:t>
            </a:r>
            <a:r>
              <a:rPr lang="ru-RU" dirty="0"/>
              <a:t>потоков выполнения могут существовать в рамках одного и того же процесса и </a:t>
            </a:r>
            <a:r>
              <a:rPr lang="ru-RU" b="1" i="1" dirty="0"/>
              <a:t>совместно использовать ресурсы</a:t>
            </a:r>
            <a:r>
              <a:rPr lang="ru-RU" dirty="0"/>
              <a:t>, такие как память, тогда как процессы не разделяют этих ресурсов.</a:t>
            </a:r>
            <a:endParaRPr lang="ru-RU" sz="4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4</a:t>
            </a:fld>
            <a:endParaRPr lang="ru-RU"/>
          </a:p>
        </p:txBody>
      </p:sp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smtClean="0"/>
              <a:t>Кафедра информатики</a:t>
            </a:r>
            <a:endParaRPr lang="ru-RU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Гламаздин И.И.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83520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Общая информация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ClrTx/>
              <a:buNone/>
            </a:pPr>
            <a:r>
              <a:rPr lang="ru-RU" dirty="0" smtClean="0"/>
              <a:t>Процесс содержит как минимум один (первичный) поток.</a:t>
            </a:r>
            <a:endParaRPr lang="ru-RU" sz="4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5</a:t>
            </a:fld>
            <a:endParaRPr lang="ru-RU"/>
          </a:p>
        </p:txBody>
      </p:sp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smtClean="0"/>
              <a:t>Кафедра информатики</a:t>
            </a:r>
            <a:endParaRPr lang="ru-RU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Гламаздин И.И.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13942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Общая информация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71500" indent="-571500">
              <a:buClrTx/>
              <a:buFont typeface="Wingdings" panose="05000000000000000000" pitchFamily="2" charset="2"/>
              <a:buChar char="q"/>
            </a:pPr>
            <a:r>
              <a:rPr lang="ru-RU" dirty="0"/>
              <a:t>Создание потоков требует от ОС меньших накладных расходов, чем процессов. </a:t>
            </a:r>
            <a:endParaRPr lang="ru-RU" dirty="0" smtClean="0"/>
          </a:p>
          <a:p>
            <a:pPr marL="571500" indent="-571500">
              <a:buClrTx/>
              <a:buFont typeface="Wingdings" panose="05000000000000000000" pitchFamily="2" charset="2"/>
              <a:buChar char="q"/>
            </a:pPr>
            <a:r>
              <a:rPr lang="ru-RU" dirty="0" smtClean="0"/>
              <a:t>В </a:t>
            </a:r>
            <a:r>
              <a:rPr lang="ru-RU" dirty="0"/>
              <a:t>отличие от процессов</a:t>
            </a:r>
            <a:r>
              <a:rPr lang="ru-RU" dirty="0" smtClean="0"/>
              <a:t>, </a:t>
            </a:r>
            <a:r>
              <a:rPr lang="ru-RU" dirty="0"/>
              <a:t>все потоки одного процесса всегда принадлежат одному приложению, поэтому ОС изолирует потоки в гораздо меньшей степени, нежели процессы в традиционной мультипрограммной системе. </a:t>
            </a:r>
            <a:endParaRPr lang="ru-RU" dirty="0" smtClean="0"/>
          </a:p>
          <a:p>
            <a:pPr marL="571500" indent="-571500">
              <a:buClrTx/>
              <a:buFont typeface="Wingdings" panose="05000000000000000000" pitchFamily="2" charset="2"/>
              <a:buChar char="q"/>
            </a:pPr>
            <a:r>
              <a:rPr lang="ru-RU" dirty="0" smtClean="0"/>
              <a:t>Все </a:t>
            </a:r>
            <a:r>
              <a:rPr lang="ru-RU" dirty="0"/>
              <a:t>потоки одного про­цесса используют общие файлы, таймеры, устройства, </a:t>
            </a:r>
            <a:r>
              <a:rPr lang="ru-RU" dirty="0" smtClean="0"/>
              <a:t>одно </a:t>
            </a:r>
            <a:r>
              <a:rPr lang="ru-RU" dirty="0"/>
              <a:t>и то же адресное пространство </a:t>
            </a:r>
            <a:endParaRPr lang="ru-RU" sz="4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6</a:t>
            </a:fld>
            <a:endParaRPr lang="ru-RU"/>
          </a:p>
        </p:txBody>
      </p:sp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smtClean="0"/>
              <a:t>Кафедра информатики</a:t>
            </a:r>
            <a:endParaRPr lang="ru-RU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Гламаздин И.И.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04441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Общая информация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ClrTx/>
              <a:buNone/>
            </a:pPr>
            <a:r>
              <a:rPr lang="ru-RU" dirty="0"/>
              <a:t>Диспетчеризация – это переключение процессора с одного потока на другой. </a:t>
            </a:r>
            <a:endParaRPr lang="ru-RU" dirty="0" smtClean="0"/>
          </a:p>
          <a:p>
            <a:pPr>
              <a:buClrTx/>
              <a:buNone/>
            </a:pPr>
            <a:endParaRPr lang="ru-RU" dirty="0" smtClean="0"/>
          </a:p>
          <a:p>
            <a:pPr>
              <a:buClrTx/>
              <a:buNone/>
            </a:pPr>
            <a:r>
              <a:rPr lang="ru-RU" dirty="0" smtClean="0"/>
              <a:t>Процесс диспетчеризации:</a:t>
            </a:r>
          </a:p>
          <a:p>
            <a:pPr>
              <a:buClrTx/>
              <a:buNone/>
            </a:pPr>
            <a:endParaRPr lang="ru-RU" dirty="0" smtClean="0"/>
          </a:p>
          <a:p>
            <a:pPr marL="571500" indent="-571500">
              <a:buClrTx/>
              <a:buFont typeface="Wingdings" panose="05000000000000000000" pitchFamily="2" charset="2"/>
              <a:buChar char="q"/>
            </a:pPr>
            <a:r>
              <a:rPr lang="ru-RU" dirty="0" smtClean="0"/>
              <a:t>Сохранение </a:t>
            </a:r>
            <a:r>
              <a:rPr lang="ru-RU" dirty="0"/>
              <a:t>контекста потока, который требуется сменить. </a:t>
            </a:r>
            <a:endParaRPr lang="ru-RU" dirty="0" smtClean="0"/>
          </a:p>
          <a:p>
            <a:pPr marL="571500" indent="-571500">
              <a:buClrTx/>
              <a:buFont typeface="Wingdings" panose="05000000000000000000" pitchFamily="2" charset="2"/>
              <a:buChar char="q"/>
            </a:pPr>
            <a:r>
              <a:rPr lang="ru-RU" dirty="0" smtClean="0"/>
              <a:t>Загрузка </a:t>
            </a:r>
            <a:r>
              <a:rPr lang="ru-RU" dirty="0"/>
              <a:t>контекста нового потока. </a:t>
            </a:r>
            <a:endParaRPr lang="ru-RU" dirty="0" smtClean="0"/>
          </a:p>
          <a:p>
            <a:pPr marL="571500" indent="-571500">
              <a:buClrTx/>
              <a:buFont typeface="Wingdings" panose="05000000000000000000" pitchFamily="2" charset="2"/>
              <a:buChar char="q"/>
            </a:pPr>
            <a:r>
              <a:rPr lang="ru-RU" dirty="0" smtClean="0"/>
              <a:t>Запуск </a:t>
            </a:r>
            <a:r>
              <a:rPr lang="ru-RU" dirty="0"/>
              <a:t>нового потока на выполнение.</a:t>
            </a:r>
            <a:endParaRPr lang="ru-RU" sz="4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7</a:t>
            </a:fld>
            <a:endParaRPr lang="ru-RU"/>
          </a:p>
        </p:txBody>
      </p:sp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smtClean="0"/>
              <a:t>Кафедра информатики</a:t>
            </a:r>
            <a:endParaRPr lang="ru-RU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Гламаздин И.И.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03827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Общая информация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ClrTx/>
              <a:buNone/>
            </a:pPr>
            <a:r>
              <a:rPr lang="ru-RU" sz="4000" dirty="0" smtClean="0"/>
              <a:t>В большинстве </a:t>
            </a:r>
            <a:r>
              <a:rPr lang="en-US" sz="4000" dirty="0" smtClean="0"/>
              <a:t>OS </a:t>
            </a:r>
            <a:r>
              <a:rPr lang="ru-RU" sz="4000" dirty="0" smtClean="0"/>
              <a:t>используется вытесняющий алгоритм диспетчеризации.</a:t>
            </a:r>
            <a:endParaRPr lang="ru-RU" sz="4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8</a:t>
            </a:fld>
            <a:endParaRPr lang="ru-RU"/>
          </a:p>
        </p:txBody>
      </p:sp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smtClean="0"/>
              <a:t>Кафедра информатики</a:t>
            </a:r>
            <a:endParaRPr lang="ru-RU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Гламаздин И.И.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19878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Общая информация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В основе многих вытесняющих алгоритмов планирования лежит концепция квантования. В соответствии с этой концепцией каждому потоку поочередно для выполнения предоставляется ограниченный непрерывный период процессорного времени — квант.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9</a:t>
            </a:fld>
            <a:endParaRPr lang="ru-RU"/>
          </a:p>
        </p:txBody>
      </p:sp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smtClean="0"/>
              <a:t>Кафедра информатики</a:t>
            </a:r>
            <a:endParaRPr lang="ru-RU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Гламаздин И.И.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94453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Общая информация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Смена </a:t>
            </a:r>
            <a:r>
              <a:rPr lang="ru-RU" dirty="0"/>
              <a:t>активного потока происходит, если</a:t>
            </a:r>
            <a:r>
              <a:rPr lang="ru-RU" dirty="0" smtClean="0"/>
              <a:t>:</a:t>
            </a:r>
          </a:p>
          <a:p>
            <a:endParaRPr lang="ru-RU" dirty="0"/>
          </a:p>
          <a:p>
            <a:pPr marL="571500" indent="-571500">
              <a:buClrTx/>
              <a:buFont typeface="Wingdings" panose="05000000000000000000" pitchFamily="2" charset="2"/>
              <a:buChar char="q"/>
            </a:pPr>
            <a:r>
              <a:rPr lang="ru-RU" dirty="0"/>
              <a:t>- поток </a:t>
            </a:r>
            <a:r>
              <a:rPr lang="ru-RU" dirty="0" smtClean="0"/>
              <a:t>завершился;</a:t>
            </a:r>
            <a:endParaRPr lang="ru-RU" dirty="0"/>
          </a:p>
          <a:p>
            <a:pPr marL="571500" indent="-571500">
              <a:buClrTx/>
              <a:buFont typeface="Wingdings" panose="05000000000000000000" pitchFamily="2" charset="2"/>
              <a:buChar char="q"/>
            </a:pPr>
            <a:r>
              <a:rPr lang="ru-RU" dirty="0"/>
              <a:t>- произошла ошибка;</a:t>
            </a:r>
          </a:p>
          <a:p>
            <a:pPr marL="571500" indent="-571500">
              <a:buClrTx/>
              <a:buFont typeface="Wingdings" panose="05000000000000000000" pitchFamily="2" charset="2"/>
              <a:buChar char="q"/>
            </a:pPr>
            <a:r>
              <a:rPr lang="ru-RU" dirty="0"/>
              <a:t>- поток перешел в состояние ожидания;</a:t>
            </a:r>
          </a:p>
          <a:p>
            <a:pPr marL="571500" indent="-571500">
              <a:buClrTx/>
              <a:buFont typeface="Wingdings" panose="05000000000000000000" pitchFamily="2" charset="2"/>
              <a:buChar char="q"/>
            </a:pPr>
            <a:r>
              <a:rPr lang="ru-RU" dirty="0"/>
              <a:t>- исчерпан квант процессорного времени, отведенный данному потоку.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10</a:t>
            </a:fld>
            <a:endParaRPr lang="ru-RU"/>
          </a:p>
        </p:txBody>
      </p:sp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smtClean="0"/>
              <a:t>Кафедра информатики</a:t>
            </a:r>
            <a:endParaRPr lang="ru-RU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Гламаздин И.И.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88734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Общая информация</a:t>
            </a:r>
            <a:endParaRPr lang="en-US" dirty="0"/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60617" y="1420852"/>
            <a:ext cx="6592389" cy="477604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11</a:t>
            </a:fld>
            <a:endParaRPr lang="ru-RU"/>
          </a:p>
        </p:txBody>
      </p:sp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smtClean="0"/>
              <a:t>Кафедра информатики</a:t>
            </a:r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Гламаздин И.И.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4027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Общая информация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У </a:t>
            </a:r>
            <a:r>
              <a:rPr lang="ru-RU" dirty="0"/>
              <a:t>каждого потока есть свой приоритет </a:t>
            </a:r>
            <a:endParaRPr lang="ru-RU" dirty="0" smtClean="0"/>
          </a:p>
          <a:p>
            <a:pPr>
              <a:buNone/>
            </a:pPr>
            <a:endParaRPr lang="ru-RU" dirty="0" smtClean="0"/>
          </a:p>
          <a:p>
            <a:pPr>
              <a:buNone/>
            </a:pPr>
            <a:r>
              <a:rPr lang="ru-RU" dirty="0" smtClean="0"/>
              <a:t>Операционная </a:t>
            </a:r>
            <a:r>
              <a:rPr lang="ru-RU" dirty="0"/>
              <a:t>система планирует к исполнению более приоритетные </a:t>
            </a:r>
            <a:r>
              <a:rPr lang="ru-RU" dirty="0" smtClean="0"/>
              <a:t>потоки или выделяет приоритетным потокам больший квант времени.</a:t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12</a:t>
            </a:fld>
            <a:endParaRPr lang="ru-RU"/>
          </a:p>
        </p:txBody>
      </p:sp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smtClean="0"/>
              <a:t>Кафедра информатики</a:t>
            </a:r>
            <a:endParaRPr lang="ru-RU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Гламаздин И.И.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11872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Общая информация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Потоки получают приоритеты на базе классов приоритета своих процессов</a:t>
            </a:r>
            <a:r>
              <a:rPr lang="ru-RU" dirty="0" smtClean="0"/>
              <a:t>.</a:t>
            </a:r>
          </a:p>
          <a:p>
            <a:endParaRPr lang="ru-RU" dirty="0"/>
          </a:p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13</a:t>
            </a:fld>
            <a:endParaRPr lang="ru-RU"/>
          </a:p>
        </p:txBody>
      </p:sp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smtClean="0"/>
              <a:t>Кафедра информатики</a:t>
            </a:r>
            <a:endParaRPr lang="ru-RU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Гламаздин И.И.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967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Общая информация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ru-RU" dirty="0" smtClean="0"/>
              <a:t>При создании </a:t>
            </a:r>
            <a:r>
              <a:rPr lang="ru-RU" dirty="0"/>
              <a:t>потока его </a:t>
            </a:r>
            <a:r>
              <a:rPr lang="ru-RU" dirty="0" smtClean="0"/>
              <a:t>приоритет по умолчанию </a:t>
            </a:r>
            <a:r>
              <a:rPr lang="ru-RU" dirty="0"/>
              <a:t>устанавливается равным приоритету процесса. </a:t>
            </a:r>
            <a:endParaRPr lang="ru-RU" dirty="0" smtClean="0"/>
          </a:p>
          <a:p>
            <a:pPr>
              <a:buNone/>
            </a:pPr>
            <a:r>
              <a:rPr lang="ru-RU" dirty="0" smtClean="0"/>
              <a:t>Приоритеты </a:t>
            </a:r>
            <a:r>
              <a:rPr lang="ru-RU" dirty="0"/>
              <a:t>потоков могут принимать значения в интервале ±2 относительно базового приоритета процесса. </a:t>
            </a:r>
          </a:p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14</a:t>
            </a:fld>
            <a:endParaRPr lang="ru-RU"/>
          </a:p>
        </p:txBody>
      </p:sp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smtClean="0"/>
              <a:t>Кафедра информатики</a:t>
            </a:r>
            <a:endParaRPr lang="ru-RU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Гламаздин И.И.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01594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Общая информация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ru-RU" dirty="0" smtClean="0"/>
              <a:t>При создании </a:t>
            </a:r>
            <a:r>
              <a:rPr lang="ru-RU" dirty="0"/>
              <a:t>потока его </a:t>
            </a:r>
            <a:r>
              <a:rPr lang="ru-RU" dirty="0" smtClean="0"/>
              <a:t>приоритет по умолчанию </a:t>
            </a:r>
            <a:r>
              <a:rPr lang="ru-RU" dirty="0"/>
              <a:t>устанавливается равным приоритету процесса. </a:t>
            </a:r>
            <a:endParaRPr lang="ru-RU" dirty="0" smtClean="0"/>
          </a:p>
          <a:p>
            <a:pPr>
              <a:buNone/>
            </a:pPr>
            <a:r>
              <a:rPr lang="ru-RU" dirty="0" smtClean="0"/>
              <a:t>Приоритеты </a:t>
            </a:r>
            <a:r>
              <a:rPr lang="ru-RU" dirty="0"/>
              <a:t>потоков могут принимать значения в интервале ±2 относительно базового приоритета процесса. </a:t>
            </a:r>
          </a:p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15</a:t>
            </a:fld>
            <a:endParaRPr lang="ru-RU"/>
          </a:p>
        </p:txBody>
      </p:sp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smtClean="0"/>
              <a:t>Кафедра информатики</a:t>
            </a:r>
            <a:endParaRPr lang="ru-RU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Гламаздин И.И.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64569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Общая информация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ru-RU" dirty="0" smtClean="0"/>
              <a:t>Уровни приоритета потоков (в порядке убывания):</a:t>
            </a:r>
          </a:p>
          <a:p>
            <a:pPr>
              <a:buNone/>
            </a:pPr>
            <a:endParaRPr lang="ru-RU" dirty="0"/>
          </a:p>
          <a:p>
            <a:pPr marL="1321308" lvl="3" indent="-571500">
              <a:buClrTx/>
              <a:buFont typeface="Wingdings" panose="05000000000000000000" pitchFamily="2" charset="2"/>
              <a:buChar char="q"/>
            </a:pPr>
            <a:r>
              <a:rPr lang="en-US" sz="3600" dirty="0" smtClean="0">
                <a:solidFill>
                  <a:srgbClr val="FFC000"/>
                </a:solidFill>
              </a:rPr>
              <a:t>Highest</a:t>
            </a:r>
          </a:p>
          <a:p>
            <a:pPr marL="1321308" lvl="3" indent="-571500">
              <a:buClrTx/>
              <a:buFont typeface="Wingdings" panose="05000000000000000000" pitchFamily="2" charset="2"/>
              <a:buChar char="q"/>
            </a:pPr>
            <a:r>
              <a:rPr lang="en-US" sz="3600" dirty="0" smtClean="0">
                <a:solidFill>
                  <a:srgbClr val="00B050"/>
                </a:solidFill>
              </a:rPr>
              <a:t>Above normal</a:t>
            </a:r>
          </a:p>
          <a:p>
            <a:pPr marL="1321308" lvl="3" indent="-571500">
              <a:buClrTx/>
              <a:buFont typeface="Wingdings" panose="05000000000000000000" pitchFamily="2" charset="2"/>
              <a:buChar char="q"/>
            </a:pPr>
            <a:r>
              <a:rPr lang="en-US" sz="3600" dirty="0" smtClean="0">
                <a:solidFill>
                  <a:srgbClr val="0070C0"/>
                </a:solidFill>
              </a:rPr>
              <a:t>Normal</a:t>
            </a:r>
          </a:p>
          <a:p>
            <a:pPr marL="1321308" lvl="3" indent="-571500">
              <a:buClrTx/>
              <a:buFont typeface="Wingdings" panose="05000000000000000000" pitchFamily="2" charset="2"/>
              <a:buChar char="q"/>
            </a:pPr>
            <a:r>
              <a:rPr lang="en-US" sz="3600" dirty="0" smtClean="0">
                <a:solidFill>
                  <a:srgbClr val="00B050"/>
                </a:solidFill>
              </a:rPr>
              <a:t>Below normal</a:t>
            </a:r>
          </a:p>
          <a:p>
            <a:pPr marL="1321308" lvl="3" indent="-571500">
              <a:buClrTx/>
              <a:buFont typeface="Wingdings" panose="05000000000000000000" pitchFamily="2" charset="2"/>
              <a:buChar char="q"/>
            </a:pPr>
            <a:r>
              <a:rPr lang="en-US" sz="3600" dirty="0" smtClean="0">
                <a:solidFill>
                  <a:srgbClr val="FFC000"/>
                </a:solidFill>
              </a:rPr>
              <a:t>Lowest</a:t>
            </a:r>
            <a:endParaRPr lang="ru-RU" sz="3600" dirty="0" smtClean="0">
              <a:solidFill>
                <a:srgbClr val="FFC000"/>
              </a:solidFill>
            </a:endParaRPr>
          </a:p>
          <a:p>
            <a:pPr>
              <a:buNone/>
            </a:pPr>
            <a:endParaRPr lang="ru-RU" dirty="0"/>
          </a:p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16</a:t>
            </a:fld>
            <a:endParaRPr lang="ru-RU"/>
          </a:p>
        </p:txBody>
      </p:sp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smtClean="0"/>
              <a:t>Кафедра информатики</a:t>
            </a:r>
            <a:endParaRPr lang="ru-RU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Гламаздин И.И.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56670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Потоки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Пространство имен </a:t>
            </a:r>
            <a:r>
              <a:rPr lang="en-US" dirty="0" err="1" smtClean="0"/>
              <a:t>System.Threading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17</a:t>
            </a:fld>
            <a:endParaRPr lang="ru-RU"/>
          </a:p>
        </p:txBody>
      </p:sp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smtClean="0"/>
              <a:t>Кафедра информатики</a:t>
            </a:r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Гламаздин И.И.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5950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Пространство имен </a:t>
            </a:r>
            <a:r>
              <a:rPr lang="en-US" dirty="0" err="1"/>
              <a:t>System.Threading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4000" dirty="0"/>
              <a:t>Классы, поддерживающие многопоточное программирование, определены в пространстве имен System.Threading.</a:t>
            </a:r>
            <a:endParaRPr lang="en-US" sz="4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18</a:t>
            </a:fld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smtClean="0"/>
              <a:t>Кафедра информатики</a:t>
            </a:r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Гламаздин И.И.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72534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Пространство имен </a:t>
            </a:r>
            <a:r>
              <a:rPr lang="en-US" dirty="0" err="1"/>
              <a:t>System.Threading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571500" indent="-571500"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ru-RU" b="1" dirty="0"/>
              <a:t>Interlocked</a:t>
            </a:r>
            <a:r>
              <a:rPr lang="ru-RU" dirty="0"/>
              <a:t> Этот тип обеспечивает элементарные операции для переменных, которые совместно используются несколькими потоками.</a:t>
            </a:r>
            <a:endParaRPr lang="en-US" dirty="0"/>
          </a:p>
          <a:p>
            <a:pPr marL="571500" indent="-571500"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b="1" dirty="0" smtClean="0"/>
              <a:t>Monitor</a:t>
            </a:r>
            <a:r>
              <a:rPr lang="ru-RU" dirty="0" smtClean="0"/>
              <a:t> </a:t>
            </a:r>
            <a:r>
              <a:rPr lang="ru-RU" dirty="0"/>
              <a:t>Этот тип обеспечивает синхронизацию потоковых объектов, используя блокировки и ожидания / сигналы. Ключевое слово C# </a:t>
            </a:r>
            <a:r>
              <a:rPr lang="ru-RU" b="1" dirty="0"/>
              <a:t>lock</a:t>
            </a:r>
            <a:r>
              <a:rPr lang="ru-RU" dirty="0"/>
              <a:t> использует скрытый объект Monitor.</a:t>
            </a:r>
            <a:endParaRPr lang="en-US" dirty="0"/>
          </a:p>
          <a:p>
            <a:pPr marL="571500" indent="-571500"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ru-RU" b="1" dirty="0"/>
              <a:t>Mutex</a:t>
            </a:r>
            <a:r>
              <a:rPr lang="ru-RU" dirty="0"/>
              <a:t> Этот примитив синхронизации можно использовать для синхронизации между границами домена приложения.</a:t>
            </a:r>
            <a:endParaRPr lang="en-US" dirty="0"/>
          </a:p>
          <a:p>
            <a:pPr marL="571500" indent="-571500"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ru-RU" b="1" dirty="0"/>
              <a:t>ParameterizedThreadStart</a:t>
            </a:r>
            <a:r>
              <a:rPr lang="ru-RU" dirty="0"/>
              <a:t> Этот делегат позволяет потоку вызывать методы, которые принимают любое количество аргументов</a:t>
            </a:r>
            <a:r>
              <a:rPr lang="ru-RU" dirty="0" smtClean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19</a:t>
            </a:fld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smtClean="0"/>
              <a:t>Кафедра информатики</a:t>
            </a:r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Гламаздин И.И.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46989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Пространство имен </a:t>
            </a:r>
            <a:r>
              <a:rPr lang="en-US" dirty="0" err="1"/>
              <a:t>System.Threading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571500" indent="-571500">
              <a:buClrTx/>
              <a:buFont typeface="Wingdings" panose="05000000000000000000" pitchFamily="2" charset="2"/>
              <a:buChar char="q"/>
            </a:pPr>
            <a:r>
              <a:rPr lang="en-US" b="1" dirty="0" smtClean="0"/>
              <a:t>Semaphore</a:t>
            </a:r>
            <a:r>
              <a:rPr lang="ru-RU" dirty="0" smtClean="0"/>
              <a:t> </a:t>
            </a:r>
            <a:r>
              <a:rPr lang="ru-RU" dirty="0"/>
              <a:t>Этот тип позволяет вам ограничить число потоков, которые могут одновременно обращаться к ресурсу или определенному типу ресурса.</a:t>
            </a:r>
            <a:endParaRPr lang="en-US" dirty="0"/>
          </a:p>
          <a:p>
            <a:pPr marL="571500" indent="-571500">
              <a:buClrTx/>
              <a:buFont typeface="Wingdings" panose="05000000000000000000" pitchFamily="2" charset="2"/>
              <a:buChar char="q"/>
            </a:pPr>
            <a:r>
              <a:rPr lang="en-US" b="1" dirty="0"/>
              <a:t>Thread</a:t>
            </a:r>
            <a:r>
              <a:rPr lang="ru-RU" dirty="0"/>
              <a:t> Этот тип представляет поток, который выполняется в CLR. Используя этот тип, вы можете создавать дополнительные потоки в исходном домене приложения.</a:t>
            </a:r>
            <a:endParaRPr lang="en-US" dirty="0"/>
          </a:p>
          <a:p>
            <a:pPr marL="571500" indent="-571500">
              <a:buClrTx/>
              <a:buFont typeface="Wingdings" panose="05000000000000000000" pitchFamily="2" charset="2"/>
              <a:buChar char="q"/>
            </a:pPr>
            <a:r>
              <a:rPr lang="ru-RU" b="1" dirty="0"/>
              <a:t>ThreadPool</a:t>
            </a:r>
            <a:r>
              <a:rPr lang="ru-RU" dirty="0"/>
              <a:t> Этот тип позволяет вам взаимодействовать с поддерживаемым CLR пулом потоков в данном процессе.</a:t>
            </a:r>
            <a:endParaRPr lang="en-US" dirty="0"/>
          </a:p>
          <a:p>
            <a:pPr marL="571500" indent="-571500">
              <a:buClrTx/>
              <a:buFont typeface="Wingdings" panose="05000000000000000000" pitchFamily="2" charset="2"/>
              <a:buChar char="q"/>
            </a:pPr>
            <a:r>
              <a:rPr lang="ru-RU" b="1" dirty="0"/>
              <a:t>ThreadPriority</a:t>
            </a:r>
            <a:r>
              <a:rPr lang="ru-RU" dirty="0"/>
              <a:t> Это перечисление представляет уровень приоритета потока (Самый высокий, Нормальный и т.д.).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20</a:t>
            </a:fld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smtClean="0"/>
              <a:t>Кафедра информатики</a:t>
            </a:r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Гламаздин И.И.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20540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Пространство имен </a:t>
            </a:r>
            <a:r>
              <a:rPr lang="en-US" dirty="0" err="1"/>
              <a:t>System.Threading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571500" indent="-571500">
              <a:buClrTx/>
              <a:buFont typeface="Wingdings" panose="05000000000000000000" pitchFamily="2" charset="2"/>
              <a:buChar char="q"/>
            </a:pPr>
            <a:r>
              <a:rPr lang="ru-RU" b="1" dirty="0"/>
              <a:t>ThreadStart</a:t>
            </a:r>
            <a:r>
              <a:rPr lang="ru-RU" dirty="0"/>
              <a:t> Этот делегат используется для указания метода, вызываемого для данного потока. В отличие от делегата ParameterizedThreadStart, цели ThreadStart всегда должны иметь один и тот же прототип.</a:t>
            </a:r>
            <a:endParaRPr lang="en-US" dirty="0"/>
          </a:p>
          <a:p>
            <a:pPr marL="571500" indent="-571500">
              <a:buClrTx/>
              <a:buFont typeface="Wingdings" panose="05000000000000000000" pitchFamily="2" charset="2"/>
              <a:buChar char="q"/>
            </a:pPr>
            <a:r>
              <a:rPr lang="ru-RU" b="1" dirty="0"/>
              <a:t>ThreadState</a:t>
            </a:r>
            <a:r>
              <a:rPr lang="ru-RU" dirty="0"/>
              <a:t> Это перечисление определяет допустимые состояния, которые может принимать поток (работает, прерван и т.д.).</a:t>
            </a:r>
            <a:endParaRPr lang="en-US" dirty="0"/>
          </a:p>
          <a:p>
            <a:pPr marL="571500" indent="-571500">
              <a:buClrTx/>
              <a:buFont typeface="Wingdings" panose="05000000000000000000" pitchFamily="2" charset="2"/>
              <a:buChar char="q"/>
            </a:pPr>
            <a:r>
              <a:rPr lang="en-US" b="1" dirty="0"/>
              <a:t>Timer</a:t>
            </a:r>
            <a:r>
              <a:rPr lang="ru-RU" dirty="0"/>
              <a:t> Этот тип предоставляет механизм для выполнения метода через определенные промежутки времени.</a:t>
            </a:r>
            <a:endParaRPr lang="en-US" dirty="0"/>
          </a:p>
          <a:p>
            <a:pPr marL="571500" indent="-571500">
              <a:buClrTx/>
              <a:buFont typeface="Wingdings" panose="05000000000000000000" pitchFamily="2" charset="2"/>
              <a:buChar char="q"/>
            </a:pPr>
            <a:r>
              <a:rPr lang="ru-RU" b="1" dirty="0"/>
              <a:t>TimerCallback</a:t>
            </a:r>
            <a:r>
              <a:rPr lang="ru-RU" dirty="0"/>
              <a:t> Этот тип делегата используется вместе с типами Timer.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21</a:t>
            </a:fld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smtClean="0"/>
              <a:t>Кафедра информатики</a:t>
            </a:r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Гламаздин И.И.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4393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Потоки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Класс </a:t>
            </a:r>
            <a:r>
              <a:rPr lang="en-US" dirty="0" smtClean="0"/>
              <a:t>Thread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22</a:t>
            </a:fld>
            <a:endParaRPr lang="ru-RU"/>
          </a:p>
        </p:txBody>
      </p:sp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smtClean="0"/>
              <a:t>Кафедра информатики</a:t>
            </a:r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Гламаздин И.И.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02914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Класс </a:t>
            </a:r>
            <a:r>
              <a:rPr lang="en-US" dirty="0" smtClean="0"/>
              <a:t>Thread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Класс </a:t>
            </a:r>
            <a:r>
              <a:rPr lang="en-US" b="1" dirty="0"/>
              <a:t>Thread</a:t>
            </a:r>
            <a:r>
              <a:rPr lang="ru-RU" dirty="0"/>
              <a:t> представляет объектно-ориентированную оболочку для заданного потока </a:t>
            </a:r>
            <a:r>
              <a:rPr lang="ru-RU" dirty="0" smtClean="0"/>
              <a:t>выполнения.</a:t>
            </a:r>
            <a:endParaRPr lang="en-US" sz="4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23</a:t>
            </a:fld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smtClean="0"/>
              <a:t>Кафедра информатики</a:t>
            </a:r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Гламаздин И.И.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53168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Класс </a:t>
            </a:r>
            <a:r>
              <a:rPr lang="en-US" dirty="0" smtClean="0"/>
              <a:t>Thread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Класс</a:t>
            </a:r>
            <a:r>
              <a:rPr lang="ru-RU" b="1" dirty="0" smtClean="0"/>
              <a:t> </a:t>
            </a:r>
            <a:r>
              <a:rPr lang="en-US" b="1" dirty="0" smtClean="0"/>
              <a:t>Thread</a:t>
            </a:r>
            <a:r>
              <a:rPr lang="en-US" dirty="0" smtClean="0"/>
              <a:t> </a:t>
            </a:r>
            <a:r>
              <a:rPr lang="ru-RU" dirty="0" smtClean="0"/>
              <a:t>также определяет </a:t>
            </a:r>
            <a:r>
              <a:rPr lang="ru-RU" dirty="0"/>
              <a:t>ряд методов (как статических, так и на уровне экземпляров класса), которые позволяют создавать новые потоки в </a:t>
            </a:r>
            <a:r>
              <a:rPr lang="ru-RU" dirty="0" smtClean="0"/>
              <a:t>приложении, </a:t>
            </a:r>
            <a:r>
              <a:rPr lang="ru-RU" dirty="0"/>
              <a:t>а также приостанавливать, возобновлять, останавливать и уничтожать определенный поток.</a:t>
            </a:r>
            <a:endParaRPr lang="en-US" sz="4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24</a:t>
            </a:fld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smtClean="0"/>
              <a:t>Кафедра информатики</a:t>
            </a:r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Гламаздин И.И.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662943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Методы и свойства класса </a:t>
            </a:r>
            <a:r>
              <a:rPr lang="en-US" dirty="0" smtClean="0"/>
              <a:t>Thread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71500" indent="-571500">
              <a:buClrTx/>
              <a:buFont typeface="Wingdings" panose="05000000000000000000" pitchFamily="2" charset="2"/>
              <a:buChar char="q"/>
            </a:pPr>
            <a:r>
              <a:rPr lang="en-US" b="1" dirty="0"/>
              <a:t>Sleep</a:t>
            </a:r>
            <a:r>
              <a:rPr lang="ru-RU" b="1" dirty="0"/>
              <a:t>()</a:t>
            </a:r>
            <a:r>
              <a:rPr lang="ru-RU" dirty="0"/>
              <a:t> - Этот метод (статический) приостанавливает текущий поток на указанное время. Когда поток приостановлен, он не использует процессорное время.</a:t>
            </a:r>
            <a:endParaRPr lang="en-US" dirty="0"/>
          </a:p>
          <a:p>
            <a:pPr marL="571500" indent="-571500">
              <a:buClrTx/>
              <a:buFont typeface="Wingdings" panose="05000000000000000000" pitchFamily="2" charset="2"/>
              <a:buChar char="q"/>
            </a:pPr>
            <a:r>
              <a:rPr lang="ru-RU" b="1" dirty="0"/>
              <a:t>IsAlive</a:t>
            </a:r>
            <a:r>
              <a:rPr lang="ru-RU" dirty="0"/>
              <a:t> Возвращает логическое значение, которое указывает, был ли этот поток запущен (и еще не завершен или не прерван).</a:t>
            </a:r>
            <a:endParaRPr lang="en-US" dirty="0"/>
          </a:p>
          <a:p>
            <a:pPr marL="571500" indent="-571500">
              <a:buClrTx/>
              <a:buFont typeface="Wingdings" panose="05000000000000000000" pitchFamily="2" charset="2"/>
              <a:buChar char="q"/>
            </a:pPr>
            <a:r>
              <a:rPr lang="en-US" b="1" dirty="0"/>
              <a:t>Name</a:t>
            </a:r>
            <a:r>
              <a:rPr lang="ru-RU" dirty="0"/>
              <a:t> Позволяет установить понятное текстовое имя темы.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25</a:t>
            </a:fld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smtClean="0"/>
              <a:t>Кафедра информатики</a:t>
            </a:r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Гламаздин И.И.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429839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Методы и свойства класса </a:t>
            </a:r>
            <a:r>
              <a:rPr lang="en-US" dirty="0" smtClean="0"/>
              <a:t>Thread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571500" indent="-571500">
              <a:buClrTx/>
              <a:buFont typeface="Wingdings" panose="05000000000000000000" pitchFamily="2" charset="2"/>
              <a:buChar char="q"/>
            </a:pPr>
            <a:r>
              <a:rPr lang="en-US" b="1" dirty="0"/>
              <a:t>Priority</a:t>
            </a:r>
            <a:r>
              <a:rPr lang="ru-RU" dirty="0"/>
              <a:t> Получает или задает приоритет потока, которому может быть присвоено значение из перечисления ThreadPriority.</a:t>
            </a:r>
            <a:endParaRPr lang="en-US" dirty="0"/>
          </a:p>
          <a:p>
            <a:pPr marL="571500" indent="-571500">
              <a:buClrTx/>
              <a:buFont typeface="Wingdings" panose="05000000000000000000" pitchFamily="2" charset="2"/>
              <a:buChar char="q"/>
            </a:pPr>
            <a:r>
              <a:rPr lang="ru-RU" b="1" dirty="0"/>
              <a:t>ThreadState</a:t>
            </a:r>
            <a:r>
              <a:rPr lang="ru-RU" dirty="0"/>
              <a:t> Получает состояние этого потока, которому может быть присвоено значение из перечисления ThreadState.</a:t>
            </a:r>
            <a:endParaRPr lang="en-US" dirty="0"/>
          </a:p>
          <a:p>
            <a:pPr marL="571500" indent="-571500">
              <a:buClrTx/>
              <a:buFont typeface="Wingdings" panose="05000000000000000000" pitchFamily="2" charset="2"/>
              <a:buChar char="q"/>
            </a:pPr>
            <a:r>
              <a:rPr lang="ru-RU" b="1" dirty="0"/>
              <a:t>Abort()</a:t>
            </a:r>
            <a:r>
              <a:rPr lang="ru-RU" dirty="0"/>
              <a:t> Указывает CLR прекратить </a:t>
            </a:r>
            <a:r>
              <a:rPr lang="ru-RU" dirty="0" smtClean="0"/>
              <a:t>поток.</a:t>
            </a:r>
            <a:endParaRPr lang="en-US" dirty="0"/>
          </a:p>
          <a:p>
            <a:pPr marL="571500" indent="-571500">
              <a:buClrTx/>
              <a:buFont typeface="Wingdings" panose="05000000000000000000" pitchFamily="2" charset="2"/>
              <a:buChar char="q"/>
            </a:pPr>
            <a:r>
              <a:rPr lang="ru-RU" b="1" dirty="0"/>
              <a:t>Join()</a:t>
            </a:r>
            <a:r>
              <a:rPr lang="ru-RU" dirty="0"/>
              <a:t> Блокирует вызывающий поток до тех пор, пока не закончится указанный поток (тот, в котором вызывается Join ()).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26</a:t>
            </a:fld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smtClean="0"/>
              <a:t>Кафедра информатики</a:t>
            </a:r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Гламаздин И.И.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355262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Методы и свойства класса </a:t>
            </a:r>
            <a:r>
              <a:rPr lang="en-US" dirty="0" smtClean="0"/>
              <a:t>Thread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71500" indent="-571500">
              <a:buClrTx/>
              <a:buFont typeface="Wingdings" panose="05000000000000000000" pitchFamily="2" charset="2"/>
              <a:buChar char="q"/>
            </a:pPr>
            <a:r>
              <a:rPr lang="ru-RU" b="1" dirty="0"/>
              <a:t>Resume()</a:t>
            </a:r>
            <a:r>
              <a:rPr lang="ru-RU" dirty="0"/>
              <a:t> Возобновляет поток, который был ранее приостановлен.</a:t>
            </a:r>
            <a:endParaRPr lang="en-US" dirty="0"/>
          </a:p>
          <a:p>
            <a:pPr marL="571500" indent="-571500">
              <a:buClrTx/>
              <a:buFont typeface="Wingdings" panose="05000000000000000000" pitchFamily="2" charset="2"/>
              <a:buChar char="q"/>
            </a:pPr>
            <a:r>
              <a:rPr lang="ru-RU" b="1" dirty="0"/>
              <a:t>Start()</a:t>
            </a:r>
            <a:r>
              <a:rPr lang="ru-RU" dirty="0"/>
              <a:t> Указывает CLR выполнить поток.</a:t>
            </a:r>
            <a:endParaRPr lang="en-US" dirty="0"/>
          </a:p>
          <a:p>
            <a:pPr marL="571500" indent="-571500">
              <a:buClrTx/>
              <a:buFont typeface="Wingdings" panose="05000000000000000000" pitchFamily="2" charset="2"/>
              <a:buChar char="q"/>
            </a:pPr>
            <a:r>
              <a:rPr lang="ru-RU" b="1" dirty="0"/>
              <a:t>Suspend()</a:t>
            </a:r>
            <a:r>
              <a:rPr lang="ru-RU" dirty="0"/>
              <a:t> Приостановляет поток. Если поток уже приостановлен, вызов </a:t>
            </a:r>
            <a:r>
              <a:rPr lang="ru-RU" dirty="0" smtClean="0"/>
              <a:t>Suspend() </a:t>
            </a:r>
            <a:r>
              <a:rPr lang="ru-RU" dirty="0"/>
              <a:t>не имеет никакого эффекта.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27</a:t>
            </a:fld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smtClean="0"/>
              <a:t>Кафедра информатики</a:t>
            </a:r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Гламаздин И.И.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402898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Класс </a:t>
            </a:r>
            <a:r>
              <a:rPr lang="en-US" dirty="0" smtClean="0"/>
              <a:t>Thread</a:t>
            </a:r>
            <a:r>
              <a:rPr lang="ru-RU" dirty="0" smtClean="0"/>
              <a:t>. Создание и запуск потока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Конструктор потока:</a:t>
            </a:r>
          </a:p>
          <a:p>
            <a:r>
              <a:rPr lang="en-US" b="1" i="1" dirty="0" smtClean="0"/>
              <a:t>public </a:t>
            </a:r>
            <a:r>
              <a:rPr lang="en-US" b="1" i="1" dirty="0"/>
              <a:t>Thread(</a:t>
            </a:r>
            <a:r>
              <a:rPr lang="en-US" b="1" i="1" dirty="0" err="1"/>
              <a:t>ThreadStart</a:t>
            </a:r>
            <a:r>
              <a:rPr lang="en-US" b="1" i="1" dirty="0"/>
              <a:t> </a:t>
            </a:r>
            <a:r>
              <a:rPr lang="ru-RU" b="1" i="1" dirty="0"/>
              <a:t>точка</a:t>
            </a:r>
            <a:r>
              <a:rPr lang="en-US" b="1" i="1" dirty="0"/>
              <a:t>_</a:t>
            </a:r>
            <a:r>
              <a:rPr lang="ru-RU" b="1" i="1" dirty="0"/>
              <a:t>входа</a:t>
            </a:r>
            <a:r>
              <a:rPr lang="en-US" b="1" i="1" dirty="0"/>
              <a:t>)</a:t>
            </a:r>
            <a:endParaRPr lang="en-US" dirty="0"/>
          </a:p>
          <a:p>
            <a:r>
              <a:rPr lang="en-US" dirty="0"/>
              <a:t> </a:t>
            </a:r>
          </a:p>
          <a:p>
            <a:r>
              <a:rPr lang="ru-RU" i="1" dirty="0" smtClean="0"/>
              <a:t>точка_входа</a:t>
            </a:r>
            <a:r>
              <a:rPr lang="ru-RU" dirty="0" smtClean="0"/>
              <a:t> </a:t>
            </a:r>
            <a:r>
              <a:rPr lang="ru-RU" dirty="0"/>
              <a:t>— это имя метода, вызываемого с целью начать выполнение потока</a:t>
            </a:r>
            <a:endParaRPr lang="en-US" dirty="0"/>
          </a:p>
          <a:p>
            <a:r>
              <a:rPr lang="ru-RU" i="1" dirty="0"/>
              <a:t>ThreadStart</a:t>
            </a:r>
            <a:r>
              <a:rPr lang="ru-RU" dirty="0"/>
              <a:t> — делегат, определенный в среде .NET </a:t>
            </a:r>
            <a:r>
              <a:rPr lang="ru-RU" dirty="0" smtClean="0"/>
              <a:t>Framework</a:t>
            </a:r>
            <a:r>
              <a:rPr lang="ru-RU" dirty="0"/>
              <a:t>:</a:t>
            </a:r>
            <a:endParaRPr lang="en-US" dirty="0"/>
          </a:p>
          <a:p>
            <a:r>
              <a:rPr lang="ru-RU" dirty="0"/>
              <a:t> </a:t>
            </a:r>
            <a:endParaRPr lang="en-US" dirty="0"/>
          </a:p>
          <a:p>
            <a:r>
              <a:rPr lang="ru-RU" b="1" i="1" dirty="0"/>
              <a:t>public delegate void ThreadStart ()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28</a:t>
            </a:fld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smtClean="0"/>
              <a:t>Кафедра информатики</a:t>
            </a:r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Гламаздин И.И.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496515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Класс </a:t>
            </a:r>
            <a:r>
              <a:rPr lang="en-US" dirty="0" smtClean="0"/>
              <a:t>Thread</a:t>
            </a:r>
            <a:r>
              <a:rPr lang="ru-RU" dirty="0" smtClean="0"/>
              <a:t>. Создание и запуск потока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Созданный поток </a:t>
            </a:r>
            <a:r>
              <a:rPr lang="ru-RU" b="1" i="1" dirty="0"/>
              <a:t>не начнет выполняться </a:t>
            </a:r>
            <a:r>
              <a:rPr lang="ru-RU" dirty="0"/>
              <a:t>до тех пор, пока не будет вызван его метод </a:t>
            </a:r>
            <a:r>
              <a:rPr lang="ru-RU" b="1" dirty="0"/>
              <a:t>Start().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29</a:t>
            </a:fld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smtClean="0"/>
              <a:t>Кафедра информатики</a:t>
            </a:r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Гламаздин И.И.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604514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Класс </a:t>
            </a:r>
            <a:r>
              <a:rPr lang="en-US" dirty="0" smtClean="0"/>
              <a:t>Thread</a:t>
            </a:r>
            <a:r>
              <a:rPr lang="ru-RU" dirty="0" smtClean="0"/>
              <a:t>. Создание и запуск потока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dirty="0" err="1">
                <a:solidFill>
                  <a:srgbClr val="2B91AF"/>
                </a:solidFill>
                <a:latin typeface="Cascadia Mono" panose="020B0609020000020004" pitchFamily="49" charset="0"/>
              </a:rPr>
              <a:t>MyThread</a:t>
            </a:r>
            <a:endParaRPr lang="en-US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dirty="0" err="1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Count;</a:t>
            </a:r>
          </a:p>
          <a:p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thrdName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dirty="0" err="1">
                <a:solidFill>
                  <a:srgbClr val="2B91AF"/>
                </a:solidFill>
                <a:latin typeface="Cascadia Mono" panose="020B0609020000020004" pitchFamily="49" charset="0"/>
              </a:rPr>
              <a:t>MyThread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name)</a:t>
            </a:r>
          </a:p>
          <a:p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       {</a:t>
            </a:r>
          </a:p>
          <a:p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Count = 0;</a:t>
            </a:r>
          </a:p>
          <a:p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thrdName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= name;</a:t>
            </a:r>
          </a:p>
          <a:p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en-US" dirty="0">
              <a:solidFill>
                <a:srgbClr val="000000"/>
              </a:solidFill>
              <a:latin typeface="Cascadia Mono" panose="020B06090200000200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30</a:t>
            </a:fld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smtClean="0"/>
              <a:t>Кафедра информатики</a:t>
            </a:r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Гламаздин И.И.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036131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Класс </a:t>
            </a:r>
            <a:r>
              <a:rPr lang="en-US" dirty="0" smtClean="0"/>
              <a:t>Thread</a:t>
            </a:r>
            <a:r>
              <a:rPr lang="ru-RU" dirty="0" smtClean="0"/>
              <a:t>. Создание и запуск потока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</a:rPr>
              <a:t>///</a:t>
            </a:r>
            <a:r>
              <a:rPr lang="en-US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</a:rPr>
              <a:t>&lt;summary&gt;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ru-RU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ru-RU" sz="1800" dirty="0">
                <a:solidFill>
                  <a:srgbClr val="808080"/>
                </a:solidFill>
                <a:latin typeface="Cascadia Mono" panose="020B0609020000020004" pitchFamily="49" charset="0"/>
              </a:rPr>
              <a:t>///</a:t>
            </a:r>
            <a:r>
              <a:rPr lang="ru-RU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 Функция потока</a:t>
            </a:r>
            <a:endParaRPr lang="ru-RU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</a:rPr>
              <a:t>///</a:t>
            </a:r>
            <a:r>
              <a:rPr lang="en-US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</a:rPr>
              <a:t>&lt;/summary&gt;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Run()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{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8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Console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.WriteLine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thrdName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+ </a:t>
            </a:r>
            <a:r>
              <a:rPr lang="en-US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" </a:t>
            </a:r>
            <a:r>
              <a:rPr lang="ru-RU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начат."</a:t>
            </a:r>
            <a:r>
              <a:rPr lang="ru-RU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do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{</a:t>
            </a:r>
          </a:p>
          <a:p>
            <a:r>
              <a:rPr lang="ru-RU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ru-RU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// Длительное вычисление</a:t>
            </a:r>
            <a:endParaRPr lang="ru-RU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en-US" sz="18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Thread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.Sleep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(500); </a:t>
            </a:r>
            <a:r>
              <a:rPr lang="en-US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// </a:t>
            </a:r>
            <a:r>
              <a:rPr lang="ru-RU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ждать 500 мс</a:t>
            </a:r>
            <a:endParaRPr lang="ru-RU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en-US" sz="18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Console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.WriteLine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$"</a:t>
            </a:r>
            <a:r>
              <a:rPr lang="ru-RU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В потоке </a:t>
            </a:r>
            <a:r>
              <a:rPr lang="ru-RU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thrdName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r>
              <a:rPr lang="en-US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, Count = 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{Count}</a:t>
            </a:r>
            <a:r>
              <a:rPr lang="en-US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Count++;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}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while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(Count &lt; 10);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8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Console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.WriteLine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thrdName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+ </a:t>
            </a:r>
            <a:r>
              <a:rPr lang="en-US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" </a:t>
            </a:r>
            <a:r>
              <a:rPr lang="ru-RU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завершен."</a:t>
            </a:r>
            <a:r>
              <a:rPr lang="ru-RU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}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8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en-US" sz="1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31</a:t>
            </a:fld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smtClean="0"/>
              <a:t>Кафедра информатики</a:t>
            </a:r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Гламаздин И.И.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068646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Класс </a:t>
            </a:r>
            <a:r>
              <a:rPr lang="en-US" dirty="0" smtClean="0"/>
              <a:t>Thread</a:t>
            </a:r>
            <a:r>
              <a:rPr lang="ru-RU" dirty="0" smtClean="0"/>
              <a:t>. Создание и запуск потока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18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Console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.WriteLine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ru-RU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Основной поток начат."</a:t>
            </a:r>
            <a:r>
              <a:rPr lang="ru-RU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ru-RU" sz="1800" dirty="0" smtClean="0">
                <a:solidFill>
                  <a:srgbClr val="008000"/>
                </a:solidFill>
                <a:latin typeface="Cascadia Mono" panose="020B0609020000020004" pitchFamily="49" charset="0"/>
              </a:rPr>
              <a:t>// Создать объект </a:t>
            </a:r>
            <a:r>
              <a:rPr lang="ru-RU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типа MyThread. </a:t>
            </a:r>
            <a:endParaRPr lang="ru-RU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800" dirty="0" err="1" smtClean="0">
                <a:solidFill>
                  <a:srgbClr val="000000"/>
                </a:solidFill>
                <a:latin typeface="Cascadia Mono" panose="020B0609020000020004" pitchFamily="49" charset="0"/>
              </a:rPr>
              <a:t>MyThread</a:t>
            </a:r>
            <a:r>
              <a:rPr lang="en-US" sz="18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MyThread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n-US" sz="18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Потомок</a:t>
            </a:r>
            <a:r>
              <a:rPr lang="en-US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 #1"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ru-RU" sz="1800" dirty="0" smtClean="0">
                <a:solidFill>
                  <a:srgbClr val="008000"/>
                </a:solidFill>
                <a:latin typeface="Cascadia Mono" panose="020B0609020000020004" pitchFamily="49" charset="0"/>
              </a:rPr>
              <a:t>// Создать поток </a:t>
            </a:r>
            <a:r>
              <a:rPr lang="ru-RU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из метода Run </a:t>
            </a:r>
            <a:r>
              <a:rPr lang="ru-RU" sz="1800" dirty="0" smtClean="0">
                <a:solidFill>
                  <a:srgbClr val="008000"/>
                </a:solidFill>
                <a:latin typeface="Cascadia Mono" panose="020B0609020000020004" pitchFamily="49" charset="0"/>
              </a:rPr>
              <a:t>объекта </a:t>
            </a:r>
            <a:r>
              <a:rPr lang="en-US" sz="1800" dirty="0" err="1" smtClean="0">
                <a:solidFill>
                  <a:srgbClr val="008000"/>
                </a:solidFill>
                <a:latin typeface="Cascadia Mono" panose="020B0609020000020004" pitchFamily="49" charset="0"/>
              </a:rPr>
              <a:t>MyThread</a:t>
            </a:r>
            <a:r>
              <a:rPr lang="ru-RU" sz="1800" dirty="0" smtClean="0">
                <a:solidFill>
                  <a:srgbClr val="008000"/>
                </a:solidFill>
                <a:latin typeface="Cascadia Mono" panose="020B0609020000020004" pitchFamily="49" charset="0"/>
              </a:rPr>
              <a:t>. </a:t>
            </a:r>
            <a:endParaRPr lang="ru-RU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2B91AF"/>
                </a:solidFill>
                <a:latin typeface="Cascadia Mono" panose="020B0609020000020004" pitchFamily="49" charset="0"/>
              </a:rPr>
              <a:t>Thread</a:t>
            </a:r>
            <a:r>
              <a:rPr lang="en-US" sz="18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newThrd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2B91AF"/>
                </a:solidFill>
                <a:latin typeface="Cascadia Mono" panose="020B0609020000020004" pitchFamily="49" charset="0"/>
              </a:rPr>
              <a:t>Thread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mt.Run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ru-RU" sz="1800" dirty="0" smtClean="0">
                <a:solidFill>
                  <a:srgbClr val="008000"/>
                </a:solidFill>
                <a:latin typeface="Cascadia Mono" panose="020B0609020000020004" pitchFamily="49" charset="0"/>
              </a:rPr>
              <a:t>// </a:t>
            </a:r>
            <a:r>
              <a:rPr lang="ru-RU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Н</a:t>
            </a:r>
            <a:r>
              <a:rPr lang="ru-RU" sz="1800" dirty="0" smtClean="0">
                <a:solidFill>
                  <a:srgbClr val="008000"/>
                </a:solidFill>
                <a:latin typeface="Cascadia Mono" panose="020B0609020000020004" pitchFamily="49" charset="0"/>
              </a:rPr>
              <a:t>ачать </a:t>
            </a:r>
            <a:r>
              <a:rPr lang="ru-RU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выполнение потока. </a:t>
            </a:r>
            <a:endParaRPr lang="ru-RU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800" dirty="0" err="1" smtClean="0">
                <a:solidFill>
                  <a:srgbClr val="000000"/>
                </a:solidFill>
                <a:latin typeface="Cascadia Mono" panose="020B0609020000020004" pitchFamily="49" charset="0"/>
              </a:rPr>
              <a:t>newThrd.Start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ru-RU" sz="1800" dirty="0" smtClean="0">
                <a:solidFill>
                  <a:srgbClr val="008000"/>
                </a:solidFill>
                <a:latin typeface="Cascadia Mono" panose="020B0609020000020004" pitchFamily="49" charset="0"/>
              </a:rPr>
              <a:t>// </a:t>
            </a:r>
            <a:r>
              <a:rPr lang="ru-RU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параллельно выводить индикацию о выполнении</a:t>
            </a:r>
            <a:endParaRPr lang="ru-RU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8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do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8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8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 	</a:t>
            </a:r>
            <a:r>
              <a:rPr lang="en-US" sz="18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Console</a:t>
            </a:r>
            <a:r>
              <a:rPr lang="en-US" sz="1800" dirty="0" err="1" smtClean="0">
                <a:solidFill>
                  <a:srgbClr val="000000"/>
                </a:solidFill>
                <a:latin typeface="Cascadia Mono" panose="020B0609020000020004" pitchFamily="49" charset="0"/>
              </a:rPr>
              <a:t>.Write</a:t>
            </a:r>
            <a:r>
              <a:rPr lang="en-US" sz="18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800" dirty="0" smtClean="0">
                <a:solidFill>
                  <a:srgbClr val="A31515"/>
                </a:solidFill>
                <a:latin typeface="Cascadia Mono" panose="020B0609020000020004" pitchFamily="49" charset="0"/>
              </a:rPr>
              <a:t>"."</a:t>
            </a:r>
            <a:r>
              <a:rPr lang="en-US" sz="18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	</a:t>
            </a:r>
            <a:r>
              <a:rPr lang="en-US" sz="18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Thread</a:t>
            </a:r>
            <a:r>
              <a:rPr lang="en-US" sz="1800" dirty="0" err="1" smtClean="0">
                <a:solidFill>
                  <a:srgbClr val="000000"/>
                </a:solidFill>
                <a:latin typeface="Cascadia Mono" panose="020B0609020000020004" pitchFamily="49" charset="0"/>
              </a:rPr>
              <a:t>.Sleep</a:t>
            </a:r>
            <a:r>
              <a:rPr lang="en-US" sz="18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(100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en-US" sz="18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8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while</a:t>
            </a:r>
            <a:r>
              <a:rPr lang="en-US" sz="18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mt.Count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!= 10);</a:t>
            </a:r>
          </a:p>
          <a:p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8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Console</a:t>
            </a:r>
            <a:r>
              <a:rPr lang="en-US" sz="1800" dirty="0" err="1" smtClean="0">
                <a:solidFill>
                  <a:srgbClr val="000000"/>
                </a:solidFill>
                <a:latin typeface="Cascadia Mono" panose="020B0609020000020004" pitchFamily="49" charset="0"/>
              </a:rPr>
              <a:t>.WriteLine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ru-RU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Основной поток завершен"</a:t>
            </a:r>
            <a:r>
              <a:rPr lang="ru-RU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32</a:t>
            </a:fld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smtClean="0"/>
              <a:t>Кафедра информатики</a:t>
            </a:r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Гламаздин И.И.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03128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Класс </a:t>
            </a:r>
            <a:r>
              <a:rPr lang="en-US" dirty="0" smtClean="0"/>
              <a:t>Thread</a:t>
            </a:r>
            <a:r>
              <a:rPr lang="ru-RU" dirty="0" smtClean="0"/>
              <a:t>. Создание и запуск потока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1800" dirty="0" err="1" smtClean="0">
                <a:solidFill>
                  <a:srgbClr val="2B91AF"/>
                </a:solidFill>
                <a:latin typeface="Cascadia Mono" panose="020B0609020000020004" pitchFamily="49" charset="0"/>
              </a:rPr>
              <a:t>Console</a:t>
            </a:r>
            <a:r>
              <a:rPr lang="en-US" sz="1800" dirty="0" err="1" smtClean="0">
                <a:solidFill>
                  <a:srgbClr val="000000"/>
                </a:solidFill>
                <a:latin typeface="Cascadia Mono" panose="020B0609020000020004" pitchFamily="49" charset="0"/>
              </a:rPr>
              <a:t>.WriteLine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ru-RU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Основной поток начат."</a:t>
            </a:r>
            <a:r>
              <a:rPr lang="ru-RU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ru-RU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// Создать объект типа MyThread. </a:t>
            </a:r>
            <a:endParaRPr lang="ru-RU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MyThread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MyThread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n-US" sz="18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Потомок</a:t>
            </a:r>
            <a:r>
              <a:rPr lang="en-US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 #1"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ru-RU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// Создать поток из метода Run объекта </a:t>
            </a:r>
            <a:r>
              <a:rPr lang="en-US" sz="1800" dirty="0" err="1">
                <a:solidFill>
                  <a:srgbClr val="008000"/>
                </a:solidFill>
                <a:latin typeface="Cascadia Mono" panose="020B0609020000020004" pitchFamily="49" charset="0"/>
              </a:rPr>
              <a:t>MyThread</a:t>
            </a:r>
            <a:r>
              <a:rPr lang="ru-RU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. </a:t>
            </a:r>
            <a:endParaRPr lang="ru-RU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2B91AF"/>
                </a:solidFill>
                <a:latin typeface="Cascadia Mono" panose="020B0609020000020004" pitchFamily="49" charset="0"/>
              </a:rPr>
              <a:t>Thread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newThrd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2B91AF"/>
                </a:solidFill>
                <a:latin typeface="Cascadia Mono" panose="020B0609020000020004" pitchFamily="49" charset="0"/>
              </a:rPr>
              <a:t>Thread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mt.Run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ru-RU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// Начать выполнение потока. </a:t>
            </a:r>
            <a:endParaRPr lang="ru-RU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newThrd.Start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ru-RU" sz="1800" dirty="0" smtClean="0">
                <a:solidFill>
                  <a:srgbClr val="008000"/>
                </a:solidFill>
                <a:latin typeface="Cascadia Mono" panose="020B0609020000020004" pitchFamily="49" charset="0"/>
              </a:rPr>
              <a:t>// </a:t>
            </a:r>
            <a:r>
              <a:rPr lang="ru-RU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параллельно выводить индикацию о </a:t>
            </a:r>
            <a:r>
              <a:rPr lang="ru-RU" sz="1800" dirty="0" smtClean="0">
                <a:solidFill>
                  <a:srgbClr val="008000"/>
                </a:solidFill>
                <a:latin typeface="Cascadia Mono" panose="020B0609020000020004" pitchFamily="49" charset="0"/>
              </a:rPr>
              <a:t>выполнении</a:t>
            </a:r>
            <a:r>
              <a:rPr lang="en-US" sz="18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nn-NO" sz="18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for</a:t>
            </a:r>
            <a:r>
              <a:rPr lang="nn-NO" sz="18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nn-NO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nn-NO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nn-NO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i = 0; i &lt; 20;i++)</a:t>
            </a:r>
          </a:p>
          <a:p>
            <a:r>
              <a:rPr lang="en-US" sz="18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800" dirty="0" err="1" smtClean="0">
                <a:solidFill>
                  <a:srgbClr val="000000"/>
                </a:solidFill>
                <a:latin typeface="Cascadia Mono" panose="020B0609020000020004" pitchFamily="49" charset="0"/>
              </a:rPr>
              <a:t>Console.Write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"."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8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Thread</a:t>
            </a:r>
            <a:r>
              <a:rPr lang="en-US" sz="1800" dirty="0" err="1" smtClean="0">
                <a:solidFill>
                  <a:srgbClr val="000000"/>
                </a:solidFill>
                <a:latin typeface="Cascadia Mono" panose="020B0609020000020004" pitchFamily="49" charset="0"/>
              </a:rPr>
              <a:t>.Sleep</a:t>
            </a:r>
            <a:r>
              <a:rPr lang="en-US" sz="18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(100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en-US" sz="18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};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800" dirty="0" err="1" smtClean="0">
                <a:solidFill>
                  <a:srgbClr val="000000"/>
                </a:solidFill>
                <a:latin typeface="Cascadia Mono" panose="020B0609020000020004" pitchFamily="49" charset="0"/>
              </a:rPr>
              <a:t>newThrd.Join</a:t>
            </a:r>
            <a:r>
              <a:rPr lang="en-US" sz="18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  <a:endParaRPr lang="ru-RU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endParaRPr lang="en-US" sz="1800" dirty="0" smtClean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800" dirty="0" err="1" smtClean="0">
                <a:solidFill>
                  <a:srgbClr val="2B91AF"/>
                </a:solidFill>
                <a:latin typeface="Cascadia Mono" panose="020B0609020000020004" pitchFamily="49" charset="0"/>
              </a:rPr>
              <a:t>Console</a:t>
            </a:r>
            <a:r>
              <a:rPr lang="en-US" sz="1800" dirty="0" err="1" smtClean="0">
                <a:solidFill>
                  <a:srgbClr val="000000"/>
                </a:solidFill>
                <a:latin typeface="Cascadia Mono" panose="020B0609020000020004" pitchFamily="49" charset="0"/>
              </a:rPr>
              <a:t>.WriteLine</a:t>
            </a:r>
            <a:r>
              <a:rPr lang="en-US" sz="18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800" dirty="0" smtClean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ru-RU" sz="1800" dirty="0" smtClean="0">
                <a:solidFill>
                  <a:srgbClr val="A31515"/>
                </a:solidFill>
                <a:latin typeface="Cascadia Mono" panose="020B0609020000020004" pitchFamily="49" charset="0"/>
              </a:rPr>
              <a:t>Основной поток завершен"</a:t>
            </a:r>
            <a:r>
              <a:rPr lang="ru-RU" sz="18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33</a:t>
            </a:fld>
            <a:endParaRPr lang="ru-RU"/>
          </a:p>
        </p:txBody>
      </p:sp>
      <p:sp>
        <p:nvSpPr>
          <p:cNvPr id="6" name="Rounded Rectangle 5"/>
          <p:cNvSpPr/>
          <p:nvPr/>
        </p:nvSpPr>
        <p:spPr>
          <a:xfrm>
            <a:off x="60961" y="5242560"/>
            <a:ext cx="2969622" cy="383177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smtClean="0"/>
              <a:t>Кафедра информатики</a:t>
            </a:r>
            <a:endParaRPr lang="ru-RU" dirty="0"/>
          </a:p>
        </p:txBody>
      </p:sp>
      <p:sp>
        <p:nvSpPr>
          <p:cNvPr id="7" name="Нижний колонтитул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Гламаздин И.И.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51397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Класс </a:t>
            </a:r>
            <a:r>
              <a:rPr lang="en-US" dirty="0" smtClean="0"/>
              <a:t>Thread</a:t>
            </a:r>
            <a:r>
              <a:rPr lang="ru-RU" dirty="0" smtClean="0"/>
              <a:t>. Создание и запуск потока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ru-RU" sz="28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Запуск потока при создании класса </a:t>
            </a:r>
            <a:r>
              <a:rPr lang="en-US" sz="28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MyThread</a:t>
            </a:r>
            <a:r>
              <a:rPr lang="en-US" sz="28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endParaRPr lang="en-US" sz="1800" dirty="0" smtClean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pPr indent="449580" algn="l">
              <a:spcAft>
                <a:spcPts val="0"/>
              </a:spcAft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MyThread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string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name)</a:t>
            </a:r>
            <a:endParaRPr lang="en-US" sz="20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449580" algn="l">
              <a:spcAft>
                <a:spcPts val="0"/>
              </a:spcAft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endParaRPr lang="en-US" sz="20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449580" indent="449580" algn="l">
              <a:spcAft>
                <a:spcPts val="0"/>
              </a:spcAft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Count = 0;</a:t>
            </a:r>
            <a:endParaRPr lang="en-US" sz="20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449580" indent="449580" algn="l">
              <a:spcAft>
                <a:spcPts val="0"/>
              </a:spcAft>
            </a:pP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Thrd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new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Thread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800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this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.Run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en-US" sz="20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449580" indent="449580" algn="l">
              <a:spcAft>
                <a:spcPts val="0"/>
              </a:spcAft>
            </a:pPr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Thrd.Name = name; </a:t>
            </a:r>
            <a:r>
              <a:rPr lang="ru-RU" sz="180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 задать имя потока </a:t>
            </a:r>
            <a:endParaRPr lang="en-US" sz="20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449580" indent="449580" algn="l">
              <a:spcAft>
                <a:spcPts val="0"/>
              </a:spcAft>
            </a:pPr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Thrd.Start(); </a:t>
            </a:r>
            <a:r>
              <a:rPr lang="ru-RU" sz="180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 начать поток </a:t>
            </a:r>
            <a:endParaRPr lang="en-US" sz="20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449580" algn="l">
              <a:spcAft>
                <a:spcPts val="0"/>
              </a:spcAft>
            </a:pPr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endParaRPr lang="en-US" sz="20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34</a:t>
            </a:fld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smtClean="0"/>
              <a:t>Кафедра информатики</a:t>
            </a:r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Гламаздин И.И.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31826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Класс </a:t>
            </a:r>
            <a:r>
              <a:rPr lang="en-US" dirty="0" smtClean="0"/>
              <a:t>Thread</a:t>
            </a:r>
            <a:r>
              <a:rPr lang="ru-RU" dirty="0" smtClean="0"/>
              <a:t>. Создание и запуск потока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ru-RU" dirty="0"/>
              <a:t>Если потоку нужно передать параметры, то они передается потоку в следующей форме метода Start (): </a:t>
            </a:r>
            <a:endParaRPr lang="en-US" dirty="0"/>
          </a:p>
          <a:p>
            <a:r>
              <a:rPr lang="en-US" b="1" dirty="0"/>
              <a:t>public void Start(object </a:t>
            </a:r>
            <a:r>
              <a:rPr lang="en-US" b="1" dirty="0" err="1"/>
              <a:t>arg</a:t>
            </a:r>
            <a:r>
              <a:rPr lang="en-US" b="1" dirty="0"/>
              <a:t>)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35</a:t>
            </a:fld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smtClean="0"/>
              <a:t>Кафедра информатики</a:t>
            </a:r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Гламаздин И.И.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19915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Класс </a:t>
            </a:r>
            <a:r>
              <a:rPr lang="en-US" dirty="0" smtClean="0"/>
              <a:t>Thread</a:t>
            </a:r>
            <a:r>
              <a:rPr lang="ru-RU" dirty="0" smtClean="0"/>
              <a:t>. Создание и запуск потока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indent="449580" algn="l">
              <a:spcAft>
                <a:spcPts val="0"/>
              </a:spcAft>
            </a:pP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MyThread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string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name, </a:t>
            </a:r>
            <a:r>
              <a:rPr lang="en-US" sz="2400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max)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449580" algn="l">
              <a:spcAft>
                <a:spcPts val="0"/>
              </a:spcAft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449580" indent="449580" algn="l">
              <a:spcAft>
                <a:spcPts val="0"/>
              </a:spcAft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Count = 0;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449580" indent="449580" algn="l">
              <a:spcAft>
                <a:spcPts val="0"/>
              </a:spcAft>
            </a:pP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Thrd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Thread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ParameterizedThreadStart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2400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this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.Run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));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449580" indent="449580" algn="l">
              <a:spcAft>
                <a:spcPts val="0"/>
              </a:spcAft>
            </a:pPr>
            <a:r>
              <a:rPr lang="ru-RU" sz="2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Thrd.Name = name; </a:t>
            </a:r>
            <a:r>
              <a:rPr lang="ru-RU" sz="240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 задать имя потока 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449580" indent="449580" algn="l">
              <a:spcAft>
                <a:spcPts val="0"/>
              </a:spcAft>
            </a:pPr>
            <a:r>
              <a:rPr lang="ru-RU" sz="2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Thrd.Start(max); </a:t>
            </a:r>
            <a:r>
              <a:rPr lang="ru-RU" sz="240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 начать поток 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449580" algn="l">
              <a:spcAft>
                <a:spcPts val="0"/>
              </a:spcAft>
            </a:pPr>
            <a:r>
              <a:rPr lang="ru-RU" sz="2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endParaRPr lang="en-US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36</a:t>
            </a:fld>
            <a:endParaRPr lang="ru-RU"/>
          </a:p>
        </p:txBody>
      </p:sp>
      <p:sp>
        <p:nvSpPr>
          <p:cNvPr id="14" name="Rounded Rectangle 13"/>
          <p:cNvSpPr/>
          <p:nvPr/>
        </p:nvSpPr>
        <p:spPr>
          <a:xfrm>
            <a:off x="4850311" y="2368731"/>
            <a:ext cx="5861232" cy="478972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15" name="Rounded Rectangle 14"/>
          <p:cNvSpPr/>
          <p:nvPr/>
        </p:nvSpPr>
        <p:spPr>
          <a:xfrm>
            <a:off x="5415643" y="1440179"/>
            <a:ext cx="1498872" cy="43216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16" name="Rounded Rectangle 15"/>
          <p:cNvSpPr/>
          <p:nvPr/>
        </p:nvSpPr>
        <p:spPr>
          <a:xfrm>
            <a:off x="2573566" y="3091180"/>
            <a:ext cx="1310730" cy="409666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17" name="Arc 16"/>
          <p:cNvSpPr/>
          <p:nvPr/>
        </p:nvSpPr>
        <p:spPr>
          <a:xfrm>
            <a:off x="3675017" y="1830242"/>
            <a:ext cx="3526972" cy="2776592"/>
          </a:xfrm>
          <a:prstGeom prst="arc">
            <a:avLst>
              <a:gd name="adj1" fmla="val 11177570"/>
              <a:gd name="adj2" fmla="val 15987675"/>
            </a:avLst>
          </a:prstGeom>
          <a:ln w="28575">
            <a:solidFill>
              <a:srgbClr val="FF000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smtClean="0"/>
              <a:t>Кафедра информатики</a:t>
            </a:r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Гламаздин И.И.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0436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Класс </a:t>
            </a:r>
            <a:r>
              <a:rPr lang="en-US" dirty="0"/>
              <a:t>Thread</a:t>
            </a:r>
            <a:r>
              <a:rPr lang="ru-RU" dirty="0"/>
              <a:t>. Создание и запуск потока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indent="449580" algn="l">
              <a:spcAft>
                <a:spcPts val="0"/>
              </a:spcAft>
            </a:pP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///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&lt;summary&gt;</a:t>
            </a:r>
            <a:endParaRPr lang="en-US" sz="40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449580" algn="l">
              <a:spcAft>
                <a:spcPts val="0"/>
              </a:spcAft>
            </a:pP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///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Функция потока</a:t>
            </a:r>
            <a:endParaRPr lang="en-US" sz="40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449580" algn="l">
              <a:spcAft>
                <a:spcPts val="0"/>
              </a:spcAft>
            </a:pP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///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&lt;/summary&gt;</a:t>
            </a:r>
            <a:endParaRPr lang="en-US" sz="40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449580" algn="l">
              <a:spcAft>
                <a:spcPts val="0"/>
              </a:spcAft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Run(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object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max)</a:t>
            </a:r>
            <a:endParaRPr lang="en-US" sz="40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449580" algn="l"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endParaRPr lang="en-US" sz="40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449580" indent="449580" algn="l">
              <a:spcAft>
                <a:spcPts val="0"/>
              </a:spcAft>
            </a:pP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var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limit = (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)max;</a:t>
            </a:r>
            <a:endParaRPr lang="en-US" sz="40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449580" indent="449580" algn="l">
              <a:spcAft>
                <a:spcPts val="0"/>
              </a:spcAft>
            </a:pPr>
            <a:r>
              <a:rPr lang="en-US" dirty="0" err="1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Console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.WriteLine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Thrd.Name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+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 </a:t>
            </a:r>
            <a:r>
              <a:rPr lang="ru-RU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начат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en-US" sz="40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449580" indent="449580" algn="l">
              <a:spcAft>
                <a:spcPts val="0"/>
              </a:spcAft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do</a:t>
            </a:r>
            <a:endParaRPr lang="en-US" sz="40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449580" indent="449580" algn="l"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endParaRPr lang="en-US" sz="40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899160" indent="449580" algn="l">
              <a:spcAft>
                <a:spcPts val="0"/>
              </a:spcAft>
            </a:pPr>
            <a:r>
              <a:rPr lang="en-US" dirty="0" err="1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Thread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.Sleep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(500);</a:t>
            </a:r>
            <a:endParaRPr lang="en-US" sz="40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899160" indent="449580" algn="l">
              <a:spcAft>
                <a:spcPts val="0"/>
              </a:spcAft>
            </a:pPr>
            <a:r>
              <a:rPr lang="en-US" dirty="0" err="1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Console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.WriteLine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</a:t>
            </a:r>
            <a:r>
              <a:rPr lang="ru-RU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В потоке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+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Thrd.Name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+</a:t>
            </a:r>
            <a:endParaRPr lang="en-US" sz="40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1348740" indent="449580" algn="l">
              <a:spcAft>
                <a:spcPts val="0"/>
              </a:spcAft>
            </a:pP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", Count = 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+ Count);</a:t>
            </a:r>
            <a:endParaRPr lang="en-US" sz="40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899160" indent="449580" algn="l"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Count++;</a:t>
            </a:r>
            <a:endParaRPr lang="en-US" sz="40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449580" indent="449580" algn="l"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endParaRPr lang="en-US" sz="40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449580" indent="449580" algn="l">
              <a:spcAft>
                <a:spcPts val="0"/>
              </a:spcAft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while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(Count &lt; limit);</a:t>
            </a:r>
            <a:endParaRPr lang="en-US" sz="40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899160" indent="449580" algn="l">
              <a:spcAft>
                <a:spcPts val="0"/>
              </a:spcAft>
            </a:pPr>
            <a:r>
              <a:rPr lang="en-US" dirty="0" err="1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Console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.WriteLine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Thrd.Name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+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 </a:t>
            </a:r>
            <a:r>
              <a:rPr lang="ru-RU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завершен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en-US" sz="40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449580" algn="l">
              <a:spcAft>
                <a:spcPts val="0"/>
              </a:spcAft>
            </a:pP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endParaRPr lang="en-US" sz="40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37</a:t>
            </a:fld>
            <a:endParaRPr lang="ru-RU"/>
          </a:p>
        </p:txBody>
      </p:sp>
      <p:sp>
        <p:nvSpPr>
          <p:cNvPr id="5" name="Rounded Rectangle 4"/>
          <p:cNvSpPr/>
          <p:nvPr/>
        </p:nvSpPr>
        <p:spPr>
          <a:xfrm>
            <a:off x="400594" y="2133600"/>
            <a:ext cx="4598126" cy="940526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Дата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smtClean="0"/>
              <a:t>Кафедра информатики</a:t>
            </a:r>
            <a:endParaRPr lang="ru-RU" dirty="0"/>
          </a:p>
        </p:txBody>
      </p:sp>
      <p:sp>
        <p:nvSpPr>
          <p:cNvPr id="7" name="Нижний колонтитул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Гламаздин И.И.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00079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Класс </a:t>
            </a:r>
            <a:r>
              <a:rPr lang="en-US" dirty="0"/>
              <a:t>Thread</a:t>
            </a:r>
            <a:r>
              <a:rPr lang="ru-RU" dirty="0"/>
              <a:t>. </a:t>
            </a:r>
            <a:r>
              <a:rPr lang="ru-RU" dirty="0" smtClean="0"/>
              <a:t>Пул потоков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Создание потоков требует времени. Если есть различные короткие задачи, подлежащие выполнению, можно создать набор потоков заранее и затем просто отправлять соответствующие запросы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38</a:t>
            </a:fld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smtClean="0"/>
              <a:t>Кафедра информатики</a:t>
            </a:r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Гламаздин И.И.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52457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Класс </a:t>
            </a:r>
            <a:r>
              <a:rPr lang="en-US" dirty="0"/>
              <a:t>Thread</a:t>
            </a:r>
            <a:r>
              <a:rPr lang="ru-RU" dirty="0"/>
              <a:t>. </a:t>
            </a:r>
            <a:r>
              <a:rPr lang="ru-RU" dirty="0" smtClean="0"/>
              <a:t>Пул потоков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Многие приложения создают потоки, которые проводят много времени в спящем состоянии, ожидая возникновения события. Другие потоки могут переходить в спящее состояние только для того, чтобы периодически их пробуждать для опроса об изменении или обновлении информации о статусе. Пул потоков позволяет более эффективно использовать потоки, предоставляя вашему приложению пул рабочих потоков, которыми управляет система. 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39</a:t>
            </a:fld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smtClean="0"/>
              <a:t>Кафедра информатики</a:t>
            </a:r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Гламаздин И.И.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236666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Класс </a:t>
            </a:r>
            <a:r>
              <a:rPr lang="en-US" dirty="0"/>
              <a:t>Thread</a:t>
            </a:r>
            <a:r>
              <a:rPr lang="ru-RU" dirty="0"/>
              <a:t>. </a:t>
            </a:r>
            <a:r>
              <a:rPr lang="ru-RU" dirty="0" smtClean="0"/>
              <a:t>Пул потоков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Для управления пулом потоков используется класс </a:t>
            </a:r>
            <a:r>
              <a:rPr lang="en-US" b="1" dirty="0" err="1" smtClean="0"/>
              <a:t>ThreadPool</a:t>
            </a:r>
            <a:r>
              <a:rPr lang="ru-RU" dirty="0"/>
              <a:t> 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40</a:t>
            </a:fld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smtClean="0"/>
              <a:t>Кафедра информатики</a:t>
            </a:r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Гламаздин И.И.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330849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Класс </a:t>
            </a:r>
            <a:r>
              <a:rPr lang="en-US" dirty="0"/>
              <a:t>Thread</a:t>
            </a:r>
            <a:r>
              <a:rPr lang="ru-RU" dirty="0"/>
              <a:t>. </a:t>
            </a:r>
            <a:r>
              <a:rPr lang="ru-RU" dirty="0" smtClean="0"/>
              <a:t>Пул потоков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Чтобы запросить обработку </a:t>
            </a:r>
            <a:r>
              <a:rPr lang="ru-RU" dirty="0" smtClean="0"/>
              <a:t>задачи потоком </a:t>
            </a:r>
            <a:r>
              <a:rPr lang="ru-RU" dirty="0"/>
              <a:t>в пуле потоков, вызовите метод </a:t>
            </a:r>
            <a:r>
              <a:rPr lang="ru-RU" b="1" dirty="0" smtClean="0"/>
              <a:t>QueueUserWorkItem</a:t>
            </a:r>
            <a:r>
              <a:rPr lang="ru-RU" dirty="0" smtClean="0"/>
              <a:t>.</a:t>
            </a:r>
            <a:r>
              <a:rPr lang="ru-RU" dirty="0"/>
              <a:t> </a:t>
            </a:r>
            <a:endParaRPr lang="en-US" dirty="0" smtClean="0"/>
          </a:p>
          <a:p>
            <a:r>
              <a:rPr lang="ru-RU" dirty="0" smtClean="0"/>
              <a:t>Этот </a:t>
            </a:r>
            <a:r>
              <a:rPr lang="ru-RU" dirty="0"/>
              <a:t>метод принимает в качестве параметра ссылку на </a:t>
            </a:r>
            <a:r>
              <a:rPr lang="ru-RU" b="1" dirty="0"/>
              <a:t>метод или делегат</a:t>
            </a:r>
            <a:r>
              <a:rPr lang="ru-RU" dirty="0"/>
              <a:t>, который будет вызываться потоком, выбранным из пула потоков.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41</a:t>
            </a:fld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smtClean="0"/>
              <a:t>Кафедра информатики</a:t>
            </a:r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Гламаздин И.И.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536836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Класс </a:t>
            </a:r>
            <a:r>
              <a:rPr lang="en-US" dirty="0"/>
              <a:t>Thread</a:t>
            </a:r>
            <a:r>
              <a:rPr lang="ru-RU" dirty="0"/>
              <a:t>. </a:t>
            </a:r>
            <a:r>
              <a:rPr lang="ru-RU" dirty="0" smtClean="0"/>
              <a:t>Пул потоков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>
                <a:solidFill>
                  <a:srgbClr val="008000"/>
                </a:solidFill>
                <a:latin typeface="Cascadia Mono" panose="020B0609020000020004" pitchFamily="49" charset="0"/>
              </a:rPr>
              <a:t>// Постановка задачи в очередь</a:t>
            </a:r>
            <a:endParaRPr lang="ru-RU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dirty="0" err="1">
                <a:solidFill>
                  <a:srgbClr val="00B0F0"/>
                </a:solidFill>
                <a:latin typeface="Cascadia Mono" panose="020B0609020000020004" pitchFamily="49" charset="0"/>
              </a:rPr>
              <a:t>ThreadPool</a:t>
            </a:r>
            <a:r>
              <a:rPr lang="en-US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.QueueUserWorkItem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ThreadProc</a:t>
            </a:r>
            <a:r>
              <a:rPr lang="en-US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  <a:endParaRPr lang="ru-RU" dirty="0" smtClean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endParaRPr lang="ru-RU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endParaRPr lang="ru-RU" dirty="0" smtClean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ru-RU" dirty="0">
                <a:solidFill>
                  <a:srgbClr val="008000"/>
                </a:solidFill>
                <a:latin typeface="Cascadia Mono" panose="020B0609020000020004" pitchFamily="49" charset="0"/>
              </a:rPr>
              <a:t>// Процедура потока</a:t>
            </a:r>
            <a:endParaRPr lang="ru-RU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static</a:t>
            </a:r>
            <a:r>
              <a:rPr lang="en-US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ThreadProc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dirty="0">
                <a:solidFill>
                  <a:srgbClr val="00B0F0"/>
                </a:solidFill>
                <a:latin typeface="Cascadia Mono" panose="020B0609020000020004" pitchFamily="49" charset="0"/>
              </a:rPr>
              <a:t>Object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stateInfo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</a:p>
          <a:p>
            <a:r>
              <a:rPr lang="en-US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  <a:endParaRPr lang="en-US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ru-RU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ru-RU" dirty="0">
                <a:solidFill>
                  <a:srgbClr val="008000"/>
                </a:solidFill>
                <a:latin typeface="Cascadia Mono" panose="020B0609020000020004" pitchFamily="49" charset="0"/>
              </a:rPr>
              <a:t>// код </a:t>
            </a:r>
            <a:r>
              <a:rPr lang="ru-RU" dirty="0" smtClean="0">
                <a:solidFill>
                  <a:srgbClr val="008000"/>
                </a:solidFill>
                <a:latin typeface="Cascadia Mono" panose="020B0609020000020004" pitchFamily="49" charset="0"/>
              </a:rPr>
              <a:t>задачи</a:t>
            </a:r>
            <a:endParaRPr lang="ru-RU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42</a:t>
            </a:fld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smtClean="0"/>
              <a:t>Кафедра информатики</a:t>
            </a:r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Гламаздин И.И.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339541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Класс </a:t>
            </a:r>
            <a:r>
              <a:rPr lang="en-US" dirty="0"/>
              <a:t>Thread</a:t>
            </a:r>
            <a:r>
              <a:rPr lang="ru-RU" dirty="0"/>
              <a:t>. Пул потоков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Пул потоков управляет потоками эффективно, уменьшая количество создаваемых, запускаемых и останавливаемых потоков.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43</a:t>
            </a:fld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smtClean="0"/>
              <a:t>Кафедра информатики</a:t>
            </a:r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Гламаздин И.И.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137429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Класс </a:t>
            </a:r>
            <a:r>
              <a:rPr lang="en-US" dirty="0"/>
              <a:t>Thread</a:t>
            </a:r>
            <a:r>
              <a:rPr lang="ru-RU" dirty="0"/>
              <a:t>. Пул </a:t>
            </a:r>
            <a:r>
              <a:rPr lang="ru-RU" dirty="0" smtClean="0"/>
              <a:t>потоков (ограничения)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571500" indent="-571500">
              <a:buFont typeface="Wingdings" panose="05000000000000000000" pitchFamily="2" charset="2"/>
              <a:buChar char="q"/>
            </a:pPr>
            <a:r>
              <a:rPr lang="ru-RU" dirty="0"/>
              <a:t>Все потоки в пуле потоков являются фоновыми. </a:t>
            </a:r>
            <a:r>
              <a:rPr lang="ru-RU" dirty="0" smtClean="0"/>
              <a:t>Сделать </a:t>
            </a:r>
            <a:r>
              <a:rPr lang="ru-RU" dirty="0"/>
              <a:t>поток из пула приоритетным не удастся.</a:t>
            </a:r>
          </a:p>
          <a:p>
            <a:pPr marL="571500" indent="-571500">
              <a:buFont typeface="Wingdings" panose="05000000000000000000" pitchFamily="2" charset="2"/>
              <a:buChar char="q"/>
            </a:pPr>
            <a:r>
              <a:rPr lang="ru-RU" dirty="0"/>
              <a:t>Нельзя изменять приоритет или имя находящего в пуле </a:t>
            </a:r>
            <a:r>
              <a:rPr lang="ru-RU" dirty="0" smtClean="0"/>
              <a:t>потока.</a:t>
            </a:r>
            <a:endParaRPr lang="ru-RU" dirty="0"/>
          </a:p>
          <a:p>
            <a:pPr marL="571500" indent="-571500">
              <a:buFont typeface="Wingdings" panose="05000000000000000000" pitchFamily="2" charset="2"/>
              <a:buChar char="q"/>
            </a:pPr>
            <a:r>
              <a:rPr lang="ru-RU" dirty="0"/>
              <a:t>Потоки в пуле подходят для выполнения только коротких задач. Если необходимо, чтобы поток функционировал все время (как, например, поток средства проверки орфографии в Word), его следует создавать с помощью класса Thread.</a:t>
            </a:r>
          </a:p>
          <a:p>
            <a:pPr marL="571500" indent="-571500">
              <a:buFont typeface="Wingdings" panose="05000000000000000000" pitchFamily="2" charset="2"/>
              <a:buChar char="q"/>
            </a:pPr>
            <a:r>
              <a:rPr lang="ru-RU" dirty="0" smtClean="0"/>
              <a:t>Созданный </a:t>
            </a:r>
            <a:r>
              <a:rPr lang="ru-RU" dirty="0"/>
              <a:t>поток </a:t>
            </a:r>
            <a:r>
              <a:rPr lang="ru-RU" dirty="0" smtClean="0"/>
              <a:t>невозможно прерывать или </a:t>
            </a:r>
            <a:r>
              <a:rPr lang="ru-RU" dirty="0"/>
              <a:t>находить по имени.</a:t>
            </a:r>
          </a:p>
          <a:p>
            <a:pPr marL="571500" indent="-571500">
              <a:buFont typeface="Wingdings" panose="05000000000000000000" pitchFamily="2" charset="2"/>
              <a:buChar char="q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44</a:t>
            </a:fld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smtClean="0"/>
              <a:t>Кафедра информатики</a:t>
            </a:r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Гламаздин И.И.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831102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Потоки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Синхронизация потоков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45</a:t>
            </a:fld>
            <a:endParaRPr lang="ru-RU"/>
          </a:p>
        </p:txBody>
      </p:sp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smtClean="0"/>
              <a:t>Кафедра информатики</a:t>
            </a:r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Гламаздин И.И.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452432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Синхронизация </a:t>
            </a:r>
            <a:r>
              <a:rPr lang="ru-RU" dirty="0" smtClean="0"/>
              <a:t>потоков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Во многопоточных </a:t>
            </a:r>
            <a:r>
              <a:rPr lang="ru-RU" dirty="0" smtClean="0"/>
              <a:t>приложениях</a:t>
            </a:r>
            <a:r>
              <a:rPr lang="en-US" dirty="0" smtClean="0"/>
              <a:t> </a:t>
            </a:r>
            <a:r>
              <a:rPr lang="ru-RU" dirty="0" smtClean="0"/>
              <a:t>потоки могут использовать общие разделяемые ресурсы: процессорное время, память, файлы, переменные.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46</a:t>
            </a:fld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smtClean="0"/>
              <a:t>Кафедра информатики</a:t>
            </a:r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Гламаздин И.И.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25745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Синхронизация </a:t>
            </a:r>
            <a:r>
              <a:rPr lang="ru-RU" dirty="0" smtClean="0"/>
              <a:t>потоков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Например: все </a:t>
            </a:r>
            <a:r>
              <a:rPr lang="ru-RU" dirty="0"/>
              <a:t>потоки в домене приложений имеют одновременный доступ к общим данным </a:t>
            </a:r>
            <a:r>
              <a:rPr lang="ru-RU" dirty="0" smtClean="0"/>
              <a:t>приложения.</a:t>
            </a:r>
          </a:p>
          <a:p>
            <a:r>
              <a:rPr lang="ru-RU" dirty="0" smtClean="0"/>
              <a:t>Может </a:t>
            </a:r>
            <a:r>
              <a:rPr lang="ru-RU" dirty="0"/>
              <a:t>возникнуть состояние гонок, когда поток А будет считывать данные, в то время как поток </a:t>
            </a:r>
            <a:r>
              <a:rPr lang="en-US" dirty="0"/>
              <a:t>B </a:t>
            </a:r>
            <a:r>
              <a:rPr lang="ru-RU" dirty="0"/>
              <a:t>будет изменять эти данные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47</a:t>
            </a:fld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smtClean="0"/>
              <a:t>Кафедра информатики</a:t>
            </a:r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Гламаздин И.И.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359262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Синхронизация </a:t>
            </a:r>
            <a:r>
              <a:rPr lang="ru-RU" dirty="0" smtClean="0"/>
              <a:t>потоков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Какие данные прочитает поток А – до изменения или после? И какие из этих значений считать правильными? Дело в том, что мы точно не знаем, в какой последовательности планировщик потоков будет выделять кванты времени для каждого потока.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48</a:t>
            </a:fld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smtClean="0"/>
              <a:t>Кафедра информатики</a:t>
            </a:r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Гламаздин И.И.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547861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Синхронизация </a:t>
            </a:r>
            <a:r>
              <a:rPr lang="ru-RU" dirty="0" smtClean="0"/>
              <a:t>потоков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dirty="0" err="1">
                <a:solidFill>
                  <a:srgbClr val="2B91AF"/>
                </a:solidFill>
                <a:latin typeface="Cascadia Mono" panose="020B0609020000020004" pitchFamily="49" charset="0"/>
              </a:rPr>
              <a:t>ConcurrentThread</a:t>
            </a:r>
            <a:endParaRPr lang="en-US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US" dirty="0" smtClean="0">
                <a:solidFill>
                  <a:srgbClr val="2B91AF"/>
                </a:solidFill>
                <a:latin typeface="Cascadia Mono" panose="020B0609020000020004" pitchFamily="49" charset="0"/>
              </a:rPr>
              <a:t>        Random</a:t>
            </a:r>
            <a:r>
              <a:rPr lang="en-US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r = 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  <a:endParaRPr lang="en-US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scadia Mono" panose="020B0609020000020004" pitchFamily="49" charset="0"/>
              </a:rPr>
              <a:t>PrintNumbers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()</a:t>
            </a:r>
          </a:p>
          <a:p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       {</a:t>
            </a:r>
          </a:p>
          <a:p>
            <a:r>
              <a:rPr lang="nn-NO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nn-NO" dirty="0">
                <a:solidFill>
                  <a:srgbClr val="0000FF"/>
                </a:solidFill>
                <a:latin typeface="Cascadia Mono" panose="020B0609020000020004" pitchFamily="49" charset="0"/>
              </a:rPr>
              <a:t>for</a:t>
            </a:r>
            <a:r>
              <a:rPr lang="nn-NO" dirty="0">
                <a:solidFill>
                  <a:srgbClr val="000000"/>
                </a:solidFill>
                <a:latin typeface="Cascadia Mono" panose="020B0609020000020004" pitchFamily="49" charset="0"/>
              </a:rPr>
              <a:t> (</a:t>
            </a:r>
            <a:r>
              <a:rPr lang="nn-NO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nn-NO" dirty="0">
                <a:solidFill>
                  <a:srgbClr val="000000"/>
                </a:solidFill>
                <a:latin typeface="Cascadia Mono" panose="020B0609020000020004" pitchFamily="49" charset="0"/>
              </a:rPr>
              <a:t> i = 0; i &lt; 10; i++)</a:t>
            </a:r>
          </a:p>
          <a:p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{</a:t>
            </a:r>
          </a:p>
          <a:p>
            <a:r>
              <a:rPr lang="ru-RU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ru-RU" dirty="0">
                <a:solidFill>
                  <a:srgbClr val="008000"/>
                </a:solidFill>
                <a:latin typeface="Cascadia Mono" panose="020B0609020000020004" pitchFamily="49" charset="0"/>
              </a:rPr>
              <a:t>// Приостановить поток на случайное время</a:t>
            </a:r>
            <a:endParaRPr lang="ru-RU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dirty="0" smtClean="0">
                <a:solidFill>
                  <a:srgbClr val="2B91AF"/>
                </a:solidFill>
                <a:latin typeface="Cascadia Mono" panose="020B0609020000020004" pitchFamily="49" charset="0"/>
              </a:rPr>
              <a:t>                </a:t>
            </a:r>
            <a:r>
              <a:rPr lang="en-US" dirty="0" err="1" smtClean="0">
                <a:solidFill>
                  <a:srgbClr val="2B91AF"/>
                </a:solidFill>
                <a:latin typeface="Cascadia Mono" panose="020B0609020000020004" pitchFamily="49" charset="0"/>
              </a:rPr>
              <a:t>Thread</a:t>
            </a:r>
            <a:r>
              <a:rPr lang="en-US" dirty="0" err="1" smtClean="0">
                <a:solidFill>
                  <a:srgbClr val="000000"/>
                </a:solidFill>
                <a:latin typeface="Cascadia Mono" panose="020B0609020000020004" pitchFamily="49" charset="0"/>
              </a:rPr>
              <a:t>.Sleep</a:t>
            </a:r>
            <a:r>
              <a:rPr lang="en-US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(100 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* </a:t>
            </a:r>
            <a:r>
              <a:rPr lang="en-US" dirty="0" err="1">
                <a:solidFill>
                  <a:srgbClr val="000000"/>
                </a:solidFill>
                <a:latin typeface="Cascadia Mono" panose="020B0609020000020004" pitchFamily="49" charset="0"/>
              </a:rPr>
              <a:t>r.Next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(5));</a:t>
            </a:r>
          </a:p>
          <a:p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en-US" dirty="0" err="1">
                <a:solidFill>
                  <a:srgbClr val="2B91AF"/>
                </a:solidFill>
                <a:latin typeface="Cascadia Mono" panose="020B0609020000020004" pitchFamily="49" charset="0"/>
              </a:rPr>
              <a:t>Console</a:t>
            </a:r>
            <a:r>
              <a:rPr lang="en-US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.Write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dirty="0">
                <a:solidFill>
                  <a:srgbClr val="A31515"/>
                </a:solidFill>
                <a:latin typeface="Cascadia Mono" panose="020B0609020000020004" pitchFamily="49" charset="0"/>
              </a:rPr>
              <a:t>$"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  <a:r>
              <a:rPr lang="en-US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r>
              <a:rPr lang="en-US" dirty="0">
                <a:solidFill>
                  <a:srgbClr val="A31515"/>
                </a:solidFill>
                <a:latin typeface="Cascadia Mono" panose="020B0609020000020004" pitchFamily="49" charset="0"/>
              </a:rPr>
              <a:t>, "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}</a:t>
            </a:r>
          </a:p>
          <a:p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dirty="0" err="1">
                <a:solidFill>
                  <a:srgbClr val="2B91AF"/>
                </a:solidFill>
                <a:latin typeface="Cascadia Mono" panose="020B0609020000020004" pitchFamily="49" charset="0"/>
              </a:rPr>
              <a:t>Console</a:t>
            </a:r>
            <a:r>
              <a:rPr lang="en-US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.WriteLine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       }</a:t>
            </a:r>
          </a:p>
          <a:p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49</a:t>
            </a:fld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smtClean="0"/>
              <a:t>Кафедра информатики</a:t>
            </a:r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Гламаздин И.И.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78608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Синхронизация </a:t>
            </a:r>
            <a:r>
              <a:rPr lang="ru-RU" dirty="0" smtClean="0"/>
              <a:t>потоков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en-US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 p = </a:t>
            </a:r>
            <a:r>
              <a:rPr lang="en-US" sz="28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ConcurrentThread</a:t>
            </a:r>
            <a:r>
              <a:rPr lang="en-US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r>
              <a:rPr lang="ru-RU" sz="2800" dirty="0" smtClean="0">
                <a:solidFill>
                  <a:srgbClr val="008000"/>
                </a:solidFill>
                <a:latin typeface="Cascadia Mono" panose="020B0609020000020004" pitchFamily="49" charset="0"/>
              </a:rPr>
              <a:t>// </a:t>
            </a:r>
            <a:r>
              <a:rPr lang="ru-RU" sz="2800" dirty="0">
                <a:solidFill>
                  <a:srgbClr val="008000"/>
                </a:solidFill>
                <a:latin typeface="Cascadia Mono" panose="020B0609020000020004" pitchFamily="49" charset="0"/>
              </a:rPr>
              <a:t>Создать 10 потоков</a:t>
            </a:r>
            <a:endParaRPr lang="ru-RU" sz="2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2B91AF"/>
                </a:solidFill>
                <a:latin typeface="Cascadia Mono" panose="020B0609020000020004" pitchFamily="49" charset="0"/>
              </a:rPr>
              <a:t>Thread</a:t>
            </a:r>
            <a:r>
              <a:rPr lang="en-US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[] threads = </a:t>
            </a:r>
            <a:r>
              <a:rPr lang="en-US" sz="28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2B91AF"/>
                </a:solidFill>
                <a:latin typeface="Cascadia Mono" panose="020B0609020000020004" pitchFamily="49" charset="0"/>
              </a:rPr>
              <a:t>Thread</a:t>
            </a:r>
            <a:r>
              <a:rPr lang="en-US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[10];</a:t>
            </a:r>
          </a:p>
          <a:p>
            <a:r>
              <a:rPr lang="nn-NO" sz="28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for</a:t>
            </a:r>
            <a:r>
              <a:rPr lang="nn-NO" sz="28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nn-NO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nn-NO" sz="28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nn-NO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 i = 0; i &lt; 10; i++)</a:t>
            </a:r>
          </a:p>
          <a:p>
            <a:r>
              <a:rPr lang="en-US" sz="28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  <a:endParaRPr lang="en-US" sz="2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8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 threads[</a:t>
            </a:r>
            <a:r>
              <a:rPr lang="en-US" sz="2800" dirty="0" err="1" smtClean="0">
                <a:solidFill>
                  <a:srgbClr val="000000"/>
                </a:solidFill>
                <a:latin typeface="Cascadia Mono" panose="020B0609020000020004" pitchFamily="49" charset="0"/>
              </a:rPr>
              <a:t>i</a:t>
            </a:r>
            <a:r>
              <a:rPr lang="en-US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] =</a:t>
            </a:r>
          </a:p>
          <a:p>
            <a:r>
              <a:rPr lang="en-US" sz="28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  new</a:t>
            </a:r>
            <a:r>
              <a:rPr lang="en-US" sz="28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2B91AF"/>
                </a:solidFill>
                <a:latin typeface="Cascadia Mono" panose="020B0609020000020004" pitchFamily="49" charset="0"/>
              </a:rPr>
              <a:t>Thread</a:t>
            </a:r>
            <a:r>
              <a:rPr lang="en-US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2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p.PrintNumbers</a:t>
            </a:r>
            <a:r>
              <a:rPr lang="en-US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en-US" sz="28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en-US" sz="2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ru-RU" sz="2800" dirty="0" smtClean="0">
                <a:solidFill>
                  <a:srgbClr val="008000"/>
                </a:solidFill>
                <a:latin typeface="Cascadia Mono" panose="020B0609020000020004" pitchFamily="49" charset="0"/>
              </a:rPr>
              <a:t>// </a:t>
            </a:r>
            <a:r>
              <a:rPr lang="ru-RU" sz="2800" dirty="0">
                <a:solidFill>
                  <a:srgbClr val="008000"/>
                </a:solidFill>
                <a:latin typeface="Cascadia Mono" panose="020B0609020000020004" pitchFamily="49" charset="0"/>
              </a:rPr>
              <a:t>Запустить все потоки</a:t>
            </a:r>
            <a:endParaRPr lang="ru-RU" sz="2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800" dirty="0" err="1" smtClean="0">
                <a:solidFill>
                  <a:srgbClr val="0000FF"/>
                </a:solidFill>
                <a:latin typeface="Cascadia Mono" panose="020B0609020000020004" pitchFamily="49" charset="0"/>
              </a:rPr>
              <a:t>foreach</a:t>
            </a:r>
            <a:r>
              <a:rPr lang="en-US" sz="28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2B91AF"/>
                </a:solidFill>
                <a:latin typeface="Cascadia Mono" panose="020B0609020000020004" pitchFamily="49" charset="0"/>
              </a:rPr>
              <a:t>Thread</a:t>
            </a:r>
            <a:r>
              <a:rPr lang="en-US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 t </a:t>
            </a:r>
            <a:r>
              <a:rPr lang="en-US" sz="2800" dirty="0">
                <a:solidFill>
                  <a:srgbClr val="0000FF"/>
                </a:solidFill>
                <a:latin typeface="Cascadia Mono" panose="020B0609020000020004" pitchFamily="49" charset="0"/>
              </a:rPr>
              <a:t>in</a:t>
            </a:r>
            <a:r>
              <a:rPr lang="en-US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 threads)</a:t>
            </a:r>
          </a:p>
          <a:p>
            <a:r>
              <a:rPr lang="en-US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en-US" sz="2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t.Start</a:t>
            </a:r>
            <a:r>
              <a:rPr lang="en-US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r>
              <a:rPr lang="en-US" sz="28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Console</a:t>
            </a:r>
            <a:r>
              <a:rPr lang="en-US" sz="2800" dirty="0" err="1" smtClean="0">
                <a:solidFill>
                  <a:srgbClr val="000000"/>
                </a:solidFill>
                <a:latin typeface="Cascadia Mono" panose="020B0609020000020004" pitchFamily="49" charset="0"/>
              </a:rPr>
              <a:t>.ReadLine</a:t>
            </a:r>
            <a:r>
              <a:rPr lang="en-US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50</a:t>
            </a:fld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smtClean="0"/>
              <a:t>Кафедра информатики</a:t>
            </a:r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Гламаздин И.И.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580534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Синхронизация потоков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</a:t>
            </a:r>
            <a:r>
              <a:rPr lang="ru-RU" dirty="0" smtClean="0"/>
              <a:t>орядок </a:t>
            </a:r>
            <a:r>
              <a:rPr lang="ru-RU" dirty="0"/>
              <a:t>выполнения </a:t>
            </a:r>
            <a:r>
              <a:rPr lang="ru-RU" dirty="0" smtClean="0"/>
              <a:t>созданных потоков </a:t>
            </a:r>
            <a:r>
              <a:rPr lang="ru-RU" dirty="0"/>
              <a:t>абсолютно непредсказуем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51</a:t>
            </a:fld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smtClean="0"/>
              <a:t>Кафедра информатики</a:t>
            </a:r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Гламаздин И.И.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681734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Синхронизация потоков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Для синхронизации работы потоков используются разные объекты – </a:t>
            </a:r>
            <a:r>
              <a:rPr lang="en-US" dirty="0"/>
              <a:t>Monitor</a:t>
            </a:r>
            <a:r>
              <a:rPr lang="ru-RU" dirty="0"/>
              <a:t>, </a:t>
            </a:r>
            <a:r>
              <a:rPr lang="en-US" dirty="0" err="1"/>
              <a:t>Mutex</a:t>
            </a:r>
            <a:r>
              <a:rPr lang="ru-RU" dirty="0"/>
              <a:t>, </a:t>
            </a:r>
            <a:r>
              <a:rPr lang="en-US" dirty="0"/>
              <a:t>Semaphore </a:t>
            </a:r>
            <a:r>
              <a:rPr lang="ru-RU" dirty="0"/>
              <a:t>и др.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52</a:t>
            </a:fld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smtClean="0"/>
              <a:t>Кафедра информатики</a:t>
            </a:r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Гламаздин И.И.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884773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Синхронизация </a:t>
            </a:r>
            <a:r>
              <a:rPr lang="ru-RU" dirty="0" smtClean="0"/>
              <a:t>потоков</a:t>
            </a:r>
            <a:r>
              <a:rPr lang="en-US" dirty="0" smtClean="0"/>
              <a:t> (</a:t>
            </a:r>
            <a:r>
              <a:rPr lang="ru-RU" dirty="0" smtClean="0"/>
              <a:t>критическая секция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Ключевое слово </a:t>
            </a:r>
            <a:r>
              <a:rPr lang="en-US" b="1" i="1" dirty="0" smtClean="0"/>
              <a:t>lock</a:t>
            </a:r>
            <a:r>
              <a:rPr lang="ru-RU" dirty="0" smtClean="0"/>
              <a:t> </a:t>
            </a:r>
            <a:r>
              <a:rPr lang="ru-RU" dirty="0"/>
              <a:t>позволяет определить область </a:t>
            </a:r>
            <a:r>
              <a:rPr lang="ru-RU" dirty="0" smtClean="0"/>
              <a:t>операторов</a:t>
            </a:r>
            <a:r>
              <a:rPr lang="en-US" dirty="0" smtClean="0"/>
              <a:t> (</a:t>
            </a:r>
            <a:r>
              <a:rPr lang="ru-RU" dirty="0" smtClean="0"/>
              <a:t>критическую секцию</a:t>
            </a:r>
            <a:r>
              <a:rPr lang="en-US" dirty="0" smtClean="0"/>
              <a:t>)</a:t>
            </a:r>
            <a:r>
              <a:rPr lang="ru-RU" dirty="0" smtClean="0"/>
              <a:t>, </a:t>
            </a:r>
            <a:r>
              <a:rPr lang="ru-RU" dirty="0"/>
              <a:t>которые должны быть синхронизированы между потоками</a:t>
            </a:r>
            <a:r>
              <a:rPr lang="ru-RU" dirty="0" smtClean="0"/>
              <a:t>.</a:t>
            </a:r>
          </a:p>
          <a:p>
            <a:endParaRPr lang="ru-RU" dirty="0"/>
          </a:p>
          <a:p>
            <a:r>
              <a:rPr lang="en-US" dirty="0"/>
              <a:t>lock</a:t>
            </a:r>
            <a:r>
              <a:rPr lang="ru-RU" dirty="0"/>
              <a:t>(</a:t>
            </a:r>
            <a:r>
              <a:rPr lang="en-US" dirty="0" err="1"/>
              <a:t>lockObj</a:t>
            </a:r>
            <a:r>
              <a:rPr lang="ru-RU" dirty="0"/>
              <a:t>) </a:t>
            </a:r>
            <a:endParaRPr lang="en-US" dirty="0"/>
          </a:p>
          <a:p>
            <a:r>
              <a:rPr lang="ru-RU" dirty="0"/>
              <a:t>	{синхронизируемые операторы } </a:t>
            </a:r>
            <a:endParaRPr lang="en-US" dirty="0"/>
          </a:p>
          <a:p>
            <a:r>
              <a:rPr lang="ru-RU" dirty="0" smtClean="0"/>
              <a:t>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53</a:t>
            </a:fld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smtClean="0"/>
              <a:t>Кафедра информатики</a:t>
            </a:r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Гламаздин И.И.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06847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Синхронизация </a:t>
            </a:r>
            <a:r>
              <a:rPr lang="ru-RU" dirty="0" smtClean="0"/>
              <a:t>потоков</a:t>
            </a:r>
            <a:r>
              <a:rPr lang="en-US" dirty="0" smtClean="0"/>
              <a:t> (</a:t>
            </a:r>
            <a:r>
              <a:rPr lang="ru-RU" dirty="0" smtClean="0"/>
              <a:t>критическая секция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0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000" dirty="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0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ConcurrentThread</a:t>
            </a:r>
            <a:endParaRPr lang="en-US" sz="20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0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  <a:endParaRPr lang="en-US" sz="20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pPr lvl="1" indent="0">
              <a:buNone/>
            </a:pPr>
            <a:r>
              <a:rPr lang="en-US" sz="20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    object</a:t>
            </a:r>
            <a:r>
              <a:rPr lang="en-US" sz="20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locker = </a:t>
            </a:r>
            <a:r>
              <a:rPr lang="en-US" sz="20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000" dirty="0">
                <a:solidFill>
                  <a:srgbClr val="0000FF"/>
                </a:solidFill>
                <a:latin typeface="Cascadia Mono" panose="020B0609020000020004" pitchFamily="49" charset="0"/>
              </a:rPr>
              <a:t>object</a:t>
            </a:r>
            <a:r>
              <a:rPr lang="en-US" sz="20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pPr lvl="1" indent="0">
              <a:buNone/>
            </a:pPr>
            <a:r>
              <a:rPr lang="en-US" sz="20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2000" dirty="0">
                <a:solidFill>
                  <a:srgbClr val="2B91AF"/>
                </a:solidFill>
                <a:latin typeface="Cascadia Mono" panose="020B0609020000020004" pitchFamily="49" charset="0"/>
              </a:rPr>
              <a:t>Random</a:t>
            </a:r>
            <a:r>
              <a:rPr lang="en-US" sz="20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r = </a:t>
            </a:r>
            <a:r>
              <a:rPr lang="en-US" sz="20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000" dirty="0">
                <a:solidFill>
                  <a:srgbClr val="2B91AF"/>
                </a:solidFill>
                <a:latin typeface="Cascadia Mono" panose="020B0609020000020004" pitchFamily="49" charset="0"/>
              </a:rPr>
              <a:t>Random</a:t>
            </a:r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pPr lvl="1" indent="0">
              <a:buNone/>
            </a:pPr>
            <a:endParaRPr lang="en-US" sz="20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0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   public</a:t>
            </a:r>
            <a:r>
              <a:rPr lang="en-US" sz="20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000" dirty="0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PrintNumbers</a:t>
            </a:r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()</a:t>
            </a:r>
          </a:p>
          <a:p>
            <a:r>
              <a:rPr lang="en-US" sz="20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  {              </a:t>
            </a:r>
            <a:endParaRPr lang="en-US" sz="20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0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      lock</a:t>
            </a:r>
            <a:r>
              <a:rPr lang="en-US" sz="20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(locker)</a:t>
            </a:r>
          </a:p>
          <a:p>
            <a:endParaRPr lang="en-US" sz="20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nn-NO" sz="20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      for</a:t>
            </a:r>
            <a:r>
              <a:rPr lang="nn-NO" sz="20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nn-NO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nn-NO" sz="20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nn-NO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 i = 0; i &lt; 10; i++)</a:t>
            </a:r>
          </a:p>
          <a:p>
            <a:r>
              <a:rPr lang="en-US" sz="20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     {</a:t>
            </a:r>
            <a:endParaRPr lang="en-US" sz="20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000" dirty="0" smtClean="0">
                <a:solidFill>
                  <a:srgbClr val="008000"/>
                </a:solidFill>
                <a:latin typeface="Cascadia Mono" panose="020B0609020000020004" pitchFamily="49" charset="0"/>
              </a:rPr>
              <a:t>        </a:t>
            </a:r>
            <a:r>
              <a:rPr lang="ru-RU" sz="2000" dirty="0" smtClean="0">
                <a:solidFill>
                  <a:srgbClr val="008000"/>
                </a:solidFill>
                <a:latin typeface="Cascadia Mono" panose="020B0609020000020004" pitchFamily="49" charset="0"/>
              </a:rPr>
              <a:t>// </a:t>
            </a:r>
            <a:r>
              <a:rPr lang="ru-RU" sz="2000" dirty="0">
                <a:solidFill>
                  <a:srgbClr val="008000"/>
                </a:solidFill>
                <a:latin typeface="Cascadia Mono" panose="020B0609020000020004" pitchFamily="49" charset="0"/>
              </a:rPr>
              <a:t>Приостановить поток на случайное время</a:t>
            </a:r>
            <a:endParaRPr lang="ru-RU" sz="20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0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20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Thread</a:t>
            </a:r>
            <a:r>
              <a:rPr lang="en-US" sz="2000" dirty="0" err="1" smtClean="0">
                <a:solidFill>
                  <a:srgbClr val="000000"/>
                </a:solidFill>
                <a:latin typeface="Cascadia Mono" panose="020B0609020000020004" pitchFamily="49" charset="0"/>
              </a:rPr>
              <a:t>.Sleep</a:t>
            </a:r>
            <a:r>
              <a:rPr lang="en-US" sz="20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(100 </a:t>
            </a:r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* </a:t>
            </a:r>
            <a:r>
              <a:rPr lang="en-US" sz="2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r.Next</a:t>
            </a:r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(5));</a:t>
            </a:r>
          </a:p>
          <a:p>
            <a:r>
              <a:rPr lang="en-US" sz="20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20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Console</a:t>
            </a:r>
            <a:r>
              <a:rPr lang="en-US" sz="2000" dirty="0" err="1" smtClean="0">
                <a:solidFill>
                  <a:srgbClr val="000000"/>
                </a:solidFill>
                <a:latin typeface="Cascadia Mono" panose="020B0609020000020004" pitchFamily="49" charset="0"/>
              </a:rPr>
              <a:t>.Write</a:t>
            </a:r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2000" dirty="0">
                <a:solidFill>
                  <a:srgbClr val="A31515"/>
                </a:solidFill>
                <a:latin typeface="Cascadia Mono" panose="020B0609020000020004" pitchFamily="49" charset="0"/>
              </a:rPr>
              <a:t>$"</a:t>
            </a:r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  <a:r>
              <a:rPr lang="en-US" sz="2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</a:t>
            </a:r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r>
              <a:rPr lang="en-US" sz="2000" dirty="0">
                <a:solidFill>
                  <a:srgbClr val="A31515"/>
                </a:solidFill>
                <a:latin typeface="Cascadia Mono" panose="020B0609020000020004" pitchFamily="49" charset="0"/>
              </a:rPr>
              <a:t>, "</a:t>
            </a:r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en-US" sz="20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     }</a:t>
            </a:r>
            <a:endParaRPr lang="en-US" sz="20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0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     </a:t>
            </a:r>
            <a:r>
              <a:rPr lang="en-US" sz="20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Console</a:t>
            </a:r>
            <a:r>
              <a:rPr lang="en-US" sz="2000" dirty="0" err="1" smtClean="0">
                <a:solidFill>
                  <a:srgbClr val="000000"/>
                </a:solidFill>
                <a:latin typeface="Cascadia Mono" panose="020B0609020000020004" pitchFamily="49" charset="0"/>
              </a:rPr>
              <a:t>.WriteLine</a:t>
            </a:r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r>
              <a:rPr lang="en-US" sz="20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  }</a:t>
            </a:r>
            <a:endParaRPr lang="en-US" sz="20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0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54</a:t>
            </a:fld>
            <a:endParaRPr lang="ru-RU"/>
          </a:p>
        </p:txBody>
      </p:sp>
      <p:sp>
        <p:nvSpPr>
          <p:cNvPr id="5" name="Left Arrow 4"/>
          <p:cNvSpPr/>
          <p:nvPr/>
        </p:nvSpPr>
        <p:spPr>
          <a:xfrm>
            <a:off x="5307540" y="1907642"/>
            <a:ext cx="1715589" cy="721472"/>
          </a:xfrm>
          <a:prstGeom prst="leftArrow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Left Arrow 5"/>
          <p:cNvSpPr/>
          <p:nvPr/>
        </p:nvSpPr>
        <p:spPr>
          <a:xfrm>
            <a:off x="3461323" y="3297535"/>
            <a:ext cx="1715589" cy="721472"/>
          </a:xfrm>
          <a:prstGeom prst="leftArrow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/>
          <p:cNvSpPr/>
          <p:nvPr/>
        </p:nvSpPr>
        <p:spPr>
          <a:xfrm>
            <a:off x="1123406" y="4019007"/>
            <a:ext cx="6792685" cy="1998616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Дата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smtClean="0"/>
              <a:t>Кафедра информатики</a:t>
            </a:r>
            <a:endParaRPr lang="ru-RU" dirty="0"/>
          </a:p>
        </p:txBody>
      </p:sp>
      <p:sp>
        <p:nvSpPr>
          <p:cNvPr id="9" name="Нижний колонтитул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Гламаздин И.И.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299889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Синхронизация </a:t>
            </a:r>
            <a:r>
              <a:rPr lang="ru-RU" dirty="0" smtClean="0"/>
              <a:t>потоков</a:t>
            </a:r>
            <a:r>
              <a:rPr lang="en-US" dirty="0" smtClean="0"/>
              <a:t> </a:t>
            </a:r>
            <a:r>
              <a:rPr lang="en-US" dirty="0" smtClean="0"/>
              <a:t>(</a:t>
            </a:r>
            <a:r>
              <a:rPr lang="ru-RU" dirty="0" smtClean="0"/>
              <a:t>класс </a:t>
            </a:r>
            <a:r>
              <a:rPr lang="en-GB" dirty="0" smtClean="0"/>
              <a:t>Lock  - C#13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0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000" dirty="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0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ConcurrentThread</a:t>
            </a:r>
            <a:endParaRPr lang="en-US" sz="20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0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  <a:endParaRPr lang="en-US" sz="20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pPr lvl="1" indent="0">
              <a:buNone/>
            </a:pPr>
            <a:r>
              <a:rPr lang="en-US" sz="20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    </a:t>
            </a:r>
            <a:r>
              <a:rPr lang="en-GB" sz="20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Lock</a:t>
            </a:r>
            <a:r>
              <a:rPr lang="en-US" sz="20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locker = </a:t>
            </a:r>
            <a:r>
              <a:rPr lang="en-US" sz="20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20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  <a:endParaRPr lang="en-US" sz="2000" dirty="0" smtClean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pPr lvl="1" indent="0">
              <a:buNone/>
            </a:pPr>
            <a:r>
              <a:rPr lang="en-US" sz="20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2000" dirty="0">
                <a:solidFill>
                  <a:srgbClr val="2B91AF"/>
                </a:solidFill>
                <a:latin typeface="Cascadia Mono" panose="020B0609020000020004" pitchFamily="49" charset="0"/>
              </a:rPr>
              <a:t>Random</a:t>
            </a:r>
            <a:r>
              <a:rPr lang="en-US" sz="20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r = </a:t>
            </a:r>
            <a:r>
              <a:rPr lang="en-US" sz="20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000" dirty="0">
                <a:solidFill>
                  <a:srgbClr val="2B91AF"/>
                </a:solidFill>
                <a:latin typeface="Cascadia Mono" panose="020B0609020000020004" pitchFamily="49" charset="0"/>
              </a:rPr>
              <a:t>Random</a:t>
            </a:r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pPr lvl="1" indent="0">
              <a:buNone/>
            </a:pPr>
            <a:endParaRPr lang="en-US" sz="20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0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   public</a:t>
            </a:r>
            <a:r>
              <a:rPr lang="en-US" sz="20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000" dirty="0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PrintNumbers</a:t>
            </a:r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()</a:t>
            </a:r>
          </a:p>
          <a:p>
            <a:r>
              <a:rPr lang="en-US" sz="20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  {              </a:t>
            </a:r>
            <a:endParaRPr lang="en-US" sz="20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0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      lock</a:t>
            </a:r>
            <a:r>
              <a:rPr lang="en-US" sz="20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(locker)</a:t>
            </a:r>
          </a:p>
          <a:p>
            <a:endParaRPr lang="en-US" sz="20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nn-NO" sz="20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      for</a:t>
            </a:r>
            <a:r>
              <a:rPr lang="nn-NO" sz="20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nn-NO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nn-NO" sz="20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nn-NO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 i = 0; i &lt; 10; i++)</a:t>
            </a:r>
          </a:p>
          <a:p>
            <a:r>
              <a:rPr lang="en-US" sz="20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     {</a:t>
            </a:r>
            <a:endParaRPr lang="en-US" sz="20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000" dirty="0" smtClean="0">
                <a:solidFill>
                  <a:srgbClr val="008000"/>
                </a:solidFill>
                <a:latin typeface="Cascadia Mono" panose="020B0609020000020004" pitchFamily="49" charset="0"/>
              </a:rPr>
              <a:t>        </a:t>
            </a:r>
            <a:r>
              <a:rPr lang="ru-RU" sz="2000" dirty="0" smtClean="0">
                <a:solidFill>
                  <a:srgbClr val="008000"/>
                </a:solidFill>
                <a:latin typeface="Cascadia Mono" panose="020B0609020000020004" pitchFamily="49" charset="0"/>
              </a:rPr>
              <a:t>// </a:t>
            </a:r>
            <a:r>
              <a:rPr lang="ru-RU" sz="2000" dirty="0">
                <a:solidFill>
                  <a:srgbClr val="008000"/>
                </a:solidFill>
                <a:latin typeface="Cascadia Mono" panose="020B0609020000020004" pitchFamily="49" charset="0"/>
              </a:rPr>
              <a:t>Приостановить поток на случайное время</a:t>
            </a:r>
            <a:endParaRPr lang="ru-RU" sz="20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0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20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Thread</a:t>
            </a:r>
            <a:r>
              <a:rPr lang="en-US" sz="2000" dirty="0" err="1" smtClean="0">
                <a:solidFill>
                  <a:srgbClr val="000000"/>
                </a:solidFill>
                <a:latin typeface="Cascadia Mono" panose="020B0609020000020004" pitchFamily="49" charset="0"/>
              </a:rPr>
              <a:t>.Sleep</a:t>
            </a:r>
            <a:r>
              <a:rPr lang="en-US" sz="20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(100 </a:t>
            </a:r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* </a:t>
            </a:r>
            <a:r>
              <a:rPr lang="en-US" sz="2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r.Next</a:t>
            </a:r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(5));</a:t>
            </a:r>
          </a:p>
          <a:p>
            <a:r>
              <a:rPr lang="en-US" sz="20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20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Console</a:t>
            </a:r>
            <a:r>
              <a:rPr lang="en-US" sz="2000" dirty="0" err="1" smtClean="0">
                <a:solidFill>
                  <a:srgbClr val="000000"/>
                </a:solidFill>
                <a:latin typeface="Cascadia Mono" panose="020B0609020000020004" pitchFamily="49" charset="0"/>
              </a:rPr>
              <a:t>.Write</a:t>
            </a:r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2000" dirty="0">
                <a:solidFill>
                  <a:srgbClr val="A31515"/>
                </a:solidFill>
                <a:latin typeface="Cascadia Mono" panose="020B0609020000020004" pitchFamily="49" charset="0"/>
              </a:rPr>
              <a:t>$"</a:t>
            </a:r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  <a:r>
              <a:rPr lang="en-US" sz="2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</a:t>
            </a:r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r>
              <a:rPr lang="en-US" sz="2000" dirty="0">
                <a:solidFill>
                  <a:srgbClr val="A31515"/>
                </a:solidFill>
                <a:latin typeface="Cascadia Mono" panose="020B0609020000020004" pitchFamily="49" charset="0"/>
              </a:rPr>
              <a:t>, "</a:t>
            </a:r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en-US" sz="20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     }</a:t>
            </a:r>
            <a:endParaRPr lang="en-US" sz="20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0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     </a:t>
            </a:r>
            <a:r>
              <a:rPr lang="en-US" sz="20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Console</a:t>
            </a:r>
            <a:r>
              <a:rPr lang="en-US" sz="2000" dirty="0" err="1" smtClean="0">
                <a:solidFill>
                  <a:srgbClr val="000000"/>
                </a:solidFill>
                <a:latin typeface="Cascadia Mono" panose="020B0609020000020004" pitchFamily="49" charset="0"/>
              </a:rPr>
              <a:t>.WriteLine</a:t>
            </a:r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r>
              <a:rPr lang="en-US" sz="20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  }</a:t>
            </a:r>
            <a:endParaRPr lang="en-US" sz="20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0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55</a:t>
            </a:fld>
            <a:endParaRPr lang="ru-RU"/>
          </a:p>
        </p:txBody>
      </p:sp>
      <p:sp>
        <p:nvSpPr>
          <p:cNvPr id="5" name="Left Arrow 4"/>
          <p:cNvSpPr/>
          <p:nvPr/>
        </p:nvSpPr>
        <p:spPr>
          <a:xfrm>
            <a:off x="5307540" y="1907642"/>
            <a:ext cx="1715589" cy="721472"/>
          </a:xfrm>
          <a:prstGeom prst="leftArrow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Left Arrow 5"/>
          <p:cNvSpPr/>
          <p:nvPr/>
        </p:nvSpPr>
        <p:spPr>
          <a:xfrm>
            <a:off x="3461323" y="3297535"/>
            <a:ext cx="1715589" cy="721472"/>
          </a:xfrm>
          <a:prstGeom prst="leftArrow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/>
          <p:cNvSpPr/>
          <p:nvPr/>
        </p:nvSpPr>
        <p:spPr>
          <a:xfrm>
            <a:off x="1123406" y="4019007"/>
            <a:ext cx="6792685" cy="1998616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Дата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smtClean="0"/>
              <a:t>Кафедра информатики</a:t>
            </a:r>
            <a:endParaRPr lang="ru-RU" dirty="0"/>
          </a:p>
        </p:txBody>
      </p:sp>
      <p:sp>
        <p:nvSpPr>
          <p:cNvPr id="9" name="Нижний колонтитул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Гламаздин И.И.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017607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Синхронизация </a:t>
            </a:r>
            <a:r>
              <a:rPr lang="ru-RU" dirty="0" smtClean="0"/>
              <a:t>потоков</a:t>
            </a:r>
            <a:r>
              <a:rPr lang="en-US" dirty="0" smtClean="0"/>
              <a:t> </a:t>
            </a:r>
            <a:r>
              <a:rPr lang="en-US" dirty="0" smtClean="0"/>
              <a:t>(</a:t>
            </a:r>
            <a:r>
              <a:rPr lang="ru-RU" dirty="0" smtClean="0"/>
              <a:t>класс </a:t>
            </a:r>
            <a:r>
              <a:rPr lang="en-GB" dirty="0" smtClean="0"/>
              <a:t>Lock  - C#13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0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000" dirty="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0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ConcurrentThread</a:t>
            </a:r>
            <a:endParaRPr lang="en-US" sz="20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0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  <a:endParaRPr lang="en-US" sz="20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pPr lvl="1" indent="0">
              <a:buNone/>
            </a:pPr>
            <a:r>
              <a:rPr lang="en-US" sz="20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    </a:t>
            </a:r>
            <a:r>
              <a:rPr lang="en-GB" sz="20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Lock</a:t>
            </a:r>
            <a:r>
              <a:rPr lang="en-US" sz="20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locker = </a:t>
            </a:r>
            <a:r>
              <a:rPr lang="en-US" sz="20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20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  <a:endParaRPr lang="en-US" sz="2000" dirty="0" smtClean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pPr lvl="1" indent="0">
              <a:buNone/>
            </a:pPr>
            <a:r>
              <a:rPr lang="en-US" sz="20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2000" dirty="0">
                <a:solidFill>
                  <a:srgbClr val="2B91AF"/>
                </a:solidFill>
                <a:latin typeface="Cascadia Mono" panose="020B0609020000020004" pitchFamily="49" charset="0"/>
              </a:rPr>
              <a:t>Random</a:t>
            </a:r>
            <a:r>
              <a:rPr lang="en-US" sz="20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r = </a:t>
            </a:r>
            <a:r>
              <a:rPr lang="en-US" sz="20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000" dirty="0">
                <a:solidFill>
                  <a:srgbClr val="2B91AF"/>
                </a:solidFill>
                <a:latin typeface="Cascadia Mono" panose="020B0609020000020004" pitchFamily="49" charset="0"/>
              </a:rPr>
              <a:t>Random</a:t>
            </a:r>
            <a:r>
              <a:rPr lang="en-US" sz="20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  <a:endParaRPr lang="en-US" sz="20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0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   public</a:t>
            </a:r>
            <a:r>
              <a:rPr lang="en-US" sz="20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000" dirty="0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PrintNumbers</a:t>
            </a:r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()</a:t>
            </a:r>
          </a:p>
          <a:p>
            <a:r>
              <a:rPr lang="en-US" sz="20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  {              </a:t>
            </a:r>
            <a:endParaRPr lang="en-US" sz="20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0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      </a:t>
            </a:r>
            <a:r>
              <a:rPr lang="en-US" sz="2000" dirty="0" err="1" smtClean="0">
                <a:solidFill>
                  <a:srgbClr val="000000"/>
                </a:solidFill>
                <a:latin typeface="Cascadia Mono" panose="020B0609020000020004" pitchFamily="49" charset="0"/>
              </a:rPr>
              <a:t>locker</a:t>
            </a:r>
            <a:r>
              <a:rPr lang="en-US" sz="2000" dirty="0" err="1" smtClean="0">
                <a:solidFill>
                  <a:srgbClr val="000000"/>
                </a:solidFill>
                <a:latin typeface="Cascadia Mono" panose="020B0609020000020004" pitchFamily="49" charset="0"/>
              </a:rPr>
              <a:t>.Enter</a:t>
            </a:r>
            <a:r>
              <a:rPr lang="en-US" sz="20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  <a:endParaRPr lang="en-US" sz="2000" dirty="0" smtClean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endParaRPr lang="en-US" sz="20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nn-NO" sz="20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      for</a:t>
            </a:r>
            <a:r>
              <a:rPr lang="nn-NO" sz="20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nn-NO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nn-NO" sz="20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nn-NO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 i = 0; i &lt; 10; i++)</a:t>
            </a:r>
          </a:p>
          <a:p>
            <a:r>
              <a:rPr lang="en-US" sz="20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     {</a:t>
            </a:r>
            <a:endParaRPr lang="en-US" sz="20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000" dirty="0" smtClean="0">
                <a:solidFill>
                  <a:srgbClr val="008000"/>
                </a:solidFill>
                <a:latin typeface="Cascadia Mono" panose="020B0609020000020004" pitchFamily="49" charset="0"/>
              </a:rPr>
              <a:t>        </a:t>
            </a:r>
            <a:r>
              <a:rPr lang="ru-RU" sz="2000" dirty="0" smtClean="0">
                <a:solidFill>
                  <a:srgbClr val="008000"/>
                </a:solidFill>
                <a:latin typeface="Cascadia Mono" panose="020B0609020000020004" pitchFamily="49" charset="0"/>
              </a:rPr>
              <a:t>// </a:t>
            </a:r>
            <a:r>
              <a:rPr lang="ru-RU" sz="2000" dirty="0">
                <a:solidFill>
                  <a:srgbClr val="008000"/>
                </a:solidFill>
                <a:latin typeface="Cascadia Mono" panose="020B0609020000020004" pitchFamily="49" charset="0"/>
              </a:rPr>
              <a:t>Приостановить поток на случайное время</a:t>
            </a:r>
            <a:endParaRPr lang="ru-RU" sz="20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0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20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Thread</a:t>
            </a:r>
            <a:r>
              <a:rPr lang="en-US" sz="2000" dirty="0" err="1" smtClean="0">
                <a:solidFill>
                  <a:srgbClr val="000000"/>
                </a:solidFill>
                <a:latin typeface="Cascadia Mono" panose="020B0609020000020004" pitchFamily="49" charset="0"/>
              </a:rPr>
              <a:t>.Sleep</a:t>
            </a:r>
            <a:r>
              <a:rPr lang="en-US" sz="20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(100 </a:t>
            </a:r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* </a:t>
            </a:r>
            <a:r>
              <a:rPr lang="en-US" sz="2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r.Next</a:t>
            </a:r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(5));</a:t>
            </a:r>
          </a:p>
          <a:p>
            <a:r>
              <a:rPr lang="en-US" sz="20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20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Console</a:t>
            </a:r>
            <a:r>
              <a:rPr lang="en-US" sz="2000" dirty="0" err="1" smtClean="0">
                <a:solidFill>
                  <a:srgbClr val="000000"/>
                </a:solidFill>
                <a:latin typeface="Cascadia Mono" panose="020B0609020000020004" pitchFamily="49" charset="0"/>
              </a:rPr>
              <a:t>.Write</a:t>
            </a:r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2000" dirty="0">
                <a:solidFill>
                  <a:srgbClr val="A31515"/>
                </a:solidFill>
                <a:latin typeface="Cascadia Mono" panose="020B0609020000020004" pitchFamily="49" charset="0"/>
              </a:rPr>
              <a:t>$"</a:t>
            </a:r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  <a:r>
              <a:rPr lang="en-US" sz="2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</a:t>
            </a:r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r>
              <a:rPr lang="en-US" sz="2000" dirty="0">
                <a:solidFill>
                  <a:srgbClr val="A31515"/>
                </a:solidFill>
                <a:latin typeface="Cascadia Mono" panose="020B0609020000020004" pitchFamily="49" charset="0"/>
              </a:rPr>
              <a:t>, "</a:t>
            </a:r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en-US" sz="20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     </a:t>
            </a:r>
            <a:r>
              <a:rPr lang="en-US" sz="20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</a:p>
          <a:p>
            <a:pPr lvl="1" indent="0">
              <a:buNone/>
            </a:pPr>
            <a:r>
              <a:rPr lang="en-GB" sz="20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    </a:t>
            </a:r>
            <a:r>
              <a:rPr lang="en-US" sz="2000" dirty="0" err="1" smtClean="0">
                <a:solidFill>
                  <a:srgbClr val="000000"/>
                </a:solidFill>
                <a:latin typeface="Cascadia Mono" panose="020B0609020000020004" pitchFamily="49" charset="0"/>
              </a:rPr>
              <a:t>locker.Exit</a:t>
            </a:r>
            <a:r>
              <a:rPr lang="en-US" sz="20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  <a:endParaRPr lang="en-US" sz="20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0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     </a:t>
            </a:r>
            <a:r>
              <a:rPr lang="en-US" sz="20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Console</a:t>
            </a:r>
            <a:r>
              <a:rPr lang="en-US" sz="2000" dirty="0" err="1" smtClean="0">
                <a:solidFill>
                  <a:srgbClr val="000000"/>
                </a:solidFill>
                <a:latin typeface="Cascadia Mono" panose="020B0609020000020004" pitchFamily="49" charset="0"/>
              </a:rPr>
              <a:t>.WriteLine</a:t>
            </a:r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r>
              <a:rPr lang="en-US" sz="20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  }</a:t>
            </a:r>
            <a:endParaRPr lang="en-US" sz="20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0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56</a:t>
            </a:fld>
            <a:endParaRPr lang="ru-RU"/>
          </a:p>
        </p:txBody>
      </p:sp>
      <p:sp>
        <p:nvSpPr>
          <p:cNvPr id="5" name="Left Arrow 4"/>
          <p:cNvSpPr/>
          <p:nvPr/>
        </p:nvSpPr>
        <p:spPr>
          <a:xfrm>
            <a:off x="5307540" y="1907642"/>
            <a:ext cx="1715589" cy="721472"/>
          </a:xfrm>
          <a:prstGeom prst="leftArrow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Left Arrow 5"/>
          <p:cNvSpPr/>
          <p:nvPr/>
        </p:nvSpPr>
        <p:spPr>
          <a:xfrm>
            <a:off x="3661953" y="3069104"/>
            <a:ext cx="1715589" cy="721472"/>
          </a:xfrm>
          <a:prstGeom prst="leftArrow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/>
          <p:cNvSpPr/>
          <p:nvPr/>
        </p:nvSpPr>
        <p:spPr>
          <a:xfrm>
            <a:off x="991521" y="3684899"/>
            <a:ext cx="6792685" cy="1998616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Дата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smtClean="0"/>
              <a:t>Кафедра информатики</a:t>
            </a:r>
            <a:endParaRPr lang="ru-RU" dirty="0"/>
          </a:p>
        </p:txBody>
      </p:sp>
      <p:sp>
        <p:nvSpPr>
          <p:cNvPr id="9" name="Нижний колонтитул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Гламаздин И.И.</a:t>
            </a:r>
            <a:endParaRPr lang="en-US" dirty="0"/>
          </a:p>
        </p:txBody>
      </p:sp>
      <p:sp>
        <p:nvSpPr>
          <p:cNvPr id="10" name="Left Arrow 5"/>
          <p:cNvSpPr/>
          <p:nvPr/>
        </p:nvSpPr>
        <p:spPr>
          <a:xfrm>
            <a:off x="3591951" y="5438843"/>
            <a:ext cx="1715589" cy="721472"/>
          </a:xfrm>
          <a:prstGeom prst="leftArrow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50621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Синхронизация </a:t>
            </a:r>
            <a:r>
              <a:rPr lang="ru-RU" dirty="0" smtClean="0"/>
              <a:t>потоков</a:t>
            </a:r>
            <a:r>
              <a:rPr lang="en-US" dirty="0" smtClean="0"/>
              <a:t> (Monitor)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К</a:t>
            </a:r>
            <a:r>
              <a:rPr lang="ru-RU" dirty="0" smtClean="0"/>
              <a:t>онструкция </a:t>
            </a:r>
            <a:r>
              <a:rPr lang="ru-RU" dirty="0"/>
              <a:t>оператора </a:t>
            </a:r>
            <a:r>
              <a:rPr lang="ru-RU" b="1" i="1" dirty="0"/>
              <a:t>lock</a:t>
            </a:r>
            <a:r>
              <a:rPr lang="ru-RU" dirty="0"/>
              <a:t> </a:t>
            </a:r>
            <a:r>
              <a:rPr lang="ru-RU" dirty="0" smtClean="0"/>
              <a:t>инкапсулирует </a:t>
            </a:r>
            <a:r>
              <a:rPr lang="ru-RU" dirty="0"/>
              <a:t>в себе синтаксис использования мониторов.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57</a:t>
            </a:fld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smtClean="0"/>
              <a:t>Кафедра информатики</a:t>
            </a:r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Гламаздин И.И.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107271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Синхронизация </a:t>
            </a:r>
            <a:r>
              <a:rPr lang="ru-RU" dirty="0" smtClean="0"/>
              <a:t>потоков</a:t>
            </a:r>
            <a:r>
              <a:rPr lang="en-US" dirty="0" smtClean="0"/>
              <a:t> (Monitor)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34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Monitor</a:t>
            </a:r>
            <a:r>
              <a:rPr lang="en-US" dirty="0" err="1" smtClean="0">
                <a:solidFill>
                  <a:srgbClr val="000000"/>
                </a:solidFill>
                <a:latin typeface="Cascadia Mono" panose="020B0609020000020004" pitchFamily="49" charset="0"/>
              </a:rPr>
              <a:t>.Enter</a:t>
            </a:r>
            <a:r>
              <a:rPr lang="en-US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(locker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try</a:t>
            </a:r>
            <a:endParaRPr lang="en-US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{</a:t>
            </a:r>
          </a:p>
          <a:p>
            <a:r>
              <a:rPr lang="nn-NO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nn-NO" dirty="0">
                <a:solidFill>
                  <a:srgbClr val="0000FF"/>
                </a:solidFill>
                <a:latin typeface="Cascadia Mono" panose="020B0609020000020004" pitchFamily="49" charset="0"/>
              </a:rPr>
              <a:t>for</a:t>
            </a:r>
            <a:r>
              <a:rPr lang="nn-NO" dirty="0">
                <a:solidFill>
                  <a:srgbClr val="000000"/>
                </a:solidFill>
                <a:latin typeface="Cascadia Mono" panose="020B0609020000020004" pitchFamily="49" charset="0"/>
              </a:rPr>
              <a:t> (</a:t>
            </a:r>
            <a:r>
              <a:rPr lang="nn-NO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nn-NO" dirty="0">
                <a:solidFill>
                  <a:srgbClr val="000000"/>
                </a:solidFill>
                <a:latin typeface="Cascadia Mono" panose="020B0609020000020004" pitchFamily="49" charset="0"/>
              </a:rPr>
              <a:t> i = 0; i &lt; 10; i++)</a:t>
            </a:r>
          </a:p>
          <a:p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{</a:t>
            </a:r>
          </a:p>
          <a:p>
            <a:r>
              <a:rPr lang="ru-RU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</a:t>
            </a:r>
            <a:r>
              <a:rPr lang="ru-RU" dirty="0">
                <a:solidFill>
                  <a:srgbClr val="008000"/>
                </a:solidFill>
                <a:latin typeface="Cascadia Mono" panose="020B0609020000020004" pitchFamily="49" charset="0"/>
              </a:rPr>
              <a:t>// Приостановить поток на случайное время</a:t>
            </a:r>
            <a:endParaRPr lang="ru-RU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endParaRPr lang="en-US" dirty="0">
              <a:solidFill>
                <a:srgbClr val="2B91AF"/>
              </a:solidFill>
              <a:latin typeface="Cascadia Mono" panose="020B06090200000200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</a:t>
            </a:r>
            <a:r>
              <a:rPr lang="en-US" dirty="0" err="1">
                <a:solidFill>
                  <a:srgbClr val="2B91AF"/>
                </a:solidFill>
                <a:latin typeface="Cascadia Mono" panose="020B0609020000020004" pitchFamily="49" charset="0"/>
              </a:rPr>
              <a:t>Thread</a:t>
            </a:r>
            <a:r>
              <a:rPr lang="en-US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.Sleep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(100 * </a:t>
            </a:r>
            <a:r>
              <a:rPr lang="en-US" dirty="0" err="1">
                <a:solidFill>
                  <a:srgbClr val="000000"/>
                </a:solidFill>
                <a:latin typeface="Cascadia Mono" panose="020B0609020000020004" pitchFamily="49" charset="0"/>
              </a:rPr>
              <a:t>r.Next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(5));</a:t>
            </a:r>
          </a:p>
          <a:p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</a:t>
            </a:r>
            <a:r>
              <a:rPr lang="en-US" dirty="0" err="1">
                <a:solidFill>
                  <a:srgbClr val="2B91AF"/>
                </a:solidFill>
                <a:latin typeface="Cascadia Mono" panose="020B0609020000020004" pitchFamily="49" charset="0"/>
              </a:rPr>
              <a:t>Console</a:t>
            </a:r>
            <a:r>
              <a:rPr lang="en-US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.Write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dirty="0">
                <a:solidFill>
                  <a:srgbClr val="A31515"/>
                </a:solidFill>
                <a:latin typeface="Cascadia Mono" panose="020B0609020000020004" pitchFamily="49" charset="0"/>
              </a:rPr>
              <a:t>$"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  <a:r>
              <a:rPr lang="en-US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r>
              <a:rPr lang="en-US" dirty="0">
                <a:solidFill>
                  <a:srgbClr val="A31515"/>
                </a:solidFill>
                <a:latin typeface="Cascadia Mono" panose="020B0609020000020004" pitchFamily="49" charset="0"/>
              </a:rPr>
              <a:t>, "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}</a:t>
            </a:r>
          </a:p>
          <a:p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}</a:t>
            </a:r>
          </a:p>
          <a:p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finally</a:t>
            </a:r>
            <a:endParaRPr lang="en-US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{</a:t>
            </a:r>
          </a:p>
          <a:p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en-US" dirty="0" err="1">
                <a:solidFill>
                  <a:srgbClr val="2B91AF"/>
                </a:solidFill>
                <a:latin typeface="Cascadia Mono" panose="020B0609020000020004" pitchFamily="49" charset="0"/>
              </a:rPr>
              <a:t>Monitor</a:t>
            </a:r>
            <a:r>
              <a:rPr lang="en-US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.Exit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(locker);   </a:t>
            </a:r>
          </a:p>
          <a:p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}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58</a:t>
            </a:fld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smtClean="0"/>
              <a:t>Кафедра информатики</a:t>
            </a:r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Гламаздин И.И.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16831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Синхронизация </a:t>
            </a:r>
            <a:r>
              <a:rPr lang="ru-RU" dirty="0" smtClean="0"/>
              <a:t>потоков</a:t>
            </a:r>
            <a:r>
              <a:rPr lang="en-US" dirty="0" smtClean="0"/>
              <a:t> (</a:t>
            </a:r>
            <a:r>
              <a:rPr lang="en-US" dirty="0" err="1" smtClean="0"/>
              <a:t>Mutex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K</a:t>
            </a:r>
            <a:r>
              <a:rPr lang="ru-RU" dirty="0" smtClean="0"/>
              <a:t>ласс </a:t>
            </a:r>
            <a:r>
              <a:rPr lang="en-US" b="1" dirty="0" err="1" smtClean="0"/>
              <a:t>Mutex</a:t>
            </a:r>
            <a:r>
              <a:rPr lang="en-US" dirty="0" smtClean="0"/>
              <a:t> </a:t>
            </a:r>
            <a:r>
              <a:rPr lang="ru-RU" dirty="0" smtClean="0"/>
              <a:t>является классом-оберткой </a:t>
            </a:r>
            <a:r>
              <a:rPr lang="ru-RU" dirty="0"/>
              <a:t>над соответствующим объектом ОС Windows </a:t>
            </a:r>
            <a:r>
              <a:rPr lang="ru-RU" dirty="0" smtClean="0"/>
              <a:t>«</a:t>
            </a:r>
            <a:r>
              <a:rPr lang="en-US" dirty="0" err="1" smtClean="0"/>
              <a:t>Mutex</a:t>
            </a:r>
            <a:r>
              <a:rPr lang="ru-RU" dirty="0" smtClean="0"/>
              <a:t>»</a:t>
            </a:r>
          </a:p>
          <a:p>
            <a:endParaRPr lang="ru-RU" dirty="0"/>
          </a:p>
          <a:p>
            <a:r>
              <a:rPr lang="ru-RU" dirty="0" smtClean="0"/>
              <a:t>Особенностью мьютекса является возможность синхронизировать </a:t>
            </a:r>
            <a:r>
              <a:rPr lang="ru-RU" b="1" i="1" dirty="0" smtClean="0"/>
              <a:t>процессы</a:t>
            </a:r>
            <a:r>
              <a:rPr lang="ru-RU" dirty="0" smtClean="0"/>
              <a:t>. Для этого </a:t>
            </a:r>
            <a:r>
              <a:rPr lang="ru-RU" dirty="0"/>
              <a:t>при </a:t>
            </a:r>
            <a:r>
              <a:rPr lang="ru-RU" dirty="0" smtClean="0"/>
              <a:t>создании объекта нужно задать мьютексу имя.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59</a:t>
            </a:fld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smtClean="0"/>
              <a:t>Кафедра информатики</a:t>
            </a:r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Гламаздин И.И.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169633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Синхронизация </a:t>
            </a:r>
            <a:r>
              <a:rPr lang="ru-RU" dirty="0" smtClean="0"/>
              <a:t>потоков</a:t>
            </a:r>
            <a:r>
              <a:rPr lang="en-US" dirty="0" smtClean="0"/>
              <a:t> (</a:t>
            </a:r>
            <a:r>
              <a:rPr lang="en-US" dirty="0" err="1" smtClean="0"/>
              <a:t>Mutex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err="1">
                <a:solidFill>
                  <a:srgbClr val="2B91AF"/>
                </a:solidFill>
                <a:latin typeface="Cascadia Mono" panose="020B0609020000020004" pitchFamily="49" charset="0"/>
              </a:rPr>
              <a:t>Mutex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mutex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dirty="0" err="1">
                <a:solidFill>
                  <a:srgbClr val="2B91AF"/>
                </a:solidFill>
                <a:latin typeface="Cascadia Mono" panose="020B0609020000020004" pitchFamily="49" charset="0"/>
              </a:rPr>
              <a:t>Mutex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false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</a:p>
          <a:p>
            <a:r>
              <a:rPr lang="en-US" dirty="0" smtClean="0">
                <a:solidFill>
                  <a:srgbClr val="2B91AF"/>
                </a:solidFill>
                <a:latin typeface="Cascadia Mono" panose="020B0609020000020004" pitchFamily="49" charset="0"/>
              </a:rPr>
              <a:t>Random</a:t>
            </a:r>
            <a:r>
              <a:rPr lang="en-US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r = 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2B91AF"/>
                </a:solidFill>
                <a:latin typeface="Cascadia Mono" panose="020B0609020000020004" pitchFamily="49" charset="0"/>
              </a:rPr>
              <a:t>Random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r>
              <a:rPr lang="en-US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scadia Mono" panose="020B0609020000020004" pitchFamily="49" charset="0"/>
              </a:rPr>
              <a:t>PrintNumbers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()</a:t>
            </a:r>
          </a:p>
          <a:p>
            <a:r>
              <a:rPr lang="en-US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  <a:endParaRPr lang="en-US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  </a:t>
            </a:r>
            <a:r>
              <a:rPr lang="en-US" dirty="0" err="1" smtClean="0">
                <a:solidFill>
                  <a:srgbClr val="000000"/>
                </a:solidFill>
                <a:latin typeface="Cascadia Mono" panose="020B0609020000020004" pitchFamily="49" charset="0"/>
              </a:rPr>
              <a:t>mutex.WaitOne</a:t>
            </a:r>
            <a:r>
              <a:rPr lang="en-US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endParaRPr lang="en-US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nn-NO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   for</a:t>
            </a:r>
            <a:r>
              <a:rPr lang="nn-NO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nn-NO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nn-NO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nn-NO" dirty="0">
                <a:solidFill>
                  <a:srgbClr val="000000"/>
                </a:solidFill>
                <a:latin typeface="Cascadia Mono" panose="020B0609020000020004" pitchFamily="49" charset="0"/>
              </a:rPr>
              <a:t> i = 0; i &lt; 10; i++)</a:t>
            </a:r>
          </a:p>
          <a:p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  </a:t>
            </a:r>
            <a:r>
              <a:rPr lang="en-US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  <a:endParaRPr lang="en-US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dirty="0" smtClean="0">
                <a:solidFill>
                  <a:srgbClr val="008000"/>
                </a:solidFill>
                <a:latin typeface="Cascadia Mono" panose="020B0609020000020004" pitchFamily="49" charset="0"/>
              </a:rPr>
              <a:t>     . . .</a:t>
            </a:r>
            <a:endParaRPr lang="en-US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  }</a:t>
            </a:r>
            <a:endParaRPr lang="en-US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  </a:t>
            </a:r>
            <a:r>
              <a:rPr lang="en-US" dirty="0" err="1" smtClean="0">
                <a:solidFill>
                  <a:srgbClr val="000000"/>
                </a:solidFill>
                <a:latin typeface="Cascadia Mono" panose="020B0609020000020004" pitchFamily="49" charset="0"/>
              </a:rPr>
              <a:t>mutex.ReleaseMutex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();            </a:t>
            </a:r>
          </a:p>
          <a:p>
            <a:r>
              <a:rPr lang="en-US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60</a:t>
            </a:fld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smtClean="0"/>
              <a:t>Кафедра информатики</a:t>
            </a:r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Гламаздин И.И.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007255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Синхронизация </a:t>
            </a:r>
            <a:r>
              <a:rPr lang="ru-RU" dirty="0" smtClean="0"/>
              <a:t>потоков</a:t>
            </a:r>
            <a:r>
              <a:rPr lang="en-US" dirty="0" smtClean="0"/>
              <a:t> (Semaphore)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K</a:t>
            </a:r>
            <a:r>
              <a:rPr lang="ru-RU" dirty="0" smtClean="0"/>
              <a:t>ласс </a:t>
            </a:r>
            <a:r>
              <a:rPr lang="en-US" b="1" dirty="0" smtClean="0"/>
              <a:t>Semaphore</a:t>
            </a:r>
            <a:r>
              <a:rPr lang="en-US" dirty="0" smtClean="0"/>
              <a:t> </a:t>
            </a:r>
            <a:r>
              <a:rPr lang="ru-RU" dirty="0" smtClean="0"/>
              <a:t>является классом-оберткой </a:t>
            </a:r>
            <a:r>
              <a:rPr lang="ru-RU" dirty="0"/>
              <a:t>над соответствующим объектом ОС Windows </a:t>
            </a:r>
            <a:r>
              <a:rPr lang="ru-RU" dirty="0" smtClean="0"/>
              <a:t>«</a:t>
            </a:r>
            <a:r>
              <a:rPr lang="en-US" dirty="0" smtClean="0"/>
              <a:t>Semaphore</a:t>
            </a:r>
            <a:r>
              <a:rPr lang="ru-RU" dirty="0" smtClean="0"/>
              <a:t>»</a:t>
            </a:r>
            <a:endParaRPr lang="en-US" dirty="0" smtClean="0"/>
          </a:p>
          <a:p>
            <a:endParaRPr lang="en-US" dirty="0"/>
          </a:p>
          <a:p>
            <a:r>
              <a:rPr lang="en-US" dirty="0" smtClean="0"/>
              <a:t>Semaphore </a:t>
            </a:r>
            <a:r>
              <a:rPr lang="ru-RU" dirty="0" smtClean="0"/>
              <a:t>работает аналогично классу </a:t>
            </a:r>
            <a:r>
              <a:rPr lang="en-US" dirty="0" err="1" smtClean="0"/>
              <a:t>Mutex</a:t>
            </a:r>
            <a:r>
              <a:rPr lang="en-US" dirty="0" smtClean="0"/>
              <a:t>. </a:t>
            </a:r>
            <a:r>
              <a:rPr lang="ru-RU" dirty="0" smtClean="0"/>
              <a:t>Отличие заключается в том, что </a:t>
            </a:r>
            <a:r>
              <a:rPr lang="en-US" dirty="0" err="1" smtClean="0"/>
              <a:t>Mutex</a:t>
            </a:r>
            <a:r>
              <a:rPr lang="en-US" dirty="0" smtClean="0"/>
              <a:t> </a:t>
            </a:r>
            <a:r>
              <a:rPr lang="ru-RU" dirty="0" smtClean="0"/>
              <a:t>разрешает доступ к ресурсу только одному потоку (процессу), в то время как </a:t>
            </a:r>
            <a:r>
              <a:rPr lang="en-US" dirty="0" smtClean="0"/>
              <a:t>Semaphore</a:t>
            </a:r>
            <a:r>
              <a:rPr lang="ru-RU" dirty="0" smtClean="0"/>
              <a:t> разрешает доступ к ресурсам сразу нескольким потокам (процессам). Количество указывается при создании объекта </a:t>
            </a:r>
            <a:r>
              <a:rPr lang="en-US" dirty="0" smtClean="0"/>
              <a:t>Semaphore. </a:t>
            </a:r>
            <a:endParaRPr lang="ru-RU" dirty="0" smtClean="0"/>
          </a:p>
          <a:p>
            <a:endParaRPr lang="en-US" dirty="0" smtClean="0"/>
          </a:p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61</a:t>
            </a:fld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smtClean="0"/>
              <a:t>Кафедра информатики</a:t>
            </a:r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Гламаздин И.И.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995798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Синхронизация </a:t>
            </a:r>
            <a:r>
              <a:rPr lang="ru-RU" dirty="0" smtClean="0"/>
              <a:t>потоков</a:t>
            </a:r>
            <a:r>
              <a:rPr lang="en-US" dirty="0" smtClean="0"/>
              <a:t> (Event)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Класс </a:t>
            </a:r>
            <a:r>
              <a:rPr lang="ru-RU" b="1" dirty="0"/>
              <a:t>AutoResetEvent</a:t>
            </a:r>
            <a:r>
              <a:rPr lang="ru-RU" dirty="0"/>
              <a:t> </a:t>
            </a:r>
            <a:r>
              <a:rPr lang="ru-RU" dirty="0" smtClean="0"/>
              <a:t>является </a:t>
            </a:r>
            <a:r>
              <a:rPr lang="ru-RU" dirty="0"/>
              <a:t>оберткой над объектом ОС Windows </a:t>
            </a:r>
            <a:r>
              <a:rPr lang="ru-RU" dirty="0" smtClean="0"/>
              <a:t>«</a:t>
            </a:r>
            <a:r>
              <a:rPr lang="en-US" dirty="0" smtClean="0"/>
              <a:t>Event</a:t>
            </a:r>
            <a:r>
              <a:rPr lang="ru-RU" dirty="0" smtClean="0"/>
              <a:t>» </a:t>
            </a:r>
            <a:r>
              <a:rPr lang="ru-RU" dirty="0"/>
              <a:t>и позволяет переключить данный объект-событие из сигнального в несигнальное состояние.</a:t>
            </a:r>
            <a:endParaRPr lang="en-US" dirty="0" smtClean="0"/>
          </a:p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62</a:t>
            </a:fld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smtClean="0"/>
              <a:t>Кафедра информатики</a:t>
            </a:r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Гламаздин И.И.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425293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Синхронизация </a:t>
            </a:r>
            <a:r>
              <a:rPr lang="ru-RU" dirty="0" smtClean="0"/>
              <a:t>потоков</a:t>
            </a:r>
            <a:r>
              <a:rPr lang="en-US" dirty="0" smtClean="0"/>
              <a:t> (</a:t>
            </a:r>
            <a:r>
              <a:rPr lang="en-US" dirty="0" err="1" smtClean="0"/>
              <a:t>AutoResetEvent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en-US" sz="2800" dirty="0" err="1" smtClean="0">
                <a:solidFill>
                  <a:srgbClr val="2B91AF"/>
                </a:solidFill>
                <a:latin typeface="Cascadia Mono" panose="020B0609020000020004" pitchFamily="49" charset="0"/>
              </a:rPr>
              <a:t>AutoResetEvent</a:t>
            </a:r>
            <a:r>
              <a:rPr lang="en-US" sz="28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notifier</a:t>
            </a:r>
            <a:r>
              <a:rPr lang="en-US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US" sz="28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AutoResetEvent</a:t>
            </a:r>
            <a:r>
              <a:rPr lang="en-US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0000FF"/>
                </a:solidFill>
                <a:latin typeface="Cascadia Mono" panose="020B0609020000020004" pitchFamily="49" charset="0"/>
              </a:rPr>
              <a:t>true</a:t>
            </a:r>
            <a:r>
              <a:rPr lang="en-US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pPr>
              <a:buNone/>
            </a:pPr>
            <a:endParaRPr lang="en-US" sz="2800" dirty="0" smtClean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pPr>
              <a:buNone/>
            </a:pPr>
            <a:r>
              <a:rPr lang="en-US" sz="28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28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en-US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PrintNumbers</a:t>
            </a:r>
            <a:r>
              <a:rPr lang="en-US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()</a:t>
            </a:r>
          </a:p>
          <a:p>
            <a:pPr>
              <a:buNone/>
            </a:pPr>
            <a:r>
              <a:rPr lang="en-US" sz="28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  <a:endParaRPr lang="en-US" sz="2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8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 </a:t>
            </a:r>
            <a:r>
              <a:rPr lang="en-US" sz="2800" dirty="0" err="1" smtClean="0">
                <a:solidFill>
                  <a:srgbClr val="000000"/>
                </a:solidFill>
                <a:latin typeface="Cascadia Mono" panose="020B0609020000020004" pitchFamily="49" charset="0"/>
              </a:rPr>
              <a:t>notifier.WaitOne</a:t>
            </a:r>
            <a:r>
              <a:rPr lang="en-US" sz="28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endParaRPr lang="en-US" sz="2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ru-RU" sz="2800" dirty="0" smtClean="0">
                <a:solidFill>
                  <a:srgbClr val="008000"/>
                </a:solidFill>
                <a:latin typeface="Cascadia Mono" panose="020B0609020000020004" pitchFamily="49" charset="0"/>
              </a:rPr>
              <a:t>// </a:t>
            </a:r>
            <a:r>
              <a:rPr lang="en-US" sz="2800" dirty="0" smtClean="0">
                <a:solidFill>
                  <a:srgbClr val="008000"/>
                </a:solidFill>
                <a:latin typeface="Cascadia Mono" panose="020B0609020000020004" pitchFamily="49" charset="0"/>
              </a:rPr>
              <a:t>. . .</a:t>
            </a:r>
            <a:endParaRPr lang="ru-RU" sz="2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endParaRPr lang="en-US" sz="2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8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 </a:t>
            </a:r>
            <a:r>
              <a:rPr lang="en-US" sz="2800" dirty="0" err="1" smtClean="0">
                <a:solidFill>
                  <a:srgbClr val="000000"/>
                </a:solidFill>
                <a:latin typeface="Cascadia Mono" panose="020B0609020000020004" pitchFamily="49" charset="0"/>
              </a:rPr>
              <a:t>notifier.Set</a:t>
            </a:r>
            <a:r>
              <a:rPr lang="en-US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() ;  </a:t>
            </a:r>
            <a:endParaRPr lang="en-US" sz="2800" dirty="0" smtClean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8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         </a:t>
            </a:r>
            <a:endParaRPr lang="en-US" sz="2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8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 </a:t>
            </a:r>
            <a:r>
              <a:rPr lang="en-US" sz="2800" dirty="0" err="1" smtClean="0">
                <a:solidFill>
                  <a:srgbClr val="2B91AF"/>
                </a:solidFill>
                <a:latin typeface="Cascadia Mono" panose="020B0609020000020004" pitchFamily="49" charset="0"/>
              </a:rPr>
              <a:t>Console</a:t>
            </a:r>
            <a:r>
              <a:rPr lang="en-US" sz="2800" dirty="0" err="1" smtClean="0">
                <a:solidFill>
                  <a:srgbClr val="000000"/>
                </a:solidFill>
                <a:latin typeface="Cascadia Mono" panose="020B0609020000020004" pitchFamily="49" charset="0"/>
              </a:rPr>
              <a:t>.WriteLine</a:t>
            </a:r>
            <a:r>
              <a:rPr lang="en-US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r>
              <a:rPr lang="en-US" sz="28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ru-RU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63</a:t>
            </a:fld>
            <a:endParaRPr lang="ru-RU"/>
          </a:p>
        </p:txBody>
      </p:sp>
      <p:sp>
        <p:nvSpPr>
          <p:cNvPr id="5" name="Left Arrow 4"/>
          <p:cNvSpPr/>
          <p:nvPr/>
        </p:nvSpPr>
        <p:spPr>
          <a:xfrm>
            <a:off x="5547360" y="2882537"/>
            <a:ext cx="1576251" cy="679269"/>
          </a:xfrm>
          <a:prstGeom prst="leftArrow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Left Arrow 5"/>
          <p:cNvSpPr/>
          <p:nvPr/>
        </p:nvSpPr>
        <p:spPr>
          <a:xfrm>
            <a:off x="5547359" y="4497977"/>
            <a:ext cx="1576251" cy="679269"/>
          </a:xfrm>
          <a:prstGeom prst="leftArrow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smtClean="0"/>
              <a:t>Кафедра информатики</a:t>
            </a:r>
            <a:endParaRPr lang="ru-RU" dirty="0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Гламаздин И.И.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036274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Неблокирующая синхронизация потоков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Класс </a:t>
            </a:r>
            <a:r>
              <a:rPr lang="ru-RU" b="1" dirty="0"/>
              <a:t>Interlocked</a:t>
            </a:r>
            <a:r>
              <a:rPr lang="ru-RU" dirty="0"/>
              <a:t> позволяет </a:t>
            </a:r>
            <a:r>
              <a:rPr lang="ru-RU" dirty="0" smtClean="0"/>
              <a:t>вызывать потокобезопасные  </a:t>
            </a:r>
            <a:r>
              <a:rPr lang="ru-RU" dirty="0"/>
              <a:t>простые </a:t>
            </a:r>
            <a:r>
              <a:rPr lang="ru-RU" dirty="0" smtClean="0"/>
              <a:t>атомарные операции </a:t>
            </a:r>
            <a:r>
              <a:rPr lang="ru-RU" dirty="0"/>
              <a:t>с </a:t>
            </a:r>
            <a:r>
              <a:rPr lang="ru-RU" dirty="0" smtClean="0"/>
              <a:t>переменными без использования объектов синхронизации (</a:t>
            </a:r>
            <a:r>
              <a:rPr lang="en-US" dirty="0" smtClean="0"/>
              <a:t>Monitor, </a:t>
            </a:r>
            <a:r>
              <a:rPr lang="en-US" dirty="0" err="1" smtClean="0"/>
              <a:t>Mutex</a:t>
            </a:r>
            <a:r>
              <a:rPr lang="en-US" dirty="0" smtClean="0"/>
              <a:t> </a:t>
            </a:r>
            <a:r>
              <a:rPr lang="ru-RU" dirty="0" smtClean="0"/>
              <a:t>и т.д.)</a:t>
            </a:r>
          </a:p>
          <a:p>
            <a:endParaRPr lang="ru-RU" dirty="0"/>
          </a:p>
          <a:p>
            <a:r>
              <a:rPr lang="ru-RU" dirty="0"/>
              <a:t>Применение класса </a:t>
            </a:r>
            <a:r>
              <a:rPr lang="ru-RU" b="1" dirty="0"/>
              <a:t>Interlocked</a:t>
            </a:r>
            <a:r>
              <a:rPr lang="ru-RU" dirty="0"/>
              <a:t> является гораздо более быстрым подходом по сравнению с остальными приемами по обеспечению синхронизации.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64</a:t>
            </a:fld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smtClean="0"/>
              <a:t>Кафедра информатики</a:t>
            </a:r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Гламаздин И.И.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227443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Неблокирующая синхронизация потоков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Некоторые методы класса </a:t>
            </a:r>
            <a:r>
              <a:rPr lang="en-US" dirty="0" smtClean="0"/>
              <a:t>Interlocked: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65</a:t>
            </a:fld>
            <a:endParaRPr lang="ru-RU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96948" y="2323214"/>
          <a:ext cx="11745912" cy="3840480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3617406">
                  <a:extLst>
                    <a:ext uri="{9D8B030D-6E8A-4147-A177-3AD203B41FA5}">
                      <a16:colId xmlns:a16="http://schemas.microsoft.com/office/drawing/2014/main" val="3110018295"/>
                    </a:ext>
                  </a:extLst>
                </a:gridCol>
                <a:gridCol w="8128506">
                  <a:extLst>
                    <a:ext uri="{9D8B030D-6E8A-4147-A177-3AD203B41FA5}">
                      <a16:colId xmlns:a16="http://schemas.microsoft.com/office/drawing/2014/main" val="455364176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effectLst/>
                        </a:rPr>
                        <a:t>Decrement(ref x)</a:t>
                      </a:r>
                      <a:endParaRPr lang="en-US" sz="24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14300" marR="114300" marT="114300" marB="114300" anchor="ctr"/>
                </a:tc>
                <a:tc>
                  <a:txBody>
                    <a:bodyPr/>
                    <a:lstStyle/>
                    <a:p>
                      <a:r>
                        <a:rPr lang="ru-RU" sz="2400" dirty="0">
                          <a:effectLst/>
                        </a:rPr>
                        <a:t>Безопасно уменьшает </a:t>
                      </a:r>
                      <a:r>
                        <a:rPr lang="ru-RU" sz="2400" dirty="0" smtClean="0">
                          <a:effectLst/>
                        </a:rPr>
                        <a:t>значение</a:t>
                      </a:r>
                      <a:r>
                        <a:rPr lang="en-US" sz="2400" dirty="0" smtClean="0">
                          <a:effectLst/>
                        </a:rPr>
                        <a:t> x</a:t>
                      </a:r>
                      <a:r>
                        <a:rPr lang="ru-RU" sz="2400" dirty="0" smtClean="0">
                          <a:effectLst/>
                        </a:rPr>
                        <a:t> </a:t>
                      </a:r>
                      <a:r>
                        <a:rPr lang="ru-RU" sz="2400" dirty="0">
                          <a:effectLst/>
                        </a:rPr>
                        <a:t>на </a:t>
                      </a:r>
                      <a:r>
                        <a:rPr lang="ru-RU" sz="2400" dirty="0" smtClean="0">
                          <a:effectLst/>
                        </a:rPr>
                        <a:t>1</a:t>
                      </a:r>
                      <a:r>
                        <a:rPr lang="en-US" sz="2400" dirty="0" smtClean="0">
                          <a:effectLst/>
                        </a:rPr>
                        <a:t>.</a:t>
                      </a:r>
                      <a:r>
                        <a:rPr lang="en-US" sz="2400" baseline="0" dirty="0" smtClean="0">
                          <a:effectLst/>
                        </a:rPr>
                        <a:t> </a:t>
                      </a:r>
                      <a:endParaRPr lang="ru-RU" sz="2400" baseline="0" dirty="0" smtClean="0">
                        <a:effectLst/>
                      </a:endParaRPr>
                    </a:p>
                    <a:p>
                      <a:r>
                        <a:rPr lang="ru-RU" sz="2400" baseline="0" dirty="0" smtClean="0">
                          <a:effectLst/>
                        </a:rPr>
                        <a:t>Эквивалентно </a:t>
                      </a:r>
                      <a:r>
                        <a:rPr lang="en-US" sz="2400" baseline="0" dirty="0" smtClean="0">
                          <a:effectLst/>
                        </a:rPr>
                        <a:t>x--</a:t>
                      </a:r>
                      <a:endParaRPr lang="ru-RU" sz="24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14300" marR="114300" marT="114300" marB="114300" anchor="ctr"/>
                </a:tc>
                <a:extLst>
                  <a:ext uri="{0D108BD9-81ED-4DB2-BD59-A6C34878D82A}">
                    <a16:rowId xmlns:a16="http://schemas.microsoft.com/office/drawing/2014/main" val="359287785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effectLst/>
                        </a:rPr>
                        <a:t>Exchange(ref x, value)</a:t>
                      </a:r>
                      <a:endParaRPr lang="en-US" sz="24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14300" marR="114300" marT="114300" marB="114300" anchor="ctr"/>
                </a:tc>
                <a:tc>
                  <a:txBody>
                    <a:bodyPr/>
                    <a:lstStyle/>
                    <a:p>
                      <a:r>
                        <a:rPr lang="ru-RU" sz="2400" dirty="0">
                          <a:effectLst/>
                        </a:rPr>
                        <a:t>Безопасно </a:t>
                      </a:r>
                      <a:r>
                        <a:rPr lang="ru-RU" sz="2400" dirty="0" smtClean="0">
                          <a:effectLst/>
                        </a:rPr>
                        <a:t>присваивает</a:t>
                      </a:r>
                      <a:r>
                        <a:rPr lang="ru-RU" sz="2400" baseline="0" dirty="0" smtClean="0">
                          <a:effectLst/>
                        </a:rPr>
                        <a:t> </a:t>
                      </a:r>
                      <a:r>
                        <a:rPr lang="en-US" sz="2400" baseline="0" dirty="0" smtClean="0">
                          <a:effectLst/>
                        </a:rPr>
                        <a:t>x </a:t>
                      </a:r>
                      <a:r>
                        <a:rPr lang="ru-RU" sz="2400" baseline="0" dirty="0" smtClean="0">
                          <a:effectLst/>
                        </a:rPr>
                        <a:t>значение </a:t>
                      </a:r>
                      <a:r>
                        <a:rPr lang="en-US" sz="2400" baseline="0" dirty="0" smtClean="0">
                          <a:effectLst/>
                        </a:rPr>
                        <a:t>value</a:t>
                      </a:r>
                      <a:r>
                        <a:rPr lang="ru-RU" sz="2400" baseline="0" dirty="0" smtClean="0">
                          <a:effectLst/>
                        </a:rPr>
                        <a:t>. </a:t>
                      </a:r>
                    </a:p>
                    <a:p>
                      <a:r>
                        <a:rPr lang="ru-RU" sz="2400" baseline="0" dirty="0" smtClean="0">
                          <a:effectLst/>
                        </a:rPr>
                        <a:t>Эквивалентно </a:t>
                      </a:r>
                      <a:r>
                        <a:rPr lang="en-US" sz="2400" baseline="0" dirty="0" smtClean="0">
                          <a:effectLst/>
                        </a:rPr>
                        <a:t>x=value</a:t>
                      </a:r>
                      <a:endParaRPr lang="ru-RU" sz="24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14300" marR="114300" marT="114300" marB="114300" anchor="ctr"/>
                </a:tc>
                <a:extLst>
                  <a:ext uri="{0D108BD9-81ED-4DB2-BD59-A6C34878D82A}">
                    <a16:rowId xmlns:a16="http://schemas.microsoft.com/office/drawing/2014/main" val="3443357377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effectLst/>
                        </a:rPr>
                        <a:t>Increment(ref x)</a:t>
                      </a:r>
                      <a:endParaRPr lang="en-US" sz="24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14300" marR="114300" marT="114300" marB="11430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dirty="0">
                          <a:effectLst/>
                        </a:rPr>
                        <a:t>Безопасно увеличивает </a:t>
                      </a:r>
                      <a:r>
                        <a:rPr lang="ru-RU" sz="2400" dirty="0" smtClean="0">
                          <a:effectLst/>
                        </a:rPr>
                        <a:t>значение</a:t>
                      </a:r>
                      <a:r>
                        <a:rPr lang="en-US" sz="2400" dirty="0" smtClean="0">
                          <a:effectLst/>
                        </a:rPr>
                        <a:t> x</a:t>
                      </a:r>
                      <a:r>
                        <a:rPr lang="ru-RU" sz="2400" dirty="0" smtClean="0">
                          <a:effectLst/>
                        </a:rPr>
                        <a:t> </a:t>
                      </a:r>
                      <a:r>
                        <a:rPr lang="ru-RU" sz="2400" dirty="0">
                          <a:effectLst/>
                        </a:rPr>
                        <a:t>на </a:t>
                      </a:r>
                      <a:r>
                        <a:rPr lang="ru-RU" sz="2400" dirty="0" smtClean="0">
                          <a:effectLst/>
                        </a:rPr>
                        <a:t>1</a:t>
                      </a:r>
                      <a:r>
                        <a:rPr lang="en-US" sz="2400" dirty="0" smtClean="0">
                          <a:effectLst/>
                        </a:rPr>
                        <a:t> </a:t>
                      </a:r>
                      <a:endParaRPr lang="ru-RU" sz="2400" dirty="0" smtClean="0">
                        <a:effectLst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baseline="0" dirty="0" smtClean="0">
                          <a:effectLst/>
                        </a:rPr>
                        <a:t>Эквивалентно </a:t>
                      </a:r>
                      <a:r>
                        <a:rPr lang="en-US" sz="2400" baseline="0" dirty="0" smtClean="0">
                          <a:effectLst/>
                        </a:rPr>
                        <a:t>x++</a:t>
                      </a:r>
                      <a:endParaRPr lang="ru-RU" sz="24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14300" marR="114300" marT="114300" marB="114300" anchor="ctr"/>
                </a:tc>
                <a:extLst>
                  <a:ext uri="{0D108BD9-81ED-4DB2-BD59-A6C34878D82A}">
                    <a16:rowId xmlns:a16="http://schemas.microsoft.com/office/drawing/2014/main" val="3590217857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effectLst/>
                        </a:rPr>
                        <a:t>Add(ref x, value)</a:t>
                      </a:r>
                      <a:endParaRPr lang="en-US" sz="24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14300" marR="114300" marT="114300" marB="11430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dirty="0" smtClean="0">
                          <a:effectLst/>
                        </a:rPr>
                        <a:t>Безопасно складывает значение</a:t>
                      </a:r>
                      <a:r>
                        <a:rPr lang="ru-RU" sz="2400" baseline="0" dirty="0" smtClean="0">
                          <a:effectLst/>
                        </a:rPr>
                        <a:t> </a:t>
                      </a:r>
                      <a:r>
                        <a:rPr lang="en-US" sz="2400" baseline="0" dirty="0" smtClean="0">
                          <a:effectLst/>
                        </a:rPr>
                        <a:t>x </a:t>
                      </a:r>
                      <a:r>
                        <a:rPr lang="ru-RU" sz="2400" baseline="0" dirty="0" smtClean="0">
                          <a:effectLst/>
                        </a:rPr>
                        <a:t>и значение </a:t>
                      </a:r>
                      <a:r>
                        <a:rPr lang="en-US" sz="2400" baseline="0" dirty="0" smtClean="0">
                          <a:effectLst/>
                        </a:rPr>
                        <a:t>value</a:t>
                      </a:r>
                      <a:r>
                        <a:rPr lang="ru-RU" sz="2400" baseline="0" dirty="0" smtClean="0">
                          <a:effectLst/>
                        </a:rPr>
                        <a:t>. Эквивалентно </a:t>
                      </a:r>
                      <a:r>
                        <a:rPr lang="en-US" sz="2400" baseline="0" dirty="0" smtClean="0">
                          <a:effectLst/>
                        </a:rPr>
                        <a:t>x</a:t>
                      </a:r>
                      <a:r>
                        <a:rPr lang="ru-RU" sz="2400" baseline="0" dirty="0" smtClean="0">
                          <a:effectLst/>
                        </a:rPr>
                        <a:t>+</a:t>
                      </a:r>
                      <a:r>
                        <a:rPr lang="en-US" sz="2400" baseline="0" dirty="0" smtClean="0">
                          <a:effectLst/>
                        </a:rPr>
                        <a:t>=value</a:t>
                      </a:r>
                      <a:endParaRPr lang="ru-RU" sz="24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14300" marR="114300" marT="114300" marB="114300" anchor="ctr"/>
                </a:tc>
                <a:extLst>
                  <a:ext uri="{0D108BD9-81ED-4DB2-BD59-A6C34878D82A}">
                    <a16:rowId xmlns:a16="http://schemas.microsoft.com/office/drawing/2014/main" val="1506413918"/>
                  </a:ext>
                </a:extLst>
              </a:tr>
            </a:tbl>
          </a:graphicData>
        </a:graphic>
      </p:graphicFrame>
      <p:sp>
        <p:nvSpPr>
          <p:cNvPr id="6" name="Дата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smtClean="0"/>
              <a:t>Кафедра информатики</a:t>
            </a:r>
            <a:endParaRPr lang="ru-RU" dirty="0"/>
          </a:p>
        </p:txBody>
      </p:sp>
      <p:sp>
        <p:nvSpPr>
          <p:cNvPr id="7" name="Нижний колонтитул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Гламаздин И.И.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14550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Синхронизация потоков</a:t>
            </a:r>
            <a:r>
              <a:rPr lang="en-US" dirty="0"/>
              <a:t> </a:t>
            </a:r>
            <a:r>
              <a:rPr lang="en-US" dirty="0" smtClean="0"/>
              <a:t>(</a:t>
            </a:r>
            <a:r>
              <a:rPr lang="en-US" dirty="0" err="1" smtClean="0"/>
              <a:t>System.Threading</a:t>
            </a:r>
            <a:r>
              <a:rPr lang="en-US" dirty="0" err="1"/>
              <a:t>.</a:t>
            </a:r>
            <a:r>
              <a:rPr lang="en-US" dirty="0" err="1" smtClean="0"/>
              <a:t>Timer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К</a:t>
            </a:r>
            <a:r>
              <a:rPr lang="ru-RU" dirty="0" smtClean="0"/>
              <a:t>ласс</a:t>
            </a:r>
            <a:r>
              <a:rPr lang="ru-RU" dirty="0"/>
              <a:t> </a:t>
            </a:r>
            <a:r>
              <a:rPr lang="ru-RU" b="1" dirty="0" smtClean="0"/>
              <a:t>Timer </a:t>
            </a:r>
            <a:r>
              <a:rPr lang="ru-RU" dirty="0" smtClean="0"/>
              <a:t>из пространства имен </a:t>
            </a:r>
            <a:r>
              <a:rPr lang="en-US" b="1" dirty="0" err="1" smtClean="0"/>
              <a:t>System.Threading</a:t>
            </a:r>
            <a:r>
              <a:rPr lang="ru-RU" dirty="0" smtClean="0"/>
              <a:t> позволяет </a:t>
            </a:r>
            <a:r>
              <a:rPr lang="ru-RU" dirty="0"/>
              <a:t>запускать </a:t>
            </a:r>
            <a:r>
              <a:rPr lang="ru-RU" dirty="0" smtClean="0"/>
              <a:t>метод по </a:t>
            </a:r>
            <a:r>
              <a:rPr lang="ru-RU" dirty="0"/>
              <a:t>истечению </a:t>
            </a:r>
            <a:r>
              <a:rPr lang="ru-RU" dirty="0" smtClean="0"/>
              <a:t>заданного </a:t>
            </a:r>
            <a:r>
              <a:rPr lang="ru-RU" dirty="0"/>
              <a:t>периода времени.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66</a:t>
            </a:fld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smtClean="0"/>
              <a:t>Кафедра информатики</a:t>
            </a:r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Гламаздин И.И.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254148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Синхронизация потоков</a:t>
            </a:r>
            <a:r>
              <a:rPr lang="en-US" dirty="0"/>
              <a:t> </a:t>
            </a:r>
            <a:r>
              <a:rPr lang="en-US" dirty="0" smtClean="0"/>
              <a:t>(</a:t>
            </a:r>
            <a:r>
              <a:rPr lang="en-US" dirty="0" err="1" smtClean="0"/>
              <a:t>System.Threading</a:t>
            </a:r>
            <a:r>
              <a:rPr lang="en-US" dirty="0" err="1"/>
              <a:t>.</a:t>
            </a:r>
            <a:r>
              <a:rPr lang="en-US" dirty="0" err="1" smtClean="0"/>
              <a:t>Timer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static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TimerCallBackProc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2B91AF"/>
                </a:solidFill>
                <a:latin typeface="Cascadia Mono" panose="020B0609020000020004" pitchFamily="49" charset="0"/>
              </a:rPr>
              <a:t>Object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data)</a:t>
            </a:r>
          </a:p>
          <a:p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2400" dirty="0" err="1" smtClean="0">
                <a:solidFill>
                  <a:srgbClr val="2B91AF"/>
                </a:solidFill>
                <a:latin typeface="Cascadia Mono" panose="020B0609020000020004" pitchFamily="49" charset="0"/>
              </a:rPr>
              <a:t>Console</a:t>
            </a:r>
            <a:r>
              <a:rPr lang="en-US" sz="2400" dirty="0" err="1" smtClean="0">
                <a:solidFill>
                  <a:srgbClr val="000000"/>
                </a:solidFill>
                <a:latin typeface="Cascadia Mono" panose="020B0609020000020004" pitchFamily="49" charset="0"/>
              </a:rPr>
              <a:t>.WriteLine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$"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  <a:r>
              <a:rPr lang="en-US" sz="24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DateTime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.Now.ToLongTimeString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()}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</a:p>
          <a:p>
            <a:endParaRPr lang="en-US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endParaRPr lang="en-US" sz="2400" dirty="0" smtClean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endParaRPr lang="en-US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4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Console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.WriteLine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"***** Timer Starts *****\n"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en-US" sz="2400" dirty="0" smtClean="0">
                <a:solidFill>
                  <a:srgbClr val="2B91AF"/>
                </a:solidFill>
                <a:latin typeface="Cascadia Mono" panose="020B0609020000020004" pitchFamily="49" charset="0"/>
              </a:rPr>
              <a:t>Timer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timer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2B91AF"/>
                </a:solidFill>
                <a:latin typeface="Cascadia Mono" panose="020B0609020000020004" pitchFamily="49" charset="0"/>
              </a:rPr>
              <a:t>Timer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(TimerCallBackProc,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null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,0,1000);</a:t>
            </a:r>
          </a:p>
          <a:p>
            <a:r>
              <a:rPr lang="en-US" sz="2400" dirty="0" err="1" smtClean="0">
                <a:solidFill>
                  <a:srgbClr val="2B91AF"/>
                </a:solidFill>
                <a:latin typeface="Cascadia Mono" panose="020B0609020000020004" pitchFamily="49" charset="0"/>
              </a:rPr>
              <a:t>Console</a:t>
            </a:r>
            <a:r>
              <a:rPr lang="en-US" sz="2400" dirty="0" err="1" smtClean="0">
                <a:solidFill>
                  <a:srgbClr val="000000"/>
                </a:solidFill>
                <a:latin typeface="Cascadia Mono" panose="020B0609020000020004" pitchFamily="49" charset="0"/>
              </a:rPr>
              <a:t>.ReadLine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67</a:t>
            </a:fld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smtClean="0"/>
              <a:t>Кафедра информатики</a:t>
            </a:r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Гламаздин И.И.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2800216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Синхронизация потоков</a:t>
            </a:r>
            <a:r>
              <a:rPr lang="en-US" dirty="0"/>
              <a:t> </a:t>
            </a:r>
            <a:r>
              <a:rPr lang="en-US" dirty="0" smtClean="0"/>
              <a:t>(</a:t>
            </a:r>
            <a:r>
              <a:rPr lang="en-US" dirty="0" err="1" smtClean="0"/>
              <a:t>System.Timers.Timer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К</a:t>
            </a:r>
            <a:r>
              <a:rPr lang="ru-RU" dirty="0" smtClean="0"/>
              <a:t>ласс</a:t>
            </a:r>
            <a:r>
              <a:rPr lang="ru-RU" dirty="0"/>
              <a:t> </a:t>
            </a:r>
            <a:r>
              <a:rPr lang="ru-RU" b="1" dirty="0" smtClean="0"/>
              <a:t>Timer </a:t>
            </a:r>
            <a:r>
              <a:rPr lang="ru-RU" dirty="0" smtClean="0"/>
              <a:t>из пространства имен </a:t>
            </a:r>
            <a:r>
              <a:rPr lang="en-US" b="1" dirty="0" err="1" smtClean="0"/>
              <a:t>System.Timers</a:t>
            </a:r>
            <a:r>
              <a:rPr lang="ru-RU" dirty="0" smtClean="0"/>
              <a:t> позволяет генерировать события по </a:t>
            </a:r>
            <a:r>
              <a:rPr lang="ru-RU" dirty="0"/>
              <a:t>истечению </a:t>
            </a:r>
            <a:r>
              <a:rPr lang="ru-RU" dirty="0" smtClean="0"/>
              <a:t>заданного </a:t>
            </a:r>
            <a:r>
              <a:rPr lang="ru-RU" dirty="0"/>
              <a:t>периода времени.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68</a:t>
            </a:fld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smtClean="0"/>
              <a:t>Кафедра информатики</a:t>
            </a:r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Гламаздин И.И.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3022483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Синхронизация потоков</a:t>
            </a:r>
            <a:r>
              <a:rPr lang="en-US" dirty="0"/>
              <a:t> </a:t>
            </a:r>
            <a:r>
              <a:rPr lang="en-US" dirty="0" smtClean="0"/>
              <a:t>(</a:t>
            </a:r>
            <a:r>
              <a:rPr lang="en-US" dirty="0" err="1" smtClean="0"/>
              <a:t>System.Timers.Timer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using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st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US" sz="2400" dirty="0" err="1" smtClean="0">
                <a:solidFill>
                  <a:srgbClr val="000000"/>
                </a:solidFill>
                <a:latin typeface="Cascadia Mono" panose="020B0609020000020004" pitchFamily="49" charset="0"/>
              </a:rPr>
              <a:t>System.Timers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endParaRPr lang="en-US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endParaRPr lang="en-US" sz="2400" dirty="0" smtClean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st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::</a:t>
            </a:r>
            <a:r>
              <a:rPr lang="en-US" sz="2400" dirty="0">
                <a:solidFill>
                  <a:srgbClr val="2B91AF"/>
                </a:solidFill>
                <a:latin typeface="Cascadia Mono" panose="020B0609020000020004" pitchFamily="49" charset="0"/>
              </a:rPr>
              <a:t>Timer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timer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st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::</a:t>
            </a:r>
            <a:r>
              <a:rPr lang="en-US" sz="2400" dirty="0" smtClean="0">
                <a:solidFill>
                  <a:srgbClr val="2B91AF"/>
                </a:solidFill>
                <a:latin typeface="Cascadia Mono" panose="020B0609020000020004" pitchFamily="49" charset="0"/>
              </a:rPr>
              <a:t>Timer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(1000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en-US" sz="2400" dirty="0" err="1" smtClean="0">
                <a:solidFill>
                  <a:srgbClr val="000000"/>
                </a:solidFill>
                <a:latin typeface="Cascadia Mono" panose="020B0609020000020004" pitchFamily="49" charset="0"/>
              </a:rPr>
              <a:t>timer.Elapsed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+=(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s,e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)=&gt;</a:t>
            </a: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      </a:t>
            </a:r>
            <a:r>
              <a:rPr lang="en-US" sz="2400" dirty="0" err="1" smtClean="0">
                <a:solidFill>
                  <a:srgbClr val="2B91AF"/>
                </a:solidFill>
                <a:latin typeface="Cascadia Mono" panose="020B0609020000020004" pitchFamily="49" charset="0"/>
              </a:rPr>
              <a:t>Console</a:t>
            </a:r>
            <a:r>
              <a:rPr lang="en-US" sz="2400" dirty="0" err="1" smtClean="0">
                <a:solidFill>
                  <a:srgbClr val="000000"/>
                </a:solidFill>
                <a:latin typeface="Cascadia Mono" panose="020B0609020000020004" pitchFamily="49" charset="0"/>
              </a:rPr>
              <a:t>.WriteLine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$"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e.SignalTime.ToLongTimeString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()}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en-US" sz="2400" dirty="0" err="1" smtClean="0">
                <a:solidFill>
                  <a:srgbClr val="2B91AF"/>
                </a:solidFill>
                <a:latin typeface="Cascadia Mono" panose="020B0609020000020004" pitchFamily="49" charset="0"/>
              </a:rPr>
              <a:t>Console</a:t>
            </a:r>
            <a:r>
              <a:rPr lang="en-US" sz="2400" dirty="0" err="1" smtClean="0">
                <a:solidFill>
                  <a:srgbClr val="000000"/>
                </a:solidFill>
                <a:latin typeface="Cascadia Mono" panose="020B0609020000020004" pitchFamily="49" charset="0"/>
              </a:rPr>
              <a:t>.WriteLine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"***** Timer Starts *****\n"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en-US" sz="2400" dirty="0" err="1" smtClean="0">
                <a:solidFill>
                  <a:srgbClr val="000000"/>
                </a:solidFill>
                <a:latin typeface="Cascadia Mono" panose="020B0609020000020004" pitchFamily="49" charset="0"/>
              </a:rPr>
              <a:t>timer.Start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r>
              <a:rPr lang="en-US" sz="2400" dirty="0" err="1" smtClean="0">
                <a:solidFill>
                  <a:srgbClr val="2B91AF"/>
                </a:solidFill>
                <a:latin typeface="Cascadia Mono" panose="020B0609020000020004" pitchFamily="49" charset="0"/>
              </a:rPr>
              <a:t>Console</a:t>
            </a:r>
            <a:r>
              <a:rPr lang="en-US" sz="2400" dirty="0" err="1" smtClean="0">
                <a:solidFill>
                  <a:srgbClr val="000000"/>
                </a:solidFill>
                <a:latin typeface="Cascadia Mono" panose="020B0609020000020004" pitchFamily="49" charset="0"/>
              </a:rPr>
              <a:t>.ReadLine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69</a:t>
            </a:fld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smtClean="0"/>
              <a:t>Кафедра информатики</a:t>
            </a:r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Гламаздин И.И.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2759130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 smtClean="0"/>
              <a:t>StopWatch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400" dirty="0">
                <a:solidFill>
                  <a:srgbClr val="2B91AF"/>
                </a:solidFill>
                <a:latin typeface="Cascadia Mono" panose="020B0609020000020004" pitchFamily="49" charset="0"/>
              </a:rPr>
              <a:t>Stopwatch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stopWatch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2B91AF"/>
                </a:solidFill>
                <a:latin typeface="Cascadia Mono" panose="020B0609020000020004" pitchFamily="49" charset="0"/>
              </a:rPr>
              <a:t>Stopwatch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r>
              <a:rPr lang="en-US" sz="2400" dirty="0" err="1" smtClean="0">
                <a:solidFill>
                  <a:srgbClr val="000000"/>
                </a:solidFill>
                <a:latin typeface="Cascadia Mono" panose="020B0609020000020004" pitchFamily="49" charset="0"/>
              </a:rPr>
              <a:t>stopWatch.Start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r>
              <a:rPr lang="en-US" sz="2400" dirty="0" err="1" smtClean="0">
                <a:solidFill>
                  <a:srgbClr val="2B91AF"/>
                </a:solidFill>
                <a:latin typeface="Cascadia Mono" panose="020B0609020000020004" pitchFamily="49" charset="0"/>
              </a:rPr>
              <a:t>Thread</a:t>
            </a:r>
            <a:r>
              <a:rPr lang="en-US" sz="2400" dirty="0" err="1" smtClean="0">
                <a:solidFill>
                  <a:srgbClr val="000000"/>
                </a:solidFill>
                <a:latin typeface="Cascadia Mono" panose="020B0609020000020004" pitchFamily="49" charset="0"/>
              </a:rPr>
              <a:t>.Sleep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(10000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en-US" sz="2400" dirty="0" err="1" smtClean="0">
                <a:solidFill>
                  <a:srgbClr val="000000"/>
                </a:solidFill>
                <a:latin typeface="Cascadia Mono" panose="020B0609020000020004" pitchFamily="49" charset="0"/>
              </a:rPr>
              <a:t>stopWatch.Stop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r>
              <a:rPr lang="en-US" sz="2400" dirty="0" smtClean="0">
                <a:solidFill>
                  <a:srgbClr val="008000"/>
                </a:solidFill>
                <a:latin typeface="Cascadia Mono" panose="020B0609020000020004" pitchFamily="49" charset="0"/>
              </a:rPr>
              <a:t>// </a:t>
            </a:r>
            <a:r>
              <a:rPr lang="en-US" sz="2400" dirty="0">
                <a:solidFill>
                  <a:srgbClr val="008000"/>
                </a:solidFill>
                <a:latin typeface="Cascadia Mono" panose="020B0609020000020004" pitchFamily="49" charset="0"/>
              </a:rPr>
              <a:t>Get the elapsed time as a </a:t>
            </a:r>
            <a:r>
              <a:rPr lang="en-US" sz="2400" dirty="0" err="1">
                <a:solidFill>
                  <a:srgbClr val="008000"/>
                </a:solidFill>
                <a:latin typeface="Cascadia Mono" panose="020B0609020000020004" pitchFamily="49" charset="0"/>
              </a:rPr>
              <a:t>TimeSpan</a:t>
            </a:r>
            <a:r>
              <a:rPr lang="en-US" sz="2400" dirty="0">
                <a:solidFill>
                  <a:srgbClr val="008000"/>
                </a:solidFill>
                <a:latin typeface="Cascadia Mono" panose="020B0609020000020004" pitchFamily="49" charset="0"/>
              </a:rPr>
              <a:t> value.</a:t>
            </a:r>
            <a:endParaRPr lang="en-US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400" dirty="0" err="1" smtClean="0">
                <a:solidFill>
                  <a:srgbClr val="2B91AF"/>
                </a:solidFill>
                <a:latin typeface="Cascadia Mono" panose="020B0609020000020004" pitchFamily="49" charset="0"/>
              </a:rPr>
              <a:t>TimeSpan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ts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stopWatch.Elapsed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endParaRPr lang="en-US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400" dirty="0" smtClean="0">
                <a:solidFill>
                  <a:srgbClr val="008000"/>
                </a:solidFill>
                <a:latin typeface="Cascadia Mono" panose="020B0609020000020004" pitchFamily="49" charset="0"/>
              </a:rPr>
              <a:t>// </a:t>
            </a:r>
            <a:r>
              <a:rPr lang="en-US" sz="2400" dirty="0">
                <a:solidFill>
                  <a:srgbClr val="008000"/>
                </a:solidFill>
                <a:latin typeface="Cascadia Mono" panose="020B0609020000020004" pitchFamily="49" charset="0"/>
              </a:rPr>
              <a:t>Format and display the </a:t>
            </a:r>
            <a:r>
              <a:rPr lang="en-US" sz="2400" dirty="0" err="1">
                <a:solidFill>
                  <a:srgbClr val="008000"/>
                </a:solidFill>
                <a:latin typeface="Cascadia Mono" panose="020B0609020000020004" pitchFamily="49" charset="0"/>
              </a:rPr>
              <a:t>TimeSpan</a:t>
            </a:r>
            <a:r>
              <a:rPr lang="en-US" sz="2400" dirty="0">
                <a:solidFill>
                  <a:srgbClr val="008000"/>
                </a:solidFill>
                <a:latin typeface="Cascadia Mono" panose="020B0609020000020004" pitchFamily="49" charset="0"/>
              </a:rPr>
              <a:t> value.           </a:t>
            </a:r>
            <a:endParaRPr lang="en-US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400" dirty="0" err="1" smtClean="0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elapsed = 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$"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{ts.Hours: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00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: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{ts.Minutes: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00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: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{ts.Seconds: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00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: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ts.Milliseconds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/10: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00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en-US" sz="2400" dirty="0" err="1" smtClean="0">
                <a:solidFill>
                  <a:srgbClr val="2B91AF"/>
                </a:solidFill>
                <a:latin typeface="Cascadia Mono" panose="020B0609020000020004" pitchFamily="49" charset="0"/>
              </a:rPr>
              <a:t>Console</a:t>
            </a:r>
            <a:r>
              <a:rPr lang="en-US" sz="2400" dirty="0" err="1" smtClean="0">
                <a:solidFill>
                  <a:srgbClr val="000000"/>
                </a:solidFill>
                <a:latin typeface="Cascadia Mono" panose="020B0609020000020004" pitchFamily="49" charset="0"/>
              </a:rPr>
              <a:t>.WriteLine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n-US" sz="24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RunTime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 "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+ elapsed);</a:t>
            </a: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70</a:t>
            </a:fld>
            <a:endParaRPr lang="ru-RU"/>
          </a:p>
        </p:txBody>
      </p:sp>
      <p:sp>
        <p:nvSpPr>
          <p:cNvPr id="5" name="TextBox 4"/>
          <p:cNvSpPr txBox="1"/>
          <p:nvPr/>
        </p:nvSpPr>
        <p:spPr>
          <a:xfrm>
            <a:off x="196948" y="6350204"/>
            <a:ext cx="1145717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https://docs.microsoft.com/en-us/dotnet/api/system.diagnostics.stopwatch.-ctor?f1url=%3FappId%3DDev16IDEF1%26l%3DEN-US%26k%3Dk(System.Diagnostics.Stopwatch.%2523ctor);k(DevLang-csharp)%</a:t>
            </a:r>
            <a:r>
              <a:rPr lang="en-US" dirty="0" smtClean="0">
                <a:solidFill>
                  <a:schemeClr val="tx1"/>
                </a:solidFill>
              </a:rPr>
              <a:t>26rd%3Dtrue&amp;view=net-5.0</a:t>
            </a:r>
          </a:p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Дата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smtClean="0"/>
              <a:t>Кафедра информатики</a:t>
            </a:r>
            <a:endParaRPr lang="ru-RU" dirty="0"/>
          </a:p>
        </p:txBody>
      </p:sp>
      <p:sp>
        <p:nvSpPr>
          <p:cNvPr id="7" name="Нижний колонтитул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Гламаздин И.И.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5250236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E00B7275-7A1C-4175-9DA8-32A05C069381}" vid="{7BA702E7-4841-4B17-B04A-ACB1ABD7F3F6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86289</TotalTime>
  <Words>2963</Words>
  <Application>Microsoft Office PowerPoint</Application>
  <PresentationFormat>Широкоэкранный</PresentationFormat>
  <Paragraphs>659</Paragraphs>
  <Slides>70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70</vt:i4>
      </vt:variant>
    </vt:vector>
  </HeadingPairs>
  <TitlesOfParts>
    <vt:vector size="78" baseType="lpstr">
      <vt:lpstr>Calibri</vt:lpstr>
      <vt:lpstr>Wingdings</vt:lpstr>
      <vt:lpstr>Consolas</vt:lpstr>
      <vt:lpstr>Cascadia Mono</vt:lpstr>
      <vt:lpstr>Arial</vt:lpstr>
      <vt:lpstr>Times New Roman</vt:lpstr>
      <vt:lpstr>Calibri Light</vt:lpstr>
      <vt:lpstr>Theme1</vt:lpstr>
      <vt:lpstr>Основы многопоточного программирования</vt:lpstr>
      <vt:lpstr>Потоки</vt:lpstr>
      <vt:lpstr>Общая информация</vt:lpstr>
      <vt:lpstr>Общая информация</vt:lpstr>
      <vt:lpstr>Общая информация</vt:lpstr>
      <vt:lpstr>Общая информация</vt:lpstr>
      <vt:lpstr>Общая информация</vt:lpstr>
      <vt:lpstr>Общая информация</vt:lpstr>
      <vt:lpstr>Общая информация</vt:lpstr>
      <vt:lpstr>Общая информация</vt:lpstr>
      <vt:lpstr>Общая информация</vt:lpstr>
      <vt:lpstr>Общая информация</vt:lpstr>
      <vt:lpstr>Общая информация</vt:lpstr>
      <vt:lpstr>Общая информация</vt:lpstr>
      <vt:lpstr>Общая информация</vt:lpstr>
      <vt:lpstr>Общая информация</vt:lpstr>
      <vt:lpstr>Потоки</vt:lpstr>
      <vt:lpstr>Пространство имен System.Threading</vt:lpstr>
      <vt:lpstr>Пространство имен System.Threading</vt:lpstr>
      <vt:lpstr>Пространство имен System.Threading</vt:lpstr>
      <vt:lpstr>Пространство имен System.Threading</vt:lpstr>
      <vt:lpstr>Потоки</vt:lpstr>
      <vt:lpstr>Класс Thread</vt:lpstr>
      <vt:lpstr>Класс Thread</vt:lpstr>
      <vt:lpstr>Методы и свойства класса Thread</vt:lpstr>
      <vt:lpstr>Методы и свойства класса Thread</vt:lpstr>
      <vt:lpstr>Методы и свойства класса Thread</vt:lpstr>
      <vt:lpstr>Класс Thread. Создание и запуск потока</vt:lpstr>
      <vt:lpstr>Класс Thread. Создание и запуск потока</vt:lpstr>
      <vt:lpstr>Класс Thread. Создание и запуск потока</vt:lpstr>
      <vt:lpstr>Класс Thread. Создание и запуск потока</vt:lpstr>
      <vt:lpstr>Класс Thread. Создание и запуск потока</vt:lpstr>
      <vt:lpstr>Класс Thread. Создание и запуск потока</vt:lpstr>
      <vt:lpstr>Класс Thread. Создание и запуск потока</vt:lpstr>
      <vt:lpstr>Класс Thread. Создание и запуск потока</vt:lpstr>
      <vt:lpstr>Класс Thread. Создание и запуск потока</vt:lpstr>
      <vt:lpstr>Класс Thread. Создание и запуск потока</vt:lpstr>
      <vt:lpstr>Класс Thread. Пул потоков</vt:lpstr>
      <vt:lpstr>Класс Thread. Пул потоков</vt:lpstr>
      <vt:lpstr>Класс Thread. Пул потоков</vt:lpstr>
      <vt:lpstr>Класс Thread. Пул потоков</vt:lpstr>
      <vt:lpstr>Класс Thread. Пул потоков</vt:lpstr>
      <vt:lpstr>Класс Thread. Пул потоков</vt:lpstr>
      <vt:lpstr>Класс Thread. Пул потоков (ограничения)</vt:lpstr>
      <vt:lpstr>Потоки</vt:lpstr>
      <vt:lpstr>Синхронизация потоков</vt:lpstr>
      <vt:lpstr>Синхронизация потоков</vt:lpstr>
      <vt:lpstr>Синхронизация потоков</vt:lpstr>
      <vt:lpstr>Синхронизация потоков</vt:lpstr>
      <vt:lpstr>Синхронизация потоков</vt:lpstr>
      <vt:lpstr>Синхронизация потоков</vt:lpstr>
      <vt:lpstr>Синхронизация потоков</vt:lpstr>
      <vt:lpstr>Синхронизация потоков (критическая секция)</vt:lpstr>
      <vt:lpstr>Синхронизация потоков (критическая секция)</vt:lpstr>
      <vt:lpstr>Синхронизация потоков (класс Lock  - C#13)</vt:lpstr>
      <vt:lpstr>Синхронизация потоков (класс Lock  - C#13)</vt:lpstr>
      <vt:lpstr>Синхронизация потоков (Monitor)</vt:lpstr>
      <vt:lpstr>Синхронизация потоков (Monitor)</vt:lpstr>
      <vt:lpstr>Синхронизация потоков (Mutex)</vt:lpstr>
      <vt:lpstr>Синхронизация потоков (Mutex)</vt:lpstr>
      <vt:lpstr>Синхронизация потоков (Semaphore)</vt:lpstr>
      <vt:lpstr>Синхронизация потоков (Event)</vt:lpstr>
      <vt:lpstr>Синхронизация потоков (AutoResetEvent)</vt:lpstr>
      <vt:lpstr>Неблокирующая синхронизация потоков</vt:lpstr>
      <vt:lpstr>Неблокирующая синхронизация потоков</vt:lpstr>
      <vt:lpstr>Синхронизация потоков (System.Threading.Timer)</vt:lpstr>
      <vt:lpstr>Синхронизация потоков (System.Threading.Timer)</vt:lpstr>
      <vt:lpstr>Синхронизация потоков (System.Timers.Timer)</vt:lpstr>
      <vt:lpstr>Синхронизация потоков (System.Timers.Timer)</vt:lpstr>
      <vt:lpstr>StopWatch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С# Лекция 3</dc:title>
  <dc:creator>Igor Glamazdin</dc:creator>
  <cp:lastModifiedBy>Igor Glamazdin</cp:lastModifiedBy>
  <cp:revision>406</cp:revision>
  <dcterms:modified xsi:type="dcterms:W3CDTF">2024-12-04T13:15:36Z</dcterms:modified>
</cp:coreProperties>
</file>